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5760720" cy="4452620"/>
  <p:notesSz cx="4452620" cy="57607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.title"/>
          <p:cNvSpPr txBox="1"/>
          <p:nvPr/>
        </p:nvSpPr>
        <p:spPr>
          <a:xfrm>
            <a:off x="109728" y="45720"/>
            <a:ext cx="5541264" cy="1554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(a)   One </a:t>
            </a:r>
            <a:r>
              <a:rPr lang="en-US" sz="900" b="1" dirty="0">
                <a:solidFill>
                  <a:srgbClr val="1A1F2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DP-ES</a:t>
            </a:r>
            <a:r>
              <a:rPr lang="en-US" sz="900" b="1" dirty="0">
                <a:solidFill>
                  <a:srgbClr val="1A1F2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iteration: privacy-free exploration, private scoring</a:t>
            </a:r>
            <a:endParaRPr lang="en-US" sz="900" dirty="0"/>
          </a:p>
        </p:txBody>
      </p:sp>
      <p:sp>
        <p:nvSpPr>
          <p:cNvPr id="3" name="a.loop.rail"/>
          <p:cNvSpPr/>
          <p:nvPr/>
        </p:nvSpPr>
        <p:spPr>
          <a:xfrm>
            <a:off x="1002792" y="365760"/>
            <a:ext cx="3755136" cy="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</a:ln>
        </p:spPr>
      </p:sp>
      <p:sp>
        <p:nvSpPr>
          <p:cNvPr id="4" name="a.loop.enter"/>
          <p:cNvSpPr/>
          <p:nvPr/>
        </p:nvSpPr>
        <p:spPr>
          <a:xfrm>
            <a:off x="1002792" y="365760"/>
            <a:ext cx="0" cy="178308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tailEnd type="triangle"/>
          </a:ln>
        </p:spPr>
      </p:sp>
      <p:sp>
        <p:nvSpPr>
          <p:cNvPr id="5" name="a.loop.exit"/>
          <p:cNvSpPr/>
          <p:nvPr/>
        </p:nvSpPr>
        <p:spPr>
          <a:xfrm>
            <a:off x="4757928" y="365760"/>
            <a:ext cx="0" cy="18288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6" name="a.loop.chip"/>
          <p:cNvSpPr/>
          <p:nvPr/>
        </p:nvSpPr>
        <p:spPr>
          <a:xfrm>
            <a:off x="1691640" y="278892"/>
            <a:ext cx="2377440" cy="173736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1F3D7A"/>
            </a:solidFill>
            <a:prstDash val="solid"/>
          </a:ln>
        </p:spPr>
      </p:sp>
      <p:sp>
        <p:nvSpPr>
          <p:cNvPr id="7" name="a.loop.label"/>
          <p:cNvSpPr txBox="1"/>
          <p:nvPr/>
        </p:nvSpPr>
        <p:spPr>
          <a:xfrm>
            <a:off x="1691640" y="307848"/>
            <a:ext cx="2377440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Top-M parents  </a:t>
            </a:r>
            <a:r>
              <a:rPr lang="en-US" sz="680" b="1" i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</a:t>
            </a:r>
            <a:r>
              <a:rPr lang="en-US" sz="680" b="1" baseline="-40000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</a:t>
            </a:r>
            <a:r>
              <a:rPr lang="en-US" sz="680" b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 </a:t>
            </a:r>
            <a:r>
              <a:rPr lang="en-US" sz="800" b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0"/>
              </a:rPr>
              <a:t>→</a:t>
            </a:r>
            <a:r>
              <a:rPr lang="en-US" sz="680" b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 next iteration  (× </a:t>
            </a:r>
            <a:r>
              <a:rPr lang="en-US" sz="680" b="1" i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 </a:t>
            </a:r>
            <a:r>
              <a:rPr lang="en-US" sz="680" b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)</a:t>
            </a:r>
            <a:endParaRPr lang="en-US" sz="680" dirty="0"/>
          </a:p>
        </p:txBody>
      </p:sp>
      <p:sp>
        <p:nvSpPr>
          <p:cNvPr id="8" name="a.z1.frame"/>
          <p:cNvSpPr/>
          <p:nvPr/>
        </p:nvSpPr>
        <p:spPr>
          <a:xfrm>
            <a:off x="109728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1F1F1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9" name="a.z1.header"/>
          <p:cNvSpPr txBox="1"/>
          <p:nvPr/>
        </p:nvSpPr>
        <p:spPr>
          <a:xfrm>
            <a:off x="164592" y="598932"/>
            <a:ext cx="1676400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60" b="1" kern="0" spc="35" dirty="0">
                <a:solidFill>
                  <a:srgbClr val="0E7C7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PRIVACY-FREE</a:t>
            </a:r>
            <a:endParaRPr lang="en-US" sz="760" dirty="0"/>
          </a:p>
        </p:txBody>
      </p:sp>
      <p:sp>
        <p:nvSpPr>
          <p:cNvPr id="10" name="a.z2.frame"/>
          <p:cNvSpPr/>
          <p:nvPr/>
        </p:nvSpPr>
        <p:spPr>
          <a:xfrm>
            <a:off x="1987296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6EDF8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1" name="a.z2.header"/>
          <p:cNvSpPr txBox="1"/>
          <p:nvPr/>
        </p:nvSpPr>
        <p:spPr>
          <a:xfrm>
            <a:off x="2042160" y="598932"/>
            <a:ext cx="1676400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60" b="1" kern="0" spc="35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PRIVATE-DATA ACCESS</a:t>
            </a:r>
            <a:endParaRPr lang="en-US" sz="760" dirty="0"/>
          </a:p>
        </p:txBody>
      </p:sp>
      <p:sp>
        <p:nvSpPr>
          <p:cNvPr id="12" name="a.z3.frame"/>
          <p:cNvSpPr/>
          <p:nvPr/>
        </p:nvSpPr>
        <p:spPr>
          <a:xfrm>
            <a:off x="3864864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8F4E6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3" name="a.z3.header"/>
          <p:cNvSpPr txBox="1"/>
          <p:nvPr/>
        </p:nvSpPr>
        <p:spPr>
          <a:xfrm>
            <a:off x="3919728" y="598932"/>
            <a:ext cx="1676400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60" b="1" kern="0" spc="35" dirty="0">
                <a:solidFill>
                  <a:srgbClr val="2E7D3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POST-PROCESSING</a:t>
            </a:r>
            <a:endParaRPr lang="en-US" sz="760" dirty="0"/>
          </a:p>
        </p:txBody>
      </p:sp>
      <p:sp>
        <p:nvSpPr>
          <p:cNvPr id="14" name="a.p1.frame"/>
          <p:cNvSpPr/>
          <p:nvPr/>
        </p:nvSpPr>
        <p:spPr>
          <a:xfrm>
            <a:off x="192024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15" name="a.p1.iconDisc"/>
          <p:cNvSpPr/>
          <p:nvPr/>
        </p:nvSpPr>
        <p:spPr>
          <a:xfrm>
            <a:off x="274320" y="873252"/>
            <a:ext cx="365760" cy="365760"/>
          </a:xfrm>
          <a:prstGeom prst="ellipse">
            <a:avLst/>
          </a:prstGeom>
          <a:solidFill>
            <a:srgbClr val="0E7C7B"/>
          </a:solidFill>
        </p:spPr>
      </p:sp>
      <p:sp>
        <p:nvSpPr>
          <p:cNvPr id="16" name="a.p1.icon.strandA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0" y="0"/>
                </a:moveTo>
                <a:cubicBezTo>
                  <a:pt x="138257" y="76810"/>
                  <a:pt x="138257" y="179222"/>
                  <a:pt x="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7" name="a.p1.icon.strandB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197510" y="0"/>
                </a:moveTo>
                <a:cubicBezTo>
                  <a:pt x="59253" y="76810"/>
                  <a:pt x="59253" y="179222"/>
                  <a:pt x="19751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8" name="a.p1.icon.rung1"/>
          <p:cNvSpPr/>
          <p:nvPr/>
        </p:nvSpPr>
        <p:spPr>
          <a:xfrm>
            <a:off x="431524" y="989564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19" name="a.p1.icon.rung2"/>
          <p:cNvSpPr/>
          <p:nvPr/>
        </p:nvSpPr>
        <p:spPr>
          <a:xfrm>
            <a:off x="431524" y="1122700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20" name="a.p1.title"/>
          <p:cNvSpPr txBox="1"/>
          <p:nvPr/>
        </p:nvSpPr>
        <p:spPr>
          <a:xfrm>
            <a:off x="667512" y="873252"/>
            <a:ext cx="10637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Phase 1</a:t>
            </a:r>
            <a:endParaRPr lang="en-US" sz="78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LLM mutation</a:t>
            </a:r>
            <a:endParaRPr lang="en-US" sz="780" dirty="0"/>
          </a:p>
        </p:txBody>
      </p:sp>
      <p:sp>
        <p:nvSpPr>
          <p:cNvPr id="21" name="a.p1.formula1"/>
          <p:cNvSpPr txBox="1"/>
          <p:nvPr/>
        </p:nvSpPr>
        <p:spPr>
          <a:xfrm>
            <a:off x="210312" y="1273302"/>
            <a:ext cx="1581912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P</a:t>
            </a:r>
            <a:r>
              <a:rPr lang="en-US" sz="800" baseline="-4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t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  ←  Mutate-To-K(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S</a:t>
            </a:r>
            <a:r>
              <a:rPr lang="en-US" sz="800" baseline="-4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t−1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), </a:t>
            </a:r>
            <a:endParaRPr lang="en-US" sz="800" dirty="0">
              <a:solidFill>
                <a:srgbClr val="1A1F2B"/>
              </a:solidFill>
              <a:latin typeface="Times New Roman Regular" panose="02020503050405090304" charset="0"/>
              <a:ea typeface="Times New Roman" panose="02020503050405090304" pitchFamily="34" charset="-122"/>
              <a:cs typeface="Times New Roman Regular" panose="02020503050405090304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  |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P</a:t>
            </a:r>
            <a:r>
              <a:rPr lang="en-US" sz="800" baseline="-4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t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| = 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K</a:t>
            </a:r>
            <a:endParaRPr lang="en-US" sz="800" i="1" dirty="0">
              <a:solidFill>
                <a:srgbClr val="1A1F2B"/>
              </a:solidFill>
              <a:latin typeface="Times New Roman Regular" panose="02020503050405090304" charset="0"/>
              <a:ea typeface="Times New Roman" panose="02020503050405090304" pitchFamily="34" charset="-122"/>
              <a:cs typeface="Times New Roman Regular" panose="02020503050405090304" charset="0"/>
            </a:endParaRPr>
          </a:p>
        </p:txBody>
      </p:sp>
      <p:sp>
        <p:nvSpPr>
          <p:cNvPr id="22" name="a.p1.body"/>
          <p:cNvSpPr txBox="1"/>
          <p:nvPr/>
        </p:nvSpPr>
        <p:spPr>
          <a:xfrm>
            <a:off x="283464" y="1554480"/>
            <a:ext cx="1438656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333B48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Builds a fixed K-candidate population from selected parents; never reads the private set </a:t>
            </a:r>
            <a:r>
              <a:rPr lang="en-US" sz="700" dirty="0">
                <a:solidFill>
                  <a:srgbClr val="333B48"/>
                </a:solidFill>
                <a:latin typeface="Times New Roman Regular" panose="02020503050405090304" charset="0"/>
                <a:ea typeface="Cambria Math" pitchFamily="34" charset="-122"/>
                <a:cs typeface="Times New Roman Regular" panose="02020503050405090304" charset="0"/>
              </a:rPr>
              <a:t>𝒟</a:t>
            </a:r>
            <a:r>
              <a:rPr lang="en-US" sz="700" dirty="0">
                <a:solidFill>
                  <a:srgbClr val="333B48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.</a:t>
            </a:r>
            <a:endParaRPr lang="en-US" sz="700" dirty="0">
              <a:solidFill>
                <a:srgbClr val="333B48"/>
              </a:solidFill>
              <a:latin typeface="Times New Roman Regular" panose="02020503050405090304" charset="0"/>
              <a:ea typeface="Arial" panose="020B0604020202090204" pitchFamily="34" charset="-122"/>
              <a:cs typeface="Times New Roman Regular" panose="02020503050405090304" charset="0"/>
            </a:endParaRPr>
          </a:p>
        </p:txBody>
      </p:sp>
      <p:sp>
        <p:nvSpPr>
          <p:cNvPr id="23" name="a.p1.costPill"/>
          <p:cNvSpPr/>
          <p:nvPr/>
        </p:nvSpPr>
        <p:spPr>
          <a:xfrm>
            <a:off x="374904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0E7C7B"/>
          </a:solidFill>
        </p:spPr>
      </p:sp>
      <p:sp>
        <p:nvSpPr>
          <p:cNvPr id="24" name="a.p1.costLabel"/>
          <p:cNvSpPr txBox="1"/>
          <p:nvPr/>
        </p:nvSpPr>
        <p:spPr>
          <a:xfrm>
            <a:off x="374904" y="1958645"/>
            <a:ext cx="1255776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25" name="a.p2.frame"/>
          <p:cNvSpPr/>
          <p:nvPr/>
        </p:nvSpPr>
        <p:spPr>
          <a:xfrm>
            <a:off x="2069592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26" name="a.p2.iconDisc"/>
          <p:cNvSpPr/>
          <p:nvPr/>
        </p:nvSpPr>
        <p:spPr>
          <a:xfrm>
            <a:off x="2151888" y="873252"/>
            <a:ext cx="365760" cy="365760"/>
          </a:xfrm>
          <a:prstGeom prst="ellipse">
            <a:avLst/>
          </a:prstGeom>
          <a:solidFill>
            <a:srgbClr val="1F3D7A"/>
          </a:solidFill>
        </p:spPr>
      </p:sp>
      <p:sp>
        <p:nvSpPr>
          <p:cNvPr id="27" name="a.p2.icon.curve"/>
          <p:cNvSpPr/>
          <p:nvPr/>
        </p:nvSpPr>
        <p:spPr>
          <a:xfrm>
            <a:off x="2214067" y="972007"/>
            <a:ext cx="241402" cy="146304"/>
          </a:xfrm>
          <a:custGeom>
            <a:avLst/>
            <a:gdLst/>
            <a:ahLst/>
            <a:cxnLst/>
            <a:rect l="l" t="t" r="r" b="b"/>
            <a:pathLst>
              <a:path w="241402" h="146304">
                <a:moveTo>
                  <a:pt x="0" y="146304"/>
                </a:moveTo>
                <a:cubicBezTo>
                  <a:pt x="45866" y="146304"/>
                  <a:pt x="70006" y="0"/>
                  <a:pt x="120701" y="0"/>
                </a:cubicBezTo>
                <a:cubicBezTo>
                  <a:pt x="171395" y="0"/>
                  <a:pt x="195535" y="146304"/>
                  <a:pt x="241402" y="146304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28" name="a.p2.icon.axis"/>
          <p:cNvSpPr/>
          <p:nvPr/>
        </p:nvSpPr>
        <p:spPr>
          <a:xfrm>
            <a:off x="2199437" y="1118311"/>
            <a:ext cx="270662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a.p2.icon.sample"/>
          <p:cNvSpPr/>
          <p:nvPr/>
        </p:nvSpPr>
        <p:spPr>
          <a:xfrm>
            <a:off x="2392704" y="1048085"/>
            <a:ext cx="36576" cy="36576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30" name="a.p2.title"/>
          <p:cNvSpPr txBox="1"/>
          <p:nvPr/>
        </p:nvSpPr>
        <p:spPr>
          <a:xfrm>
            <a:off x="2545080" y="873252"/>
            <a:ext cx="10637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Phase 2</a:t>
            </a:r>
            <a:endParaRPr lang="en-US" sz="78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DP scoring</a:t>
            </a:r>
            <a:endParaRPr lang="en-US" sz="780" dirty="0"/>
          </a:p>
        </p:txBody>
      </p:sp>
      <p:sp>
        <p:nvSpPr>
          <p:cNvPr id="31" name="a.p2.formula1"/>
          <p:cNvSpPr txBox="1"/>
          <p:nvPr/>
        </p:nvSpPr>
        <p:spPr>
          <a:xfrm>
            <a:off x="2133600" y="1286256"/>
            <a:ext cx="1493520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s</a:t>
            </a:r>
            <a:r>
              <a:rPr lang="en-US" sz="800" baseline="-4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p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(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B 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) = 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b</a:t>
            </a:r>
            <a:r>
              <a:rPr lang="en-US" sz="800" baseline="3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−1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 Σ</a:t>
            </a:r>
            <a:r>
              <a:rPr lang="en-US" sz="800" baseline="-4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i∈B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 clip(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u</a:t>
            </a:r>
            <a:r>
              <a:rPr lang="en-US" sz="800" baseline="-4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i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)</a:t>
            </a:r>
            <a:endParaRPr lang="en-US" sz="800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32" name="a.p2.formula2"/>
          <p:cNvSpPr txBox="1"/>
          <p:nvPr/>
        </p:nvSpPr>
        <p:spPr>
          <a:xfrm>
            <a:off x="2133600" y="1454658"/>
            <a:ext cx="1493520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release  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s</a:t>
            </a:r>
            <a:r>
              <a:rPr lang="en-US" sz="800" baseline="-4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p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 + 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Cambria Math" pitchFamily="34" charset="-122"/>
                <a:cs typeface="Times New Roman Regular" panose="02020503050405090304" charset="0"/>
              </a:rPr>
              <a:t>𝒩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(0, (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z C</a:t>
            </a:r>
            <a:r>
              <a:rPr lang="en-US" sz="800" baseline="-400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clip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/</a:t>
            </a:r>
            <a:r>
              <a:rPr lang="en-US" sz="800" i="1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b</a:t>
            </a: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)²)</a:t>
            </a:r>
            <a:endParaRPr lang="en-US" sz="800" dirty="0">
              <a:solidFill>
                <a:srgbClr val="1A1F2B"/>
              </a:solidFill>
              <a:latin typeface="Times New Roman Regular" panose="02020503050405090304" charset="0"/>
              <a:ea typeface="Times New Roman" panose="02020503050405090304" pitchFamily="34" charset="-122"/>
              <a:cs typeface="Times New Roman Regular" panose="02020503050405090304" charset="0"/>
            </a:endParaRPr>
          </a:p>
        </p:txBody>
      </p:sp>
      <p:sp>
        <p:nvSpPr>
          <p:cNvPr id="33" name="a.p2.body"/>
          <p:cNvSpPr txBox="1"/>
          <p:nvPr/>
        </p:nvSpPr>
        <p:spPr>
          <a:xfrm>
            <a:off x="2252345" y="1609344"/>
            <a:ext cx="1367790" cy="3017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333B48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Each candidate releases one clipped, sampled-Gaussian score from </a:t>
            </a:r>
            <a:r>
              <a:rPr lang="en-US" sz="700" dirty="0">
                <a:solidFill>
                  <a:srgbClr val="333B48"/>
                </a:solidFill>
                <a:latin typeface="Times New Roman Regular" panose="02020503050405090304" charset="0"/>
                <a:ea typeface="Cambria Math" pitchFamily="34" charset="-122"/>
                <a:cs typeface="Times New Roman Regular" panose="02020503050405090304" charset="0"/>
              </a:rPr>
              <a:t>𝒟</a:t>
            </a:r>
            <a:r>
              <a:rPr lang="en-US" sz="700" dirty="0">
                <a:solidFill>
                  <a:srgbClr val="333B48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.</a:t>
            </a:r>
            <a:endParaRPr lang="en-US" sz="700" dirty="0">
              <a:solidFill>
                <a:srgbClr val="333B48"/>
              </a:solidFill>
              <a:latin typeface="Times New Roman Regular" panose="02020503050405090304" charset="0"/>
              <a:ea typeface="Arial" panose="020B0604020202090204" pitchFamily="34" charset="-122"/>
              <a:cs typeface="Times New Roman Regular" panose="02020503050405090304" charset="0"/>
            </a:endParaRPr>
          </a:p>
        </p:txBody>
      </p:sp>
      <p:sp>
        <p:nvSpPr>
          <p:cNvPr id="34" name="a.p2.costPill"/>
          <p:cNvSpPr/>
          <p:nvPr/>
        </p:nvSpPr>
        <p:spPr>
          <a:xfrm>
            <a:off x="2252472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1F3D7A"/>
          </a:solidFill>
        </p:spPr>
      </p:sp>
      <p:sp>
        <p:nvSpPr>
          <p:cNvPr id="35" name="a.p2.costLabel"/>
          <p:cNvSpPr txBox="1"/>
          <p:nvPr/>
        </p:nvSpPr>
        <p:spPr>
          <a:xfrm>
            <a:off x="2252472" y="1958645"/>
            <a:ext cx="1255776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≤ </a:t>
            </a:r>
            <a:r>
              <a:rPr lang="en-US" sz="640" b="1" i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TK</a:t>
            </a:r>
            <a:r>
              <a:rPr lang="en-US" sz="64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score releases total</a:t>
            </a:r>
            <a:endParaRPr lang="en-US" sz="640" dirty="0"/>
          </a:p>
        </p:txBody>
      </p:sp>
      <p:sp>
        <p:nvSpPr>
          <p:cNvPr id="36" name="a.p3.frame"/>
          <p:cNvSpPr/>
          <p:nvPr/>
        </p:nvSpPr>
        <p:spPr>
          <a:xfrm>
            <a:off x="3947160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37" name="a.p3.iconDisc"/>
          <p:cNvSpPr/>
          <p:nvPr/>
        </p:nvSpPr>
        <p:spPr>
          <a:xfrm>
            <a:off x="4029456" y="873252"/>
            <a:ext cx="365760" cy="365760"/>
          </a:xfrm>
          <a:prstGeom prst="ellipse">
            <a:avLst/>
          </a:prstGeom>
          <a:solidFill>
            <a:srgbClr val="2E7D32"/>
          </a:solidFill>
        </p:spPr>
      </p:sp>
      <p:sp>
        <p:nvSpPr>
          <p:cNvPr id="38" name="a.p3.icon"/>
          <p:cNvSpPr/>
          <p:nvPr/>
        </p:nvSpPr>
        <p:spPr>
          <a:xfrm>
            <a:off x="4109923" y="957377"/>
            <a:ext cx="204826" cy="197510"/>
          </a:xfrm>
          <a:custGeom>
            <a:avLst/>
            <a:gdLst/>
            <a:ahLst/>
            <a:cxnLst/>
            <a:rect l="l" t="t" r="r" b="b"/>
            <a:pathLst>
              <a:path w="204826" h="197510">
                <a:moveTo>
                  <a:pt x="0" y="0"/>
                </a:moveTo>
                <a:lnTo>
                  <a:pt x="204826" y="0"/>
                </a:lnTo>
                <a:lnTo>
                  <a:pt x="126992" y="86905"/>
                </a:lnTo>
                <a:lnTo>
                  <a:pt x="126992" y="197510"/>
                </a:lnTo>
                <a:lnTo>
                  <a:pt x="77834" y="197510"/>
                </a:lnTo>
                <a:lnTo>
                  <a:pt x="77834" y="86905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id="39" name="a.p3.title"/>
          <p:cNvSpPr txBox="1"/>
          <p:nvPr/>
        </p:nvSpPr>
        <p:spPr>
          <a:xfrm>
            <a:off x="4422648" y="873252"/>
            <a:ext cx="10637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Phase 3</a:t>
            </a:r>
            <a:endParaRPr lang="en-US" sz="78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Post-process &amp; select</a:t>
            </a:r>
            <a:endParaRPr lang="en-US" sz="780" dirty="0"/>
          </a:p>
        </p:txBody>
      </p:sp>
      <p:sp>
        <p:nvSpPr>
          <p:cNvPr id="40" name="a.p3.formula1"/>
          <p:cNvSpPr txBox="1"/>
          <p:nvPr/>
        </p:nvSpPr>
        <p:spPr>
          <a:xfrm>
            <a:off x="3950208" y="1261872"/>
            <a:ext cx="1618488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Gumbel-smoothed or deterministic</a:t>
            </a:r>
            <a:endParaRPr lang="en-US" sz="800" dirty="0">
              <a:solidFill>
                <a:srgbClr val="1A1F2B"/>
              </a:solidFill>
              <a:latin typeface="Times New Roman Regular" panose="02020503050405090304" charset="0"/>
              <a:ea typeface="Times New Roman" panose="02020503050405090304" pitchFamily="34" charset="-122"/>
              <a:cs typeface="Times New Roman Regular" panose="02020503050405090304" charset="0"/>
            </a:endParaRPr>
          </a:p>
        </p:txBody>
      </p:sp>
      <p:sp>
        <p:nvSpPr>
          <p:cNvPr id="41" name="a.p3.formula2"/>
          <p:cNvSpPr txBox="1"/>
          <p:nvPr/>
        </p:nvSpPr>
        <p:spPr>
          <a:xfrm>
            <a:off x="3950208" y="1472184"/>
            <a:ext cx="1618488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Times New Roman Regular" panose="02020503050405090304" charset="0"/>
                <a:ea typeface="Times New Roman" panose="02020503050405090304" pitchFamily="34" charset="-122"/>
                <a:cs typeface="Times New Roman Regular" panose="02020503050405090304" charset="0"/>
              </a:rPr>
              <a:t>Top-M(privatized scores)</a:t>
            </a:r>
            <a:endParaRPr lang="en-US" sz="800" dirty="0">
              <a:solidFill>
                <a:srgbClr val="1A1F2B"/>
              </a:solidFill>
              <a:latin typeface="Times New Roman Regular" panose="02020503050405090304" charset="0"/>
              <a:ea typeface="Times New Roman" panose="02020503050405090304" pitchFamily="34" charset="-122"/>
              <a:cs typeface="Times New Roman Regular" panose="02020503050405090304" charset="0"/>
            </a:endParaRPr>
          </a:p>
        </p:txBody>
      </p:sp>
      <p:sp>
        <p:nvSpPr>
          <p:cNvPr id="42" name="a.p3.body"/>
          <p:cNvSpPr txBox="1"/>
          <p:nvPr/>
        </p:nvSpPr>
        <p:spPr>
          <a:xfrm>
            <a:off x="4109720" y="1659890"/>
            <a:ext cx="1438656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333B48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Top-M uses only released scores; both options are post-processing.</a:t>
            </a:r>
            <a:endParaRPr lang="en-US" sz="700" dirty="0">
              <a:solidFill>
                <a:srgbClr val="333B48"/>
              </a:solidFill>
              <a:latin typeface="Times New Roman Regular" panose="02020503050405090304" charset="0"/>
              <a:ea typeface="Arial" panose="020B0604020202090204" pitchFamily="34" charset="-122"/>
              <a:cs typeface="Times New Roman Regular" panose="02020503050405090304" charset="0"/>
            </a:endParaRPr>
          </a:p>
        </p:txBody>
      </p:sp>
      <p:sp>
        <p:nvSpPr>
          <p:cNvPr id="43" name="a.p3.costPill"/>
          <p:cNvSpPr/>
          <p:nvPr/>
        </p:nvSpPr>
        <p:spPr>
          <a:xfrm>
            <a:off x="4130040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2E7D32"/>
          </a:solidFill>
        </p:spPr>
      </p:sp>
      <p:sp>
        <p:nvSpPr>
          <p:cNvPr id="44" name="a.p3.costLabel"/>
          <p:cNvSpPr txBox="1"/>
          <p:nvPr/>
        </p:nvSpPr>
        <p:spPr>
          <a:xfrm>
            <a:off x="4130040" y="1958645"/>
            <a:ext cx="1255776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45" name="a.flow.p1p2"/>
          <p:cNvSpPr/>
          <p:nvPr/>
        </p:nvSpPr>
        <p:spPr>
          <a:xfrm>
            <a:off x="1831848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6" name="a.flow.p2p3"/>
          <p:cNvSpPr/>
          <p:nvPr/>
        </p:nvSpPr>
        <p:spPr>
          <a:xfrm>
            <a:off x="3709416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7" name="a.z1.noAccess.ring"/>
          <p:cNvSpPr/>
          <p:nvPr/>
        </p:nvSpPr>
        <p:spPr>
          <a:xfrm>
            <a:off x="237744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C7B"/>
            </a:solidFill>
            <a:prstDash val="solid"/>
          </a:ln>
        </p:spPr>
      </p:sp>
      <p:sp>
        <p:nvSpPr>
          <p:cNvPr id="48" name="a.z1.noAccess.slash"/>
          <p:cNvSpPr/>
          <p:nvPr/>
        </p:nvSpPr>
        <p:spPr>
          <a:xfrm>
            <a:off x="304312" y="2389144"/>
            <a:ext cx="122895" cy="122895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49" name="a.z1.note"/>
          <p:cNvSpPr txBox="1"/>
          <p:nvPr/>
        </p:nvSpPr>
        <p:spPr>
          <a:xfrm>
            <a:off x="530352" y="2313432"/>
            <a:ext cx="12923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C7B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Mutation never</a:t>
            </a:r>
            <a:endParaRPr lang="en-US" sz="800" dirty="0">
              <a:latin typeface="Times New Roman Regular" panose="02020503050405090304" charset="0"/>
              <a:cs typeface="Times New Roman Regular" panose="02020503050405090304" charset="0"/>
            </a:endParaRPr>
          </a:p>
          <a:p>
            <a:pPr marL="0" indent="0" algn="l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C7B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reads </a:t>
            </a:r>
            <a:r>
              <a:rPr lang="en-US" sz="800" b="1" dirty="0">
                <a:solidFill>
                  <a:srgbClr val="0E7C7B"/>
                </a:solidFill>
                <a:latin typeface="Times New Roman Regular" panose="02020503050405090304" charset="0"/>
                <a:ea typeface="Cambria Math" pitchFamily="34" charset="-122"/>
                <a:cs typeface="Times New Roman Regular" panose="02020503050405090304" charset="0"/>
              </a:rPr>
              <a:t>𝒟</a:t>
            </a:r>
            <a:endParaRPr lang="en-US" sz="800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0" name="a.z2.dataset"/>
          <p:cNvSpPr/>
          <p:nvPr/>
        </p:nvSpPr>
        <p:spPr>
          <a:xfrm>
            <a:off x="2170176" y="2308860"/>
            <a:ext cx="256032" cy="292608"/>
          </a:xfrm>
          <a:prstGeom prst="can">
            <a:avLst/>
          </a:prstGeom>
          <a:solidFill>
            <a:srgbClr val="1F3D7A"/>
          </a:solidFill>
          <a:ln w="12700">
            <a:solidFill>
              <a:srgbClr val="1F3D7A"/>
            </a:solidFill>
            <a:prstDash val="solid"/>
          </a:ln>
        </p:spPr>
      </p:sp>
      <p:sp>
        <p:nvSpPr>
          <p:cNvPr id="51" name="a.z2.note"/>
          <p:cNvSpPr txBox="1"/>
          <p:nvPr/>
        </p:nvSpPr>
        <p:spPr>
          <a:xfrm>
            <a:off x="2499360" y="2313432"/>
            <a:ext cx="120091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800" dirty="0">
                <a:solidFill>
                  <a:srgbClr val="1F3D7A"/>
                </a:solidFill>
                <a:latin typeface="Times New Roman Regular" panose="02020503050405090304" charset="0"/>
                <a:ea typeface="Cambria Math" pitchFamily="34" charset="-122"/>
                <a:cs typeface="Times New Roman Regular" panose="02020503050405090304" charset="0"/>
              </a:rPr>
              <a:t>𝒟</a:t>
            </a:r>
            <a:r>
              <a:rPr lang="en-US" sz="800" dirty="0">
                <a:solidFill>
                  <a:srgbClr val="1F3D7A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: </a:t>
            </a:r>
            <a:r>
              <a:rPr lang="en-US" sz="800" b="1" dirty="0">
                <a:solidFill>
                  <a:srgbClr val="1F3D7A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private</a:t>
            </a:r>
            <a:r>
              <a:rPr lang="en-US" sz="800" dirty="0">
                <a:solidFill>
                  <a:srgbClr val="1F3D7A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 optimization</a:t>
            </a:r>
            <a:endParaRPr lang="en-US" sz="800" dirty="0">
              <a:latin typeface="Times New Roman Regular" panose="02020503050405090304" charset="0"/>
              <a:cs typeface="Times New Roman Regular" panose="02020503050405090304" charset="0"/>
            </a:endParaRPr>
          </a:p>
          <a:p>
            <a:pPr marL="0" indent="0" algn="l">
              <a:lnSpc>
                <a:spcPct val="102000"/>
              </a:lnSpc>
              <a:buNone/>
            </a:pPr>
            <a:r>
              <a:rPr lang="en-US" sz="800" dirty="0">
                <a:solidFill>
                  <a:srgbClr val="1F3D7A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set (</a:t>
            </a:r>
            <a:r>
              <a:rPr lang="en-US" sz="800" i="1" dirty="0">
                <a:solidFill>
                  <a:srgbClr val="1F3D7A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n</a:t>
            </a:r>
            <a:r>
              <a:rPr lang="en-US" sz="800" dirty="0">
                <a:solidFill>
                  <a:srgbClr val="1F3D7A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 records)</a:t>
            </a:r>
            <a:endParaRPr lang="en-US" sz="800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2" name="a.z2.feed"/>
          <p:cNvSpPr/>
          <p:nvPr/>
        </p:nvSpPr>
        <p:spPr>
          <a:xfrm>
            <a:off x="2298192" y="2194560"/>
            <a:ext cx="0" cy="128016"/>
          </a:xfrm>
          <a:prstGeom prst="line">
            <a:avLst/>
          </a:prstGeom>
          <a:noFill/>
          <a:ln w="1524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53" name="a.z3.noAccess.ring"/>
          <p:cNvSpPr/>
          <p:nvPr/>
        </p:nvSpPr>
        <p:spPr>
          <a:xfrm>
            <a:off x="3992880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4" name="a.z3.noAccess.slash"/>
          <p:cNvSpPr/>
          <p:nvPr/>
        </p:nvSpPr>
        <p:spPr>
          <a:xfrm>
            <a:off x="4059448" y="2389144"/>
            <a:ext cx="122895" cy="122895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</p:sp>
      <p:sp>
        <p:nvSpPr>
          <p:cNvPr id="55" name="a.z3.note"/>
          <p:cNvSpPr txBox="1"/>
          <p:nvPr/>
        </p:nvSpPr>
        <p:spPr>
          <a:xfrm>
            <a:off x="4285488" y="2313432"/>
            <a:ext cx="12923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Selection reads only</a:t>
            </a:r>
            <a:endParaRPr lang="en-US" sz="800" dirty="0">
              <a:latin typeface="Times New Roman Regular" panose="02020503050405090304" charset="0"/>
              <a:cs typeface="Times New Roman Regular" panose="02020503050405090304" charset="0"/>
            </a:endParaRPr>
          </a:p>
          <a:p>
            <a:pPr marL="0" indent="0" algn="l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Times New Roman Regular" panose="02020503050405090304" charset="0"/>
                <a:ea typeface="Arial" panose="020B0604020202090204" pitchFamily="34" charset="-122"/>
                <a:cs typeface="Times New Roman Regular" panose="02020503050405090304" charset="0"/>
              </a:rPr>
              <a:t>privatized scores</a:t>
            </a:r>
            <a:endParaRPr lang="en-US" sz="800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6" name="a.acct.frame"/>
          <p:cNvSpPr/>
          <p:nvPr/>
        </p:nvSpPr>
        <p:spPr>
          <a:xfrm>
            <a:off x="457200" y="2734056"/>
            <a:ext cx="4846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57" name="a.acct.line1"/>
          <p:cNvSpPr txBox="1"/>
          <p:nvPr/>
        </p:nvSpPr>
        <p:spPr>
          <a:xfrm>
            <a:off x="521208" y="2802636"/>
            <a:ext cx="4718304" cy="1280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1F3D7A"/>
                </a:solidFill>
                <a:latin typeface="Times New Roman" panose="02020503050405090304" pitchFamily="34" charset="0"/>
                <a:ea typeface="Arial" panose="020B0604020202090204" pitchFamily="34" charset="-122"/>
                <a:cs typeface="Times New Roman" panose="02020503050405090304" pitchFamily="34" charset="0"/>
              </a:rPr>
              <a:t>Privacy accounting: </a:t>
            </a:r>
            <a:r>
              <a:rPr lang="en-US" sz="800" dirty="0">
                <a:solidFill>
                  <a:srgbClr val="1F3D7A"/>
                </a:solidFill>
                <a:latin typeface="Times New Roman" panose="02020503050405090304" pitchFamily="34" charset="0"/>
                <a:ea typeface="Arial" panose="020B0604020202090204" pitchFamily="34" charset="-122"/>
                <a:cs typeface="Times New Roman" panose="02020503050405090304" pitchFamily="34" charset="0"/>
              </a:rPr>
              <a:t> at most TK sampled-Gaussian score releases compose in one</a:t>
            </a:r>
            <a:endParaRPr lang="en-US" sz="800" dirty="0">
              <a:solidFill>
                <a:srgbClr val="1F3D7A"/>
              </a:solidFill>
              <a:latin typeface="Times New Roman" panose="02020503050405090304" pitchFamily="34" charset="0"/>
              <a:ea typeface="Arial" panose="020B0604020202090204" pitchFamily="34" charset="-122"/>
              <a:cs typeface="Times New Roman" panose="02020503050405090304" pitchFamily="34" charset="0"/>
            </a:endParaRPr>
          </a:p>
        </p:txBody>
      </p:sp>
      <p:sp>
        <p:nvSpPr>
          <p:cNvPr id="58" name="a.acct.line2"/>
          <p:cNvSpPr txBox="1"/>
          <p:nvPr/>
        </p:nvSpPr>
        <p:spPr>
          <a:xfrm>
            <a:off x="521208" y="2948940"/>
            <a:ext cx="4718304" cy="1280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F3D7A"/>
                </a:solidFill>
                <a:latin typeface="Times New Roman" panose="02020503050405090304" pitchFamily="34" charset="0"/>
                <a:ea typeface="Arial" panose="020B0604020202090204" pitchFamily="34" charset="-122"/>
                <a:cs typeface="Times New Roman" panose="02020503050405090304" pitchFamily="34" charset="0"/>
              </a:rPr>
              <a:t>RDP accountant  ⟹  overall (ε, δ)-DP.   Mutation and selection add no privacy loss.</a:t>
            </a:r>
            <a:endParaRPr lang="en-US" sz="800" dirty="0">
              <a:solidFill>
                <a:srgbClr val="1F3D7A"/>
              </a:solidFill>
              <a:latin typeface="Times New Roman" panose="02020503050405090304" pitchFamily="34" charset="0"/>
              <a:ea typeface="Arial" panose="020B0604020202090204" pitchFamily="34" charset="-122"/>
              <a:cs typeface="Times New Roman" panose="02020503050405090304" pitchFamily="34" charset="0"/>
            </a:endParaRPr>
          </a:p>
        </p:txBody>
      </p:sp>
      <p:sp>
        <p:nvSpPr>
          <p:cNvPr id="59" name="b.title"/>
          <p:cNvSpPr txBox="1"/>
          <p:nvPr/>
        </p:nvSpPr>
        <p:spPr>
          <a:xfrm>
            <a:off x="109728" y="3246120"/>
            <a:ext cx="5541264" cy="1554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(b)   </a:t>
            </a:r>
            <a:r>
              <a:rPr lang="en-US" sz="900" b="1" dirty="0">
                <a:solidFill>
                  <a:srgbClr val="0E7C7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DP-ES</a:t>
            </a:r>
            <a:r>
              <a:rPr lang="en-US" sz="900" b="1" dirty="0">
                <a:solidFill>
                  <a:srgbClr val="1A1F2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vs. </a:t>
            </a:r>
            <a:r>
              <a:rPr lang="en-US" sz="900" b="1" dirty="0">
                <a:solidFill>
                  <a:srgbClr val="B23124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DP-OPT</a:t>
            </a:r>
            <a:r>
              <a:rPr lang="en-US" sz="900" b="1" dirty="0">
                <a:solidFill>
                  <a:srgbClr val="1A1F2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: mechanism and observed stability</a:t>
            </a:r>
            <a:endParaRPr lang="en-US" sz="900" dirty="0"/>
          </a:p>
        </p:txBody>
      </p:sp>
      <p:graphicFrame>
        <p:nvGraphicFramePr>
          <p:cNvPr id="60" name="b.table"/>
          <p:cNvGraphicFramePr>
            <a:graphicFrameLocks noGrp="1"/>
          </p:cNvGraphicFramePr>
          <p:nvPr/>
        </p:nvGraphicFramePr>
        <p:xfrm>
          <a:off x="109728" y="3474720"/>
          <a:ext cx="5541264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2231136"/>
                <a:gridCol w="2231136"/>
              </a:tblGrid>
              <a:tr h="1463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40" b="1" dirty="0">
                          <a:solidFill>
                            <a:srgbClr val="1A1F2B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Aspect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40" b="1" dirty="0">
                          <a:solidFill>
                            <a:srgbClr val="0E7C7B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DP-ES (ours)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40" b="1" dirty="0">
                          <a:solidFill>
                            <a:srgbClr val="B23124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DP-OPT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Search unit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Times New Roman" panose="02020503050405090304" pitchFamily="34" charset="0"/>
                          <a:ea typeface="Arial" panose="020B0604020202090204" pitchFamily="34" charset="-122"/>
                          <a:cs typeface="Times New Roman" panose="02020503050405090304" pitchFamily="34" charset="0"/>
                        </a:rPr>
                        <a:t>Population of complete prompts</a:t>
                      </a:r>
                      <a:endParaRPr lang="en-US" sz="700" dirty="0">
                        <a:solidFill>
                          <a:srgbClr val="1A1F2B"/>
                        </a:solidFill>
                        <a:latin typeface="Times New Roman" panose="02020503050405090304" pitchFamily="34" charset="0"/>
                        <a:ea typeface="Arial" panose="020B0604020202090204" pitchFamily="34" charset="-122"/>
                        <a:cs typeface="Times New Roman" panose="02020503050405090304" pitchFamily="3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Times New Roman" panose="02020503050405090304" pitchFamily="34" charset="0"/>
                          <a:ea typeface="Arial" panose="020B0604020202090204" pitchFamily="34" charset="-122"/>
                          <a:cs typeface="Times New Roman" panose="02020503050405090304" pitchFamily="34" charset="0"/>
                        </a:rPr>
                        <a:t>Greedy token-by-token construction</a:t>
                      </a:r>
                      <a:endParaRPr lang="en-US" sz="700" dirty="0">
                        <a:solidFill>
                          <a:srgbClr val="1A1F2B"/>
                        </a:solidFill>
                        <a:latin typeface="Times New Roman" panose="02020503050405090304" pitchFamily="34" charset="0"/>
                        <a:ea typeface="Arial" panose="020B0604020202090204" pitchFamily="34" charset="-122"/>
                        <a:cs typeface="Times New Roman" panose="02020503050405090304" pitchFamily="3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Private-data access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Times New Roman" panose="02020503050405090304" pitchFamily="34" charset="0"/>
                          <a:ea typeface="Arial" panose="020B0604020202090204" pitchFamily="34" charset="-122"/>
                          <a:cs typeface="Times New Roman" panose="02020503050405090304" pitchFamily="34" charset="0"/>
                        </a:rPr>
                        <a:t>Sampled utility scoring only</a:t>
                      </a:r>
                      <a:endParaRPr lang="en-US" sz="700" dirty="0">
                        <a:solidFill>
                          <a:srgbClr val="1A1F2B"/>
                        </a:solidFill>
                        <a:latin typeface="Times New Roman" panose="02020503050405090304" pitchFamily="34" charset="0"/>
                        <a:ea typeface="Arial" panose="020B0604020202090204" pitchFamily="34" charset="-122"/>
                        <a:cs typeface="Times New Roman" panose="02020503050405090304" pitchFamily="3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Times New Roman" panose="02020503050405090304" pitchFamily="34" charset="0"/>
                          <a:ea typeface="Arial" panose="020B0604020202090204" pitchFamily="34" charset="-122"/>
                          <a:cs typeface="Times New Roman" panose="02020503050405090304" pitchFamily="34" charset="0"/>
                        </a:rPr>
                        <a:t>Private histogram queries during construction</a:t>
                      </a:r>
                      <a:endParaRPr lang="en-US" sz="700" dirty="0">
                        <a:solidFill>
                          <a:srgbClr val="1A1F2B"/>
                        </a:solidFill>
                        <a:latin typeface="Times New Roman" panose="02020503050405090304" pitchFamily="34" charset="0"/>
                        <a:ea typeface="Arial" panose="020B0604020202090204" pitchFamily="34" charset="-122"/>
                        <a:cs typeface="Times New Roman" panose="02020503050405090304" pitchFamily="3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Selection / recovery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Times New Roman" panose="02020503050405090304" pitchFamily="34" charset="0"/>
                          <a:ea typeface="Arial" panose="020B0604020202090204" pitchFamily="34" charset="-122"/>
                          <a:cs typeface="Times New Roman" panose="02020503050405090304" pitchFamily="34" charset="0"/>
                        </a:rPr>
                        <a:t>Top-M on privatized scores; alternatives persist</a:t>
                      </a:r>
                      <a:endParaRPr lang="en-US" sz="700" dirty="0">
                        <a:solidFill>
                          <a:srgbClr val="1A1F2B"/>
                        </a:solidFill>
                        <a:latin typeface="Times New Roman" panose="02020503050405090304" pitchFamily="34" charset="0"/>
                        <a:ea typeface="Arial" panose="020B0604020202090204" pitchFamily="34" charset="-122"/>
                        <a:cs typeface="Times New Roman" panose="02020503050405090304" pitchFamily="3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Times New Roman" panose="02020503050405090304" pitchFamily="34" charset="0"/>
                          <a:ea typeface="Arial" panose="020B0604020202090204" pitchFamily="34" charset="-122"/>
                          <a:cs typeface="Times New Roman" panose="02020503050405090304" pitchFamily="34" charset="0"/>
                        </a:rPr>
                        <a:t>Private token releases; no token-level backtracking</a:t>
                      </a:r>
                      <a:endParaRPr lang="en-US" sz="700" dirty="0">
                        <a:solidFill>
                          <a:srgbClr val="1A1F2B"/>
                        </a:solidFill>
                        <a:latin typeface="Times New Roman" panose="02020503050405090304" pitchFamily="34" charset="0"/>
                        <a:ea typeface="Arial" panose="020B0604020202090204" pitchFamily="34" charset="-122"/>
                        <a:cs typeface="Times New Roman" panose="02020503050405090304" pitchFamily="3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GSM8K (30 runs)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E7C7B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88.1 ± 3.2%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23124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49.5 ± 28.5%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1337</Words>
  <Application>WPS Presentation</Application>
  <PresentationFormat>On-screen Show (16:9)</PresentationFormat>
  <Paragraphs>87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7" baseType="lpstr">
      <vt:lpstr>Arial</vt:lpstr>
      <vt:lpstr>SimSun</vt:lpstr>
      <vt:lpstr>Wingdings</vt:lpstr>
      <vt:lpstr>Arial</vt:lpstr>
      <vt:lpstr>Arial</vt:lpstr>
      <vt:lpstr>Times New Roman</vt:lpstr>
      <vt:lpstr>Times New Roman</vt:lpstr>
      <vt:lpstr>Times New Roman</vt:lpstr>
      <vt:lpstr>Cambria Math</vt:lpstr>
      <vt:lpstr>Kingsoft Math</vt:lpstr>
      <vt:lpstr>Cambria Math</vt:lpstr>
      <vt:lpstr>Cambria Math</vt:lpstr>
      <vt:lpstr>Calibri</vt:lpstr>
      <vt:lpstr>Helvetica Neue</vt:lpstr>
      <vt:lpstr>MS PGothic</vt:lpstr>
      <vt:lpstr>苹方-简</vt:lpstr>
      <vt:lpstr>Apple Symbols</vt:lpstr>
      <vt:lpstr>Microsoft YaHei</vt:lpstr>
      <vt:lpstr>汉仪旗黑</vt:lpstr>
      <vt:lpstr>汉仪书宋二KW</vt:lpstr>
      <vt:lpstr>Arial Unicode MS</vt:lpstr>
      <vt:lpstr>Times New Roman Regular</vt:lpstr>
      <vt:lpstr>BatangChe</vt:lpstr>
      <vt:lpstr>Apple SD Gothic Neo</vt:lpstr>
      <vt:lpstr>DejaVu Math TeX Gyre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unbliverpool</cp:lastModifiedBy>
  <cp:revision>2</cp:revision>
  <dcterms:created xsi:type="dcterms:W3CDTF">2026-08-24T03:36:33Z</dcterms:created>
  <dcterms:modified xsi:type="dcterms:W3CDTF">2026-08-24T03:36:33Z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1033-12.1.26026.26026</vt:lpwstr>
  </property>
  <property fmtid="{D5CDD505-2E9C-101B-9397-08002B2CF9AE}" pid="3" name="ICV">
    <vt:lpwstr>02460C702492B15841BC8B6AFDBE3679_42</vt:lpwstr>
  </property>
</Properties>
</file>