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760720" cy="4453128"/>
  <p:notesSz cx="4453128" cy="57607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.title"/>
          <p:cNvSpPr txBox="1"/>
          <p:nvPr/>
        </p:nvSpPr>
        <p:spPr>
          <a:xfrm>
            <a:off x="109728" y="457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  One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iteration: privacy-free exploration, private scoring</a:t>
            </a:r>
            <a:endParaRPr lang="en-US" sz="900" dirty="0"/>
          </a:p>
        </p:txBody>
      </p:sp>
      <p:sp>
        <p:nvSpPr>
          <p:cNvPr id="3" name="a.loop.rail"/>
          <p:cNvSpPr/>
          <p:nvPr/>
        </p:nvSpPr>
        <p:spPr>
          <a:xfrm>
            <a:off x="1002792" y="365760"/>
            <a:ext cx="3755136" cy="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</a:ln>
        </p:spPr>
      </p:sp>
      <p:sp>
        <p:nvSpPr>
          <p:cNvPr id="4" name="a.loop.enter"/>
          <p:cNvSpPr/>
          <p:nvPr/>
        </p:nvSpPr>
        <p:spPr>
          <a:xfrm>
            <a:off x="1002792" y="365760"/>
            <a:ext cx="0" cy="178308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tailEnd type="triangle"/>
          </a:ln>
        </p:spPr>
      </p:sp>
      <p:sp>
        <p:nvSpPr>
          <p:cNvPr id="5" name="a.loop.exit"/>
          <p:cNvSpPr/>
          <p:nvPr/>
        </p:nvSpPr>
        <p:spPr>
          <a:xfrm>
            <a:off x="4757928" y="365760"/>
            <a:ext cx="0" cy="18288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6" name="a.loop.chip"/>
          <p:cNvSpPr/>
          <p:nvPr/>
        </p:nvSpPr>
        <p:spPr>
          <a:xfrm>
            <a:off x="1691640" y="27889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1F3D7A"/>
            </a:solidFill>
            <a:prstDash val="solid"/>
          </a:ln>
        </p:spPr>
      </p:sp>
      <p:sp>
        <p:nvSpPr>
          <p:cNvPr id="7" name="a.loop.label"/>
          <p:cNvSpPr txBox="1"/>
          <p:nvPr/>
        </p:nvSpPr>
        <p:spPr>
          <a:xfrm>
            <a:off x="1691640" y="315468"/>
            <a:ext cx="23774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survivors 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baseline="-4000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next iteration  (×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680" dirty="0"/>
          </a:p>
        </p:txBody>
      </p:sp>
      <p:sp>
        <p:nvSpPr>
          <p:cNvPr id="8" name="a.z1.frame"/>
          <p:cNvSpPr/>
          <p:nvPr/>
        </p:nvSpPr>
        <p:spPr>
          <a:xfrm>
            <a:off x="109728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1F1F1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9" name="a.z1.header"/>
          <p:cNvSpPr txBox="1"/>
          <p:nvPr/>
        </p:nvSpPr>
        <p:spPr>
          <a:xfrm>
            <a:off x="164592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PRIVACY-FREE</a:t>
            </a:r>
            <a:endParaRPr lang="en-US" sz="760" dirty="0"/>
          </a:p>
        </p:txBody>
      </p:sp>
      <p:sp>
        <p:nvSpPr>
          <p:cNvPr id="10" name="a.z2.frame"/>
          <p:cNvSpPr/>
          <p:nvPr/>
        </p:nvSpPr>
        <p:spPr>
          <a:xfrm>
            <a:off x="1987296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6EDF8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1" name="a.z2.header"/>
          <p:cNvSpPr txBox="1"/>
          <p:nvPr/>
        </p:nvSpPr>
        <p:spPr>
          <a:xfrm>
            <a:off x="2042160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PRIVATE-DATA ACCESS</a:t>
            </a:r>
            <a:endParaRPr lang="en-US" sz="760" dirty="0"/>
          </a:p>
        </p:txBody>
      </p:sp>
      <p:sp>
        <p:nvSpPr>
          <p:cNvPr id="12" name="a.z3.frame"/>
          <p:cNvSpPr/>
          <p:nvPr/>
        </p:nvSpPr>
        <p:spPr>
          <a:xfrm>
            <a:off x="3864864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8F4E6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3" name="a.z3.header"/>
          <p:cNvSpPr txBox="1"/>
          <p:nvPr/>
        </p:nvSpPr>
        <p:spPr>
          <a:xfrm>
            <a:off x="3919728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POST-PROCESSING</a:t>
            </a:r>
            <a:endParaRPr lang="en-US" sz="760" dirty="0"/>
          </a:p>
        </p:txBody>
      </p:sp>
      <p:sp>
        <p:nvSpPr>
          <p:cNvPr id="14" name="a.p1.frame"/>
          <p:cNvSpPr/>
          <p:nvPr/>
        </p:nvSpPr>
        <p:spPr>
          <a:xfrm>
            <a:off x="192024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15" name="a.p1.iconDisc"/>
          <p:cNvSpPr/>
          <p:nvPr/>
        </p:nvSpPr>
        <p:spPr>
          <a:xfrm>
            <a:off x="274320" y="873252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a.p1.icon.strandA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0" y="0"/>
                </a:moveTo>
                <a:cubicBezTo>
                  <a:pt x="138257" y="76810"/>
                  <a:pt x="138257" y="179222"/>
                  <a:pt x="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7" name="a.p1.icon.strandB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197510" y="0"/>
                </a:moveTo>
                <a:cubicBezTo>
                  <a:pt x="59253" y="76810"/>
                  <a:pt x="59253" y="179222"/>
                  <a:pt x="19751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8" name="a.p1.icon.rung1"/>
          <p:cNvSpPr/>
          <p:nvPr/>
        </p:nvSpPr>
        <p:spPr>
          <a:xfrm>
            <a:off x="431524" y="989564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19" name="a.p1.icon.rung2"/>
          <p:cNvSpPr/>
          <p:nvPr/>
        </p:nvSpPr>
        <p:spPr>
          <a:xfrm>
            <a:off x="431524" y="1122700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20" name="a.p1.title"/>
          <p:cNvSpPr txBox="1"/>
          <p:nvPr/>
        </p:nvSpPr>
        <p:spPr>
          <a:xfrm>
            <a:off x="667512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mutation</a:t>
            </a:r>
            <a:endParaRPr lang="en-US" sz="780" dirty="0"/>
          </a:p>
        </p:txBody>
      </p:sp>
      <p:sp>
        <p:nvSpPr>
          <p:cNvPr id="21" name="a.p1.formula1"/>
          <p:cNvSpPr txBox="1"/>
          <p:nvPr/>
        </p:nvSpPr>
        <p:spPr>
          <a:xfrm>
            <a:off x="256032" y="1353312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′  ∼  Mutate(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),  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t−1</a:t>
            </a:r>
            <a:endParaRPr lang="en-US" sz="760" dirty="0"/>
          </a:p>
        </p:txBody>
      </p:sp>
      <p:sp>
        <p:nvSpPr>
          <p:cNvPr id="22" name="a.p1.body"/>
          <p:cNvSpPr txBox="1"/>
          <p:nvPr/>
        </p:nvSpPr>
        <p:spPr>
          <a:xfrm>
            <a:off x="283464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only parent prompts and public randomness; never reads the private set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23" name="a.p1.costPill"/>
          <p:cNvSpPr/>
          <p:nvPr/>
        </p:nvSpPr>
        <p:spPr>
          <a:xfrm>
            <a:off x="374904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0E7C7B"/>
          </a:solidFill>
          <a:ln/>
        </p:spPr>
      </p:sp>
      <p:sp>
        <p:nvSpPr>
          <p:cNvPr id="24" name="a.p1.costLabel"/>
          <p:cNvSpPr txBox="1"/>
          <p:nvPr/>
        </p:nvSpPr>
        <p:spPr>
          <a:xfrm>
            <a:off x="374904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25" name="a.p2.frame"/>
          <p:cNvSpPr/>
          <p:nvPr/>
        </p:nvSpPr>
        <p:spPr>
          <a:xfrm>
            <a:off x="2069592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26" name="a.p2.iconDisc"/>
          <p:cNvSpPr/>
          <p:nvPr/>
        </p:nvSpPr>
        <p:spPr>
          <a:xfrm>
            <a:off x="2151888" y="873252"/>
            <a:ext cx="365760" cy="365760"/>
          </a:xfrm>
          <a:prstGeom prst="ellipse">
            <a:avLst/>
          </a:prstGeom>
          <a:solidFill>
            <a:srgbClr val="1F3D7A"/>
          </a:solidFill>
          <a:ln/>
        </p:spPr>
      </p:sp>
      <p:sp>
        <p:nvSpPr>
          <p:cNvPr id="27" name="a.p2.icon.curve"/>
          <p:cNvSpPr/>
          <p:nvPr/>
        </p:nvSpPr>
        <p:spPr>
          <a:xfrm>
            <a:off x="2214067" y="972007"/>
            <a:ext cx="241402" cy="146304"/>
          </a:xfrm>
          <a:custGeom>
            <a:avLst/>
            <a:gdLst/>
            <a:ahLst/>
            <a:cxnLst/>
            <a:rect l="l" t="t" r="r" b="b"/>
            <a:pathLst>
              <a:path w="241402" h="146304">
                <a:moveTo>
                  <a:pt x="0" y="146304"/>
                </a:moveTo>
                <a:cubicBezTo>
                  <a:pt x="45866" y="146304"/>
                  <a:pt x="70006" y="0"/>
                  <a:pt x="120701" y="0"/>
                </a:cubicBezTo>
                <a:cubicBezTo>
                  <a:pt x="171395" y="0"/>
                  <a:pt x="195535" y="146304"/>
                  <a:pt x="241402" y="146304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8" name="a.p2.icon.axis"/>
          <p:cNvSpPr/>
          <p:nvPr/>
        </p:nvSpPr>
        <p:spPr>
          <a:xfrm>
            <a:off x="2199437" y="1118311"/>
            <a:ext cx="27066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a.p2.icon.sample"/>
          <p:cNvSpPr/>
          <p:nvPr/>
        </p:nvSpPr>
        <p:spPr>
          <a:xfrm>
            <a:off x="2392704" y="1048085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a.p2.title"/>
          <p:cNvSpPr txBox="1"/>
          <p:nvPr/>
        </p:nvSpPr>
        <p:spPr>
          <a:xfrm>
            <a:off x="2545080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scoring</a:t>
            </a:r>
            <a:endParaRPr lang="en-US" sz="780" dirty="0"/>
          </a:p>
        </p:txBody>
      </p:sp>
      <p:sp>
        <p:nvSpPr>
          <p:cNvPr id="31" name="a.p2.formula1"/>
          <p:cNvSpPr txBox="1"/>
          <p:nvPr/>
        </p:nvSpPr>
        <p:spPr>
          <a:xfrm>
            <a:off x="2133600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3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−1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i∈B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clip(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740" dirty="0"/>
          </a:p>
        </p:txBody>
      </p:sp>
      <p:sp>
        <p:nvSpPr>
          <p:cNvPr id="32" name="a.p2.formula2"/>
          <p:cNvSpPr txBox="1"/>
          <p:nvPr/>
        </p:nvSpPr>
        <p:spPr>
          <a:xfrm>
            <a:off x="2133600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release  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𝒩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(0, (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zC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clip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)²)</a:t>
            </a:r>
            <a:endParaRPr lang="en-US" sz="740" dirty="0"/>
          </a:p>
        </p:txBody>
      </p:sp>
      <p:sp>
        <p:nvSpPr>
          <p:cNvPr id="33" name="a.p2.body"/>
          <p:cNvSpPr txBox="1"/>
          <p:nvPr/>
        </p:nvSpPr>
        <p:spPr>
          <a:xfrm>
            <a:off x="2161032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candidate releases one clipped, sampled-Gaussian score from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34" name="a.p2.costPill"/>
          <p:cNvSpPr/>
          <p:nvPr/>
        </p:nvSpPr>
        <p:spPr>
          <a:xfrm>
            <a:off x="2252472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1F3D7A"/>
          </a:solidFill>
          <a:ln/>
        </p:spPr>
      </p:sp>
      <p:sp>
        <p:nvSpPr>
          <p:cNvPr id="35" name="a.p2.costLabel"/>
          <p:cNvSpPr txBox="1"/>
          <p:nvPr/>
        </p:nvSpPr>
        <p:spPr>
          <a:xfrm>
            <a:off x="2252472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score releases total</a:t>
            </a:r>
            <a:endParaRPr lang="en-US" sz="640" dirty="0"/>
          </a:p>
        </p:txBody>
      </p:sp>
      <p:sp>
        <p:nvSpPr>
          <p:cNvPr id="36" name="a.p3.frame"/>
          <p:cNvSpPr/>
          <p:nvPr/>
        </p:nvSpPr>
        <p:spPr>
          <a:xfrm>
            <a:off x="3947160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37" name="a.p3.iconDisc"/>
          <p:cNvSpPr/>
          <p:nvPr/>
        </p:nvSpPr>
        <p:spPr>
          <a:xfrm>
            <a:off x="4029456" y="873252"/>
            <a:ext cx="365760" cy="36576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8" name="a.p3.icon"/>
          <p:cNvSpPr/>
          <p:nvPr/>
        </p:nvSpPr>
        <p:spPr>
          <a:xfrm>
            <a:off x="4109923" y="957377"/>
            <a:ext cx="204826" cy="197510"/>
          </a:xfrm>
          <a:custGeom>
            <a:avLst/>
            <a:gdLst/>
            <a:ahLst/>
            <a:cxnLst/>
            <a:rect l="l" t="t" r="r" b="b"/>
            <a:pathLst>
              <a:path w="204826" h="197510">
                <a:moveTo>
                  <a:pt x="0" y="0"/>
                </a:moveTo>
                <a:lnTo>
                  <a:pt x="204826" y="0"/>
                </a:lnTo>
                <a:lnTo>
                  <a:pt x="126992" y="86905"/>
                </a:lnTo>
                <a:lnTo>
                  <a:pt x="126992" y="197510"/>
                </a:lnTo>
                <a:lnTo>
                  <a:pt x="77834" y="197510"/>
                </a:lnTo>
                <a:lnTo>
                  <a:pt x="77834" y="86905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a.p3.title"/>
          <p:cNvSpPr txBox="1"/>
          <p:nvPr/>
        </p:nvSpPr>
        <p:spPr>
          <a:xfrm>
            <a:off x="4422648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 &amp; select</a:t>
            </a:r>
            <a:endParaRPr lang="en-US" sz="780" dirty="0"/>
          </a:p>
        </p:txBody>
      </p:sp>
      <p:sp>
        <p:nvSpPr>
          <p:cNvPr id="40" name="a.p3.formula1"/>
          <p:cNvSpPr txBox="1"/>
          <p:nvPr/>
        </p:nvSpPr>
        <p:spPr>
          <a:xfrm>
            <a:off x="4011168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Gumbel-smoothed or deterministic</a:t>
            </a:r>
            <a:endParaRPr lang="en-US" sz="720" dirty="0"/>
          </a:p>
        </p:txBody>
      </p:sp>
      <p:sp>
        <p:nvSpPr>
          <p:cNvPr id="41" name="a.p3.formula2"/>
          <p:cNvSpPr txBox="1"/>
          <p:nvPr/>
        </p:nvSpPr>
        <p:spPr>
          <a:xfrm>
            <a:off x="4011168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Top-K(private scores)</a:t>
            </a:r>
            <a:endParaRPr lang="en-US" sz="720" dirty="0"/>
          </a:p>
        </p:txBody>
      </p:sp>
      <p:sp>
        <p:nvSpPr>
          <p:cNvPr id="42" name="a.p3.body"/>
          <p:cNvSpPr txBox="1"/>
          <p:nvPr/>
        </p:nvSpPr>
        <p:spPr>
          <a:xfrm>
            <a:off x="4038600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uses only released scores; both options are post-processing.</a:t>
            </a:r>
            <a:endParaRPr lang="en-US" sz="660" dirty="0"/>
          </a:p>
        </p:txBody>
      </p:sp>
      <p:sp>
        <p:nvSpPr>
          <p:cNvPr id="43" name="a.p3.costPill"/>
          <p:cNvSpPr/>
          <p:nvPr/>
        </p:nvSpPr>
        <p:spPr>
          <a:xfrm>
            <a:off x="4130040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/>
        </p:spPr>
      </p:sp>
      <p:sp>
        <p:nvSpPr>
          <p:cNvPr id="44" name="a.p3.costLabel"/>
          <p:cNvSpPr txBox="1"/>
          <p:nvPr/>
        </p:nvSpPr>
        <p:spPr>
          <a:xfrm>
            <a:off x="4130040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45" name="a.flow.p1p2"/>
          <p:cNvSpPr/>
          <p:nvPr/>
        </p:nvSpPr>
        <p:spPr>
          <a:xfrm>
            <a:off x="1831848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a.flow.p2p3"/>
          <p:cNvSpPr/>
          <p:nvPr/>
        </p:nvSpPr>
        <p:spPr>
          <a:xfrm>
            <a:off x="3709416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a.z1.noAccess.ring"/>
          <p:cNvSpPr/>
          <p:nvPr/>
        </p:nvSpPr>
        <p:spPr>
          <a:xfrm>
            <a:off x="237744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7B"/>
            </a:solidFill>
            <a:prstDash val="solid"/>
          </a:ln>
        </p:spPr>
      </p:sp>
      <p:sp>
        <p:nvSpPr>
          <p:cNvPr id="48" name="a.z1.noAccess.slash"/>
          <p:cNvSpPr/>
          <p:nvPr/>
        </p:nvSpPr>
        <p:spPr>
          <a:xfrm>
            <a:off x="304312" y="2389144"/>
            <a:ext cx="122895" cy="122895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49" name="a.z1.note"/>
          <p:cNvSpPr txBox="1"/>
          <p:nvPr/>
        </p:nvSpPr>
        <p:spPr>
          <a:xfrm>
            <a:off x="530352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 never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endParaRPr lang="en-US" sz="680" dirty="0"/>
          </a:p>
        </p:txBody>
      </p:sp>
      <p:sp>
        <p:nvSpPr>
          <p:cNvPr id="50" name="a.z2.dataset"/>
          <p:cNvSpPr/>
          <p:nvPr/>
        </p:nvSpPr>
        <p:spPr>
          <a:xfrm>
            <a:off x="2170176" y="2308860"/>
            <a:ext cx="256032" cy="292608"/>
          </a:xfrm>
          <a:prstGeom prst="can">
            <a:avLst/>
          </a:prstGeom>
          <a:solidFill>
            <a:srgbClr val="1F3D7A"/>
          </a:solidFill>
          <a:ln w="12700">
            <a:solidFill>
              <a:srgbClr val="1F3D7A"/>
            </a:solidFill>
            <a:prstDash val="solid"/>
          </a:ln>
        </p:spPr>
      </p:sp>
      <p:sp>
        <p:nvSpPr>
          <p:cNvPr id="51" name="a.z2.note"/>
          <p:cNvSpPr txBox="1"/>
          <p:nvPr/>
        </p:nvSpPr>
        <p:spPr>
          <a:xfrm>
            <a:off x="2499360" y="2313432"/>
            <a:ext cx="120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optimization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(</a:t>
            </a:r>
            <a:pPr algn="l" indent="0" marL="0">
              <a:lnSpc>
                <a:spcPct val="102000"/>
              </a:lnSpc>
              <a:buNone/>
            </a:pPr>
            <a:r>
              <a:rPr lang="en-US" sz="68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records)</a:t>
            </a:r>
            <a:endParaRPr lang="en-US" sz="680" dirty="0"/>
          </a:p>
        </p:txBody>
      </p:sp>
      <p:sp>
        <p:nvSpPr>
          <p:cNvPr id="52" name="a.z2.feed"/>
          <p:cNvSpPr/>
          <p:nvPr/>
        </p:nvSpPr>
        <p:spPr>
          <a:xfrm>
            <a:off x="2298192" y="2194560"/>
            <a:ext cx="0" cy="128016"/>
          </a:xfrm>
          <a:prstGeom prst="line">
            <a:avLst/>
          </a:prstGeom>
          <a:noFill/>
          <a:ln w="1524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53" name="a.z3.noAccess.ring"/>
          <p:cNvSpPr/>
          <p:nvPr/>
        </p:nvSpPr>
        <p:spPr>
          <a:xfrm>
            <a:off x="3992880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4" name="a.z3.noAccess.slash"/>
          <p:cNvSpPr/>
          <p:nvPr/>
        </p:nvSpPr>
        <p:spPr>
          <a:xfrm>
            <a:off x="4059448" y="2389144"/>
            <a:ext cx="122895" cy="122895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</p:sp>
      <p:sp>
        <p:nvSpPr>
          <p:cNvPr id="55" name="a.z3.note"/>
          <p:cNvSpPr txBox="1"/>
          <p:nvPr/>
        </p:nvSpPr>
        <p:spPr>
          <a:xfrm>
            <a:off x="4285488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reads only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scores</a:t>
            </a:r>
            <a:endParaRPr lang="en-US" sz="680" dirty="0"/>
          </a:p>
        </p:txBody>
      </p:sp>
      <p:sp>
        <p:nvSpPr>
          <p:cNvPr id="56" name="a.acct.frame"/>
          <p:cNvSpPr/>
          <p:nvPr/>
        </p:nvSpPr>
        <p:spPr>
          <a:xfrm>
            <a:off x="457200" y="2734056"/>
            <a:ext cx="4846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57" name="a.acct.line1"/>
          <p:cNvSpPr txBox="1"/>
          <p:nvPr/>
        </p:nvSpPr>
        <p:spPr>
          <a:xfrm>
            <a:off x="521208" y="2802636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accounting: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only the </a:t>
            </a:r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sampled-Gaussian score releases compose in one</a:t>
            </a:r>
            <a:endParaRPr lang="en-US" sz="720" dirty="0"/>
          </a:p>
        </p:txBody>
      </p:sp>
      <p:sp>
        <p:nvSpPr>
          <p:cNvPr id="58" name="a.acct.line2"/>
          <p:cNvSpPr txBox="1"/>
          <p:nvPr/>
        </p:nvSpPr>
        <p:spPr>
          <a:xfrm>
            <a:off x="521208" y="2948940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RDP accountant  ⟹  overall (ε, δ)-DP.   Mutation and selection add no privacy loss.</a:t>
            </a:r>
            <a:endParaRPr lang="en-US" sz="720" dirty="0"/>
          </a:p>
        </p:txBody>
      </p:sp>
      <p:sp>
        <p:nvSpPr>
          <p:cNvPr id="59" name="b.title"/>
          <p:cNvSpPr txBox="1"/>
          <p:nvPr/>
        </p:nvSpPr>
        <p:spPr>
          <a:xfrm>
            <a:off x="109728" y="32461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 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B2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DP-OPT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mechanism and observed stability</a:t>
            </a:r>
            <a:endParaRPr lang="en-US" sz="900" dirty="0"/>
          </a:p>
        </p:txBody>
      </p:sp>
      <p:graphicFrame>
        <p:nvGraphicFramePr>
          <p:cNvPr id="2" name="b.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" y="3474720"/>
          <a:ext cx="5541264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2231136"/>
                <a:gridCol w="2231136"/>
              </a:tblGrid>
              <a:tr h="1463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DP-ES (ours)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DP-OPT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unit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Population of complete prompts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token-by-token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Private-data access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Sampled utility scoring only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histogram queries during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Selection / recovery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Top-K on privatized scores; alternatives persist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token releases; no token-level backtracking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GSM8K (30 runs)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 ± 3.2%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 ± 28.5%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2026-08-24T01:43:12Z</dcterms:created>
  <dcterms:modified xsi:type="dcterms:W3CDTF">2026-08-24T01:43:12Z</dcterms:modified>
</cp:coreProperties>
</file>