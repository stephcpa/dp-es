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Quattrocento Sans" charset="-122" pitchFamily="34"/>
      <p:regular r:id="rId13"/>
    </p:embeddedFont>
    <p:embeddedFont>
      <p:font typeface="Unna" charset="-122" pitchFamily="34"/>
      <p:regular r:id="rId14"/>
    </p:embeddedFont>
    <p:embeddedFont>
      <p:font typeface="MiSans" charset="-122" pitchFamily="34"/>
      <p:regular r:id="rId15"/>
    </p:embeddedFont>
    <p:embeddedFont>
      <p:font typeface="JetBrains Mono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image" Target="../media/image7_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736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C2F39"/>
                </a:solidFill>
                <a:latin typeface="Quattrocento Sans"/>
                <a:ea typeface="Quattrocento Sans"/>
              </a:rPr>
              <a:t>EMNLP 2026 · VIRTUAL PRESENTATION</a:t>
            </a:r>
            <a:endParaRPr lang="en-US" sz="1100" noProof="1"/>
          </a:p>
        </p:txBody>
      </p:sp>
      <p:sp>
        <p:nvSpPr>
          <p:cNvPr id="3" name="rule-top"/>
          <p:cNvSpPr/>
          <p:nvPr/>
        </p:nvSpPr>
        <p:spPr>
          <a:xfrm>
            <a:off x="762000" y="1092200"/>
            <a:ext cx="812800" cy="381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13716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2000"/>
              </a:lnSpc>
            </a:pPr>
            <a:r>
              <a:rPr lang="en-US" sz="4200" noProof="1">
                <a:solidFill>
                  <a:srgbClr val="23201B"/>
                </a:solidFill>
                <a:latin typeface="Unna"/>
                <a:ea typeface="Unna"/>
              </a:rPr>
              <a:t>DP-ES: Differentially Private Evolution Strategies for Prompt Optimization</a:t>
            </a:r>
            <a:endParaRPr lang="en-US" sz="4200" noProof="1"/>
          </a:p>
        </p:txBody>
      </p:sp>
      <p:sp>
        <p:nvSpPr>
          <p:cNvPr id="5" name="authors"/>
          <p:cNvSpPr txBox="1"/>
          <p:nvPr/>
        </p:nvSpPr>
        <p:spPr>
          <a:xfrm>
            <a:off x="762000" y="3124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Ziniu Liu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Aiping Li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1,*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Yue Han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Han Yu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Junjian Zhang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Dong Zhu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Changjian Li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1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, Shiqiang Zhang</a:t>
            </a:r>
            <a:r>
              <a:rPr lang="en-US" sz="1500" noProof="1" baseline="30000">
                <a:solidFill>
                  <a:srgbClr val="23201B"/>
                </a:solidFill>
                <a:latin typeface="Quattrocento Sans"/>
                <a:ea typeface="Quattrocento Sans"/>
              </a:rPr>
              <a:t>2</a:t>
            </a:r>
            <a:endParaRPr lang="en-US" sz="1500" noProof="1"/>
          </a:p>
        </p:txBody>
      </p:sp>
      <p:sp>
        <p:nvSpPr>
          <p:cNvPr id="6" name="affiliations"/>
          <p:cNvSpPr txBox="1"/>
          <p:nvPr/>
        </p:nvSpPr>
        <p:spPr>
          <a:xfrm>
            <a:off x="762000" y="34544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aseline="30000">
                <a:solidFill>
                  <a:srgbClr val="6E675C"/>
                </a:solidFill>
                <a:latin typeface="Quattrocento Sans"/>
                <a:ea typeface="Quattrocento Sans"/>
              </a:rPr>
              <a:t>1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National University of Defense Technology</a:t>
            </a:r>
            <a:endParaRPr lang="en-US" sz="120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200" noProof="1" baseline="30000">
                <a:solidFill>
                  <a:srgbClr val="6E675C"/>
                </a:solidFill>
                <a:latin typeface="Quattrocento Sans"/>
                <a:ea typeface="Quattrocento Sans"/>
              </a:rPr>
              <a:t>2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CRRC Zhuzhou Electric Locomotive Research Institute, China Academy of Railway Sciences</a:t>
            </a:r>
            <a:endParaRPr lang="en-US" sz="120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* Corresponding author: liaiping@nudt.edu.cn</a:t>
            </a:r>
            <a:endParaRPr lang="en-US" sz="1200" noProof="1"/>
          </a:p>
        </p:txBody>
      </p:sp>
      <p:sp>
        <p:nvSpPr>
          <p:cNvPr id="7" name="contrib-rule"/>
          <p:cNvSpPr/>
          <p:nvPr/>
        </p:nvSpPr>
        <p:spPr>
          <a:xfrm>
            <a:off x="762000" y="4318000"/>
            <a:ext cx="38100" cy="9398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8" name="contribution"/>
          <p:cNvSpPr txBox="1"/>
          <p:nvPr/>
        </p:nvSpPr>
        <p:spPr>
          <a:xfrm>
            <a:off x="1016000" y="4318000"/>
            <a:ext cx="10160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2000" noProof="1" i="1">
                <a:solidFill>
                  <a:srgbClr val="6E222B"/>
                </a:solidFill>
                <a:latin typeface="Unna"/>
                <a:ea typeface="Unna"/>
              </a:rPr>
              <a:t>A population-based DP prompt optimizer that spends privacy budget </a:t>
            </a:r>
            <a:r>
              <a:rPr lang="en-US" sz="2000" noProof="1" b="1" i="1">
                <a:solidFill>
                  <a:srgbClr val="6E222B"/>
                </a:solidFill>
                <a:latin typeface="Unna"/>
                <a:ea typeface="Unna"/>
              </a:rPr>
              <a:t>only on scoring</a:t>
            </a:r>
            <a:r>
              <a:rPr lang="en-US" sz="2000" noProof="1" i="1">
                <a:solidFill>
                  <a:srgbClr val="6E222B"/>
                </a:solidFill>
                <a:latin typeface="Unna"/>
                <a:ea typeface="Unna"/>
              </a:rPr>
              <a:t> — stable where token-level DP construction collapses.</a:t>
            </a:r>
            <a:endParaRPr lang="en-US" sz="2000" noProof="1"/>
          </a:p>
        </p:txBody>
      </p:sp>
      <p:sp>
        <p:nvSpPr>
          <p:cNvPr id="9" name="rule-bottom"/>
          <p:cNvSpPr/>
          <p:nvPr/>
        </p:nvSpPr>
        <p:spPr>
          <a:xfrm>
            <a:off x="762000" y="58674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0" name="github"/>
          <p:cNvSpPr txBox="1"/>
          <p:nvPr/>
        </p:nvSpPr>
        <p:spPr>
          <a:xfrm>
            <a:off x="762000" y="6045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75C"/>
                </a:solidFill>
                <a:latin typeface="JetBrains Mono"/>
                <a:ea typeface="JetBrains Mono"/>
              </a:rPr>
              <a:t>code &amp; accounting:</a:t>
            </a:r>
            <a:r>
              <a:rPr lang="en-US" sz="1300" noProof="1">
                <a:solidFill>
                  <a:srgbClr val="23201B"/>
                </a:solidFill>
                <a:latin typeface="JetBrains Mono"/>
                <a:ea typeface="JetBrains Mono"/>
              </a:rPr>
              <a:t> github.com/StephCpa/dp-es</a:t>
            </a:r>
            <a:endParaRPr lang="en-US" sz="1300" noProof="1"/>
          </a:p>
        </p:txBody>
      </p:sp>
      <p:sp>
        <p:nvSpPr>
          <p:cNvPr id="11" name="venue"/>
          <p:cNvSpPr txBox="1"/>
          <p:nvPr/>
        </p:nvSpPr>
        <p:spPr>
          <a:xfrm>
            <a:off x="7112000" y="6045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Camera-ready · October 2026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01 · PROBLEM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Prompt optimization on sensitive data must be private — and stable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left-body"/>
          <p:cNvSpPr txBox="1"/>
          <p:nvPr/>
        </p:nvSpPr>
        <p:spPr>
          <a:xfrm>
            <a:off x="762000" y="1600200"/>
            <a:ext cx="5461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Automatic prompt optimization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 tunes prompts directly on task data — when those data are sensitive (patient records, financial logs), the optimizer can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memorize and expose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 private information.</a:t>
            </a:r>
            <a:endParaRPr lang="en-US" sz="155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Formal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(ε, δ)-differential privacy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 bounds this leakage — but the required noise stresses the optimizer itself: under a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tight budget (ε ≤ 1)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, the leading token-level method, DP-OPT, becomes highly unstable.</a:t>
            </a:r>
            <a:endParaRPr lang="en-US" sz="1550" noProof="1"/>
          </a:p>
        </p:txBody>
      </p:sp>
      <p:sp>
        <p:nvSpPr>
          <p:cNvPr id="7" name="right-stat-label"/>
          <p:cNvSpPr txBox="1"/>
          <p:nvPr/>
        </p:nvSpPr>
        <p:spPr>
          <a:xfrm>
            <a:off x="6731000" y="16002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2F39"/>
                </a:solidFill>
                <a:latin typeface="Quattrocento Sans"/>
                <a:ea typeface="Quattrocento Sans"/>
              </a:rPr>
              <a:t>THE HEADLINE NUMBER</a:t>
            </a:r>
            <a:endParaRPr lang="en-US" sz="1100" noProof="1"/>
          </a:p>
        </p:txBody>
      </p:sp>
      <p:sp>
        <p:nvSpPr>
          <p:cNvPr id="8" name="right-stat"/>
          <p:cNvSpPr txBox="1"/>
          <p:nvPr/>
        </p:nvSpPr>
        <p:spPr>
          <a:xfrm>
            <a:off x="6731000" y="1879600"/>
            <a:ext cx="469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>
                <a:solidFill>
                  <a:srgbClr val="8C2F39"/>
                </a:solidFill>
                <a:latin typeface="Unna"/>
                <a:ea typeface="Unna"/>
              </a:rPr>
              <a:t>49.5 ± 28.5%</a:t>
            </a:r>
            <a:endParaRPr lang="en-US" sz="5400" noProof="1"/>
          </a:p>
        </p:txBody>
      </p:sp>
      <p:sp>
        <p:nvSpPr>
          <p:cNvPr id="9" name="right-stat-cap"/>
          <p:cNvSpPr txBox="1"/>
          <p:nvPr/>
        </p:nvSpPr>
        <p:spPr>
          <a:xfrm>
            <a:off x="6731000" y="29972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DP-OPT accuracy on GSM8K, mean ± std over </a:t>
            </a:r>
            <a:r>
              <a:rPr lang="en-US" sz="1250" noProof="1" b="1">
                <a:solidFill>
                  <a:srgbClr val="6E675C"/>
                </a:solidFill>
                <a:latin typeface="Quattrocento Sans"/>
                <a:ea typeface="Quattrocento Sans"/>
              </a:rPr>
              <a:t>30 runs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 at (ε ≤ 1.0, δ = 10</a:t>
            </a:r>
            <a:r>
              <a:rPr lang="en-US" sz="1250" noProof="1" baseline="30000">
                <a:solidFill>
                  <a:srgbClr val="6E675C"/>
                </a:solidFill>
                <a:latin typeface="Quattrocento Sans"/>
                <a:ea typeface="Quattrocento Sans"/>
              </a:rPr>
              <a:t>-5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) — the spread is wider than the mean is from either bound.</a:t>
            </a:r>
            <a:endParaRPr lang="en-US" sz="1250" noProof="1"/>
          </a:p>
        </p:txBody>
      </p:sp>
      <p:sp>
        <p:nvSpPr>
          <p:cNvPr id="10" name="rule-mid"/>
          <p:cNvSpPr/>
          <p:nvPr/>
        </p:nvSpPr>
        <p:spPr>
          <a:xfrm>
            <a:off x="762000" y="45974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1" name="hypo-tag"/>
          <p:cNvSpPr/>
          <p:nvPr/>
        </p:nvSpPr>
        <p:spPr>
          <a:xfrm>
            <a:off x="762000" y="4902200"/>
            <a:ext cx="1625600" cy="2794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12" name="hypo-tag-text"/>
          <p:cNvSpPr txBox="1"/>
          <p:nvPr/>
        </p:nvSpPr>
        <p:spPr>
          <a:xfrm>
            <a:off x="762000" y="4902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FFFFFF"/>
                </a:solidFill>
                <a:latin typeface="Quattrocento Sans"/>
                <a:ea typeface="Quattrocento Sans"/>
              </a:rPr>
              <a:t>HYPOTHETICAL</a:t>
            </a:r>
            <a:endParaRPr lang="en-US" sz="1100" noProof="1"/>
          </a:p>
        </p:txBody>
      </p:sp>
      <p:sp>
        <p:nvSpPr>
          <p:cNvPr id="13" name="hypo-text"/>
          <p:cNvSpPr txBox="1"/>
          <p:nvPr/>
        </p:nvSpPr>
        <p:spPr>
          <a:xfrm>
            <a:off x="2667000" y="4775200"/>
            <a:ext cx="876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600" noProof="1" i="1">
                <a:solidFill>
                  <a:srgbClr val="23201B"/>
                </a:solidFill>
                <a:latin typeface="Unna"/>
                <a:ea typeface="Unna"/>
              </a:rPr>
              <a:t>What a </a:t>
            </a:r>
            <a:r>
              <a:rPr lang="en-US" sz="1600" noProof="1" b="1" i="1">
                <a:solidFill>
                  <a:srgbClr val="23201B"/>
                </a:solidFill>
                <a:latin typeface="Unna"/>
                <a:ea typeface="Unna"/>
              </a:rPr>
              <a:t>non-private</a:t>
            </a:r>
            <a:r>
              <a:rPr lang="en-US" sz="1600" noProof="1" i="1">
                <a:solidFill>
                  <a:srgbClr val="23201B"/>
                </a:solidFill>
                <a:latin typeface="Unna"/>
                <a:ea typeface="Unna"/>
              </a:rPr>
              <a:t> optimizer could produce: a final prompt that embeds memorized records — e.g. “…patient #12847, diagnosed with …, prescribed …” — shipped to every downstream user of the prompt.</a:t>
            </a:r>
            <a:endParaRPr lang="en-US" sz="1600" noProof="1"/>
          </a:p>
        </p:txBody>
      </p:sp>
      <p:sp>
        <p:nvSpPr>
          <p:cNvPr id="14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5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6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2 / 10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01 · PROBLEM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Diagnosis: why token-level DP construction collapses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left-body"/>
          <p:cNvSpPr txBox="1"/>
          <p:nvPr/>
        </p:nvSpPr>
        <p:spPr>
          <a:xfrm>
            <a:off x="762000" y="1524000"/>
            <a:ext cx="5969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23201B"/>
                </a:solidFill>
                <a:latin typeface="Quattrocento Sans"/>
                <a:ea typeface="Quattrocento Sans"/>
              </a:rPr>
              <a:t>Greedy token-by-token construction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 samples each next token from privately aggregated histogram counts.</a:t>
            </a:r>
            <a:endParaRPr lang="en-US" sz="15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500" noProof="1" b="1">
                <a:solidFill>
                  <a:srgbClr val="23201B"/>
                </a:solidFill>
                <a:latin typeface="Quattrocento Sans"/>
                <a:ea typeface="Quattrocento Sans"/>
              </a:rPr>
              <a:t>Noise-driven, irreversible choices.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 Privacy noise can flip a token choice; with no backtracking, one early decision redirects all later tokens.</a:t>
            </a:r>
            <a:endParaRPr lang="en-US" sz="15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500" noProof="1" b="1">
                <a:solidFill>
                  <a:srgbClr val="23201B"/>
                </a:solidFill>
                <a:latin typeface="Quattrocento Sans"/>
                <a:ea typeface="Quattrocento Sans"/>
              </a:rPr>
              <a:t>Template drift.</a:t>
            </a:r>
            <a:r>
              <a:rPr lang="en-US" sz="1500" noProof="1">
                <a:solidFill>
                  <a:srgbClr val="23201B"/>
                </a:solidFill>
                <a:latin typeface="Quattrocento Sans"/>
                <a:ea typeface="Quattrocento Sans"/>
              </a:rPr>
              <a:t> The constructed prompt silently loses the structural placeholder the task needs.</a:t>
            </a:r>
            <a:endParaRPr lang="en-US" sz="1500" noProof="1"/>
          </a:p>
        </p:txBody>
      </p:sp>
      <p:sp>
        <p:nvSpPr>
          <p:cNvPr id="7" name="right-stat"/>
          <p:cNvSpPr txBox="1"/>
          <p:nvPr/>
        </p:nvSpPr>
        <p:spPr>
          <a:xfrm>
            <a:off x="7366000" y="1498600"/>
            <a:ext cx="406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>
                <a:solidFill>
                  <a:srgbClr val="8C2F39"/>
                </a:solidFill>
                <a:latin typeface="Unna"/>
                <a:ea typeface="Unna"/>
              </a:rPr>
              <a:t>21 / 33</a:t>
            </a:r>
            <a:endParaRPr lang="en-US" sz="4800" noProof="1"/>
          </a:p>
        </p:txBody>
      </p:sp>
      <p:sp>
        <p:nvSpPr>
          <p:cNvPr id="8" name="right-stat-cap"/>
          <p:cNvSpPr txBox="1"/>
          <p:nvPr/>
        </p:nvSpPr>
        <p:spPr>
          <a:xfrm>
            <a:off x="7366000" y="2362200"/>
            <a:ext cx="406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candidate prompts omit the </a:t>
            </a:r>
            <a:r>
              <a:rPr lang="en-US" sz="1250" noProof="1">
                <a:solidFill>
                  <a:srgbClr val="6E675C"/>
                </a:solidFill>
                <a:latin typeface="JetBrains Mono"/>
                <a:ea typeface="JetBrains Mono"/>
              </a:rPr>
              <a:t>{question}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 placeholder in </a:t>
            </a:r>
            <a:r>
              <a:rPr lang="en-US" sz="1250" noProof="1" b="1">
                <a:solidFill>
                  <a:srgbClr val="6E675C"/>
                </a:solidFill>
                <a:latin typeface="Quattrocento Sans"/>
                <a:ea typeface="Quattrocento Sans"/>
              </a:rPr>
              <a:t>one representative logged GSM8K trajectory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 (2/3 selected prompts omit it) — evidence of </a:t>
            </a:r>
            <a:r>
              <a:rPr lang="en-US" sz="1250" noProof="1" b="1">
                <a:solidFill>
                  <a:srgbClr val="6E675C"/>
                </a:solidFill>
                <a:latin typeface="Quattrocento Sans"/>
                <a:ea typeface="Quattrocento Sans"/>
              </a:rPr>
              <a:t>template drift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, not a failure rate.</a:t>
            </a:r>
            <a:endParaRPr lang="en-US" sz="1250" noProof="1"/>
          </a:p>
        </p:txBody>
      </p:sp>
      <p:pic>
        <p:nvPicPr>
          <p:cNvPr id="9" name="drift-img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3810000"/>
            <a:ext cx="9969500" cy="2286000"/>
          </a:xfrm>
          <a:prstGeom prst="rect">
            <a:avLst/>
          </a:prstGeom>
          <a:ln>
            <a:noFill/>
          </a:ln>
        </p:spPr>
      </p:pic>
      <p:sp>
        <p:nvSpPr>
          <p:cNvPr id="10" name="drift-img-border"/>
          <p:cNvSpPr/>
          <p:nvPr/>
        </p:nvSpPr>
        <p:spPr>
          <a:xfrm>
            <a:off x="762000" y="3810000"/>
            <a:ext cx="9969500" cy="2286000"/>
          </a:xfrm>
          <a:prstGeom prst="rect">
            <a:avLst/>
          </a:prstGeom>
          <a:noFill/>
          <a:ln w="12700">
            <a:solidFill>
              <a:srgbClr val="CFC8B8"/>
            </a:solidFill>
          </a:ln>
        </p:spPr>
      </p:sp>
      <p:sp>
        <p:nvSpPr>
          <p:cNvPr id="11" name="drift-cap"/>
          <p:cNvSpPr txBox="1"/>
          <p:nvPr/>
        </p:nvSpPr>
        <p:spPr>
          <a:xfrm>
            <a:off x="762000" y="61722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Real DP-OPT log (seed 42 — a high-accuracy run). The evaluator appends the question when the placeholder is absent: a </a:t>
            </a: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structural-drift diagnostic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, not a zero-accuracy event.</a:t>
            </a:r>
            <a:endParaRPr lang="en-US" sz="1050" noProof="1"/>
          </a:p>
        </p:txBody>
      </p:sp>
      <p:sp>
        <p:nvSpPr>
          <p:cNvPr id="12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3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4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3 / 10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02 · IDEA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Core idea: decouple exploration from privacy spending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bigstatement"/>
          <p:cNvSpPr txBox="1"/>
          <p:nvPr/>
        </p:nvSpPr>
        <p:spPr>
          <a:xfrm>
            <a:off x="762000" y="1549400"/>
            <a:ext cx="10668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3000" noProof="1" i="1">
                <a:solidFill>
                  <a:srgbClr val="6E222B"/>
                </a:solidFill>
                <a:latin typeface="Unna"/>
                <a:ea typeface="Unna"/>
              </a:rPr>
              <a:t>Evolve a population of </a:t>
            </a:r>
            <a:r>
              <a:rPr lang="en-US" sz="3000" noProof="1" b="1" i="1">
                <a:solidFill>
                  <a:srgbClr val="6E222B"/>
                </a:solidFill>
                <a:latin typeface="Unna"/>
                <a:ea typeface="Unna"/>
              </a:rPr>
              <a:t>complete prompts</a:t>
            </a:r>
            <a:r>
              <a:rPr lang="en-US" sz="3000" noProof="1" i="1">
                <a:solidFill>
                  <a:srgbClr val="6E222B"/>
                </a:solidFill>
                <a:latin typeface="Unna"/>
                <a:ea typeface="Unna"/>
              </a:rPr>
              <a:t>.</a:t>
            </a:r>
            <a:endParaRPr lang="en-US" sz="3000" noProof="1"/>
          </a:p>
          <a:p>
            <a:pPr algn="l">
              <a:lnSpc>
                <a:spcPct val="130000"/>
              </a:lnSpc>
            </a:pPr>
            <a:r>
              <a:rPr lang="en-US" sz="3000" noProof="1" i="1">
                <a:solidFill>
                  <a:srgbClr val="6E222B"/>
                </a:solidFill>
                <a:latin typeface="Unna"/>
                <a:ea typeface="Unna"/>
              </a:rPr>
              <a:t>Pay privacy budget </a:t>
            </a:r>
            <a:r>
              <a:rPr lang="en-US" sz="3000" noProof="1" b="1" i="1">
                <a:solidFill>
                  <a:srgbClr val="6E222B"/>
                </a:solidFill>
                <a:latin typeface="Unna"/>
                <a:ea typeface="Unna"/>
              </a:rPr>
              <a:t>only for scoring</a:t>
            </a:r>
            <a:r>
              <a:rPr lang="en-US" sz="3000" noProof="1" i="1">
                <a:solidFill>
                  <a:srgbClr val="6E222B"/>
                </a:solidFill>
                <a:latin typeface="Unna"/>
                <a:ea typeface="Unna"/>
              </a:rPr>
              <a:t>.</a:t>
            </a:r>
            <a:endParaRPr lang="en-US" sz="3000" noProof="1"/>
          </a:p>
        </p:txBody>
      </p:sp>
      <p:sp>
        <p:nvSpPr>
          <p:cNvPr id="7" name="row1-rule"/>
          <p:cNvSpPr/>
          <p:nvPr/>
        </p:nvSpPr>
        <p:spPr>
          <a:xfrm>
            <a:off x="762000" y="28702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8" name="row1-label"/>
          <p:cNvSpPr txBox="1"/>
          <p:nvPr/>
        </p:nvSpPr>
        <p:spPr>
          <a:xfrm>
            <a:off x="762000" y="3098800"/>
            <a:ext cx="215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 spc="100" kern="0">
                <a:solidFill>
                  <a:srgbClr val="8C2F39"/>
                </a:solidFill>
                <a:latin typeface="JetBrains Mono"/>
                <a:ea typeface="JetBrains Mono"/>
              </a:rPr>
              <a:t>MUTATION</a:t>
            </a:r>
            <a:endParaRPr lang="en-US" sz="13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 b="1" spc="100" kern="0">
                <a:solidFill>
                  <a:srgbClr val="9B9489"/>
                </a:solidFill>
                <a:latin typeface="JetBrains Mono"/>
                <a:ea typeface="JetBrains Mono"/>
              </a:rPr>
              <a:t>privacy-free</a:t>
            </a:r>
            <a:endParaRPr lang="en-US" sz="1300" noProof="1"/>
          </a:p>
        </p:txBody>
      </p:sp>
      <p:sp>
        <p:nvSpPr>
          <p:cNvPr id="9" name="row1-text"/>
          <p:cNvSpPr txBox="1"/>
          <p:nvPr/>
        </p:nvSpPr>
        <p:spPr>
          <a:xfrm>
            <a:off x="3175000" y="3098800"/>
            <a:ext cx="825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An LLM rewrites complete prompt strings. It never accesses D — by the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post-processing property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, exploration can be arbitrarily rich at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zero privacy cost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.</a:t>
            </a:r>
            <a:endParaRPr lang="en-US" sz="1550" noProof="1"/>
          </a:p>
        </p:txBody>
      </p:sp>
      <p:sp>
        <p:nvSpPr>
          <p:cNvPr id="10" name="row2-rule"/>
          <p:cNvSpPr/>
          <p:nvPr/>
        </p:nvSpPr>
        <p:spPr>
          <a:xfrm>
            <a:off x="762000" y="40132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1" name="row2-label"/>
          <p:cNvSpPr txBox="1"/>
          <p:nvPr/>
        </p:nvSpPr>
        <p:spPr>
          <a:xfrm>
            <a:off x="762000" y="4241800"/>
            <a:ext cx="215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 spc="100" kern="0">
                <a:solidFill>
                  <a:srgbClr val="8C2F39"/>
                </a:solidFill>
                <a:latin typeface="JetBrains Mono"/>
                <a:ea typeface="JetBrains Mono"/>
              </a:rPr>
              <a:t>SCORING</a:t>
            </a:r>
            <a:endParaRPr lang="en-US" sz="13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 b="1" spc="100" kern="0">
                <a:solidFill>
                  <a:srgbClr val="9B9489"/>
                </a:solidFill>
                <a:latin typeface="JetBrains Mono"/>
                <a:ea typeface="JetBrains Mono"/>
              </a:rPr>
              <a:t>touches D</a:t>
            </a:r>
            <a:endParaRPr lang="en-US" sz="1300" noProof="1"/>
          </a:p>
        </p:txBody>
      </p:sp>
      <p:sp>
        <p:nvSpPr>
          <p:cNvPr id="12" name="row2-text"/>
          <p:cNvSpPr txBox="1"/>
          <p:nvPr/>
        </p:nvSpPr>
        <p:spPr>
          <a:xfrm>
            <a:off x="3175000" y="4241800"/>
            <a:ext cx="825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Sampled-Gaussian evaluation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 is the only step that reads the private dataset — the entire budget is concentrated here and composed by an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RDP accountant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.</a:t>
            </a:r>
            <a:endParaRPr lang="en-US" sz="1550" noProof="1"/>
          </a:p>
        </p:txBody>
      </p:sp>
      <p:sp>
        <p:nvSpPr>
          <p:cNvPr id="13" name="row3-rule"/>
          <p:cNvSpPr/>
          <p:nvPr/>
        </p:nvSpPr>
        <p:spPr>
          <a:xfrm>
            <a:off x="762000" y="51562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4" name="row3-label"/>
          <p:cNvSpPr txBox="1"/>
          <p:nvPr/>
        </p:nvSpPr>
        <p:spPr>
          <a:xfrm>
            <a:off x="762000" y="5384800"/>
            <a:ext cx="215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 spc="100" kern="0">
                <a:solidFill>
                  <a:srgbClr val="8C2F39"/>
                </a:solidFill>
                <a:latin typeface="JetBrains Mono"/>
                <a:ea typeface="JetBrains Mono"/>
              </a:rPr>
              <a:t>SELECTION</a:t>
            </a:r>
            <a:endParaRPr lang="en-US" sz="13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noProof="1" b="1" spc="100" kern="0">
                <a:solidFill>
                  <a:srgbClr val="9B9489"/>
                </a:solidFill>
                <a:latin typeface="JetBrains Mono"/>
                <a:ea typeface="JetBrains Mono"/>
              </a:rPr>
              <a:t>post-processing</a:t>
            </a:r>
            <a:endParaRPr lang="en-US" sz="1300" noProof="1"/>
          </a:p>
        </p:txBody>
      </p:sp>
      <p:sp>
        <p:nvSpPr>
          <p:cNvPr id="15" name="row3-text"/>
          <p:cNvSpPr txBox="1"/>
          <p:nvPr/>
        </p:nvSpPr>
        <p:spPr>
          <a:xfrm>
            <a:off x="3175000" y="5384800"/>
            <a:ext cx="825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Top-M parents chosen from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privatized scores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 (deterministic or Gumbel-smoothed). Uses only released values — </a:t>
            </a:r>
            <a:r>
              <a:rPr lang="en-US" sz="1550" noProof="1" b="1">
                <a:solidFill>
                  <a:srgbClr val="23201B"/>
                </a:solidFill>
                <a:latin typeface="Quattrocento Sans"/>
                <a:ea typeface="Quattrocento Sans"/>
              </a:rPr>
              <a:t>zero additional privacy loss</a:t>
            </a:r>
            <a:r>
              <a:rPr lang="en-US" sz="1550" noProof="1">
                <a:solidFill>
                  <a:srgbClr val="23201B"/>
                </a:solidFill>
                <a:latin typeface="Quattrocento Sans"/>
                <a:ea typeface="Quattrocento Sans"/>
              </a:rPr>
              <a:t>.</a:t>
            </a:r>
            <a:endParaRPr lang="en-US" sz="1550" noProof="1"/>
          </a:p>
        </p:txBody>
      </p:sp>
      <p:sp>
        <p:nvSpPr>
          <p:cNvPr id="16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7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8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4 / 10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03 · METHOD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DP-ES: three phases per iteration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pic>
        <p:nvPicPr>
          <p:cNvPr id="6" name="workflow-img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668000" cy="339090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formula"/>
              <p:cNvSpPr txBox="1"/>
              <p:nvPr/>
            </p:nvSpPr>
            <p:spPr>
              <a:xfrm>
                <a:off x="762000" y="5029200"/>
                <a:ext cx="6604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700" noProof="1">
                    <a:solidFill>
                      <a:srgbClr val="23201B"/>
                    </a:solidFill>
                    <a:latin typeface="MiSans"/>
                    <a:ea typeface="MiSans"/>
                  </a:rPr>
                  <a:t>Privatized score:</a:t>
                </a:r>
                <a14:m>
                  <m:oMath>
                    <m:sSub>
                      <m:sSubPr>
                        <m:ctrlPr>
                          <a:rPr lang="en-US" sz="1700" noProof="1">
                            <a:solidFill>
                              <a:srgbClr val="23201B"/>
                            </a:solidFill>
                            <a:latin typeface="MiSans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700" noProof="1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700" noProof="1" i="1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  <m:t>s</m:t>
                            </m:r>
                          </m:e>
                        </m:acc>
                      </m:e>
                      <m:sub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p</m:t>
                        </m:r>
                      </m:sub>
                    </m:sSub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 </m:t>
                    </m:r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=</m:t>
                    </m:r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1700" noProof="1">
                            <a:solidFill>
                              <a:srgbClr val="23201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p</m:t>
                        </m:r>
                      </m:sub>
                    </m:sSub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 </m:t>
                    </m:r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+</m:t>
                    </m:r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 </m:t>
                    </m:r>
                    <m:r>
                      <m:rPr>
                        <m:scr m:val="script"/>
                      </m:rP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N</m:t>
                    </m:r>
                    <m:d>
                      <m:dPr>
                        <m:begChr m:val="("/>
                        <m:endChr m:val=")"/>
                        <m:grow m:val="1"/>
                        <m:ctrlPr>
                          <a:rPr lang="en-US" sz="1700" noProof="1">
                            <a:solidFill>
                              <a:srgbClr val="23201B"/>
                            </a:solidFill>
                            <a:latin typeface="MiSans"/>
                          </a:rPr>
                        </m:ctrlPr>
                      </m:dPr>
                      <m:e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0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,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 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z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 </m:t>
                        </m:r>
                        <m:sSub>
                          <m:sSubPr>
                            <m:ctrlPr>
                              <a:rPr lang="en-US" sz="1700" noProof="1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</m:ctrlPr>
                          </m:sSubPr>
                          <m:e>
                            <m:r>
                              <a:rPr lang="en-US" sz="1700" noProof="1" i="0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  <m:t>Δ</m:t>
                            </m:r>
                          </m:e>
                          <m:sub>
                            <m:r>
                              <a:rPr lang="en-US" sz="1700" noProof="1" i="1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  <m:t>B</m:t>
                            </m:r>
                          </m:sub>
                        </m:sSub>
                        <m:sSup>
                          <m:sSupPr>
                            <m:ctrlPr>
                              <a:rPr lang="en-US" sz="1700" noProof="1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</m:ctrlPr>
                          </m:sSupPr>
                          <m:e>
                            <m:r>
                              <a:rPr lang="en-US" sz="1700" noProof="1" i="0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  <m:t>)</m:t>
                            </m:r>
                          </m:e>
                          <m:sup>
                            <m:r>
                              <a:rPr lang="en-US" sz="1700" noProof="1" i="0">
                                <a:solidFill>
                                  <a:srgbClr val="23201B"/>
                                </a:solidFill>
                                <a:latin typeface="MiSans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700" noProof="1">
                    <a:solidFill>
                      <a:srgbClr val="23201B"/>
                    </a:solidFill>
                    <a:latin typeface="MiSans"/>
                    <a:ea typeface="MiSans"/>
                  </a:rPr>
                  <a:t>,</a:t>
                </a:r>
                <a14:m>
                  <m:oMath>
                    <m:sSub>
                      <m:sSubPr>
                        <m:ctrlPr>
                          <a:rPr lang="en-US" sz="1700" noProof="1">
                            <a:solidFill>
                              <a:srgbClr val="23201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Δ</m:t>
                        </m:r>
                      </m:e>
                      <m:sub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B</m:t>
                        </m:r>
                      </m:sub>
                    </m:sSub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1700" noProof="1">
                            <a:solidFill>
                              <a:srgbClr val="23201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700" noProof="1" i="1">
                            <a:solidFill>
                              <a:srgbClr val="23201B"/>
                            </a:solidFill>
                            <a:latin typeface="MiSans"/>
                          </a:rPr>
                          <m:t>C</m:t>
                        </m:r>
                      </m:e>
                      <m:sub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c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700" noProof="1" i="0">
                            <a:solidFill>
                              <a:srgbClr val="23201B"/>
                            </a:solidFill>
                            <a:latin typeface="MiSans"/>
                          </a:rPr>
                          <m:t>p</m:t>
                        </m:r>
                      </m:sub>
                    </m:sSub>
                    <m:r>
                      <a:rPr lang="en-US" sz="1700" noProof="1" i="0">
                        <a:solidFill>
                          <a:srgbClr val="23201B"/>
                        </a:solidFill>
                        <a:latin typeface="MiSans"/>
                      </a:rPr>
                      <m:t>/</m:t>
                    </m:r>
                    <m:r>
                      <a:rPr lang="en-US" sz="1700" noProof="1" i="1">
                        <a:solidFill>
                          <a:srgbClr val="23201B"/>
                        </a:solidFill>
                        <a:latin typeface="MiSans"/>
                      </a:rPr>
                      <m:t>b</m:t>
                    </m:r>
                  </m:oMath>
                </a14:m>
                <a:endParaRPr lang="en-US" sz="1700" noProof="1"/>
              </a:p>
            </p:txBody>
          </p:sp>
        </mc:Choice>
        <mc:Fallback xmlns="">
          <p:sp>
            <p:nvSpPr>
              <p:cNvPr id="7" name="formula"/>
              <p:cNvSpPr txBox="1"/>
              <p:nvPr/>
            </p:nvSpPr>
            <p:spPr>
              <a:xfrm>
                <a:off x="762000" y="5029200"/>
                <a:ext cx="6604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700" noProof="1">
                    <a:solidFill>
                      <a:srgbClr val="23201B"/>
                    </a:solidFill>
                    <a:latin typeface="MiSans"/>
                    <a:ea typeface="MiSans"/>
                  </a:rPr>
                  <a:t>Privatized score:\(\tilde{s}_p \;=\; s_p \;+\; \mathcal{N}\!\left(0,\; (z\,\Delta_B)^2\right)\),\(\Delta_B = C_{\mathrm{clip}} / b\)</a:t>
                </a:r>
                <a:endParaRPr lang="en-US" sz="1700" noProof="1"/>
              </a:p>
            </p:txBody>
          </p:sp>
        </mc:Fallback>
      </mc:AlternateContent>
      <p:sp>
        <p:nvSpPr>
          <p:cNvPr id="8" name="accounting"/>
          <p:cNvSpPr txBox="1"/>
          <p:nvPr/>
        </p:nvSpPr>
        <p:spPr>
          <a:xfrm>
            <a:off x="762000" y="56642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Privacy accounting.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Only Phase 2 accesses D. At most T·K sampled-Gaussian score releases compose in one RDP accountant; with n = 200, b = 10, z = 10, K = 6, T = 3, AutoDP gives </a:t>
            </a: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ε ≤ 0.71 at δ = 10</a:t>
            </a:r>
            <a:r>
              <a:rPr lang="en-US" sz="1200" noProof="1" b="1" baseline="30000">
                <a:solidFill>
                  <a:srgbClr val="6E675C"/>
                </a:solidFill>
                <a:latin typeface="Quattrocento Sans"/>
                <a:ea typeface="Quattrocento Sans"/>
              </a:rPr>
              <a:t>-5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— conservatively stated as ε ≤ 1. Mutation and selection add no privacy loss.</a:t>
            </a:r>
            <a:endParaRPr lang="en-US" sz="1200" noProof="1"/>
          </a:p>
        </p:txBody>
      </p:sp>
      <p:sp>
        <p:nvSpPr>
          <p:cNvPr id="9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0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1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5 / 10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04 · RESULTS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Main results across four tasks (ε ≤ 1.0, δ = 10⁻⁵)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stat1-label"/>
          <p:cNvSpPr txBox="1"/>
          <p:nvPr/>
        </p:nvSpPr>
        <p:spPr>
          <a:xfrm>
            <a:off x="762000" y="1625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2F39"/>
                </a:solidFill>
                <a:latin typeface="Quattrocento Sans"/>
                <a:ea typeface="Quattrocento Sans"/>
              </a:rPr>
              <a:t>GSM8K · 30 RUNS</a:t>
            </a:r>
            <a:endParaRPr lang="en-US" sz="1100" noProof="1"/>
          </a:p>
        </p:txBody>
      </p:sp>
      <p:sp>
        <p:nvSpPr>
          <p:cNvPr id="7" name="stat1"/>
          <p:cNvSpPr txBox="1"/>
          <p:nvPr/>
        </p:nvSpPr>
        <p:spPr>
          <a:xfrm>
            <a:off x="762000" y="1905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>
                <a:solidFill>
                  <a:srgbClr val="8C2F39"/>
                </a:solidFill>
                <a:latin typeface="Unna"/>
                <a:ea typeface="Unna"/>
              </a:rPr>
              <a:t>+38.6 pp</a:t>
            </a:r>
            <a:endParaRPr lang="en-US" sz="5600" noProof="1"/>
          </a:p>
        </p:txBody>
      </p:sp>
      <p:sp>
        <p:nvSpPr>
          <p:cNvPr id="8" name="stat1-cap"/>
          <p:cNvSpPr txBox="1"/>
          <p:nvPr/>
        </p:nvSpPr>
        <p:spPr>
          <a:xfrm>
            <a:off x="762000" y="28956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over DP-OPT, with </a:t>
            </a:r>
            <a:r>
              <a:rPr lang="en-US" sz="1250" noProof="1" b="1">
                <a:solidFill>
                  <a:srgbClr val="6E675C"/>
                </a:solidFill>
                <a:latin typeface="Quattrocento Sans"/>
                <a:ea typeface="Quattrocento Sans"/>
              </a:rPr>
              <a:t>≈ 9× lower standard deviation</a:t>
            </a: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 (3.2 vs 28.5)</a:t>
            </a:r>
            <a:endParaRPr lang="en-US" sz="1250" noProof="1"/>
          </a:p>
        </p:txBody>
      </p:sp>
      <p:sp>
        <p:nvSpPr>
          <p:cNvPr id="9" name="stat2"/>
          <p:cNvSpPr txBox="1"/>
          <p:nvPr/>
        </p:nvSpPr>
        <p:spPr>
          <a:xfrm>
            <a:off x="762000" y="38100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23201B"/>
                </a:solidFill>
                <a:latin typeface="Unna"/>
                <a:ea typeface="Unna"/>
              </a:rPr>
              <a:t>99.7 ± 0.5</a:t>
            </a:r>
            <a:endParaRPr lang="en-US" sz="3400" noProof="1"/>
          </a:p>
        </p:txBody>
      </p:sp>
      <p:sp>
        <p:nvSpPr>
          <p:cNvPr id="10" name="stat2-cap"/>
          <p:cNvSpPr txBox="1"/>
          <p:nvPr/>
        </p:nvSpPr>
        <p:spPr>
          <a:xfrm>
            <a:off x="762000" y="44196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MedQA (+6.2 pp over DP-OPT), near the non-DP ceiling</a:t>
            </a:r>
            <a:endParaRPr lang="en-US" sz="1250" noProof="1"/>
          </a:p>
        </p:txBody>
      </p:sp>
      <p:graphicFrame>
        <p:nvGraphicFramePr>
          <p:cNvPr id="11" name="results-table"/>
          <p:cNvGraphicFramePr>
            <a:graphicFrameLocks noGrp="1"/>
          </p:cNvGraphicFramePr>
          <p:nvPr/>
        </p:nvGraphicFramePr>
        <p:xfrm>
          <a:off x="5080000" y="1600200"/>
          <a:ext cx="6350000" cy="3657600"/>
        </p:xfrm>
        <a:graphic>
          <a:graphicData uri="http://schemas.openxmlformats.org/drawingml/2006/table">
            <a:tbl>
              <a:tblPr/>
              <a:tblGrid>
                <a:gridCol w="1524000"/>
                <a:gridCol w="1206500"/>
                <a:gridCol w="1206500"/>
                <a:gridCol w="1206500"/>
                <a:gridCol w="1206500"/>
              </a:tblGrid>
              <a:tr h="6583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01B"/>
                      </a:solidFill>
                    </a:lnT>
                    <a:lnB w="1270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 b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GSM8K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01B"/>
                      </a:solidFill>
                    </a:lnT>
                    <a:lnB w="1270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 b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MedQA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01B"/>
                      </a:solidFill>
                    </a:lnT>
                    <a:lnB w="1270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 b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BANK77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01B"/>
                      </a:solidFill>
                    </a:lnT>
                    <a:lnB w="1270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 b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Alpaca†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01B"/>
                      </a:solidFill>
                    </a:lnT>
                    <a:lnB w="12700">
                      <a:solidFill>
                        <a:srgbClr val="23201B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Non-DP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95.0±0.9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100.0±0.0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75.0±2.8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91.7±0.6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DP-OPT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49.5±28.5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93.5±12.0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75.3±2.8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3201B"/>
                          </a:solidFill>
                          <a:latin typeface="Quattrocento Sans"/>
                          <a:ea typeface="Quattrocento Sans"/>
                        </a:rPr>
                        <a:t>87.1±1.4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8C2F39"/>
                          </a:solidFill>
                          <a:latin typeface="Quattrocento Sans"/>
                          <a:ea typeface="Quattrocento Sans"/>
                        </a:rPr>
                        <a:t>DP-ES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8C2F39"/>
                          </a:solidFill>
                          <a:latin typeface="Quattrocento Sans"/>
                          <a:ea typeface="Quattrocento Sans"/>
                        </a:rPr>
                        <a:t>88.1±3.2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8C2F39"/>
                          </a:solidFill>
                          <a:latin typeface="Quattrocento Sans"/>
                          <a:ea typeface="Quattrocento Sans"/>
                        </a:rPr>
                        <a:t>99.7±0.5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8C2F39"/>
                          </a:solidFill>
                          <a:latin typeface="Quattrocento Sans"/>
                          <a:ea typeface="Quattrocento Sans"/>
                        </a:rPr>
                        <a:t>73.5±2.2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8C2F39"/>
                          </a:solidFill>
                          <a:latin typeface="Quattrocento Sans"/>
                          <a:ea typeface="Quattrocento Sans"/>
                        </a:rPr>
                        <a:t>86.8±0.8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A"/>
                    </a:solidFill>
                  </a:tcPr>
                </a:tc>
              </a:tr>
              <a:tr h="749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6E675C"/>
                          </a:solidFill>
                          <a:latin typeface="Quattrocento Sans"/>
                          <a:ea typeface="Quattrocento Sans"/>
                        </a:rPr>
                        <a:t>Δ (ES−OPT)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>
                          <a:solidFill>
                            <a:srgbClr val="6E675C"/>
                          </a:solidFill>
                          <a:latin typeface="Quattrocento Sans"/>
                          <a:ea typeface="Quattrocento Sans"/>
                        </a:rPr>
                        <a:t>+38.6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>
                          <a:solidFill>
                            <a:srgbClr val="6E675C"/>
                          </a:solidFill>
                          <a:latin typeface="Quattrocento Sans"/>
                          <a:ea typeface="Quattrocento Sans"/>
                        </a:rPr>
                        <a:t>+6.2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>
                          <a:solidFill>
                            <a:srgbClr val="6E675C"/>
                          </a:solidFill>
                          <a:latin typeface="Quattrocento Sans"/>
                          <a:ea typeface="Quattrocento Sans"/>
                        </a:rPr>
                        <a:t>−1.8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3201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50" noProof="1">
                          <a:solidFill>
                            <a:srgbClr val="6E675C"/>
                          </a:solidFill>
                          <a:latin typeface="Quattrocento Sans"/>
                          <a:ea typeface="Quattrocento Sans"/>
                        </a:rPr>
                        <a:t>−0.3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3201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able-note"/>
          <p:cNvSpPr txBox="1"/>
          <p:nvPr/>
        </p:nvSpPr>
        <p:spPr>
          <a:xfrm>
            <a:off x="5080000" y="5384800"/>
            <a:ext cx="6350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Mean ± std; 30 runs (GSM8K), three seeds (other tasks). All DP results under the stated ceiling ε ≤ 1.0; DP-ES's recomputed RDP bound is </a:t>
            </a: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ε ≤ 0.71 at δ = 10</a:t>
            </a:r>
            <a:r>
              <a:rPr lang="en-US" sz="1050" noProof="1" b="1" baseline="30000">
                <a:solidFill>
                  <a:srgbClr val="6E675C"/>
                </a:solidFill>
                <a:latin typeface="Quattrocento Sans"/>
                <a:ea typeface="Quattrocento Sans"/>
              </a:rPr>
              <a:t>-5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. †Alpaca: LLM-judge ratings scaled to percentages.</a:t>
            </a:r>
            <a:endParaRPr lang="en-US" sz="1050" noProof="1"/>
          </a:p>
        </p:txBody>
      </p:sp>
      <p:sp>
        <p:nvSpPr>
          <p:cNvPr id="13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4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5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6 / 10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04 · RESULTS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Stability: population search survives noisy rankings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left-body"/>
          <p:cNvSpPr txBox="1"/>
          <p:nvPr/>
        </p:nvSpPr>
        <p:spPr>
          <a:xfrm>
            <a:off x="762000" y="1498600"/>
            <a:ext cx="5461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DP-ES does not eliminate noisy rankings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— its population recovers from them.</a:t>
            </a:r>
            <a:endParaRPr lang="en-US" sz="14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Prompt-level mutations operate on </a:t>
            </a: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complete strings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, so the </a:t>
            </a:r>
            <a:r>
              <a:rPr lang="en-US" sz="1450" noProof="1">
                <a:solidFill>
                  <a:srgbClr val="23201B"/>
                </a:solidFill>
                <a:latin typeface="JetBrains Mono"/>
                <a:ea typeface="JetBrains Mono"/>
              </a:rPr>
              <a:t>{question}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placeholder survives the search (real log below).</a:t>
            </a:r>
            <a:endParaRPr lang="en-US" sz="14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Six candidates per round supply intact </a:t>
            </a: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alternatives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after noise-induced rank inversions.</a:t>
            </a:r>
            <a:endParaRPr lang="en-US" sz="1450" noProof="1"/>
          </a:p>
        </p:txBody>
      </p:sp>
      <p:pic>
        <p:nvPicPr>
          <p:cNvPr id="7" name="diversity-img"/>
          <p:cNvPicPr/>
          <p:nvPr/>
        </p:nvPicPr>
        <p:blipFill>
          <a:blip r:embed="rId2"/>
          <a:stretch>
            <a:fillRect/>
          </a:stretch>
        </p:blipFill>
        <p:spPr>
          <a:xfrm>
            <a:off x="6604000" y="1498600"/>
            <a:ext cx="4826000" cy="2463800"/>
          </a:xfrm>
          <a:prstGeom prst="rect">
            <a:avLst/>
          </a:prstGeom>
          <a:ln>
            <a:noFill/>
          </a:ln>
        </p:spPr>
      </p:pic>
      <p:sp>
        <p:nvSpPr>
          <p:cNvPr id="8" name="diversity-img-border"/>
          <p:cNvSpPr/>
          <p:nvPr/>
        </p:nvSpPr>
        <p:spPr>
          <a:xfrm>
            <a:off x="6604000" y="1498600"/>
            <a:ext cx="4826000" cy="2463800"/>
          </a:xfrm>
          <a:prstGeom prst="rect">
            <a:avLst/>
          </a:prstGeom>
          <a:noFill/>
          <a:ln w="12700">
            <a:solidFill>
              <a:srgbClr val="CFC8B8"/>
            </a:solidFill>
          </a:ln>
        </p:spPr>
      </p:sp>
      <p:sp>
        <p:nvSpPr>
          <p:cNvPr id="9" name="diversity-cap"/>
          <p:cNvSpPr txBox="1"/>
          <p:nvPr/>
        </p:nvSpPr>
        <p:spPr>
          <a:xfrm>
            <a:off x="6604000" y="4013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Population diversity (mean pairwise prompt-embedding distance): high early, then converges.</a:t>
            </a:r>
            <a:endParaRPr lang="en-US" sz="1050" noProof="1"/>
          </a:p>
        </p:txBody>
      </p:sp>
      <p:pic>
        <p:nvPicPr>
          <p:cNvPr id="10" name="green-img"/>
          <p:cNvPicPr/>
          <p:nvPr/>
        </p:nvPicPr>
        <p:blipFill>
          <a:blip r:embed="rId3"/>
          <a:stretch>
            <a:fillRect/>
          </a:stretch>
        </p:blipFill>
        <p:spPr>
          <a:xfrm>
            <a:off x="762000" y="4597400"/>
            <a:ext cx="10668000" cy="1549400"/>
          </a:xfrm>
          <a:prstGeom prst="rect">
            <a:avLst/>
          </a:prstGeom>
          <a:ln>
            <a:noFill/>
          </a:ln>
        </p:spPr>
      </p:pic>
      <p:sp>
        <p:nvSpPr>
          <p:cNvPr id="11" name="green-img-border"/>
          <p:cNvSpPr/>
          <p:nvPr/>
        </p:nvSpPr>
        <p:spPr>
          <a:xfrm>
            <a:off x="762000" y="4597400"/>
            <a:ext cx="10668000" cy="1549400"/>
          </a:xfrm>
          <a:prstGeom prst="rect">
            <a:avLst/>
          </a:prstGeom>
          <a:noFill/>
          <a:ln w="12700">
            <a:solidFill>
              <a:srgbClr val="CFC8B8"/>
            </a:solidFill>
          </a:ln>
        </p:spPr>
      </p:sp>
      <p:sp>
        <p:nvSpPr>
          <p:cNvPr id="12" name="green-cap"/>
          <p:cNvSpPr txBox="1"/>
          <p:nvPr/>
        </p:nvSpPr>
        <p:spPr>
          <a:xfrm>
            <a:off x="762000" y="43434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DP-ES complete-prompt population search — real GSM8K log (ε ≤ 1.0), placeholder preserved:</a:t>
            </a:r>
            <a:endParaRPr lang="en-US" sz="1050" noProof="1"/>
          </a:p>
        </p:txBody>
      </p:sp>
      <p:sp>
        <p:nvSpPr>
          <p:cNvPr id="13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4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5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7 / 10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05 · PRIVACY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Formal guarantee, implementation checks, stress test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left-body"/>
          <p:cNvSpPr txBox="1"/>
          <p:nvPr/>
        </p:nvSpPr>
        <p:spPr>
          <a:xfrm>
            <a:off x="762000" y="15240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RDP accounting.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At most T·K = 18 sampled-Gaussian releases compose end-to-end; AutoDP gives </a:t>
            </a: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ε ≤ 0.71 at δ = 10</a:t>
            </a:r>
            <a:r>
              <a:rPr lang="en-US" sz="1450" noProof="1" b="1" baseline="30000">
                <a:solidFill>
                  <a:srgbClr val="23201B"/>
                </a:solidFill>
                <a:latin typeface="Quattrocento Sans"/>
                <a:ea typeface="Quattrocento Sans"/>
              </a:rPr>
              <a:t>-5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, conservatively stated as ε ≤ 1.0. Selection is post-processing.</a:t>
            </a:r>
            <a:endParaRPr lang="en-US" sz="145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Noise-distribution check.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1,000 injected-noise samples pass a Kolmogorov–Smirnov test against the configured Gaussian mechanism.</a:t>
            </a:r>
            <a:endParaRPr lang="en-US" sz="145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Selector ablation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(5 seeds, GSM8K): Gumbel-smoothed 88.8±3.4 vs deterministic 88.6±2.9 — comparable accuracy, identical privacy guarantee.</a:t>
            </a:r>
            <a:endParaRPr lang="en-US" sz="1450" noProof="1"/>
          </a:p>
        </p:txBody>
      </p:sp>
      <p:pic>
        <p:nvPicPr>
          <p:cNvPr id="7" name="stress-img"/>
          <p:cNvPicPr/>
          <p:nvPr/>
        </p:nvPicPr>
        <p:blipFill>
          <a:blip r:embed="rId2"/>
          <a:stretch>
            <a:fillRect/>
          </a:stretch>
        </p:blipFill>
        <p:spPr>
          <a:xfrm>
            <a:off x="6223000" y="1524000"/>
            <a:ext cx="5207000" cy="2400300"/>
          </a:xfrm>
          <a:prstGeom prst="rect">
            <a:avLst/>
          </a:prstGeom>
          <a:ln>
            <a:noFill/>
          </a:ln>
        </p:spPr>
      </p:pic>
      <p:sp>
        <p:nvSpPr>
          <p:cNvPr id="8" name="stress-img-border"/>
          <p:cNvSpPr/>
          <p:nvPr/>
        </p:nvSpPr>
        <p:spPr>
          <a:xfrm>
            <a:off x="6223000" y="1524000"/>
            <a:ext cx="5207000" cy="2400300"/>
          </a:xfrm>
          <a:prstGeom prst="rect">
            <a:avLst/>
          </a:prstGeom>
          <a:noFill/>
          <a:ln w="12700">
            <a:solidFill>
              <a:srgbClr val="CFC8B8"/>
            </a:solidFill>
          </a:ln>
        </p:spPr>
      </p:sp>
      <p:sp>
        <p:nvSpPr>
          <p:cNvPr id="9" name="stress-cap"/>
          <p:cNvSpPr txBox="1"/>
          <p:nvPr/>
        </p:nvSpPr>
        <p:spPr>
          <a:xfrm>
            <a:off x="6223000" y="4013200"/>
            <a:ext cx="5207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Synthetic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 200-profile </a:t>
            </a: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exact-match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 stress test (1,200 sensitive strings): DP-ES leaks </a:t>
            </a: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0 strings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 vs </a:t>
            </a: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40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 for an adversarial non-DP control.</a:t>
            </a:r>
            <a:endParaRPr lang="en-US" sz="1050" noProof="1"/>
          </a:p>
        </p:txBody>
      </p:sp>
      <p:sp>
        <p:nvSpPr>
          <p:cNvPr id="10" name="scope-rule"/>
          <p:cNvSpPr/>
          <p:nvPr/>
        </p:nvSpPr>
        <p:spPr>
          <a:xfrm>
            <a:off x="762000" y="51054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1" name="scope-bar"/>
          <p:cNvSpPr/>
          <p:nvPr/>
        </p:nvSpPr>
        <p:spPr>
          <a:xfrm>
            <a:off x="762000" y="5334000"/>
            <a:ext cx="38100" cy="7620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12" name="scope-text"/>
          <p:cNvSpPr txBox="1"/>
          <p:nvPr/>
        </p:nvSpPr>
        <p:spPr>
          <a:xfrm>
            <a:off x="1016000" y="5334000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Reading of the evidence.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The guarantee comes from mechanism-level RDP accounting — attack-agnostic by construction. The stress test is a </a:t>
            </a: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targeted sanity check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: it is not membership inference and does not cover semantic leakage.</a:t>
            </a:r>
            <a:endParaRPr lang="en-US" sz="1200" noProof="1"/>
          </a:p>
        </p:txBody>
      </p:sp>
      <p:sp>
        <p:nvSpPr>
          <p:cNvPr id="13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4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15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8 / 10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DP-ES · EMNLP 2026</a:t>
            </a:r>
            <a:endParaRPr lang="en-US" sz="1100" noProof="1"/>
          </a:p>
        </p:txBody>
      </p:sp>
      <p:sp>
        <p:nvSpPr>
          <p:cNvPr id="3" name="section"/>
          <p:cNvSpPr txBox="1"/>
          <p:nvPr/>
        </p:nvSpPr>
        <p:spPr>
          <a:xfrm>
            <a:off x="7112000" y="30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6E675C"/>
                </a:solidFill>
                <a:latin typeface="Quattrocento Sans"/>
                <a:ea typeface="Quattrocento Sans"/>
              </a:rPr>
              <a:t>06 · EFFICIENCY &amp; SCOPE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60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15000"/>
              </a:lnSpc>
            </a:pPr>
            <a:r>
              <a:rPr lang="en-US" sz="2900" noProof="1">
                <a:solidFill>
                  <a:srgbClr val="23201B"/>
                </a:solidFill>
                <a:latin typeface="Unna"/>
                <a:ea typeface="Unna"/>
              </a:rPr>
              <a:t>Efficiency, local-model generality, and scope</a:t>
            </a:r>
            <a:endParaRPr lang="en-US" sz="2900" noProof="1"/>
          </a:p>
        </p:txBody>
      </p:sp>
      <p:sp>
        <p:nvSpPr>
          <p:cNvPr id="5" name="rule-head"/>
          <p:cNvSpPr/>
          <p:nvPr/>
        </p:nvSpPr>
        <p:spPr>
          <a:xfrm>
            <a:off x="762000" y="1244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stat1-label"/>
          <p:cNvSpPr txBox="1"/>
          <p:nvPr/>
        </p:nvSpPr>
        <p:spPr>
          <a:xfrm>
            <a:off x="762000" y="1600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2F39"/>
                </a:solidFill>
                <a:latin typeface="Quattrocento Sans"/>
                <a:ea typeface="Quattrocento Sans"/>
              </a:rPr>
              <a:t>WALL-CLOCK (GSM8K)</a:t>
            </a:r>
            <a:endParaRPr lang="en-US" sz="1100" noProof="1"/>
          </a:p>
        </p:txBody>
      </p:sp>
      <p:sp>
        <p:nvSpPr>
          <p:cNvPr id="7" name="stat1"/>
          <p:cNvSpPr txBox="1"/>
          <p:nvPr/>
        </p:nvSpPr>
        <p:spPr>
          <a:xfrm>
            <a:off x="762000" y="18796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>
                <a:solidFill>
                  <a:srgbClr val="23201B"/>
                </a:solidFill>
                <a:latin typeface="Unna"/>
                <a:ea typeface="Unna"/>
              </a:rPr>
              <a:t>2.5× </a:t>
            </a:r>
            <a:r>
              <a:rPr lang="en-US" sz="2000" noProof="1">
                <a:solidFill>
                  <a:srgbClr val="6E675C"/>
                </a:solidFill>
                <a:latin typeface="Unna"/>
                <a:ea typeface="Unna"/>
              </a:rPr>
              <a:t>faster</a:t>
            </a:r>
            <a:endParaRPr lang="en-US" sz="4800" noProof="1"/>
          </a:p>
        </p:txBody>
      </p:sp>
      <p:sp>
        <p:nvSpPr>
          <p:cNvPr id="8" name="stat1-cap"/>
          <p:cNvSpPr txBox="1"/>
          <p:nvPr/>
        </p:nvSpPr>
        <p:spPr>
          <a:xfrm>
            <a:off x="762000" y="27432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17.9 h vs 45.7 h for DP-OPT (representative run)</a:t>
            </a:r>
            <a:endParaRPr lang="en-US" sz="1250" noProof="1"/>
          </a:p>
        </p:txBody>
      </p:sp>
      <p:sp>
        <p:nvSpPr>
          <p:cNvPr id="9" name="stat2-label"/>
          <p:cNvSpPr txBox="1"/>
          <p:nvPr/>
        </p:nvSpPr>
        <p:spPr>
          <a:xfrm>
            <a:off x="762000" y="3403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2F39"/>
                </a:solidFill>
                <a:latin typeface="Quattrocento Sans"/>
                <a:ea typeface="Quattrocento Sans"/>
              </a:rPr>
              <a:t>PRIVATE-DATA ACCESS</a:t>
            </a:r>
            <a:endParaRPr lang="en-US" sz="1100" noProof="1"/>
          </a:p>
        </p:txBody>
      </p:sp>
      <p:sp>
        <p:nvSpPr>
          <p:cNvPr id="10" name="stat2"/>
          <p:cNvSpPr txBox="1"/>
          <p:nvPr/>
        </p:nvSpPr>
        <p:spPr>
          <a:xfrm>
            <a:off x="762000" y="36830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>
                <a:solidFill>
                  <a:srgbClr val="23201B"/>
                </a:solidFill>
                <a:latin typeface="Unna"/>
                <a:ea typeface="Unna"/>
              </a:rPr>
              <a:t>3.3× </a:t>
            </a:r>
            <a:r>
              <a:rPr lang="en-US" sz="2000" noProof="1">
                <a:solidFill>
                  <a:srgbClr val="6E675C"/>
                </a:solidFill>
                <a:latin typeface="Unna"/>
                <a:ea typeface="Unna"/>
              </a:rPr>
              <a:t>fewer</a:t>
            </a:r>
            <a:endParaRPr lang="en-US" sz="4800" noProof="1"/>
          </a:p>
        </p:txBody>
      </p:sp>
      <p:sp>
        <p:nvSpPr>
          <p:cNvPr id="11" name="stat2-cap"/>
          <p:cNvSpPr txBox="1"/>
          <p:nvPr/>
        </p:nvSpPr>
        <p:spPr>
          <a:xfrm>
            <a:off x="762000" y="4546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logged private-data call groups: 10 vs 33 (DP-ES mutations never touch D)</a:t>
            </a:r>
            <a:endParaRPr lang="en-US" sz="1250" noProof="1"/>
          </a:p>
        </p:txBody>
      </p:sp>
      <p:sp>
        <p:nvSpPr>
          <p:cNvPr id="12" name="divider-v"/>
          <p:cNvSpPr/>
          <p:nvPr/>
        </p:nvSpPr>
        <p:spPr>
          <a:xfrm>
            <a:off x="6350000" y="1600200"/>
            <a:ext cx="12700" cy="34290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3" name="local-label"/>
          <p:cNvSpPr txBox="1"/>
          <p:nvPr/>
        </p:nvSpPr>
        <p:spPr>
          <a:xfrm>
            <a:off x="6731000" y="16002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2F39"/>
                </a:solidFill>
                <a:latin typeface="Quattrocento Sans"/>
                <a:ea typeface="Quattrocento Sans"/>
              </a:rPr>
              <a:t>LOCAL VALIDATION · QWEN2.5-7B (ε ≤ 1)</a:t>
            </a:r>
            <a:endParaRPr lang="en-US" sz="1100" noProof="1"/>
          </a:p>
        </p:txBody>
      </p:sp>
      <p:sp>
        <p:nvSpPr>
          <p:cNvPr id="14" name="local-body"/>
          <p:cNvSpPr txBox="1"/>
          <p:nvPr/>
        </p:nvSpPr>
        <p:spPr>
          <a:xfrm>
            <a:off x="6731000" y="1905000"/>
            <a:ext cx="4699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GSM8K: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DP-ES </a:t>
            </a: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53.8 ± 6.1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vs DP-OPT 37.4 ± 11.6</a:t>
            </a:r>
            <a:endParaRPr lang="en-US" sz="14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MedQA: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 comparable — 81.2 ± 1.3 vs 83.0 ± 2.1</a:t>
            </a:r>
            <a:endParaRPr lang="en-US" sz="14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The main trend is </a:t>
            </a:r>
            <a:r>
              <a:rPr lang="en-US" sz="1450" noProof="1" b="1">
                <a:solidFill>
                  <a:srgbClr val="23201B"/>
                </a:solidFill>
                <a:latin typeface="Quattrocento Sans"/>
                <a:ea typeface="Quattrocento Sans"/>
              </a:rPr>
              <a:t>not API-specific</a:t>
            </a:r>
            <a:r>
              <a:rPr lang="en-US" sz="1450" noProof="1">
                <a:solidFill>
                  <a:srgbClr val="23201B"/>
                </a:solidFill>
                <a:latin typeface="Quattrocento Sans"/>
                <a:ea typeface="Quattrocento Sans"/>
              </a:rPr>
              <a:t>.</a:t>
            </a:r>
            <a:endParaRPr lang="en-US" sz="1450" noProof="1"/>
          </a:p>
        </p:txBody>
      </p:sp>
      <p:sp>
        <p:nvSpPr>
          <p:cNvPr id="15" name="scope-rule"/>
          <p:cNvSpPr/>
          <p:nvPr/>
        </p:nvSpPr>
        <p:spPr>
          <a:xfrm>
            <a:off x="762000" y="52578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6" name="scope-bar"/>
          <p:cNvSpPr/>
          <p:nvPr/>
        </p:nvSpPr>
        <p:spPr>
          <a:xfrm>
            <a:off x="762000" y="5461000"/>
            <a:ext cx="38100" cy="7112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17" name="scope-text"/>
          <p:cNvSpPr txBox="1"/>
          <p:nvPr/>
        </p:nvSpPr>
        <p:spPr>
          <a:xfrm>
            <a:off x="1016000" y="5461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Scope.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Our experiments establish </a:t>
            </a: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optimization robustness under DP noise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, especially where prompt structure is critical. End-to-end validation on genuinely sensitive, non-saturated deployment data remains </a:t>
            </a: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future work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.</a:t>
            </a:r>
            <a:endParaRPr lang="en-US" sz="1200" noProof="1"/>
          </a:p>
        </p:txBody>
      </p:sp>
      <p:sp>
        <p:nvSpPr>
          <p:cNvPr id="18" name="rule-foot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9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DP-ES: Differentially Private Evolution Strategies for Prompt Optimization</a:t>
            </a:r>
            <a:endParaRPr lang="en-US" sz="1000" noProof="1"/>
          </a:p>
        </p:txBody>
      </p:sp>
      <p:sp>
        <p:nvSpPr>
          <p:cNvPr id="20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9 / 10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736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C2F39"/>
                </a:solidFill>
                <a:latin typeface="Quattrocento Sans"/>
                <a:ea typeface="Quattrocento Sans"/>
              </a:rPr>
              <a:t>TAKEAWAY</a:t>
            </a:r>
            <a:endParaRPr lang="en-US" sz="1100" noProof="1"/>
          </a:p>
        </p:txBody>
      </p:sp>
      <p:sp>
        <p:nvSpPr>
          <p:cNvPr id="3" name="rule-top"/>
          <p:cNvSpPr/>
          <p:nvPr/>
        </p:nvSpPr>
        <p:spPr>
          <a:xfrm>
            <a:off x="762000" y="1092200"/>
            <a:ext cx="812800" cy="38100"/>
          </a:xfrm>
          <a:prstGeom prst="rect">
            <a:avLst/>
          </a:prstGeom>
          <a:solidFill>
            <a:srgbClr val="8C2F39"/>
          </a:solidFill>
          <a:ln>
            <a:noFill/>
          </a:ln>
        </p:spPr>
      </p:sp>
      <p:sp>
        <p:nvSpPr>
          <p:cNvPr id="4" name="statement"/>
          <p:cNvSpPr txBox="1"/>
          <p:nvPr/>
        </p:nvSpPr>
        <p:spPr>
          <a:xfrm>
            <a:off x="762000" y="1397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3400" noProof="1">
                <a:solidFill>
                  <a:srgbClr val="23201B"/>
                </a:solidFill>
                <a:latin typeface="Unna"/>
                <a:ea typeface="Unna"/>
              </a:rPr>
              <a:t>Decouple exploration from privacy: evolve complete prompts, pay budget </a:t>
            </a:r>
            <a:r>
              <a:rPr lang="en-US" sz="3400" noProof="1">
                <a:solidFill>
                  <a:srgbClr val="8C2F39"/>
                </a:solidFill>
                <a:latin typeface="Unna"/>
                <a:ea typeface="Unna"/>
              </a:rPr>
              <a:t>only for scoring</a:t>
            </a:r>
            <a:r>
              <a:rPr lang="en-US" sz="3400" noProof="1">
                <a:solidFill>
                  <a:srgbClr val="23201B"/>
                </a:solidFill>
                <a:latin typeface="Unna"/>
                <a:ea typeface="Unna"/>
              </a:rPr>
              <a:t>.</a:t>
            </a:r>
            <a:endParaRPr lang="en-US" sz="3400" noProof="1"/>
          </a:p>
        </p:txBody>
      </p:sp>
      <p:sp>
        <p:nvSpPr>
          <p:cNvPr id="5" name="stats-rule-top"/>
          <p:cNvSpPr/>
          <p:nvPr/>
        </p:nvSpPr>
        <p:spPr>
          <a:xfrm>
            <a:off x="762000" y="32766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6" name="stat-a"/>
          <p:cNvSpPr txBox="1"/>
          <p:nvPr/>
        </p:nvSpPr>
        <p:spPr>
          <a:xfrm>
            <a:off x="762000" y="35306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3201B"/>
                </a:solidFill>
                <a:latin typeface="Unna"/>
                <a:ea typeface="Unna"/>
              </a:rPr>
              <a:t>88.1 ± 3.2%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GSM8K under ε ≤ 1.0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30 runs · ~9× lower std</a:t>
            </a:r>
            <a:endParaRPr lang="en-US" sz="1600" noProof="1"/>
          </a:p>
        </p:txBody>
      </p:sp>
      <p:sp>
        <p:nvSpPr>
          <p:cNvPr id="7" name="stat-b"/>
          <p:cNvSpPr txBox="1"/>
          <p:nvPr/>
        </p:nvSpPr>
        <p:spPr>
          <a:xfrm>
            <a:off x="3556000" y="35306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3201B"/>
                </a:solidFill>
                <a:latin typeface="Unna"/>
                <a:ea typeface="Unna"/>
              </a:rPr>
              <a:t>ε ≤ 0.71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recomputed RDP bound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at δ = 10⁻⁵</a:t>
            </a:r>
            <a:endParaRPr lang="en-US" sz="1600" noProof="1"/>
          </a:p>
        </p:txBody>
      </p:sp>
      <p:sp>
        <p:nvSpPr>
          <p:cNvPr id="8" name="stat-c"/>
          <p:cNvSpPr txBox="1"/>
          <p:nvPr/>
        </p:nvSpPr>
        <p:spPr>
          <a:xfrm>
            <a:off x="6350000" y="35306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3201B"/>
                </a:solidFill>
                <a:latin typeface="Unna"/>
                <a:ea typeface="Unna"/>
              </a:rPr>
              <a:t>2.5×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faster wall-clock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than DP-OPT</a:t>
            </a:r>
            <a:endParaRPr lang="en-US" sz="1600" noProof="1"/>
          </a:p>
        </p:txBody>
      </p:sp>
      <p:sp>
        <p:nvSpPr>
          <p:cNvPr id="9" name="stat-d"/>
          <p:cNvSpPr txBox="1"/>
          <p:nvPr/>
        </p:nvSpPr>
        <p:spPr>
          <a:xfrm>
            <a:off x="9144000" y="35306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23201B"/>
                </a:solidFill>
                <a:latin typeface="Unna"/>
                <a:ea typeface="Unna"/>
              </a:rPr>
              <a:t>0 strings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synthetic exact-match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stress test (200 profiles)</a:t>
            </a:r>
            <a:endParaRPr lang="en-US" sz="1600" noProof="1"/>
          </a:p>
        </p:txBody>
      </p:sp>
      <p:sp>
        <p:nvSpPr>
          <p:cNvPr id="10" name="stats-rule-bottom"/>
          <p:cNvSpPr/>
          <p:nvPr/>
        </p:nvSpPr>
        <p:spPr>
          <a:xfrm>
            <a:off x="762000" y="4902200"/>
            <a:ext cx="10668000" cy="12700"/>
          </a:xfrm>
          <a:prstGeom prst="rect">
            <a:avLst/>
          </a:prstGeom>
          <a:solidFill>
            <a:srgbClr val="CFC8B8"/>
          </a:solidFill>
          <a:ln>
            <a:noFill/>
          </a:ln>
        </p:spPr>
      </p:sp>
      <p:sp>
        <p:nvSpPr>
          <p:cNvPr id="11" name="github"/>
          <p:cNvSpPr txBox="1"/>
          <p:nvPr/>
        </p:nvSpPr>
        <p:spPr>
          <a:xfrm>
            <a:off x="762000" y="5232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8C2F39"/>
                </a:solidFill>
                <a:latin typeface="JetBrains Mono"/>
                <a:ea typeface="JetBrains Mono"/>
              </a:rPr>
              <a:t>github.com/StephCpa/dp-es</a:t>
            </a:r>
            <a:endParaRPr lang="en-US" sz="1600" noProof="1"/>
          </a:p>
        </p:txBody>
      </p:sp>
      <p:sp>
        <p:nvSpPr>
          <p:cNvPr id="12" name="questions"/>
          <p:cNvSpPr txBox="1"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i="1">
                <a:solidFill>
                  <a:srgbClr val="23201B"/>
                </a:solidFill>
                <a:latin typeface="Unna"/>
                <a:ea typeface="Unna"/>
              </a:rPr>
              <a:t>Happy to take questions.</a:t>
            </a:r>
            <a:endParaRPr lang="en-US" sz="2400" noProof="1"/>
          </a:p>
        </p:txBody>
      </p:sp>
      <p:sp>
        <p:nvSpPr>
          <p:cNvPr id="13" name="footer"/>
          <p:cNvSpPr txBox="1"/>
          <p:nvPr/>
        </p:nvSpPr>
        <p:spPr>
          <a:xfrm>
            <a:off x="762000" y="6527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Ziniu Liu et al. · National University of Defense Technology · EMNLP 2026</a:t>
            </a:r>
            <a:endParaRPr lang="en-US" sz="1000" noProof="1"/>
          </a:p>
        </p:txBody>
      </p:sp>
      <p:sp>
        <p:nvSpPr>
          <p:cNvPr id="14" name="pagenum"/>
          <p:cNvSpPr txBox="1"/>
          <p:nvPr/>
        </p:nvSpPr>
        <p:spPr>
          <a:xfrm>
            <a:off x="106680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10 / 10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DP-ES: Differentially Private Evolution Strategies for Prompt Optimization — EMNLP 2026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