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embeddedFontLst>
    <p:embeddedFont>
      <p:font typeface="Quattrocento Sans" charset="-122" pitchFamily="34"/>
      <p:regular r:id="rIdFont1"/>
    </p:embeddedFont>
    <p:embeddedFont>
      <p:font typeface="Unna" charset="-122" pitchFamily="34"/>
      <p:regular r:id="rIdFont2"/>
    </p:embeddedFont>
    <p:embeddedFont>
      <p:font typeface="JetBrains Mono" charset="-122" pitchFamily="34"/>
      <p:regular r:id="rIdFont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524cab1-a7a7-e27e-8adb-0158e25fea37}">
          <p14:sldIdLst>
            <p14:sldId id="256"/>
            <p14:sldId id="257"/>
          </p14:sldIdLst>
        </p14:section>
        <p14:section name="01 Problem" id="{97036d77-a975-f36c-cbc1-bb9cc2436d85}">
          <p14:sldIdLst>
            <p14:sldId id="258"/>
            <p14:sldId id="259"/>
            <p14:sldId id="260"/>
            <p14:sldId id="261"/>
          </p14:sldIdLst>
        </p14:section>
        <p14:section name="02 Idea" id="{10447fd8-276c-77a4-25fd-aa1e1dcbe69e}">
          <p14:sldIdLst>
            <p14:sldId id="262"/>
          </p14:sldIdLst>
        </p14:section>
        <p14:section name="03 Method" id="{b63a259f-3efc-88ca-e6eb-2698922d7d27}">
          <p14:sldIdLst>
            <p14:sldId id="263"/>
            <p14:sldId id="264"/>
          </p14:sldIdLst>
        </p14:section>
        <p14:section name="04 Results" id="{9bd1f12f-89f3-384d-3b4f-8e76780c692c}">
          <p14:sldIdLst>
            <p14:sldId id="265"/>
            <p14:sldId id="266"/>
            <p14:sldId id="267"/>
            <p14:sldId id="268"/>
          </p14:sldIdLst>
        </p14:section>
        <p14:section name="05 Privacy" id="{1f32fc20-09eb-053b-27cc-a63bcca11c27}">
          <p14:sldIdLst>
            <p14:sldId id="269"/>
            <p14:sldId id="270"/>
          </p14:sldIdLst>
        </p14:section>
        <p14:section name="06 Efficiency and scope" id="{ec8aba11-3eca-da6c-632f-4282a6b79685}">
          <p14:sldIdLst>
            <p14:sldId id="271"/>
            <p14:sldId id="272"/>
            <p14:sldId id="273"/>
          </p14:sldIdLst>
        </p14:section>
        <p14:section name="Backup" id="{b7a71978-6121-3a16-8399-d792fbcd0fa6}">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GSM8K accuracy (%)</c:v>
                </c:pt>
              </c:strCache>
            </c:strRef>
          </c:tx>
          <c:spPr>
            <a:solidFill>
              <a:srgbClr val="C9C1AF"/>
            </a:solidFill>
            <a:effectLst/>
          </c:spPr>
          <c:invertIfNegative val="0"/>
          <c:dLbls>
            <c:numFmt formatCode="0.0" sourceLinked="0"/>
            <c:txPr>
              <a:bodyPr/>
              <a:lstStyle/>
              <a:p>
                <a:pPr>
                  <a:defRPr b="0" i="0" strike="noStrike" sz="1100" u="none">
                    <a:solidFill>
                      <a:srgbClr val="23201B"/>
                    </a:solidFill>
                    <a:latin typeface="+mn-lt"/>
                  </a:defRPr>
                </a:pPr>
              </a:p>
            </c:txPr>
            <c:showLegendKey val="0"/>
            <c:showVal val="1"/>
            <c:showCatName val="0"/>
            <c:showSerName val="0"/>
            <c:showPercent val="0"/>
            <c:showBubbleSize val="0"/>
            <c:showLeaderLines val="0"/>
          </c:dLbls>
          <c:dPt>
            <c:idx val="0"/>
            <c:invertIfNegative val="0"/>
            <c:bubble3D val="0"/>
            <c:spPr>
              <a:solidFill>
                <a:srgbClr val="C9C1AF"/>
              </a:solidFill>
              <a:effectLst/>
            </c:spPr>
          </c:dPt>
          <c:dPt>
            <c:idx val="1"/>
            <c:invertIfNegative val="0"/>
            <c:bubble3D val="0"/>
            <c:spPr>
              <a:solidFill>
                <a:srgbClr val="8C2F39"/>
              </a:solidFill>
              <a:effectLst/>
            </c:spPr>
          </c:dPt>
          <c:dPt>
            <c:idx val="2"/>
            <c:invertIfNegative val="0"/>
            <c:bubble3D val="0"/>
            <c:spPr>
              <a:solidFill>
                <a:srgbClr val="C9C1AF"/>
              </a:solidFill>
              <a:effectLst/>
            </c:spPr>
          </c:dPt>
          <c:dPt>
            <c:idx val="3"/>
            <c:invertIfNegative val="0"/>
            <c:bubble3D val="0"/>
            <c:spPr>
              <a:solidFill>
                <a:srgbClr val="C9C1AF"/>
              </a:solidFill>
              <a:effectLst/>
            </c:spPr>
          </c:dPt>
          <c:cat>
            <c:multiLvlStrRef>
              <c:f>Sheet1!$A$2:$A$5</c:f>
              <c:multiLvlStrCache>
                <c:ptCount val="4"/>
                <c:lvl>
                  <c:pt idx="0">
                    <c:v>K=3, T=4</c:v>
                  </c:pt>
                  <c:pt idx="1">
                    <c:v>K=6, T=3</c:v>
                  </c:pt>
                  <c:pt idx="2">
                    <c:v>K=9, T=2</c:v>
                  </c:pt>
                  <c:pt idx="3">
                    <c:v>K=12, T=2</c:v>
                  </c:pt>
                </c:lvl>
              </c:multiLvlStrCache>
            </c:multiLvlStrRef>
          </c:cat>
          <c:val>
            <c:numRef>
              <c:f>Sheet1!$B$2:$B$5</c:f>
              <c:numCache>
                <c:formatCode>General</c:formatCode>
                <c:ptCount val="4"/>
                <c:pt idx="0">
                  <c:v>78.5</c:v>
                </c:pt>
                <c:pt idx="1">
                  <c:v>86.5</c:v>
                </c:pt>
                <c:pt idx="2">
                  <c:v>82</c:v>
                </c:pt>
                <c:pt idx="3">
                  <c:v>82</c:v>
                </c:pt>
              </c:numCache>
            </c:numRef>
          </c:val>
        </c:ser>
        <c:dLbls>
          <c:numFmt formatCode="0.0" sourceLinked="0"/>
          <c:txPr>
            <a:bodyPr/>
            <a:lstStyle/>
            <a:p>
              <a:pPr>
                <a:defRPr b="0" i="0" strike="noStrike" sz="1100" u="none">
                  <a:solidFill>
                    <a:srgbClr val="2320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FC8B8"/>
            </a:solidFill>
            <a:prstDash val="solid"/>
            <a:round/>
          </a:ln>
        </c:spPr>
        <c:txPr>
          <a:bodyPr/>
          <a:lstStyle/>
          <a:p>
            <a:pPr>
              <a:defRPr sz="1050" b="0" i="0" u="none" strike="noStrike">
                <a:solidFill>
                  <a:srgbClr val="6E675C"/>
                </a:solidFill>
                <a:latin typeface="+mn-lt"/>
              </a:defRPr>
            </a:pPr>
            <a:endParaRPr lang="en-US"/>
          </a:p>
        </c:txPr>
        <c:crossAx val="2094734552"/>
        <c:crosses val="autoZero"/>
        <c:auto val="1"/>
        <c:lblAlgn val="ctr"/>
        <c:noMultiLvlLbl val="1"/>
      </c:catAx>
      <c:valAx>
        <c:axId val="2094734552"/>
        <c:scaling>
          <c:orientation val="minMax"/>
          <c:max val="95"/>
          <c:min val="60"/>
        </c:scaling>
        <c:delete val="0"/>
        <c:axPos val="l"/>
        <c:majorGridlines>
          <c:spPr>
            <a:ln w="6350" cap="flat">
              <a:solidFill>
                <a:srgbClr val="CFC8B8"/>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E675C"/>
                </a:solidFill>
                <a:latin typeface="+mn-lt"/>
              </a:defRPr>
            </a:pPr>
            <a:endParaRPr lang="en-US"/>
          </a:p>
        </c:txPr>
        <c:crossAx val="2094734554"/>
        <c:crosses val="autoZero"/>
        <c:crossBetween val="between"/>
        <c:majorUnit val="10"/>
      </c:valAx>
      <c:spPr>
        <a:solidFill>
          <a:srgbClr val="F7F3E8"/>
        </a:solidFill>
        <a:ln>
          <a:noFill/>
        </a:ln>
        <a:effectLst/>
      </c:spPr>
    </c:plotArea>
    <c:plotVisOnly val="1"/>
    <c:dispBlanksAs val="span"/>
  </c:chart>
  <c:spPr>
    <a:solidFill>
      <a:srgbClr val="F7F3E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DP-ES</c:v>
                </c:pt>
              </c:strCache>
            </c:strRef>
          </c:tx>
          <c:spPr>
            <a:solidFill>
              <a:srgbClr val="8C2F39"/>
            </a:solidFill>
            <a:effectLst/>
          </c:spPr>
          <c:invertIfNegative val="0"/>
          <c:dLbls>
            <c:numFmt formatCode="0.0#" sourceLinked="0"/>
            <c:txPr>
              <a:bodyPr/>
              <a:lstStyle/>
              <a:p>
                <a:pPr>
                  <a:defRPr b="0" i="0" strike="noStrike" sz="1050" u="none">
                    <a:solidFill>
                      <a:srgbClr val="23201B"/>
                    </a:solidFill>
                    <a:latin typeface="+mn-lt"/>
                  </a:defRPr>
                </a:pPr>
              </a:p>
            </c:txPr>
            <c:showLegendKey val="0"/>
            <c:showVal val="1"/>
            <c:showCatName val="0"/>
            <c:showSerName val="0"/>
            <c:showPercent val="0"/>
            <c:showBubbleSize val="0"/>
            <c:showLeaderLines val="0"/>
          </c:dLbls>
          <c:cat>
            <c:multiLvlStrRef>
              <c:f>Sheet1!$A$2:$A$5</c:f>
              <c:multiLvlStrCache>
                <c:ptCount val="4"/>
                <c:lvl>
                  <c:pt idx="0">
                    <c:v>MedQA (Qwen2.5-7B)</c:v>
                  </c:pt>
                  <c:pt idx="1">
                    <c:v>GSM8K (Qwen2.5-7B)</c:v>
                  </c:pt>
                  <c:pt idx="2">
                    <c:v>MedQA (API)</c:v>
                  </c:pt>
                  <c:pt idx="3">
                    <c:v>GSM8K (API)</c:v>
                  </c:pt>
                </c:lvl>
              </c:multiLvlStrCache>
            </c:multiLvlStrRef>
          </c:cat>
          <c:val>
            <c:numRef>
              <c:f>Sheet1!$B$2:$B$5</c:f>
              <c:numCache>
                <c:formatCode>General</c:formatCode>
                <c:ptCount val="4"/>
                <c:pt idx="0">
                  <c:v>1.87</c:v>
                </c:pt>
                <c:pt idx="1">
                  <c:v>7.37</c:v>
                </c:pt>
                <c:pt idx="2">
                  <c:v>7</c:v>
                </c:pt>
                <c:pt idx="3">
                  <c:v>17.9</c:v>
                </c:pt>
              </c:numCache>
            </c:numRef>
          </c:val>
        </c:ser>
        <c:ser>
          <c:idx val="1"/>
          <c:order val="1"/>
          <c:tx>
            <c:strRef>
              <c:f>Sheet1!$C$1</c:f>
              <c:strCache>
                <c:ptCount val="1"/>
                <c:pt idx="0">
                  <c:v>DP-OPT</c:v>
                </c:pt>
              </c:strCache>
            </c:strRef>
          </c:tx>
          <c:spPr>
            <a:solidFill>
              <a:srgbClr val="4F4A42"/>
            </a:solidFill>
            <a:effectLst/>
          </c:spPr>
          <c:invertIfNegative val="0"/>
          <c:dLbls>
            <c:numFmt formatCode="0.0#" sourceLinked="0"/>
            <c:txPr>
              <a:bodyPr/>
              <a:lstStyle/>
              <a:p>
                <a:pPr>
                  <a:defRPr b="0" i="0" strike="noStrike" sz="1050" u="none">
                    <a:solidFill>
                      <a:srgbClr val="23201B"/>
                    </a:solidFill>
                    <a:latin typeface="+mn-lt"/>
                  </a:defRPr>
                </a:pPr>
              </a:p>
            </c:txPr>
            <c:showLegendKey val="0"/>
            <c:showVal val="1"/>
            <c:showCatName val="0"/>
            <c:showSerName val="0"/>
            <c:showPercent val="0"/>
            <c:showBubbleSize val="0"/>
            <c:showLeaderLines val="0"/>
          </c:dLbls>
          <c:cat>
            <c:multiLvlStrRef>
              <c:f>Sheet1!$A$2:$A$5</c:f>
              <c:multiLvlStrCache>
                <c:ptCount val="4"/>
                <c:lvl>
                  <c:pt idx="0">
                    <c:v>MedQA (Qwen2.5-7B)</c:v>
                  </c:pt>
                  <c:pt idx="1">
                    <c:v>GSM8K (Qwen2.5-7B)</c:v>
                  </c:pt>
                  <c:pt idx="2">
                    <c:v>MedQA (API)</c:v>
                  </c:pt>
                  <c:pt idx="3">
                    <c:v>GSM8K (API)</c:v>
                  </c:pt>
                </c:lvl>
              </c:multiLvlStrCache>
            </c:multiLvlStrRef>
          </c:cat>
          <c:val>
            <c:numRef>
              <c:f>Sheet1!$C$2:$C$5</c:f>
              <c:numCache>
                <c:formatCode>General</c:formatCode>
                <c:ptCount val="4"/>
                <c:pt idx="0">
                  <c:v>3.24</c:v>
                </c:pt>
                <c:pt idx="1">
                  <c:v>14.6</c:v>
                </c:pt>
                <c:pt idx="2">
                  <c:v>18.4</c:v>
                </c:pt>
                <c:pt idx="3">
                  <c:v>45.7</c:v>
                </c:pt>
              </c:numCache>
            </c:numRef>
          </c:val>
        </c:ser>
        <c:dLbls>
          <c:numFmt formatCode="0.0#" sourceLinked="0"/>
          <c:txPr>
            <a:bodyPr/>
            <a:lstStyle/>
            <a:p>
              <a:pPr>
                <a:defRPr b="0" i="0" strike="noStrike" sz="1050" u="none">
                  <a:solidFill>
                    <a:srgbClr val="23201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CFC8B8"/>
            </a:solidFill>
            <a:prstDash val="solid"/>
            <a:round/>
          </a:ln>
        </c:spPr>
        <c:txPr>
          <a:bodyPr/>
          <a:lstStyle/>
          <a:p>
            <a:pPr>
              <a:defRPr sz="1100" b="0" i="0" u="none" strike="noStrike">
                <a:solidFill>
                  <a:srgbClr val="6E675C"/>
                </a:solidFill>
                <a:latin typeface="+mn-lt"/>
              </a:defRPr>
            </a:pPr>
            <a:endParaRPr lang="en-US"/>
          </a:p>
        </c:txPr>
        <c:crossAx val="2094734552"/>
        <c:crosses val="autoZero"/>
        <c:auto val="1"/>
        <c:lblAlgn val="ctr"/>
        <c:noMultiLvlLbl val="1"/>
      </c:catAx>
      <c:valAx>
        <c:axId val="2094734552"/>
        <c:scaling>
          <c:orientation val="minMax"/>
          <c:max val="50"/>
          <c:min val="0"/>
        </c:scaling>
        <c:delete val="0"/>
        <c:axPos val="b"/>
        <c:majorGridlines>
          <c:spPr>
            <a:ln w="6350" cap="flat">
              <a:solidFill>
                <a:srgbClr val="CFC8B8"/>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6E675C"/>
                </a:solidFill>
                <a:latin typeface="+mn-lt"/>
              </a:defRPr>
            </a:pPr>
            <a:endParaRPr lang="en-US"/>
          </a:p>
        </c:txPr>
        <c:crossAx val="2094734554"/>
        <c:crosses val="autoZero"/>
        <c:crossBetween val="between"/>
        <c:majorUnit val="10"/>
      </c:valAx>
      <c:spPr>
        <a:solidFill>
          <a:srgbClr val="F7F3E8"/>
        </a:solidFill>
        <a:ln>
          <a:noFill/>
        </a:ln>
        <a:effectLst/>
      </c:spPr>
    </c:plotArea>
    <c:legend>
      <c:legendPos val="t"/>
      <c:overlay val="0"/>
      <c:txPr>
        <a:bodyPr/>
        <a:lstStyle/>
        <a:p>
          <a:pPr>
            <a:defRPr sz="1100">
              <a:solidFill>
                <a:srgbClr val="23201B"/>
              </a:solidFill>
              <a:latin typeface="+mn-lt"/>
              <a:cs typeface="+mn-lt"/>
            </a:defRPr>
          </a:pPr>
          <a:endParaRPr lang="en-US"/>
        </a:p>
      </c:txPr>
    </c:legend>
    <c:plotVisOnly val="1"/>
    <c:dispBlanksAs val="span"/>
  </c:chart>
  <c:spPr>
    <a:solidFill>
      <a:srgbClr val="F7F3E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 am presenting DP-ES, Differentially Private Evolution Strategies for Prompt Optimization, joint work with colleagues at the National University of Defense Technology and CRRC Zhuzhou. In one sentence: when prompts are optimized on private data under differential privacy, the structure of the search matters. Token-by-token private construction is fragile; evolving a population of complete prompts, and spending privacy only on noisy scoring, is far more robust.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follows six short parts. First the problem: prompt optimization on sensitive data has to be private, and the main existing approach, token-level private construction as in DP-OPT, is unstable under a tight budget. Then the idea and the method, DP-ES. Then results on four tasks, the privacy evidence, and finally efficiency and an explicit statement of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Automatic prompt optimization works well, but it tunes prompts directly on task data, and in many applications that data is sensitive: patient records, financial logs. An optimizer can memorize what it sees; in the worst case it returns a prompt that literally contains a record, as in the hypothetical at the bottom. Formal differential privacy bounds this leakage, but the noise it requires stresses the optimizer itself. Under a tight budget, epsilon at most one, the leading token-level method, DP-OPT, gets 49.5 percent on GSM8K with a standard deviation of 28.5 points over 30 runs. That instability is the question of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Formally, we have a private dataset of input-output pairs and want the prompt that maximizes task performance, for example accuracy. The constraint is (epsilon, delta)-differential privacy with respect to that dataset: changing one record may change the distribution of the released prompt only by a factor e to the epsilon, plus delta. The model is a black box behind an API, so weight-based private training does not apply. The table positions us. Non-private optimizers, including evolutionary ones like EvoPrompt and PromptBreeder, give no guarantee. DP-SGD gives a guarantee but needs continuous parameters. DP-OPT is the closest prior work: private and discrete, using token histograms with the exponential mechanism. DP-ES is private and discrete, using evolution plus Gaussian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instability in one picture. We ran our black-box adaptation of DP-OPT thirty times on GSM8K at epsilon one. The mean is 49.5 percent, but the one-standard-deviation band covers roughly 21 to 78 percent: some runs work well, others collapse. For reference, DP-ES reaches 88.1 plus or minus 3.2 under a tighter bound, about nine times lower standard deviation, and the non-private TextGrad reference is at 95. We report the full distribution rather than labelling runs as failures. The next question is where this variance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see three structural causes. DP-OPT builds the prompt greedily, one token at a time, by private voting over histogram counts. Noise can flip a token choice, and since there is no backtracking, one early decision redirects everything after it. And nothing checks global structure, so the prompt can drift. Below is a real logged trajectory, seed 42. At iteration 0 the selected prompt contains the question placeholder; by iterations 1 and 2 the selected prompts are fluent instructions, but the placeholder is gone. Across the search, 21 of 33 candidates omit it. We are careful here: this run still reaches 91 percent, because our harness appends the question when the placeholder is missing. So this is a drift diagnostic, not a failure count. The implication is to change the search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core idea is to decouple exploration from privacy spending. We evolve a population of complete prompts, and we pay privacy budget only for scoring. Mutation is privacy-free: an LLM rewrites complete prompt strings and never sees the private data, so by post-processing, exploration can be as rich as we like at zero privacy cost. Scoring is the only step that reads the private dataset; the whole budget is concentrated there and composed by a Renyi-DP accountant. Selection picks the top parents from privatized scores only, so it is again post-processing. This is the Private Evolution principle from DP data synthesis, applied to prompt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iteration. Phase one: an LLM mutates the current parents into K complete candidate prompts. The mutation LLM sees only prompts, never records, so this step is post-processing and costs no privacy. Phase two, shaded, is the only place private data enters: each candidate is scored on a freshly sampled batch, the per-record utility is clipped, averaged, and released with Gaussian noise. Phase three selects the top M parents using only the privatized scores, so it is again post-processing. The loop repeats T times. Over the whole run there are at most T times K score releases, and that number alone determines the privacy cost: with our settings, epsilon at most 0.71.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Slightly more formally. Mutation produces exactly K candidates from the parent set; we use a balanced mode that mixes larger and smaller semantic edits. Scoring: for each candidate we draw a fresh batch of b records, compute a zero-one correctness utility, clip it, average it, and add Gaussian noise with standard deviation z times C over b. Selection: by default we add Gumbel noise with a fixed, data-independent scale before taking the top M, purely to smooth rank inversions; deterministic top-M is the beta-equals-zero case. Both are post-processing. On the right is the single configuration used for every task, fixed in advance and not tuned on utility.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evaluate on four task families: GSM8K for multi-step math reasoning, MedQA for medical multiple-choice questions, BANKING77 for 77-way intent classification, and Alpaca for open-ended instruction following, scored by an LLM judge. The main experiments use DeepSeek-V3.2 through its API, and we validate locally with Qwen2.5-7B. We compare against DP-OPT in a black-box adaptation at epsilon one, and against non-private TextGrad as a reference. All methods share the same initial prompt, and DP-ES uses one configuration for every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main results. On GSM8K, DP-ES reaches 88.1 percent versus 49.5 for DP-OPT, a gain of 38.6 points with about nine times lower standard deviation, and within seven points of the non-private reference. On MedQA, 99.7 versus 93.5. On BANKING77 and Alpaca the two private methods are within two points of each other. So the advantage is task-dependent: it is largest when prompt structure is critical, as in multi-step reasoning. One caveat: MedQA is near ceiling on this 200-question subset, so we do not over-interpret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evolution work better under noise? DP-ES does not eliminate noisy rankings; its population recovers from them. On the right is population diversity, the mean pairwise embedding distance between prompts: early iterations are diverse, around 0.15, before the population converges. So DP-ES holds several complete hypotheses at once, and when Gaussian noise swaps two scores, a good alternative is still in the population. At the bottom is the final DP-ES prompt from a logged GSM8K run. Because mutations operate on whole strings, the question placeholder is preserved.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robustness checks. Left: Gumbel-smoothed and deterministic top-M selection reach 88.8 and 88.6 percent over five seeds. Both are post-processing, so privacy is identical; we keep smoothing as the default but do not claim a variance advantage. Middle: with K times T capped at 24, K equals six and T equals three gives the best trade-off between population diversity and the number of refinement rounds. Right: with a local Qwen2.5-7B model, DP-ES beats DP-OPT by 16.4 points on GSM8K with half the standard deviation, and the two are comparable on MedQA, the same task-dependent pattern as with the API model. The soft-prompt baseline PromptDPSGD trails both discrete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privacy argument is short. Proposition one: mutation sees only public or already privatized prompts, so it is post-processing and free. Proposition two follows: privacy loss is independent of how many or how strong the mutations are, which is exactly the decoupling we want. The theorem composes at most T times K sampled-Gaussian releases with a Renyi-DP accountant for sampling without replacement. With 200 records, batch 10, noise multiplier 10, and 18 releases, AutoDP gives epsilon 0.705 at delta ten to the minus five. We report the common conservative ceiling epsilon at most one, DP-OPT’s stated setting. The script in our repository reproduces this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the formal guarantee, we ran targeted diagnostics. First, the logged noise draws: 1,000 samples are consistent with the configured Gaussian under a Kolmogorov-Smirnov test. Second, a memorization stress test: 200 synthetic customer profiles with six sensitive strings each, 1,200 strings in total. An intentionally adversarial non-private control, shown the raw records and asked to embed a directory, ends up with 40 of those strings in its prompt. DP-ES, whose mutation never sees records, contains none. To be clear, these are sanity checks for implementation errors. They do not test semantic leakage or membership inference, and they cannot certify DP; the guarantee comes from the accountant.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DP-ES is also cheaper in time. On GSM8K through the API it takes 17.9 hours versus 45.7 for DP-OPT, 2.5 times faster, and the speed-up holds on MedQA and with the local Qwen model, as the chart shows. The reason is the number of private-data round trips: 10 logged call groups versus 33, because DP-OPT queries private aggregates during token construction as well as evaluation. To be transparent about the trade-off: DP-ES uses larger contexts, about 2.8 times more tokens. So the advantage is lower wall-clock time and fewer private-data round trips, not uniformly lower provider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explicit about scope. Our evidence supports three claims: DP-ES is a structurally more robust DP prompt optimizer than token-level construction, especially when prompt structure matters; it carries a formal record-level guarantee from the accountant; and it is faster, with fewer private-data round trips. What we have not shown: end-to-end validation on genuinely sensitive, non-saturated data, which current public benchmarks do not offer; MedQA is near ceiling; our attack coverage is exact-match only; we report one privacy level rather than a full frontier; and the advantage is task-dependent.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decouple exploration from privacy. Evolve complete prompts, and pay privacy budget only for scoring. That gives 88.1 percent on GSM8K under epsilon at most one, with about nine times lower variance than token-level construction; a recomputed bound of epsilon 0.71; 2.5 times faster wall-clock; and no listed sensitive string in our synthetic stress test. Code, the privacy accountant and the paper source are on GitHub. Thank you,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These are the assumptions behind the formal guarantee, as stated in the appendix of the paper. They match those of DP-OPT and standard DP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Cost decomposition by call purpose for one representative GSM8K run, from the efficiency appendix of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repository reproduces the reported bound with AutoDP; the five conditions on the right are the contract under which the formal guarantee 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PER_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61695" y="737006"/>
            <a:ext cx="7619695" cy="228600"/>
          </a:xfrm>
          <a:prstGeom prst="rect">
            <a:avLst/>
          </a:prstGeom>
          <a:noFill/>
          <a:ln/>
        </p:spPr>
        <p:txBody>
          <a:bodyPr wrap="square" rtlCol="0"/>
          <a:lstStyle>
            <a:lvl1pPr indent="0" marL="0">
              <a:buNone/>
              <a:defRPr lang="en-US" sz="1100" spc="300" kern="0" dirty="0">
                <a:solidFill>
                  <a:schemeClr val="accent1"/>
                </a:solidFill>
              </a:defRPr>
            </a:lvl1pPr>
          </a:lstStyle>
          <a:p>
            <a:pPr indent="0" marL="0">
              <a:buNone/>
            </a:pPr>
            <a:endParaRPr lang="en-US" sz="1100" dirty="0"/>
          </a:p>
        </p:txBody>
      </p:sp>
      <p:sp>
        <p:nvSpPr>
          <p:cNvPr id="3" name="Shape 0"/>
          <p:cNvSpPr/>
          <p:nvPr/>
        </p:nvSpPr>
        <p:spPr>
          <a:xfrm>
            <a:off x="761695" y="1091794"/>
            <a:ext cx="812902" cy="38405"/>
          </a:xfrm>
          <a:prstGeom prst="rect">
            <a:avLst/>
          </a:prstGeom>
          <a:solidFill>
            <a:schemeClr val="accent1"/>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PER_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761695" y="304495"/>
            <a:ext cx="6349594" cy="202997"/>
          </a:xfrm>
          <a:prstGeom prst="rect">
            <a:avLst/>
          </a:prstGeom>
          <a:noFill/>
          <a:ln/>
        </p:spPr>
        <p:txBody>
          <a:bodyPr wrap="square" lIns="0" tIns="0" rIns="0" bIns="0" rtlCol="0" anchor="t"/>
          <a:lstStyle/>
          <a:p>
            <a:pPr indent="0" marL="0">
              <a:buNone/>
            </a:pPr>
            <a:r>
              <a:rPr lang="en-US" sz="1100" spc="200" kern="0" dirty="0">
                <a:solidFill>
                  <a:schemeClr val="tx2"/>
                </a:solidFill>
              </a:rPr>
              <a:t>DP-ES · EMNLP 2026</a:t>
            </a:r>
            <a:endParaRPr lang="en-US" sz="1100" dirty="0"/>
          </a:p>
        </p:txBody>
      </p:sp>
      <p:sp>
        <p:nvSpPr>
          <p:cNvPr id="3" name="Text 1"/>
          <p:cNvSpPr/>
          <p:nvPr>
            <p:ph idx="101" type="body" hasCustomPrompt="1"/>
          </p:nvPr>
        </p:nvSpPr>
        <p:spPr>
          <a:xfrm>
            <a:off x="7112203" y="304495"/>
            <a:ext cx="4317797" cy="202997"/>
          </a:xfrm>
          <a:prstGeom prst="rect">
            <a:avLst/>
          </a:prstGeom>
          <a:noFill/>
          <a:ln/>
        </p:spPr>
        <p:txBody>
          <a:bodyPr wrap="square" rtlCol="0"/>
          <a:lstStyle>
            <a:lvl1pPr algn="r" indent="0" marL="0">
              <a:buNone/>
              <a:defRPr lang="en-US" sz="1100" spc="200" kern="0" dirty="0">
                <a:solidFill>
                  <a:schemeClr val="tx2"/>
                </a:solidFill>
              </a:defRPr>
            </a:lvl1pPr>
          </a:lstStyle>
          <a:p>
            <a:pPr algn="r" indent="0" marL="0">
              <a:buNone/>
            </a:pPr>
            <a:endParaRPr lang="en-US" sz="1100" dirty="0"/>
          </a:p>
        </p:txBody>
      </p:sp>
      <p:sp>
        <p:nvSpPr>
          <p:cNvPr id="4" name="Text 1"/>
          <p:cNvSpPr/>
          <p:nvPr>
            <p:ph idx="102" type="title" hasCustomPrompt="1"/>
          </p:nvPr>
        </p:nvSpPr>
        <p:spPr>
          <a:xfrm>
            <a:off x="761695" y="609905"/>
            <a:ext cx="10668305" cy="508406"/>
          </a:xfrm>
          <a:prstGeom prst="rect">
            <a:avLst/>
          </a:prstGeom>
          <a:noFill/>
          <a:ln/>
        </p:spPr>
        <p:txBody>
          <a:bodyPr wrap="square" rtlCol="0"/>
          <a:lstStyle>
            <a:lvl1pPr algn="l" indent="0" marL="0">
              <a:buNone/>
              <a:defRPr lang="en-US" sz="2900" dirty="0">
                <a:solidFill>
                  <a:schemeClr val="tx1"/>
                </a:solidFill>
                <a:latin typeface="+mj-lt" pitchFamily="34" charset="0"/>
                <a:ea typeface="+mj-lt" pitchFamily="34" charset="-122"/>
                <a:cs typeface="+mj-lt" pitchFamily="34" charset="-120"/>
              </a:defRPr>
            </a:lvl1pPr>
          </a:lstStyle>
          <a:p>
            <a:pPr algn="l" indent="0" marL="0">
              <a:buNone/>
            </a:pPr>
            <a:endParaRPr lang="en-US" sz="2900" dirty="0"/>
          </a:p>
        </p:txBody>
      </p:sp>
      <p:sp>
        <p:nvSpPr>
          <p:cNvPr id="5" name="Shape 1"/>
          <p:cNvSpPr/>
          <p:nvPr/>
        </p:nvSpPr>
        <p:spPr>
          <a:xfrm>
            <a:off x="761695" y="1244498"/>
            <a:ext cx="10668305" cy="12802"/>
          </a:xfrm>
          <a:prstGeom prst="rect">
            <a:avLst/>
          </a:prstGeom>
          <a:solidFill>
            <a:schemeClr val="accent4"/>
          </a:solidFill>
          <a:ln/>
        </p:spPr>
      </p:sp>
      <p:sp>
        <p:nvSpPr>
          <p:cNvPr id="6" name="Shape 2"/>
          <p:cNvSpPr/>
          <p:nvPr/>
        </p:nvSpPr>
        <p:spPr>
          <a:xfrm>
            <a:off x="761695" y="6413602"/>
            <a:ext cx="10668305" cy="12802"/>
          </a:xfrm>
          <a:prstGeom prst="rect">
            <a:avLst/>
          </a:prstGeom>
          <a:solidFill>
            <a:schemeClr val="accent4"/>
          </a:solidFill>
          <a:ln/>
        </p:spPr>
      </p:sp>
      <p:sp>
        <p:nvSpPr>
          <p:cNvPr id="7" name="Text 3"/>
          <p:cNvSpPr/>
          <p:nvPr/>
        </p:nvSpPr>
        <p:spPr>
          <a:xfrm>
            <a:off x="761695" y="6527902"/>
            <a:ext cx="8889797" cy="177394"/>
          </a:xfrm>
          <a:prstGeom prst="rect">
            <a:avLst/>
          </a:prstGeom>
          <a:noFill/>
          <a:ln/>
        </p:spPr>
        <p:txBody>
          <a:bodyPr wrap="square" lIns="0" tIns="0" rIns="0" bIns="0" rtlCol="0" anchor="t"/>
          <a:lstStyle/>
          <a:p>
            <a:pPr indent="0" marL="0">
              <a:buNone/>
            </a:pPr>
            <a:r>
              <a:rPr lang="en-US" sz="1000" dirty="0">
                <a:solidFill>
                  <a:schemeClr val="tx2"/>
                </a:solidFill>
              </a:rPr>
              <a:t>DP-ES: Differentially Private Evolution Strategies for Prompt Optimization</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StephCpa/dp-es"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github.com/StephCpa/dp-es" TargetMode="External"/><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61695" y="737006"/>
            <a:ext cx="7619695" cy="228600"/>
          </a:xfrm>
          <a:prstGeom prst="rect">
            <a:avLst/>
          </a:prstGeom>
          <a:noFill/>
          <a:ln/>
        </p:spPr>
        <p:txBody>
          <a:bodyPr wrap="square" lIns="0" tIns="0" rIns="0" bIns="0" rtlCol="0" anchor="t"/>
          <a:lstStyle/>
          <a:p>
            <a:pPr indent="0" marL="0">
              <a:buNone/>
            </a:pPr>
            <a:r>
              <a:rPr lang="en-US" sz="1100" spc="300" kern="0" dirty="0">
                <a:solidFill>
                  <a:schemeClr val="accent1"/>
                </a:solidFill>
              </a:rPr>
              <a:t>EMNLP 2026 · VIRTUAL PRESENTATION</a:t>
            </a:r>
            <a:endParaRPr lang="en-US" sz="1100" dirty="0"/>
          </a:p>
        </p:txBody>
      </p:sp>
      <p:sp>
        <p:nvSpPr>
          <p:cNvPr id="3" name="Text 1"/>
          <p:cNvSpPr txBox="1"/>
          <p:nvPr/>
        </p:nvSpPr>
        <p:spPr>
          <a:xfrm>
            <a:off x="761695" y="1371600"/>
            <a:ext cx="10668305" cy="1524305"/>
          </a:xfrm>
          <a:prstGeom prst="rect">
            <a:avLst/>
          </a:prstGeom>
          <a:noFill/>
          <a:ln/>
        </p:spPr>
        <p:txBody>
          <a:bodyPr wrap="square" lIns="0" tIns="0" rIns="0" bIns="0" rtlCol="0" anchor="t"/>
          <a:lstStyle/>
          <a:p>
            <a:pPr indent="0" marL="0">
              <a:lnSpc>
                <a:spcPct val="112000"/>
              </a:lnSpc>
              <a:buNone/>
            </a:pPr>
            <a:r>
              <a:rPr lang="en-US" sz="4200" dirty="0">
                <a:solidFill>
                  <a:schemeClr val="tx1"/>
                </a:solidFill>
                <a:latin typeface="+mj-lt" pitchFamily="34" charset="0"/>
                <a:ea typeface="+mj-lt" pitchFamily="34" charset="-122"/>
                <a:cs typeface="+mj-lt" pitchFamily="34" charset="-120"/>
              </a:rPr>
              <a:t>DP-ES: Differentially Private Evolution Strategies for Prompt Optimization</a:t>
            </a:r>
            <a:endParaRPr lang="en-US" sz="4200" dirty="0"/>
          </a:p>
        </p:txBody>
      </p:sp>
      <p:sp>
        <p:nvSpPr>
          <p:cNvPr id="4" name="Text 2"/>
          <p:cNvSpPr txBox="1"/>
          <p:nvPr/>
        </p:nvSpPr>
        <p:spPr>
          <a:xfrm>
            <a:off x="761695" y="3124505"/>
            <a:ext cx="10668305" cy="274320"/>
          </a:xfrm>
          <a:prstGeom prst="rect">
            <a:avLst/>
          </a:prstGeom>
          <a:noFill/>
          <a:ln/>
        </p:spPr>
        <p:txBody>
          <a:bodyPr wrap="square" lIns="0" tIns="0" rIns="0" bIns="0" rtlCol="0" anchor="t"/>
          <a:lstStyle/>
          <a:p>
            <a:pPr indent="0" marL="0">
              <a:buNone/>
            </a:pPr>
            <a:r>
              <a:rPr lang="en-US" sz="1500" dirty="0">
                <a:solidFill>
                  <a:schemeClr val="tx1"/>
                </a:solidFill>
              </a:rPr>
              <a:t>Ziniu Liu</a:t>
            </a:r>
            <a:r>
              <a:rPr lang="en-US" sz="1500" baseline="30000" dirty="0">
                <a:solidFill>
                  <a:schemeClr val="tx1"/>
                </a:solidFill>
              </a:rPr>
              <a:t>1</a:t>
            </a:r>
            <a:r>
              <a:rPr lang="en-US" sz="1500" dirty="0">
                <a:solidFill>
                  <a:schemeClr val="tx1"/>
                </a:solidFill>
              </a:rPr>
              <a:t>, Aiping Li</a:t>
            </a:r>
            <a:r>
              <a:rPr lang="en-US" sz="1500" baseline="30000" dirty="0">
                <a:solidFill>
                  <a:schemeClr val="tx1"/>
                </a:solidFill>
              </a:rPr>
              <a:t>1,*</a:t>
            </a:r>
            <a:r>
              <a:rPr lang="en-US" sz="1500" dirty="0">
                <a:solidFill>
                  <a:schemeClr val="tx1"/>
                </a:solidFill>
              </a:rPr>
              <a:t>, Yue Han</a:t>
            </a:r>
            <a:r>
              <a:rPr lang="en-US" sz="1500" baseline="30000" dirty="0">
                <a:solidFill>
                  <a:schemeClr val="tx1"/>
                </a:solidFill>
              </a:rPr>
              <a:t>1</a:t>
            </a:r>
            <a:r>
              <a:rPr lang="en-US" sz="1500" dirty="0">
                <a:solidFill>
                  <a:schemeClr val="tx1"/>
                </a:solidFill>
              </a:rPr>
              <a:t>, Han Yu</a:t>
            </a:r>
            <a:r>
              <a:rPr lang="en-US" sz="1500" baseline="30000" dirty="0">
                <a:solidFill>
                  <a:schemeClr val="tx1"/>
                </a:solidFill>
              </a:rPr>
              <a:t>1</a:t>
            </a:r>
            <a:r>
              <a:rPr lang="en-US" sz="1500" dirty="0">
                <a:solidFill>
                  <a:schemeClr val="tx1"/>
                </a:solidFill>
              </a:rPr>
              <a:t>, Junjian Zhang</a:t>
            </a:r>
            <a:r>
              <a:rPr lang="en-US" sz="1500" baseline="30000" dirty="0">
                <a:solidFill>
                  <a:schemeClr val="tx1"/>
                </a:solidFill>
              </a:rPr>
              <a:t>1</a:t>
            </a:r>
            <a:r>
              <a:rPr lang="en-US" sz="1500" dirty="0">
                <a:solidFill>
                  <a:schemeClr val="tx1"/>
                </a:solidFill>
              </a:rPr>
              <a:t>, Dong Zhu</a:t>
            </a:r>
            <a:r>
              <a:rPr lang="en-US" sz="1500" baseline="30000" dirty="0">
                <a:solidFill>
                  <a:schemeClr val="tx1"/>
                </a:solidFill>
              </a:rPr>
              <a:t>1</a:t>
            </a:r>
            <a:r>
              <a:rPr lang="en-US" sz="1500" dirty="0">
                <a:solidFill>
                  <a:schemeClr val="tx1"/>
                </a:solidFill>
              </a:rPr>
              <a:t>, Changjian Li</a:t>
            </a:r>
            <a:r>
              <a:rPr lang="en-US" sz="1500" baseline="30000" dirty="0">
                <a:solidFill>
                  <a:schemeClr val="tx1"/>
                </a:solidFill>
              </a:rPr>
              <a:t>1</a:t>
            </a:r>
            <a:r>
              <a:rPr lang="en-US" sz="1500" dirty="0">
                <a:solidFill>
                  <a:schemeClr val="tx1"/>
                </a:solidFill>
              </a:rPr>
              <a:t>, Shiqiang Zhang</a:t>
            </a:r>
            <a:r>
              <a:rPr lang="en-US" sz="1500" baseline="30000" dirty="0">
                <a:solidFill>
                  <a:schemeClr val="tx1"/>
                </a:solidFill>
              </a:rPr>
              <a:t>2</a:t>
            </a:r>
            <a:endParaRPr lang="en-US" sz="1500" dirty="0"/>
          </a:p>
        </p:txBody>
      </p:sp>
      <p:sp>
        <p:nvSpPr>
          <p:cNvPr id="5" name="Text 3"/>
          <p:cNvSpPr txBox="1"/>
          <p:nvPr/>
        </p:nvSpPr>
        <p:spPr>
          <a:xfrm>
            <a:off x="761695" y="3454603"/>
            <a:ext cx="10668305" cy="731520"/>
          </a:xfrm>
          <a:prstGeom prst="rect">
            <a:avLst/>
          </a:prstGeom>
          <a:noFill/>
          <a:ln/>
        </p:spPr>
        <p:txBody>
          <a:bodyPr wrap="square" lIns="0" tIns="0" rIns="0" bIns="0" rtlCol="0" anchor="t"/>
          <a:lstStyle/>
          <a:p>
            <a:pPr indent="0" marL="0">
              <a:lnSpc>
                <a:spcPct val="130000"/>
              </a:lnSpc>
              <a:buNone/>
            </a:pPr>
            <a:r>
              <a:rPr lang="en-US" sz="1200" baseline="30000" dirty="0">
                <a:solidFill>
                  <a:schemeClr val="tx2"/>
                </a:solidFill>
              </a:rPr>
              <a:t>1</a:t>
            </a:r>
            <a:r>
              <a:rPr lang="en-US" sz="1200" dirty="0">
                <a:solidFill>
                  <a:schemeClr val="tx2"/>
                </a:solidFill>
              </a:rPr>
              <a:t> National University of Defense Technology</a:t>
            </a:r>
            <a:endParaRPr lang="en-US" sz="1200" dirty="0"/>
          </a:p>
          <a:p>
            <a:pPr indent="0" marL="0">
              <a:lnSpc>
                <a:spcPct val="130000"/>
              </a:lnSpc>
              <a:buNone/>
            </a:pPr>
            <a:r>
              <a:rPr lang="en-US" sz="1200" baseline="30000" dirty="0">
                <a:solidFill>
                  <a:schemeClr val="tx2"/>
                </a:solidFill>
              </a:rPr>
              <a:t>2</a:t>
            </a:r>
            <a:r>
              <a:rPr lang="en-US" sz="1200" dirty="0">
                <a:solidFill>
                  <a:schemeClr val="tx2"/>
                </a:solidFill>
              </a:rPr>
              <a:t> CRRC Zhuzhou Electric Locomotive Research Institute, China Academy of Railway Sciences</a:t>
            </a:r>
            <a:endParaRPr lang="en-US" sz="1200" dirty="0"/>
          </a:p>
          <a:p>
            <a:pPr indent="0" marL="0">
              <a:lnSpc>
                <a:spcPct val="130000"/>
              </a:lnSpc>
              <a:buNone/>
            </a:pPr>
            <a:r>
              <a:rPr lang="en-US" sz="1200" dirty="0">
                <a:solidFill>
                  <a:schemeClr val="tx2"/>
                </a:solidFill>
              </a:rPr>
              <a:t>* Corresponding author: liaiping@nudt.edu.cn</a:t>
            </a:r>
            <a:endParaRPr lang="en-US" sz="1200" dirty="0"/>
          </a:p>
        </p:txBody>
      </p:sp>
      <p:sp>
        <p:nvSpPr>
          <p:cNvPr id="6" name="Shape 4"/>
          <p:cNvSpPr/>
          <p:nvPr/>
        </p:nvSpPr>
        <p:spPr>
          <a:xfrm>
            <a:off x="761695" y="4317797"/>
            <a:ext cx="38405" cy="940003"/>
          </a:xfrm>
          <a:prstGeom prst="rect">
            <a:avLst/>
          </a:prstGeom>
          <a:solidFill>
            <a:schemeClr val="accent1"/>
          </a:solidFill>
          <a:ln/>
        </p:spPr>
      </p:sp>
      <p:sp>
        <p:nvSpPr>
          <p:cNvPr id="7" name="Text 5"/>
          <p:cNvSpPr txBox="1"/>
          <p:nvPr/>
        </p:nvSpPr>
        <p:spPr>
          <a:xfrm>
            <a:off x="1015898" y="4317797"/>
            <a:ext cx="10159898" cy="940003"/>
          </a:xfrm>
          <a:prstGeom prst="rect">
            <a:avLst/>
          </a:prstGeom>
          <a:noFill/>
          <a:ln/>
        </p:spPr>
        <p:txBody>
          <a:bodyPr wrap="square" lIns="0" tIns="0" rIns="0" bIns="0" rtlCol="0" anchor="ctr"/>
          <a:lstStyle/>
          <a:p>
            <a:pPr indent="0" marL="0">
              <a:lnSpc>
                <a:spcPct val="135000"/>
              </a:lnSpc>
              <a:buNone/>
            </a:pPr>
            <a:r>
              <a:rPr lang="en-US" sz="2000" i="1" dirty="0">
                <a:solidFill>
                  <a:schemeClr val="accent2"/>
                </a:solidFill>
                <a:latin typeface="+mj-lt" pitchFamily="34" charset="0"/>
                <a:ea typeface="+mj-lt" pitchFamily="34" charset="-122"/>
                <a:cs typeface="+mj-lt" pitchFamily="34" charset="-120"/>
              </a:rPr>
              <a:t>A population-based DP prompt optimizer that spends privacy budget </a:t>
            </a:r>
            <a:r>
              <a:rPr lang="en-US" sz="2000" b="1" i="1" dirty="0">
                <a:solidFill>
                  <a:schemeClr val="accent2"/>
                </a:solidFill>
                <a:latin typeface="+mj-lt" pitchFamily="34" charset="0"/>
                <a:ea typeface="+mj-lt" pitchFamily="34" charset="-122"/>
                <a:cs typeface="+mj-lt" pitchFamily="34" charset="-120"/>
              </a:rPr>
              <a:t>only on scoring</a:t>
            </a:r>
            <a:r>
              <a:rPr lang="en-US" sz="2000" i="1" dirty="0">
                <a:solidFill>
                  <a:schemeClr val="accent2"/>
                </a:solidFill>
                <a:latin typeface="+mj-lt" pitchFamily="34" charset="0"/>
                <a:ea typeface="+mj-lt" pitchFamily="34" charset="-122"/>
                <a:cs typeface="+mj-lt" pitchFamily="34" charset="-120"/>
              </a:rPr>
              <a:t> — stable where token-level DP construction collapses.</a:t>
            </a:r>
            <a:endParaRPr lang="en-US" sz="2000" dirty="0"/>
          </a:p>
        </p:txBody>
      </p:sp>
      <p:sp>
        <p:nvSpPr>
          <p:cNvPr id="8" name="Shape 6"/>
          <p:cNvSpPr/>
          <p:nvPr/>
        </p:nvSpPr>
        <p:spPr>
          <a:xfrm>
            <a:off x="761695" y="5867705"/>
            <a:ext cx="10668305" cy="12802"/>
          </a:xfrm>
          <a:prstGeom prst="rect">
            <a:avLst/>
          </a:prstGeom>
          <a:solidFill>
            <a:schemeClr val="accent4"/>
          </a:solidFill>
          <a:ln/>
        </p:spPr>
      </p:sp>
      <p:sp>
        <p:nvSpPr>
          <p:cNvPr id="9" name="Text 7"/>
          <p:cNvSpPr txBox="1"/>
          <p:nvPr/>
        </p:nvSpPr>
        <p:spPr>
          <a:xfrm>
            <a:off x="761695" y="6045098"/>
            <a:ext cx="6349594" cy="228600"/>
          </a:xfrm>
          <a:prstGeom prst="rect">
            <a:avLst/>
          </a:prstGeom>
          <a:noFill/>
          <a:ln/>
        </p:spPr>
        <p:txBody>
          <a:bodyPr wrap="square" lIns="0" tIns="0" rIns="0" bIns="0" rtlCol="0" anchor="t"/>
          <a:lstStyle/>
          <a:p>
            <a:pPr indent="0" marL="0">
              <a:buNone/>
            </a:pPr>
            <a:r>
              <a:rPr lang="en-US" sz="1300" dirty="0">
                <a:solidFill>
                  <a:schemeClr val="tx2"/>
                </a:solidFill>
                <a:latin typeface="JetBrains Mono" pitchFamily="34" charset="0"/>
                <a:ea typeface="JetBrains Mono" pitchFamily="34" charset="-122"/>
                <a:cs typeface="JetBrains Mono" pitchFamily="34" charset="-120"/>
              </a:rPr>
              <a:t>code &amp; accounting: </a:t>
            </a:r>
            <a:r>
              <a:rPr lang="en-US" sz="1300" u="sng" dirty="0">
                <a:solidFill>
                  <a:schemeClr val="tx1"/>
                </a:solidFill>
                <a:latin typeface="JetBrains Mono" pitchFamily="34" charset="0"/>
                <a:ea typeface="JetBrains Mono" pitchFamily="34" charset="-122"/>
                <a:cs typeface="JetBrains Mono"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github.com/StephCpa/dp-es</a:t>
            </a:r>
            <a:endParaRPr lang="en-US" sz="1300" dirty="0"/>
          </a:p>
        </p:txBody>
      </p:sp>
      <p:sp>
        <p:nvSpPr>
          <p:cNvPr id="10" name="Text 8"/>
          <p:cNvSpPr txBox="1"/>
          <p:nvPr/>
        </p:nvSpPr>
        <p:spPr>
          <a:xfrm>
            <a:off x="7112203" y="6045098"/>
            <a:ext cx="4317797" cy="228600"/>
          </a:xfrm>
          <a:prstGeom prst="rect">
            <a:avLst/>
          </a:prstGeom>
          <a:noFill/>
          <a:ln/>
        </p:spPr>
        <p:txBody>
          <a:bodyPr wrap="square" lIns="0" tIns="0" rIns="0" bIns="0" rtlCol="0" anchor="t"/>
          <a:lstStyle/>
          <a:p>
            <a:pPr algn="r" indent="0" marL="0">
              <a:buNone/>
            </a:pPr>
            <a:r>
              <a:rPr lang="en-US" sz="1100" dirty="0">
                <a:solidFill>
                  <a:schemeClr val="tx2"/>
                </a:solidFill>
              </a:rPr>
              <a:t>Camera-ready · 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OVERVIEW</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Outline: from a diagnosis to a structurally robust optimizer</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2 / 18</a:t>
            </a:r>
            <a:endParaRPr lang="en-US" sz="1000" dirty="0"/>
          </a:p>
        </p:txBody>
      </p:sp>
      <p:sp>
        <p:nvSpPr>
          <p:cNvPr id="5" name="Text 3"/>
          <p:cNvSpPr txBox="1"/>
          <p:nvPr/>
        </p:nvSpPr>
        <p:spPr>
          <a:xfrm>
            <a:off x="761695" y="1572768"/>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01</a:t>
            </a:r>
            <a:endParaRPr lang="en-US" sz="2800" dirty="0"/>
          </a:p>
        </p:txBody>
      </p:sp>
      <p:sp>
        <p:nvSpPr>
          <p:cNvPr id="6" name="Text 4"/>
          <p:cNvSpPr txBox="1"/>
          <p:nvPr/>
        </p:nvSpPr>
        <p:spPr>
          <a:xfrm>
            <a:off x="1691640" y="1691640"/>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PROBLEM</a:t>
            </a:r>
            <a:endParaRPr lang="en-US" sz="1300" dirty="0"/>
          </a:p>
        </p:txBody>
      </p:sp>
      <p:sp>
        <p:nvSpPr>
          <p:cNvPr id="7" name="Text 5"/>
          <p:cNvSpPr txBox="1"/>
          <p:nvPr/>
        </p:nvSpPr>
        <p:spPr>
          <a:xfrm>
            <a:off x="4480560" y="1664208"/>
            <a:ext cx="6949440" cy="365760"/>
          </a:xfrm>
          <a:prstGeom prst="rect">
            <a:avLst/>
          </a:prstGeom>
          <a:noFill/>
          <a:ln/>
        </p:spPr>
        <p:txBody>
          <a:bodyPr wrap="square" lIns="0" tIns="0" rIns="0" bIns="0" rtlCol="0" anchor="t"/>
          <a:lstStyle/>
          <a:p>
            <a:pPr indent="0" marL="0">
              <a:buNone/>
            </a:pPr>
            <a:r>
              <a:rPr lang="en-US" sz="1550" dirty="0">
                <a:solidFill>
                  <a:schemeClr val="tx1"/>
                </a:solidFill>
              </a:rPr>
              <a:t>Why prompt optimization on sensitive data must be private — and why token-level DP is unstable</a:t>
            </a:r>
            <a:endParaRPr lang="en-US" sz="1550" dirty="0"/>
          </a:p>
        </p:txBody>
      </p:sp>
      <p:sp>
        <p:nvSpPr>
          <p:cNvPr id="8" name="Shape 6"/>
          <p:cNvSpPr/>
          <p:nvPr/>
        </p:nvSpPr>
        <p:spPr>
          <a:xfrm>
            <a:off x="761695" y="2221992"/>
            <a:ext cx="10668305" cy="12802"/>
          </a:xfrm>
          <a:prstGeom prst="rect">
            <a:avLst/>
          </a:prstGeom>
          <a:solidFill>
            <a:schemeClr val="accent4"/>
          </a:solidFill>
          <a:ln/>
        </p:spPr>
      </p:sp>
      <p:sp>
        <p:nvSpPr>
          <p:cNvPr id="9" name="Text 7"/>
          <p:cNvSpPr txBox="1"/>
          <p:nvPr/>
        </p:nvSpPr>
        <p:spPr>
          <a:xfrm>
            <a:off x="761695" y="2359152"/>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02</a:t>
            </a:r>
            <a:endParaRPr lang="en-US" sz="2800" dirty="0"/>
          </a:p>
        </p:txBody>
      </p:sp>
      <p:sp>
        <p:nvSpPr>
          <p:cNvPr id="10" name="Text 8"/>
          <p:cNvSpPr txBox="1"/>
          <p:nvPr/>
        </p:nvSpPr>
        <p:spPr>
          <a:xfrm>
            <a:off x="1691640" y="2478024"/>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IDEA</a:t>
            </a:r>
            <a:endParaRPr lang="en-US" sz="1300" dirty="0"/>
          </a:p>
        </p:txBody>
      </p:sp>
      <p:sp>
        <p:nvSpPr>
          <p:cNvPr id="11" name="Text 9"/>
          <p:cNvSpPr txBox="1"/>
          <p:nvPr/>
        </p:nvSpPr>
        <p:spPr>
          <a:xfrm>
            <a:off x="4480560" y="2450592"/>
            <a:ext cx="6949440" cy="365760"/>
          </a:xfrm>
          <a:prstGeom prst="rect">
            <a:avLst/>
          </a:prstGeom>
          <a:noFill/>
          <a:ln/>
        </p:spPr>
        <p:txBody>
          <a:bodyPr wrap="square" lIns="0" tIns="0" rIns="0" bIns="0" rtlCol="0" anchor="t"/>
          <a:lstStyle/>
          <a:p>
            <a:pPr indent="0" marL="0">
              <a:buNone/>
            </a:pPr>
            <a:r>
              <a:rPr lang="en-US" sz="1550" dirty="0">
                <a:solidFill>
                  <a:schemeClr val="tx1"/>
                </a:solidFill>
              </a:rPr>
              <a:t>Decouple exploration from privacy spending</a:t>
            </a:r>
            <a:endParaRPr lang="en-US" sz="1550" dirty="0"/>
          </a:p>
        </p:txBody>
      </p:sp>
      <p:sp>
        <p:nvSpPr>
          <p:cNvPr id="12" name="Shape 10"/>
          <p:cNvSpPr/>
          <p:nvPr/>
        </p:nvSpPr>
        <p:spPr>
          <a:xfrm>
            <a:off x="761695" y="3008376"/>
            <a:ext cx="10668305" cy="12802"/>
          </a:xfrm>
          <a:prstGeom prst="rect">
            <a:avLst/>
          </a:prstGeom>
          <a:solidFill>
            <a:schemeClr val="accent4"/>
          </a:solidFill>
          <a:ln/>
        </p:spPr>
      </p:sp>
      <p:sp>
        <p:nvSpPr>
          <p:cNvPr id="13" name="Text 11"/>
          <p:cNvSpPr txBox="1"/>
          <p:nvPr/>
        </p:nvSpPr>
        <p:spPr>
          <a:xfrm>
            <a:off x="761695" y="3145536"/>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03</a:t>
            </a:r>
            <a:endParaRPr lang="en-US" sz="2800" dirty="0"/>
          </a:p>
        </p:txBody>
      </p:sp>
      <p:sp>
        <p:nvSpPr>
          <p:cNvPr id="14" name="Text 12"/>
          <p:cNvSpPr txBox="1"/>
          <p:nvPr/>
        </p:nvSpPr>
        <p:spPr>
          <a:xfrm>
            <a:off x="1691640" y="3264408"/>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METHOD</a:t>
            </a:r>
            <a:endParaRPr lang="en-US" sz="1300" dirty="0"/>
          </a:p>
        </p:txBody>
      </p:sp>
      <p:sp>
        <p:nvSpPr>
          <p:cNvPr id="15" name="Text 13"/>
          <p:cNvSpPr txBox="1"/>
          <p:nvPr/>
        </p:nvSpPr>
        <p:spPr>
          <a:xfrm>
            <a:off x="4480560" y="3236976"/>
            <a:ext cx="6949440" cy="365760"/>
          </a:xfrm>
          <a:prstGeom prst="rect">
            <a:avLst/>
          </a:prstGeom>
          <a:noFill/>
          <a:ln/>
        </p:spPr>
        <p:txBody>
          <a:bodyPr wrap="square" lIns="0" tIns="0" rIns="0" bIns="0" rtlCol="0" anchor="t"/>
          <a:lstStyle/>
          <a:p>
            <a:pPr indent="0" marL="0">
              <a:buNone/>
            </a:pPr>
            <a:r>
              <a:rPr lang="en-US" sz="1550" dirty="0">
                <a:solidFill>
                  <a:schemeClr val="tx1"/>
                </a:solidFill>
              </a:rPr>
              <a:t>Three phases per iteration and the formal update rule</a:t>
            </a:r>
            <a:endParaRPr lang="en-US" sz="1550" dirty="0"/>
          </a:p>
        </p:txBody>
      </p:sp>
      <p:sp>
        <p:nvSpPr>
          <p:cNvPr id="16" name="Shape 14"/>
          <p:cNvSpPr/>
          <p:nvPr/>
        </p:nvSpPr>
        <p:spPr>
          <a:xfrm>
            <a:off x="761695" y="3794760"/>
            <a:ext cx="10668305" cy="12802"/>
          </a:xfrm>
          <a:prstGeom prst="rect">
            <a:avLst/>
          </a:prstGeom>
          <a:solidFill>
            <a:schemeClr val="accent4"/>
          </a:solidFill>
          <a:ln/>
        </p:spPr>
      </p:sp>
      <p:sp>
        <p:nvSpPr>
          <p:cNvPr id="17" name="Text 15"/>
          <p:cNvSpPr txBox="1"/>
          <p:nvPr/>
        </p:nvSpPr>
        <p:spPr>
          <a:xfrm>
            <a:off x="761695" y="3931920"/>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04</a:t>
            </a:r>
            <a:endParaRPr lang="en-US" sz="2800" dirty="0"/>
          </a:p>
        </p:txBody>
      </p:sp>
      <p:sp>
        <p:nvSpPr>
          <p:cNvPr id="18" name="Text 16"/>
          <p:cNvSpPr txBox="1"/>
          <p:nvPr/>
        </p:nvSpPr>
        <p:spPr>
          <a:xfrm>
            <a:off x="1691640" y="4050792"/>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RESULTS</a:t>
            </a:r>
            <a:endParaRPr lang="en-US" sz="1300" dirty="0"/>
          </a:p>
        </p:txBody>
      </p:sp>
      <p:sp>
        <p:nvSpPr>
          <p:cNvPr id="19" name="Text 17"/>
          <p:cNvSpPr txBox="1"/>
          <p:nvPr/>
        </p:nvSpPr>
        <p:spPr>
          <a:xfrm>
            <a:off x="4480560" y="4023360"/>
            <a:ext cx="6949440" cy="365760"/>
          </a:xfrm>
          <a:prstGeom prst="rect">
            <a:avLst/>
          </a:prstGeom>
          <a:noFill/>
          <a:ln/>
        </p:spPr>
        <p:txBody>
          <a:bodyPr wrap="square" lIns="0" tIns="0" rIns="0" bIns="0" rtlCol="0" anchor="t"/>
          <a:lstStyle/>
          <a:p>
            <a:pPr indent="0" marL="0">
              <a:buNone/>
            </a:pPr>
            <a:r>
              <a:rPr lang="en-US" sz="1550" dirty="0">
                <a:solidFill>
                  <a:schemeClr val="tx1"/>
                </a:solidFill>
              </a:rPr>
              <a:t>Four tasks, stability under noise, ablations, a local model</a:t>
            </a:r>
            <a:endParaRPr lang="en-US" sz="1550" dirty="0"/>
          </a:p>
        </p:txBody>
      </p:sp>
      <p:sp>
        <p:nvSpPr>
          <p:cNvPr id="20" name="Shape 18"/>
          <p:cNvSpPr/>
          <p:nvPr/>
        </p:nvSpPr>
        <p:spPr>
          <a:xfrm>
            <a:off x="761695" y="4581144"/>
            <a:ext cx="10668305" cy="12802"/>
          </a:xfrm>
          <a:prstGeom prst="rect">
            <a:avLst/>
          </a:prstGeom>
          <a:solidFill>
            <a:schemeClr val="accent4"/>
          </a:solidFill>
          <a:ln/>
        </p:spPr>
      </p:sp>
      <p:sp>
        <p:nvSpPr>
          <p:cNvPr id="21" name="Text 19"/>
          <p:cNvSpPr txBox="1"/>
          <p:nvPr/>
        </p:nvSpPr>
        <p:spPr>
          <a:xfrm>
            <a:off x="761695" y="4718304"/>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05</a:t>
            </a:r>
            <a:endParaRPr lang="en-US" sz="2800" dirty="0"/>
          </a:p>
        </p:txBody>
      </p:sp>
      <p:sp>
        <p:nvSpPr>
          <p:cNvPr id="22" name="Text 20"/>
          <p:cNvSpPr txBox="1"/>
          <p:nvPr/>
        </p:nvSpPr>
        <p:spPr>
          <a:xfrm>
            <a:off x="1691640" y="4837176"/>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PRIVACY</a:t>
            </a:r>
            <a:endParaRPr lang="en-US" sz="1300" dirty="0"/>
          </a:p>
        </p:txBody>
      </p:sp>
      <p:sp>
        <p:nvSpPr>
          <p:cNvPr id="23" name="Text 21"/>
          <p:cNvSpPr txBox="1"/>
          <p:nvPr/>
        </p:nvSpPr>
        <p:spPr>
          <a:xfrm>
            <a:off x="4480560" y="4809744"/>
            <a:ext cx="6949440" cy="365760"/>
          </a:xfrm>
          <a:prstGeom prst="rect">
            <a:avLst/>
          </a:prstGeom>
          <a:noFill/>
          <a:ln/>
        </p:spPr>
        <p:txBody>
          <a:bodyPr wrap="square" lIns="0" tIns="0" rIns="0" bIns="0" rtlCol="0" anchor="t"/>
          <a:lstStyle/>
          <a:p>
            <a:pPr indent="0" marL="0">
              <a:buNone/>
            </a:pPr>
            <a:r>
              <a:rPr lang="en-US" sz="1550" dirty="0">
                <a:solidFill>
                  <a:schemeClr val="tx1"/>
                </a:solidFill>
              </a:rPr>
              <a:t>End-to-end guarantee, implementation checks, memorization stress test</a:t>
            </a:r>
            <a:endParaRPr lang="en-US" sz="1550" dirty="0"/>
          </a:p>
        </p:txBody>
      </p:sp>
      <p:sp>
        <p:nvSpPr>
          <p:cNvPr id="24" name="Shape 22"/>
          <p:cNvSpPr/>
          <p:nvPr/>
        </p:nvSpPr>
        <p:spPr>
          <a:xfrm>
            <a:off x="761695" y="5367528"/>
            <a:ext cx="10668305" cy="12802"/>
          </a:xfrm>
          <a:prstGeom prst="rect">
            <a:avLst/>
          </a:prstGeom>
          <a:solidFill>
            <a:schemeClr val="accent4"/>
          </a:solidFill>
          <a:ln/>
        </p:spPr>
      </p:sp>
      <p:sp>
        <p:nvSpPr>
          <p:cNvPr id="25" name="Text 23"/>
          <p:cNvSpPr txBox="1"/>
          <p:nvPr/>
        </p:nvSpPr>
        <p:spPr>
          <a:xfrm>
            <a:off x="761695" y="5504688"/>
            <a:ext cx="731520" cy="457200"/>
          </a:xfrm>
          <a:prstGeom prst="rect">
            <a:avLst/>
          </a:prstGeom>
          <a:noFill/>
          <a:ln/>
        </p:spPr>
        <p:txBody>
          <a:bodyPr wrap="square" lIns="0" tIns="0" rIns="0" bIns="0" rtlCol="0" anchor="t"/>
          <a:lstStyle/>
          <a:p>
            <a:pPr indent="0" marL="0">
              <a:buNone/>
            </a:pPr>
            <a:r>
              <a:rPr lang="en-US" sz="2800" dirty="0">
                <a:solidFill>
                  <a:schemeClr val="accent1"/>
                </a:solidFill>
                <a:latin typeface="+mj-lt" pitchFamily="34" charset="0"/>
                <a:ea typeface="+mj-lt" pitchFamily="34" charset="-122"/>
                <a:cs typeface="+mj-lt" pitchFamily="34" charset="-120"/>
              </a:rPr>
              <a:t>06</a:t>
            </a:r>
            <a:endParaRPr lang="en-US" sz="2800" dirty="0"/>
          </a:p>
        </p:txBody>
      </p:sp>
      <p:sp>
        <p:nvSpPr>
          <p:cNvPr id="26" name="Text 24"/>
          <p:cNvSpPr txBox="1"/>
          <p:nvPr/>
        </p:nvSpPr>
        <p:spPr>
          <a:xfrm>
            <a:off x="1691640" y="5623560"/>
            <a:ext cx="2651760" cy="274320"/>
          </a:xfrm>
          <a:prstGeom prst="rect">
            <a:avLst/>
          </a:prstGeom>
          <a:noFill/>
          <a:ln/>
        </p:spPr>
        <p:txBody>
          <a:bodyPr wrap="square" lIns="0" tIns="0" rIns="0" bIns="0" rtlCol="0" anchor="t"/>
          <a:lstStyle/>
          <a:p>
            <a:pPr indent="0" marL="0">
              <a:buNone/>
            </a:pPr>
            <a:r>
              <a:rPr lang="en-US" sz="1300" b="1" spc="100" kern="0" dirty="0">
                <a:solidFill>
                  <a:schemeClr val="accent1"/>
                </a:solidFill>
                <a:latin typeface="JetBrains Mono" pitchFamily="34" charset="0"/>
                <a:ea typeface="JetBrains Mono" pitchFamily="34" charset="-122"/>
                <a:cs typeface="JetBrains Mono" pitchFamily="34" charset="-120"/>
              </a:rPr>
              <a:t>EFFICIENCY &amp; SCOPE</a:t>
            </a:r>
            <a:endParaRPr lang="en-US" sz="1300" dirty="0"/>
          </a:p>
        </p:txBody>
      </p:sp>
      <p:sp>
        <p:nvSpPr>
          <p:cNvPr id="27" name="Text 25"/>
          <p:cNvSpPr txBox="1"/>
          <p:nvPr/>
        </p:nvSpPr>
        <p:spPr>
          <a:xfrm>
            <a:off x="4480560" y="5596128"/>
            <a:ext cx="6949440" cy="365760"/>
          </a:xfrm>
          <a:prstGeom prst="rect">
            <a:avLst/>
          </a:prstGeom>
          <a:noFill/>
          <a:ln/>
        </p:spPr>
        <p:txBody>
          <a:bodyPr wrap="square" lIns="0" tIns="0" rIns="0" bIns="0" rtlCol="0" anchor="t"/>
          <a:lstStyle/>
          <a:p>
            <a:pPr indent="0" marL="0">
              <a:buNone/>
            </a:pPr>
            <a:r>
              <a:rPr lang="en-US" sz="1550" dirty="0">
                <a:solidFill>
                  <a:schemeClr val="tx1"/>
                </a:solidFill>
              </a:rPr>
              <a:t>Cost profile, and what the evidence does not yet establish</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01 · PROBLEM</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Prompt optimization on sensitive data must be private — and stable</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3 / 18</a:t>
            </a:r>
            <a:endParaRPr lang="en-US" sz="1000" dirty="0"/>
          </a:p>
        </p:txBody>
      </p:sp>
      <p:sp>
        <p:nvSpPr>
          <p:cNvPr id="5" name="Text 3"/>
          <p:cNvSpPr txBox="1"/>
          <p:nvPr/>
        </p:nvSpPr>
        <p:spPr>
          <a:xfrm>
            <a:off x="761695" y="1600200"/>
            <a:ext cx="5460797" cy="2743200"/>
          </a:xfrm>
          <a:prstGeom prst="rect">
            <a:avLst/>
          </a:prstGeom>
          <a:noFill/>
          <a:ln/>
        </p:spPr>
        <p:txBody>
          <a:bodyPr wrap="square" lIns="0" tIns="0" rIns="0" bIns="0" rtlCol="0" anchor="t"/>
          <a:lstStyle/>
          <a:p>
            <a:pPr indent="0" marL="0">
              <a:lnSpc>
                <a:spcPct val="132000"/>
              </a:lnSpc>
              <a:buNone/>
            </a:pPr>
            <a:r>
              <a:rPr lang="en-US" sz="1550" b="1" dirty="0">
                <a:solidFill>
                  <a:schemeClr val="tx1"/>
                </a:solidFill>
              </a:rPr>
              <a:t>Automatic prompt optimization</a:t>
            </a:r>
            <a:r>
              <a:rPr lang="en-US" sz="1550" dirty="0">
                <a:solidFill>
                  <a:schemeClr val="tx1"/>
                </a:solidFill>
              </a:rPr>
              <a:t> tunes prompts directly on task data — when those data are sensitive (patient records, financial logs), the optimizer can </a:t>
            </a:r>
            <a:r>
              <a:rPr lang="en-US" sz="1550" b="1" dirty="0">
                <a:solidFill>
                  <a:schemeClr val="tx1"/>
                </a:solidFill>
              </a:rPr>
              <a:t>memorize and expose</a:t>
            </a:r>
            <a:r>
              <a:rPr lang="en-US" sz="1550" dirty="0">
                <a:solidFill>
                  <a:schemeClr val="tx1"/>
                </a:solidFill>
              </a:rPr>
              <a:t> private information.</a:t>
            </a:r>
            <a:endParaRPr lang="en-US" sz="1550" dirty="0"/>
          </a:p>
          <a:p>
            <a:pPr indent="0" marL="0">
              <a:lnSpc>
                <a:spcPct val="132000"/>
              </a:lnSpc>
              <a:spcBef>
                <a:spcPts val="1000"/>
              </a:spcBef>
              <a:buNone/>
            </a:pPr>
            <a:r>
              <a:rPr lang="en-US" sz="1550" dirty="0">
                <a:solidFill>
                  <a:schemeClr val="tx1"/>
                </a:solidFill>
              </a:rPr>
              <a:t>Formal </a:t>
            </a:r>
            <a:r>
              <a:rPr lang="en-US" sz="1550" b="1" dirty="0">
                <a:solidFill>
                  <a:schemeClr val="tx1"/>
                </a:solidFill>
              </a:rPr>
              <a:t>(</a:t>
            </a:r>
            <a:r>
              <a:rPr lang="en-US" sz="1550" b="1" dirty="0">
                <a:solidFill>
                  <a:schemeClr val="tx1"/>
                </a:solidFill>
                <a:latin typeface="Cambria" pitchFamily="34" charset="0"/>
                <a:ea typeface="Cambria" pitchFamily="34" charset="-122"/>
                <a:cs typeface="Cambria" pitchFamily="34" charset="-120"/>
              </a:rPr>
              <a:t>ε</a:t>
            </a:r>
            <a:r>
              <a:rPr lang="en-US" sz="1550" b="1" dirty="0">
                <a:solidFill>
                  <a:schemeClr val="tx1"/>
                </a:solidFill>
              </a:rPr>
              <a:t>, </a:t>
            </a:r>
            <a:r>
              <a:rPr lang="en-US" sz="1550" b="1" dirty="0">
                <a:solidFill>
                  <a:schemeClr val="tx1"/>
                </a:solidFill>
                <a:latin typeface="Cambria" pitchFamily="34" charset="0"/>
                <a:ea typeface="Cambria" pitchFamily="34" charset="-122"/>
                <a:cs typeface="Cambria" pitchFamily="34" charset="-120"/>
              </a:rPr>
              <a:t>δ</a:t>
            </a:r>
            <a:r>
              <a:rPr lang="en-US" sz="1550" b="1" dirty="0">
                <a:solidFill>
                  <a:schemeClr val="tx1"/>
                </a:solidFill>
              </a:rPr>
              <a:t>)-differential privacy</a:t>
            </a:r>
            <a:r>
              <a:rPr lang="en-US" sz="1550" dirty="0">
                <a:solidFill>
                  <a:schemeClr val="tx1"/>
                </a:solidFill>
              </a:rPr>
              <a:t> bounds this leakage — but the required noise stresses the optimizer itself: under a </a:t>
            </a:r>
            <a:r>
              <a:rPr lang="en-US" sz="1550" b="1" dirty="0">
                <a:solidFill>
                  <a:schemeClr val="tx1"/>
                </a:solidFill>
              </a:rPr>
              <a:t>tight budget (</a:t>
            </a:r>
            <a:r>
              <a:rPr lang="en-US" sz="1550" b="1" dirty="0">
                <a:solidFill>
                  <a:schemeClr val="tx1"/>
                </a:solidFill>
                <a:latin typeface="Cambria" pitchFamily="34" charset="0"/>
                <a:ea typeface="Cambria" pitchFamily="34" charset="-122"/>
                <a:cs typeface="Cambria" pitchFamily="34" charset="-120"/>
              </a:rPr>
              <a:t>ε</a:t>
            </a:r>
            <a:r>
              <a:rPr lang="en-US" sz="1550" b="1" dirty="0">
                <a:solidFill>
                  <a:schemeClr val="tx1"/>
                </a:solidFill>
              </a:rPr>
              <a:t> </a:t>
            </a:r>
            <a:r>
              <a:rPr lang="en-US" sz="1550" b="1" dirty="0">
                <a:solidFill>
                  <a:schemeClr val="tx1"/>
                </a:solidFill>
                <a:latin typeface="Cambria" pitchFamily="34" charset="0"/>
                <a:ea typeface="Cambria" pitchFamily="34" charset="-122"/>
                <a:cs typeface="Cambria" pitchFamily="34" charset="-120"/>
              </a:rPr>
              <a:t>≤</a:t>
            </a:r>
            <a:r>
              <a:rPr lang="en-US" sz="1550" b="1" dirty="0">
                <a:solidFill>
                  <a:schemeClr val="tx1"/>
                </a:solidFill>
              </a:rPr>
              <a:t> 1)</a:t>
            </a:r>
            <a:r>
              <a:rPr lang="en-US" sz="1550" dirty="0">
                <a:solidFill>
                  <a:schemeClr val="tx1"/>
                </a:solidFill>
              </a:rPr>
              <a:t>, the leading token-level method, DP-OPT, becomes highly unstable.</a:t>
            </a:r>
            <a:endParaRPr lang="en-US" sz="1550" dirty="0"/>
          </a:p>
        </p:txBody>
      </p:sp>
      <p:sp>
        <p:nvSpPr>
          <p:cNvPr id="6" name="Text 4"/>
          <p:cNvSpPr txBox="1"/>
          <p:nvPr/>
        </p:nvSpPr>
        <p:spPr>
          <a:xfrm>
            <a:off x="6730898" y="1600200"/>
            <a:ext cx="4699102" cy="228600"/>
          </a:xfrm>
          <a:prstGeom prst="rect">
            <a:avLst/>
          </a:prstGeom>
          <a:noFill/>
          <a:ln/>
        </p:spPr>
        <p:txBody>
          <a:bodyPr wrap="square" lIns="0" tIns="0" rIns="0" bIns="0" rtlCol="0" anchor="t"/>
          <a:lstStyle/>
          <a:p>
            <a:pPr indent="0" marL="0">
              <a:buNone/>
            </a:pPr>
            <a:r>
              <a:rPr lang="en-US" sz="1100" spc="200" kern="0" dirty="0">
                <a:solidFill>
                  <a:schemeClr val="accent1"/>
                </a:solidFill>
              </a:rPr>
              <a:t>THE HEADLINE NUMBER</a:t>
            </a:r>
            <a:endParaRPr lang="en-US" sz="1100" dirty="0"/>
          </a:p>
        </p:txBody>
      </p:sp>
      <p:sp>
        <p:nvSpPr>
          <p:cNvPr id="7" name="Text 5"/>
          <p:cNvSpPr txBox="1"/>
          <p:nvPr/>
        </p:nvSpPr>
        <p:spPr>
          <a:xfrm>
            <a:off x="6730898" y="1880006"/>
            <a:ext cx="4699102" cy="1015898"/>
          </a:xfrm>
          <a:prstGeom prst="rect">
            <a:avLst/>
          </a:prstGeom>
          <a:noFill/>
          <a:ln/>
        </p:spPr>
        <p:txBody>
          <a:bodyPr wrap="square" lIns="0" tIns="0" rIns="0" bIns="0" rtlCol="0" anchor="t"/>
          <a:lstStyle/>
          <a:p>
            <a:pPr indent="0" marL="0">
              <a:buNone/>
            </a:pPr>
            <a:r>
              <a:rPr lang="en-US" sz="5400" dirty="0">
                <a:solidFill>
                  <a:schemeClr val="accent1"/>
                </a:solidFill>
                <a:latin typeface="+mj-lt" pitchFamily="34" charset="0"/>
                <a:ea typeface="+mj-lt" pitchFamily="34" charset="-122"/>
                <a:cs typeface="+mj-lt" pitchFamily="34" charset="-120"/>
              </a:rPr>
              <a:t>49.5 ± 28.5%</a:t>
            </a:r>
            <a:endParaRPr lang="en-US" sz="5400" dirty="0"/>
          </a:p>
        </p:txBody>
      </p:sp>
      <p:sp>
        <p:nvSpPr>
          <p:cNvPr id="8" name="Text 6"/>
          <p:cNvSpPr txBox="1"/>
          <p:nvPr/>
        </p:nvSpPr>
        <p:spPr>
          <a:xfrm>
            <a:off x="6730898" y="2997403"/>
            <a:ext cx="4699102" cy="761695"/>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DP-OPT accuracy on GSM8K, mean ± std over </a:t>
            </a:r>
            <a:r>
              <a:rPr lang="en-US" sz="1250" b="1" dirty="0">
                <a:solidFill>
                  <a:schemeClr val="tx2"/>
                </a:solidFill>
              </a:rPr>
              <a:t>30 runs</a:t>
            </a:r>
            <a:r>
              <a:rPr lang="en-US" sz="1250" dirty="0">
                <a:solidFill>
                  <a:schemeClr val="tx2"/>
                </a:solidFill>
              </a:rPr>
              <a:t> at (</a:t>
            </a:r>
            <a:r>
              <a:rPr lang="en-US" sz="1250" dirty="0">
                <a:solidFill>
                  <a:schemeClr val="tx2"/>
                </a:solidFill>
                <a:latin typeface="Cambria" pitchFamily="34" charset="0"/>
                <a:ea typeface="Cambria" pitchFamily="34" charset="-122"/>
                <a:cs typeface="Cambria" pitchFamily="34" charset="-120"/>
              </a:rPr>
              <a:t>ε</a:t>
            </a:r>
            <a:r>
              <a:rPr lang="en-US" sz="1250" dirty="0">
                <a:solidFill>
                  <a:schemeClr val="tx2"/>
                </a:solidFill>
              </a:rPr>
              <a:t> </a:t>
            </a:r>
            <a:r>
              <a:rPr lang="en-US" sz="1250" dirty="0">
                <a:solidFill>
                  <a:schemeClr val="tx2"/>
                </a:solidFill>
                <a:latin typeface="Cambria" pitchFamily="34" charset="0"/>
                <a:ea typeface="Cambria" pitchFamily="34" charset="-122"/>
                <a:cs typeface="Cambria" pitchFamily="34" charset="-120"/>
              </a:rPr>
              <a:t>≤</a:t>
            </a:r>
            <a:r>
              <a:rPr lang="en-US" sz="1250" dirty="0">
                <a:solidFill>
                  <a:schemeClr val="tx2"/>
                </a:solidFill>
              </a:rPr>
              <a:t> 1.0, </a:t>
            </a:r>
            <a:r>
              <a:rPr lang="en-US" sz="1250" dirty="0">
                <a:solidFill>
                  <a:schemeClr val="tx2"/>
                </a:solidFill>
                <a:latin typeface="Cambria" pitchFamily="34" charset="0"/>
                <a:ea typeface="Cambria" pitchFamily="34" charset="-122"/>
                <a:cs typeface="Cambria" pitchFamily="34" charset="-120"/>
              </a:rPr>
              <a:t>δ</a:t>
            </a:r>
            <a:r>
              <a:rPr lang="en-US" sz="1250" dirty="0">
                <a:solidFill>
                  <a:schemeClr val="tx2"/>
                </a:solidFill>
              </a:rPr>
              <a:t> = 10</a:t>
            </a:r>
            <a:r>
              <a:rPr lang="en-US" sz="1250" baseline="30000" dirty="0">
                <a:solidFill>
                  <a:schemeClr val="tx2"/>
                </a:solidFill>
                <a:latin typeface="Cambria" pitchFamily="34" charset="0"/>
                <a:ea typeface="Cambria" pitchFamily="34" charset="-122"/>
                <a:cs typeface="Cambria" pitchFamily="34" charset="-120"/>
              </a:rPr>
              <a:t>−</a:t>
            </a:r>
            <a:r>
              <a:rPr lang="en-US" sz="1250" baseline="30000" dirty="0">
                <a:solidFill>
                  <a:schemeClr val="tx2"/>
                </a:solidFill>
              </a:rPr>
              <a:t>5</a:t>
            </a:r>
            <a:r>
              <a:rPr lang="en-US" sz="1250" dirty="0">
                <a:solidFill>
                  <a:schemeClr val="tx2"/>
                </a:solidFill>
              </a:rPr>
              <a:t>) — a ±1 std band spanning roughly 21% to 78%.</a:t>
            </a:r>
            <a:endParaRPr lang="en-US" sz="1250" dirty="0"/>
          </a:p>
        </p:txBody>
      </p:sp>
      <p:sp>
        <p:nvSpPr>
          <p:cNvPr id="9" name="Shape 7"/>
          <p:cNvSpPr/>
          <p:nvPr/>
        </p:nvSpPr>
        <p:spPr>
          <a:xfrm>
            <a:off x="761695" y="4597603"/>
            <a:ext cx="10668305" cy="12802"/>
          </a:xfrm>
          <a:prstGeom prst="rect">
            <a:avLst/>
          </a:prstGeom>
          <a:solidFill>
            <a:schemeClr val="accent4"/>
          </a:solidFill>
          <a:ln/>
        </p:spPr>
      </p:sp>
      <p:sp>
        <p:nvSpPr>
          <p:cNvPr id="10" name="Text 8"/>
          <p:cNvSpPr txBox="1"/>
          <p:nvPr/>
        </p:nvSpPr>
        <p:spPr>
          <a:xfrm>
            <a:off x="761695" y="4902098"/>
            <a:ext cx="1625803" cy="256032"/>
          </a:xfrm>
          <a:prstGeom prst="rect">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HYPOTHETICAL</a:t>
            </a:r>
            <a:endParaRPr lang="en-US" sz="1000" dirty="0"/>
          </a:p>
        </p:txBody>
      </p:sp>
      <p:sp>
        <p:nvSpPr>
          <p:cNvPr id="11" name="Text 9"/>
          <p:cNvSpPr txBox="1"/>
          <p:nvPr/>
        </p:nvSpPr>
        <p:spPr>
          <a:xfrm>
            <a:off x="2667305" y="4774997"/>
            <a:ext cx="8762695" cy="1270102"/>
          </a:xfrm>
          <a:prstGeom prst="rect">
            <a:avLst/>
          </a:prstGeom>
          <a:noFill/>
          <a:ln/>
        </p:spPr>
        <p:txBody>
          <a:bodyPr wrap="square" lIns="0" tIns="0" rIns="0" bIns="0" rtlCol="0" anchor="ctr"/>
          <a:lstStyle/>
          <a:p>
            <a:pPr indent="0" marL="0">
              <a:lnSpc>
                <a:spcPct val="130000"/>
              </a:lnSpc>
              <a:buNone/>
            </a:pPr>
            <a:r>
              <a:rPr lang="en-US" sz="1600" i="1" dirty="0">
                <a:solidFill>
                  <a:schemeClr val="tx1"/>
                </a:solidFill>
                <a:latin typeface="+mj-lt" pitchFamily="34" charset="0"/>
                <a:ea typeface="+mj-lt" pitchFamily="34" charset="-122"/>
                <a:cs typeface="+mj-lt" pitchFamily="34" charset="-120"/>
              </a:rPr>
              <a:t>What a </a:t>
            </a:r>
            <a:r>
              <a:rPr lang="en-US" sz="1600" b="1" i="1" dirty="0">
                <a:solidFill>
                  <a:schemeClr val="tx1"/>
                </a:solidFill>
                <a:latin typeface="+mj-lt" pitchFamily="34" charset="0"/>
                <a:ea typeface="+mj-lt" pitchFamily="34" charset="-122"/>
                <a:cs typeface="+mj-lt" pitchFamily="34" charset="-120"/>
              </a:rPr>
              <a:t>non-private</a:t>
            </a:r>
            <a:r>
              <a:rPr lang="en-US" sz="1600" i="1" dirty="0">
                <a:solidFill>
                  <a:schemeClr val="tx1"/>
                </a:solidFill>
                <a:latin typeface="+mj-lt" pitchFamily="34" charset="0"/>
                <a:ea typeface="+mj-lt" pitchFamily="34" charset="-122"/>
                <a:cs typeface="+mj-lt" pitchFamily="34" charset="-120"/>
              </a:rPr>
              <a:t> optimizer could produce: a final prompt that embeds memorized records — e.g. “…patient #12847, diagnosed with …, prescribed …” — shipped to every downstream user of the prompt.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01 · PROBLEM</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Setting: discrete prompts, black-box LLMs, record-level DP</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4 / 18</a:t>
            </a:r>
            <a:endParaRPr lang="en-US" sz="1000" dirty="0"/>
          </a:p>
        </p:txBody>
      </p:sp>
      <p:sp>
        <p:nvSpPr>
          <p:cNvPr id="5" name="Text 3"/>
          <p:cNvSpPr txBox="1"/>
          <p:nvPr/>
        </p:nvSpPr>
        <p:spPr>
          <a:xfrm>
            <a:off x="761695" y="1572768"/>
            <a:ext cx="5029200" cy="228600"/>
          </a:xfrm>
          <a:prstGeom prst="rect">
            <a:avLst/>
          </a:prstGeom>
          <a:noFill/>
          <a:ln/>
        </p:spPr>
        <p:txBody>
          <a:bodyPr wrap="square" lIns="0" tIns="0" rIns="0" bIns="0" rtlCol="0" anchor="t"/>
          <a:lstStyle/>
          <a:p>
            <a:pPr indent="0" marL="0">
              <a:buNone/>
            </a:pPr>
            <a:r>
              <a:rPr lang="en-US" sz="1100" spc="200" kern="0" dirty="0">
                <a:solidFill>
                  <a:schemeClr val="accent1"/>
                </a:solidFill>
              </a:rPr>
              <a:t>OBJECTIVE</a:t>
            </a:r>
            <a:endParaRPr lang="en-US" sz="1100" dirty="0"/>
          </a:p>
        </p:txBody>
      </p:sp>
      <p:sp>
        <p:nvSpPr>
          <p:cNvPr id="6" name="Text 4"/>
          <p:cNvSpPr txBox="1"/>
          <p:nvPr/>
        </p:nvSpPr>
        <p:spPr>
          <a:xfrm>
            <a:off x="761695" y="1874520"/>
            <a:ext cx="5029200" cy="320040"/>
          </a:xfrm>
          <a:prstGeom prst="rect">
            <a:avLst/>
          </a:prstGeom>
          <a:noFill/>
          <a:ln/>
        </p:spPr>
        <p:txBody>
          <a:bodyPr wrap="square" lIns="0" tIns="0" rIns="0" bIns="0" rtlCol="0" anchor="t"/>
          <a:lstStyle/>
          <a:p>
            <a:pPr indent="0" marL="0">
              <a:buNone/>
            </a:pPr>
            <a:r>
              <a:rPr lang="en-US" sz="1450" dirty="0">
                <a:solidFill>
                  <a:schemeClr val="tx1"/>
                </a:solidFill>
              </a:rPr>
              <a:t>Private dataset </a:t>
            </a:r>
            <a:r>
              <a:rPr lang="en-US" sz="1450" i="1" dirty="0">
                <a:solidFill>
                  <a:schemeClr val="tx1"/>
                </a:solidFill>
              </a:rPr>
              <a:t>D</a:t>
            </a:r>
            <a:r>
              <a:rPr lang="en-US" sz="1450" dirty="0">
                <a:solidFill>
                  <a:schemeClr val="tx1"/>
                </a:solidFill>
              </a:rPr>
              <a:t> = {(</a:t>
            </a:r>
            <a:r>
              <a:rPr lang="en-US" sz="1450" i="1" dirty="0">
                <a:solidFill>
                  <a:schemeClr val="tx1"/>
                </a:solidFill>
              </a:rPr>
              <a:t>x</a:t>
            </a:r>
            <a:r>
              <a:rPr lang="en-US" sz="1450" baseline="-40000" dirty="0">
                <a:solidFill>
                  <a:schemeClr val="tx1"/>
                </a:solidFill>
              </a:rPr>
              <a:t>i</a:t>
            </a:r>
            <a:r>
              <a:rPr lang="en-US" sz="1450" dirty="0">
                <a:solidFill>
                  <a:schemeClr val="tx1"/>
                </a:solidFill>
              </a:rPr>
              <a:t>, </a:t>
            </a:r>
            <a:r>
              <a:rPr lang="en-US" sz="1450" i="1" dirty="0">
                <a:solidFill>
                  <a:schemeClr val="tx1"/>
                </a:solidFill>
              </a:rPr>
              <a:t>y</a:t>
            </a:r>
            <a:r>
              <a:rPr lang="en-US" sz="1450" baseline="-40000" dirty="0">
                <a:solidFill>
                  <a:schemeClr val="tx1"/>
                </a:solidFill>
              </a:rPr>
              <a:t>i</a:t>
            </a:r>
            <a:r>
              <a:rPr lang="en-US" sz="1450" dirty="0">
                <a:solidFill>
                  <a:schemeClr val="tx1"/>
                </a:solidFill>
              </a:rPr>
              <a:t>)}</a:t>
            </a:r>
            <a:r>
              <a:rPr lang="en-US" sz="1450" baseline="-40000" dirty="0">
                <a:solidFill>
                  <a:schemeClr val="tx1"/>
                </a:solidFill>
              </a:rPr>
              <a:t>i=1</a:t>
            </a:r>
            <a:r>
              <a:rPr lang="en-US" sz="1450" baseline="30000" dirty="0">
                <a:solidFill>
                  <a:schemeClr val="tx1"/>
                </a:solidFill>
              </a:rPr>
              <a:t>n</a:t>
            </a:r>
            <a:r>
              <a:rPr lang="en-US" sz="1450" dirty="0">
                <a:solidFill>
                  <a:schemeClr val="tx1"/>
                </a:solidFill>
              </a:rPr>
              <a:t>, prompt space </a:t>
            </a:r>
            <a:r>
              <a:rPr lang="en-US" sz="1450" i="1" dirty="0">
                <a:solidFill>
                  <a:schemeClr val="tx1"/>
                </a:solidFill>
              </a:rPr>
              <a:t>P</a:t>
            </a:r>
            <a:r>
              <a:rPr lang="en-US" sz="1450" dirty="0">
                <a:solidFill>
                  <a:schemeClr val="tx1"/>
                </a:solidFill>
              </a:rPr>
              <a:t>. Find</a:t>
            </a:r>
            <a:endParaRPr lang="en-US" sz="1450" dirty="0"/>
          </a:p>
        </p:txBody>
      </p:sp>
      <p:sp>
        <p:nvSpPr>
          <p:cNvPr id="7" name="Text 5"/>
          <p:cNvSpPr txBox="1"/>
          <p:nvPr/>
        </p:nvSpPr>
        <p:spPr>
          <a:xfrm>
            <a:off x="761695" y="2267712"/>
            <a:ext cx="5029200" cy="457200"/>
          </a:xfrm>
          <a:prstGeom prst="rect">
            <a:avLst/>
          </a:prstGeom>
          <a:noFill/>
          <a:ln/>
        </p:spPr>
        <p:txBody>
          <a:bodyPr wrap="square" lIns="0" tIns="0" rIns="0" bIns="0" rtlCol="0" anchor="t"/>
          <a:lstStyle/>
          <a:p>
            <a:pPr algn="ctr" indent="0" marL="0">
              <a:buNone/>
            </a:pPr>
            <a:r>
              <a:rPr lang="en-US" sz="2100" i="1" dirty="0">
                <a:solidFill>
                  <a:schemeClr val="tx1"/>
                </a:solidFill>
                <a:latin typeface="Cambria" pitchFamily="34" charset="0"/>
                <a:ea typeface="Cambria" pitchFamily="34" charset="-122"/>
                <a:cs typeface="Cambria" pitchFamily="34" charset="-120"/>
              </a:rPr>
              <a:t>p</a:t>
            </a:r>
            <a:r>
              <a:rPr lang="en-US" sz="2100" baseline="30000" dirty="0">
                <a:solidFill>
                  <a:schemeClr val="tx1"/>
                </a:solidFill>
                <a:latin typeface="Cambria" pitchFamily="34" charset="0"/>
                <a:ea typeface="Cambria" pitchFamily="34" charset="-122"/>
                <a:cs typeface="Cambria" pitchFamily="34" charset="-120"/>
              </a:rPr>
              <a:t>*</a:t>
            </a:r>
            <a:r>
              <a:rPr lang="en-US" sz="2100" dirty="0">
                <a:solidFill>
                  <a:schemeClr val="tx1"/>
                </a:solidFill>
                <a:latin typeface="Cambria" pitchFamily="34" charset="0"/>
                <a:ea typeface="Cambria" pitchFamily="34" charset="-122"/>
                <a:cs typeface="Cambria" pitchFamily="34" charset="-120"/>
              </a:rPr>
              <a:t> = arg max</a:t>
            </a:r>
            <a:r>
              <a:rPr lang="en-US" sz="2100" baseline="-40000" dirty="0">
                <a:solidFill>
                  <a:schemeClr val="tx1"/>
                </a:solidFill>
                <a:latin typeface="Cambria" pitchFamily="34" charset="0"/>
                <a:ea typeface="Cambria" pitchFamily="34" charset="-122"/>
                <a:cs typeface="Cambria" pitchFamily="34" charset="-120"/>
              </a:rPr>
              <a:t>p </a:t>
            </a:r>
            <a:r>
              <a:rPr lang="en-US" sz="2100" baseline="-40000" dirty="0">
                <a:solidFill>
                  <a:schemeClr val="tx1"/>
                </a:solidFill>
                <a:latin typeface="Cambria" pitchFamily="34" charset="0"/>
                <a:ea typeface="Cambria" pitchFamily="34" charset="-122"/>
                <a:cs typeface="Cambria" pitchFamily="34" charset="-120"/>
              </a:rPr>
              <a:t>∈</a:t>
            </a:r>
            <a:r>
              <a:rPr lang="en-US" sz="2100" baseline="-40000" dirty="0">
                <a:solidFill>
                  <a:schemeClr val="tx1"/>
                </a:solidFill>
                <a:latin typeface="Cambria" pitchFamily="34" charset="0"/>
                <a:ea typeface="Cambria" pitchFamily="34" charset="-122"/>
                <a:cs typeface="Cambria" pitchFamily="34" charset="-120"/>
              </a:rPr>
              <a:t> P</a:t>
            </a:r>
            <a:r>
              <a:rPr lang="en-US" sz="2100" dirty="0">
                <a:solidFill>
                  <a:schemeClr val="tx1"/>
                </a:solidFill>
                <a:latin typeface="Cambria" pitchFamily="34" charset="0"/>
                <a:ea typeface="Cambria" pitchFamily="34" charset="-122"/>
                <a:cs typeface="Cambria" pitchFamily="34" charset="-120"/>
              </a:rPr>
              <a:t> </a:t>
            </a:r>
            <a:r>
              <a:rPr lang="en-US" sz="2100" i="1" dirty="0">
                <a:solidFill>
                  <a:schemeClr val="tx1"/>
                </a:solidFill>
                <a:latin typeface="Cambria" pitchFamily="34" charset="0"/>
                <a:ea typeface="Cambria" pitchFamily="34" charset="-122"/>
                <a:cs typeface="Cambria" pitchFamily="34" charset="-120"/>
              </a:rPr>
              <a:t>f</a:t>
            </a:r>
            <a:r>
              <a:rPr lang="en-US" sz="2100" dirty="0">
                <a:solidFill>
                  <a:schemeClr val="tx1"/>
                </a:solidFill>
                <a:latin typeface="Cambria" pitchFamily="34" charset="0"/>
                <a:ea typeface="Cambria" pitchFamily="34" charset="-122"/>
                <a:cs typeface="Cambria" pitchFamily="34" charset="-120"/>
              </a:rPr>
              <a:t>(</a:t>
            </a:r>
            <a:r>
              <a:rPr lang="en-US" sz="2100" i="1" dirty="0">
                <a:solidFill>
                  <a:schemeClr val="tx1"/>
                </a:solidFill>
                <a:latin typeface="Cambria" pitchFamily="34" charset="0"/>
                <a:ea typeface="Cambria" pitchFamily="34" charset="-122"/>
                <a:cs typeface="Cambria" pitchFamily="34" charset="-120"/>
              </a:rPr>
              <a:t>p</a:t>
            </a:r>
            <a:r>
              <a:rPr lang="en-US" sz="2100" dirty="0">
                <a:solidFill>
                  <a:schemeClr val="tx1"/>
                </a:solidFill>
                <a:latin typeface="Cambria" pitchFamily="34" charset="0"/>
                <a:ea typeface="Cambria" pitchFamily="34" charset="-122"/>
                <a:cs typeface="Cambria" pitchFamily="34" charset="-120"/>
              </a:rPr>
              <a:t>, </a:t>
            </a:r>
            <a:r>
              <a:rPr lang="en-US" sz="2100" i="1" dirty="0">
                <a:solidFill>
                  <a:schemeClr val="tx1"/>
                </a:solidFill>
                <a:latin typeface="Cambria" pitchFamily="34" charset="0"/>
                <a:ea typeface="Cambria" pitchFamily="34" charset="-122"/>
                <a:cs typeface="Cambria" pitchFamily="34" charset="-120"/>
              </a:rPr>
              <a:t>D</a:t>
            </a:r>
            <a:r>
              <a:rPr lang="en-US" sz="2100" dirty="0">
                <a:solidFill>
                  <a:schemeClr val="tx1"/>
                </a:solidFill>
                <a:latin typeface="Cambria" pitchFamily="34" charset="0"/>
                <a:ea typeface="Cambria" pitchFamily="34" charset="-122"/>
                <a:cs typeface="Cambria" pitchFamily="34" charset="-120"/>
              </a:rPr>
              <a:t>)</a:t>
            </a:r>
            <a:endParaRPr lang="en-US" sz="2100" dirty="0"/>
          </a:p>
        </p:txBody>
      </p:sp>
      <p:sp>
        <p:nvSpPr>
          <p:cNvPr id="8" name="Text 6"/>
          <p:cNvSpPr txBox="1"/>
          <p:nvPr/>
        </p:nvSpPr>
        <p:spPr>
          <a:xfrm>
            <a:off x="761695" y="2971800"/>
            <a:ext cx="5029200" cy="228600"/>
          </a:xfrm>
          <a:prstGeom prst="rect">
            <a:avLst/>
          </a:prstGeom>
          <a:noFill/>
          <a:ln/>
        </p:spPr>
        <p:txBody>
          <a:bodyPr wrap="square" lIns="0" tIns="0" rIns="0" bIns="0" rtlCol="0" anchor="t"/>
          <a:lstStyle/>
          <a:p>
            <a:pPr indent="0" marL="0">
              <a:buNone/>
            </a:pPr>
            <a:r>
              <a:rPr lang="en-US" sz="1100" spc="200" kern="0" dirty="0">
                <a:solidFill>
                  <a:schemeClr val="accent1"/>
                </a:solidFill>
              </a:rPr>
              <a:t>PRIVACY REQUIREMENT</a:t>
            </a:r>
            <a:endParaRPr lang="en-US" sz="1100" dirty="0"/>
          </a:p>
        </p:txBody>
      </p:sp>
      <p:sp>
        <p:nvSpPr>
          <p:cNvPr id="9" name="Text 7"/>
          <p:cNvSpPr txBox="1"/>
          <p:nvPr/>
        </p:nvSpPr>
        <p:spPr>
          <a:xfrm>
            <a:off x="761695" y="3273552"/>
            <a:ext cx="5029200" cy="566928"/>
          </a:xfrm>
          <a:prstGeom prst="rect">
            <a:avLst/>
          </a:prstGeom>
          <a:noFill/>
          <a:ln/>
        </p:spPr>
        <p:txBody>
          <a:bodyPr wrap="square" lIns="0" tIns="0" rIns="0" bIns="0" rtlCol="0" anchor="t"/>
          <a:lstStyle/>
          <a:p>
            <a:pPr indent="0" marL="0">
              <a:lnSpc>
                <a:spcPct val="125000"/>
              </a:lnSpc>
              <a:buNone/>
            </a:pPr>
            <a:r>
              <a:rPr lang="en-US" sz="1450" dirty="0">
                <a:solidFill>
                  <a:schemeClr val="tx1"/>
                </a:solidFill>
              </a:rPr>
              <a:t>The optimizer </a:t>
            </a:r>
            <a:r>
              <a:rPr lang="en-US" sz="1450" i="1" dirty="0">
                <a:solidFill>
                  <a:schemeClr val="tx1"/>
                </a:solidFill>
              </a:rPr>
              <a:t>M</a:t>
            </a:r>
            <a:r>
              <a:rPr lang="en-US" sz="1450" dirty="0">
                <a:solidFill>
                  <a:schemeClr val="tx1"/>
                </a:solidFill>
              </a:rPr>
              <a:t> is (</a:t>
            </a:r>
            <a:r>
              <a:rPr lang="en-US" sz="1450" dirty="0">
                <a:solidFill>
                  <a:schemeClr val="tx1"/>
                </a:solidFill>
                <a:latin typeface="Cambria" pitchFamily="34" charset="0"/>
                <a:ea typeface="Cambria" pitchFamily="34" charset="-122"/>
                <a:cs typeface="Cambria" pitchFamily="34" charset="-120"/>
              </a:rPr>
              <a:t>ε</a:t>
            </a:r>
            <a:r>
              <a:rPr lang="en-US" sz="1450" dirty="0">
                <a:solidFill>
                  <a:schemeClr val="tx1"/>
                </a:solidFill>
              </a:rPr>
              <a:t>, </a:t>
            </a:r>
            <a:r>
              <a:rPr lang="en-US" sz="1450" dirty="0">
                <a:solidFill>
                  <a:schemeClr val="tx1"/>
                </a:solidFill>
                <a:latin typeface="Cambria" pitchFamily="34" charset="0"/>
                <a:ea typeface="Cambria" pitchFamily="34" charset="-122"/>
                <a:cs typeface="Cambria" pitchFamily="34" charset="-120"/>
              </a:rPr>
              <a:t>δ</a:t>
            </a:r>
            <a:r>
              <a:rPr lang="en-US" sz="1450" dirty="0">
                <a:solidFill>
                  <a:schemeClr val="tx1"/>
                </a:solidFill>
              </a:rPr>
              <a:t>)-DP if, for all neighbouring datasets </a:t>
            </a:r>
            <a:r>
              <a:rPr lang="en-US" sz="1450" i="1" dirty="0">
                <a:solidFill>
                  <a:schemeClr val="tx1"/>
                </a:solidFill>
              </a:rPr>
              <a:t>D</a:t>
            </a:r>
            <a:r>
              <a:rPr lang="en-US" sz="1450" dirty="0">
                <a:solidFill>
                  <a:schemeClr val="tx1"/>
                </a:solidFill>
              </a:rPr>
              <a:t> </a:t>
            </a:r>
            <a:r>
              <a:rPr lang="en-US" sz="1450" dirty="0">
                <a:solidFill>
                  <a:schemeClr val="tx1"/>
                </a:solidFill>
                <a:latin typeface="Cambria" pitchFamily="34" charset="0"/>
                <a:ea typeface="Cambria" pitchFamily="34" charset="-122"/>
                <a:cs typeface="Cambria" pitchFamily="34" charset="-120"/>
              </a:rPr>
              <a:t>∼</a:t>
            </a:r>
            <a:r>
              <a:rPr lang="en-US" sz="1450" dirty="0">
                <a:solidFill>
                  <a:schemeClr val="tx1"/>
                </a:solidFill>
              </a:rPr>
              <a:t> </a:t>
            </a:r>
            <a:r>
              <a:rPr lang="en-US" sz="1450" i="1" dirty="0">
                <a:solidFill>
                  <a:schemeClr val="tx1"/>
                </a:solidFill>
              </a:rPr>
              <a:t>D</a:t>
            </a:r>
            <a:r>
              <a:rPr lang="en-US" sz="1450" dirty="0">
                <a:solidFill>
                  <a:schemeClr val="tx1"/>
                </a:solidFill>
                <a:latin typeface="Cambria" pitchFamily="34" charset="0"/>
                <a:ea typeface="Cambria" pitchFamily="34" charset="-122"/>
                <a:cs typeface="Cambria" pitchFamily="34" charset="-120"/>
              </a:rPr>
              <a:t>′</a:t>
            </a:r>
            <a:r>
              <a:rPr lang="en-US" sz="1450" dirty="0">
                <a:solidFill>
                  <a:schemeClr val="tx1"/>
                </a:solidFill>
              </a:rPr>
              <a:t> and all output sets </a:t>
            </a:r>
            <a:r>
              <a:rPr lang="en-US" sz="1450" i="1" dirty="0">
                <a:solidFill>
                  <a:schemeClr val="tx1"/>
                </a:solidFill>
              </a:rPr>
              <a:t>S</a:t>
            </a:r>
            <a:r>
              <a:rPr lang="en-US" sz="1450" dirty="0">
                <a:solidFill>
                  <a:schemeClr val="tx1"/>
                </a:solidFill>
              </a:rPr>
              <a:t>,</a:t>
            </a:r>
            <a:endParaRPr lang="en-US" sz="1450" dirty="0"/>
          </a:p>
        </p:txBody>
      </p:sp>
      <p:sp>
        <p:nvSpPr>
          <p:cNvPr id="10" name="Text 8"/>
          <p:cNvSpPr txBox="1"/>
          <p:nvPr/>
        </p:nvSpPr>
        <p:spPr>
          <a:xfrm>
            <a:off x="761695" y="3931920"/>
            <a:ext cx="5029200" cy="457200"/>
          </a:xfrm>
          <a:prstGeom prst="rect">
            <a:avLst/>
          </a:prstGeom>
          <a:noFill/>
          <a:ln/>
        </p:spPr>
        <p:txBody>
          <a:bodyPr wrap="square" lIns="0" tIns="0" rIns="0" bIns="0" rtlCol="0" anchor="t"/>
          <a:lstStyle/>
          <a:p>
            <a:pPr algn="ctr" indent="0" marL="0">
              <a:buNone/>
            </a:pPr>
            <a:r>
              <a:rPr lang="en-US" sz="2000" dirty="0">
                <a:solidFill>
                  <a:schemeClr val="tx1"/>
                </a:solidFill>
                <a:latin typeface="Cambria" pitchFamily="34" charset="0"/>
                <a:ea typeface="Cambria" pitchFamily="34" charset="-122"/>
                <a:cs typeface="Cambria" pitchFamily="34" charset="-120"/>
              </a:rPr>
              <a:t>Pr[</a:t>
            </a:r>
            <a:r>
              <a:rPr lang="en-US" sz="2000" i="1" dirty="0">
                <a:solidFill>
                  <a:schemeClr val="tx1"/>
                </a:solidFill>
                <a:latin typeface="Cambria" pitchFamily="34" charset="0"/>
                <a:ea typeface="Cambria" pitchFamily="34" charset="-122"/>
                <a:cs typeface="Cambria" pitchFamily="34" charset="-120"/>
              </a:rPr>
              <a:t>M</a:t>
            </a:r>
            <a:r>
              <a:rPr lang="en-US" sz="2000" dirty="0">
                <a:solidFill>
                  <a:schemeClr val="tx1"/>
                </a:solidFill>
                <a:latin typeface="Cambria" pitchFamily="34" charset="0"/>
                <a:ea typeface="Cambria" pitchFamily="34" charset="-122"/>
                <a:cs typeface="Cambria" pitchFamily="34" charset="-120"/>
              </a:rPr>
              <a:t>(</a:t>
            </a:r>
            <a:r>
              <a:rPr lang="en-US" sz="2000" i="1" dirty="0">
                <a:solidFill>
                  <a:schemeClr val="tx1"/>
                </a:solidFill>
                <a:latin typeface="Cambria" pitchFamily="34" charset="0"/>
                <a:ea typeface="Cambria" pitchFamily="34" charset="-122"/>
                <a:cs typeface="Cambria" pitchFamily="34" charset="-120"/>
              </a:rPr>
              <a:t>D</a:t>
            </a:r>
            <a:r>
              <a:rPr lang="en-US" sz="2000" dirty="0">
                <a:solidFill>
                  <a:schemeClr val="tx1"/>
                </a:solidFill>
                <a:latin typeface="Cambria" pitchFamily="34" charset="0"/>
                <a:ea typeface="Cambria" pitchFamily="34" charset="-122"/>
                <a:cs typeface="Cambria" pitchFamily="34" charset="-120"/>
              </a:rPr>
              <a:t>) </a:t>
            </a:r>
            <a:r>
              <a:rPr lang="en-US" sz="2000" dirty="0">
                <a:solidFill>
                  <a:schemeClr val="tx1"/>
                </a:solidFill>
                <a:latin typeface="Cambria" pitchFamily="34" charset="0"/>
                <a:ea typeface="Cambria" pitchFamily="34" charset="-122"/>
                <a:cs typeface="Cambria" pitchFamily="34" charset="-120"/>
              </a:rPr>
              <a:t>∈</a:t>
            </a:r>
            <a:r>
              <a:rPr lang="en-US" sz="2000" dirty="0">
                <a:solidFill>
                  <a:schemeClr val="tx1"/>
                </a:solidFill>
                <a:latin typeface="Cambria" pitchFamily="34" charset="0"/>
                <a:ea typeface="Cambria" pitchFamily="34" charset="-122"/>
                <a:cs typeface="Cambria" pitchFamily="34" charset="-120"/>
              </a:rPr>
              <a:t> </a:t>
            </a:r>
            <a:r>
              <a:rPr lang="en-US" sz="2000" i="1" dirty="0">
                <a:solidFill>
                  <a:schemeClr val="tx1"/>
                </a:solidFill>
                <a:latin typeface="Cambria" pitchFamily="34" charset="0"/>
                <a:ea typeface="Cambria" pitchFamily="34" charset="-122"/>
                <a:cs typeface="Cambria" pitchFamily="34" charset="-120"/>
              </a:rPr>
              <a:t>S</a:t>
            </a:r>
            <a:r>
              <a:rPr lang="en-US" sz="2000" dirty="0">
                <a:solidFill>
                  <a:schemeClr val="tx1"/>
                </a:solidFill>
                <a:latin typeface="Cambria" pitchFamily="34" charset="0"/>
                <a:ea typeface="Cambria" pitchFamily="34" charset="-122"/>
                <a:cs typeface="Cambria" pitchFamily="34" charset="-120"/>
              </a:rPr>
              <a:t>] </a:t>
            </a:r>
            <a:r>
              <a:rPr lang="en-US" sz="2000" dirty="0">
                <a:solidFill>
                  <a:schemeClr val="tx1"/>
                </a:solidFill>
                <a:latin typeface="Cambria" pitchFamily="34" charset="0"/>
                <a:ea typeface="Cambria" pitchFamily="34" charset="-122"/>
                <a:cs typeface="Cambria" pitchFamily="34" charset="-120"/>
              </a:rPr>
              <a:t>≤</a:t>
            </a:r>
            <a:r>
              <a:rPr lang="en-US" sz="2000" dirty="0">
                <a:solidFill>
                  <a:schemeClr val="tx1"/>
                </a:solidFill>
                <a:latin typeface="Cambria" pitchFamily="34" charset="0"/>
                <a:ea typeface="Cambria" pitchFamily="34" charset="-122"/>
                <a:cs typeface="Cambria" pitchFamily="34" charset="-120"/>
              </a:rPr>
              <a:t> </a:t>
            </a:r>
            <a:r>
              <a:rPr lang="en-US" sz="2000" i="1" dirty="0">
                <a:solidFill>
                  <a:schemeClr val="tx1"/>
                </a:solidFill>
                <a:latin typeface="Cambria" pitchFamily="34" charset="0"/>
                <a:ea typeface="Cambria" pitchFamily="34" charset="-122"/>
                <a:cs typeface="Cambria" pitchFamily="34" charset="-120"/>
              </a:rPr>
              <a:t>e</a:t>
            </a:r>
            <a:r>
              <a:rPr lang="en-US" sz="2000" baseline="30000" dirty="0">
                <a:solidFill>
                  <a:schemeClr val="tx1"/>
                </a:solidFill>
                <a:latin typeface="Cambria" pitchFamily="34" charset="0"/>
                <a:ea typeface="Cambria" pitchFamily="34" charset="-122"/>
                <a:cs typeface="Cambria" pitchFamily="34" charset="-120"/>
              </a:rPr>
              <a:t>ε</a:t>
            </a:r>
            <a:r>
              <a:rPr lang="en-US" sz="2000" dirty="0">
                <a:solidFill>
                  <a:schemeClr val="tx1"/>
                </a:solidFill>
                <a:latin typeface="Cambria" pitchFamily="34" charset="0"/>
                <a:ea typeface="Cambria" pitchFamily="34" charset="-122"/>
                <a:cs typeface="Cambria" pitchFamily="34" charset="-120"/>
              </a:rPr>
              <a:t> · Pr[</a:t>
            </a:r>
            <a:r>
              <a:rPr lang="en-US" sz="2000" i="1" dirty="0">
                <a:solidFill>
                  <a:schemeClr val="tx1"/>
                </a:solidFill>
                <a:latin typeface="Cambria" pitchFamily="34" charset="0"/>
                <a:ea typeface="Cambria" pitchFamily="34" charset="-122"/>
                <a:cs typeface="Cambria" pitchFamily="34" charset="-120"/>
              </a:rPr>
              <a:t>M</a:t>
            </a:r>
            <a:r>
              <a:rPr lang="en-US" sz="2000" dirty="0">
                <a:solidFill>
                  <a:schemeClr val="tx1"/>
                </a:solidFill>
                <a:latin typeface="Cambria" pitchFamily="34" charset="0"/>
                <a:ea typeface="Cambria" pitchFamily="34" charset="-122"/>
                <a:cs typeface="Cambria" pitchFamily="34" charset="-120"/>
              </a:rPr>
              <a:t>(</a:t>
            </a:r>
            <a:r>
              <a:rPr lang="en-US" sz="2000" i="1" dirty="0">
                <a:solidFill>
                  <a:schemeClr val="tx1"/>
                </a:solidFill>
                <a:latin typeface="Cambria" pitchFamily="34" charset="0"/>
                <a:ea typeface="Cambria" pitchFamily="34" charset="-122"/>
                <a:cs typeface="Cambria" pitchFamily="34" charset="-120"/>
              </a:rPr>
              <a:t>D</a:t>
            </a:r>
            <a:r>
              <a:rPr lang="en-US" sz="2000" dirty="0">
                <a:solidFill>
                  <a:schemeClr val="tx1"/>
                </a:solidFill>
                <a:latin typeface="Cambria" pitchFamily="34" charset="0"/>
                <a:ea typeface="Cambria" pitchFamily="34" charset="-122"/>
                <a:cs typeface="Cambria" pitchFamily="34" charset="-120"/>
              </a:rPr>
              <a:t>′</a:t>
            </a:r>
            <a:r>
              <a:rPr lang="en-US" sz="2000" dirty="0">
                <a:solidFill>
                  <a:schemeClr val="tx1"/>
                </a:solidFill>
                <a:latin typeface="Cambria" pitchFamily="34" charset="0"/>
                <a:ea typeface="Cambria" pitchFamily="34" charset="-122"/>
                <a:cs typeface="Cambria" pitchFamily="34" charset="-120"/>
              </a:rPr>
              <a:t>) </a:t>
            </a:r>
            <a:r>
              <a:rPr lang="en-US" sz="2000" dirty="0">
                <a:solidFill>
                  <a:schemeClr val="tx1"/>
                </a:solidFill>
                <a:latin typeface="Cambria" pitchFamily="34" charset="0"/>
                <a:ea typeface="Cambria" pitchFamily="34" charset="-122"/>
                <a:cs typeface="Cambria" pitchFamily="34" charset="-120"/>
              </a:rPr>
              <a:t>∈</a:t>
            </a:r>
            <a:r>
              <a:rPr lang="en-US" sz="2000" dirty="0">
                <a:solidFill>
                  <a:schemeClr val="tx1"/>
                </a:solidFill>
                <a:latin typeface="Cambria" pitchFamily="34" charset="0"/>
                <a:ea typeface="Cambria" pitchFamily="34" charset="-122"/>
                <a:cs typeface="Cambria" pitchFamily="34" charset="-120"/>
              </a:rPr>
              <a:t> </a:t>
            </a:r>
            <a:r>
              <a:rPr lang="en-US" sz="2000" i="1" dirty="0">
                <a:solidFill>
                  <a:schemeClr val="tx1"/>
                </a:solidFill>
                <a:latin typeface="Cambria" pitchFamily="34" charset="0"/>
                <a:ea typeface="Cambria" pitchFamily="34" charset="-122"/>
                <a:cs typeface="Cambria" pitchFamily="34" charset="-120"/>
              </a:rPr>
              <a:t>S</a:t>
            </a:r>
            <a:r>
              <a:rPr lang="en-US" sz="2000" dirty="0">
                <a:solidFill>
                  <a:schemeClr val="tx1"/>
                </a:solidFill>
                <a:latin typeface="Cambria" pitchFamily="34" charset="0"/>
                <a:ea typeface="Cambria" pitchFamily="34" charset="-122"/>
                <a:cs typeface="Cambria" pitchFamily="34" charset="-120"/>
              </a:rPr>
              <a:t>] + </a:t>
            </a:r>
            <a:r>
              <a:rPr lang="en-US" sz="2000" dirty="0">
                <a:solidFill>
                  <a:schemeClr val="tx1"/>
                </a:solidFill>
                <a:latin typeface="Cambria" pitchFamily="34" charset="0"/>
                <a:ea typeface="Cambria" pitchFamily="34" charset="-122"/>
                <a:cs typeface="Cambria" pitchFamily="34" charset="-120"/>
              </a:rPr>
              <a:t>δ</a:t>
            </a:r>
            <a:endParaRPr lang="en-US" sz="2000" dirty="0"/>
          </a:p>
        </p:txBody>
      </p:sp>
      <p:sp>
        <p:nvSpPr>
          <p:cNvPr id="11" name="Text 9"/>
          <p:cNvSpPr txBox="1"/>
          <p:nvPr/>
        </p:nvSpPr>
        <p:spPr>
          <a:xfrm>
            <a:off x="761695" y="4617720"/>
            <a:ext cx="5029200" cy="109728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Privacy unit: one record (</a:t>
            </a:r>
            <a:r>
              <a:rPr lang="en-US" sz="1250" i="1" dirty="0">
                <a:solidFill>
                  <a:schemeClr val="tx2"/>
                </a:solidFill>
              </a:rPr>
              <a:t>x</a:t>
            </a:r>
            <a:r>
              <a:rPr lang="en-US" sz="1250" baseline="-40000" dirty="0">
                <a:solidFill>
                  <a:schemeClr val="tx2"/>
                </a:solidFill>
              </a:rPr>
              <a:t>i</a:t>
            </a:r>
            <a:r>
              <a:rPr lang="en-US" sz="1250" dirty="0">
                <a:solidFill>
                  <a:schemeClr val="tx2"/>
                </a:solidFill>
              </a:rPr>
              <a:t>, </a:t>
            </a:r>
            <a:r>
              <a:rPr lang="en-US" sz="1250" i="1" dirty="0">
                <a:solidFill>
                  <a:schemeClr val="tx2"/>
                </a:solidFill>
              </a:rPr>
              <a:t>y</a:t>
            </a:r>
            <a:r>
              <a:rPr lang="en-US" sz="1250" baseline="-40000" dirty="0">
                <a:solidFill>
                  <a:schemeClr val="tx2"/>
                </a:solidFill>
              </a:rPr>
              <a:t>i</a:t>
            </a:r>
            <a:r>
              <a:rPr lang="en-US" sz="1250" dirty="0">
                <a:solidFill>
                  <a:schemeClr val="tx2"/>
                </a:solidFill>
              </a:rPr>
              <a:t>). Released object: the final prompt. The LLM is reached only through an API, so weight-based DP training (DP-SGD, DP-LoRA) does not apply.</a:t>
            </a:r>
            <a:endParaRPr lang="en-US" sz="1250" dirty="0"/>
          </a:p>
        </p:txBody>
      </p:sp>
      <p:sp>
        <p:nvSpPr>
          <p:cNvPr id="12" name="Shape 10"/>
          <p:cNvSpPr/>
          <p:nvPr/>
        </p:nvSpPr>
        <p:spPr>
          <a:xfrm>
            <a:off x="6172200" y="1572768"/>
            <a:ext cx="12802" cy="4206240"/>
          </a:xfrm>
          <a:prstGeom prst="rect">
            <a:avLst/>
          </a:prstGeom>
          <a:solidFill>
            <a:schemeClr val="accent4"/>
          </a:solidFill>
          <a:ln/>
        </p:spPr>
      </p:sp>
      <p:sp>
        <p:nvSpPr>
          <p:cNvPr id="13" name="Text 11"/>
          <p:cNvSpPr txBox="1"/>
          <p:nvPr/>
        </p:nvSpPr>
        <p:spPr>
          <a:xfrm>
            <a:off x="6492240" y="1572768"/>
            <a:ext cx="4937760" cy="228600"/>
          </a:xfrm>
          <a:prstGeom prst="rect">
            <a:avLst/>
          </a:prstGeom>
          <a:noFill/>
          <a:ln/>
        </p:spPr>
        <p:txBody>
          <a:bodyPr wrap="square" lIns="0" tIns="0" rIns="0" bIns="0" rtlCol="0" anchor="t"/>
          <a:lstStyle/>
          <a:p>
            <a:pPr indent="0" marL="0">
              <a:buNone/>
            </a:pPr>
            <a:r>
              <a:rPr lang="en-US" sz="1100" spc="200" kern="0" dirty="0">
                <a:solidFill>
                  <a:schemeClr val="accent1"/>
                </a:solidFill>
              </a:rPr>
              <a:t>WHERE DP-ES SITS</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92240" y="1901952"/>
          <a:ext cx="4937760" cy="914400"/>
        </p:xfrm>
        <a:graphic>
          <a:graphicData uri="http://schemas.openxmlformats.org/drawingml/2006/table">
            <a:tbl>
              <a:tblPr/>
              <a:tblGrid>
                <a:gridCol w="1280160"/>
                <a:gridCol w="868680"/>
                <a:gridCol w="777240"/>
                <a:gridCol w="2011680"/>
              </a:tblGrid>
              <a:tr h="384048">
                <a:tc>
                  <a:txBody>
                    <a:bodyPr/>
                    <a:lstStyle/>
                    <a:p>
                      <a:pPr algn="l" indent="0" marL="0">
                        <a:buNone/>
                      </a:pPr>
                      <a:r>
                        <a:rPr lang="en-US" sz="1200" b="1" dirty="0">
                          <a:solidFill>
                            <a:schemeClr val="tx1"/>
                          </a:solidFill>
                        </a:rPr>
                        <a:t>Method</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00" b="1" dirty="0">
                          <a:solidFill>
                            <a:schemeClr val="tx1"/>
                          </a:solidFill>
                        </a:rPr>
                        <a:t>Formal DP</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00" b="1" dirty="0">
                          <a:solidFill>
                            <a:schemeClr val="tx1"/>
                          </a:solidFill>
                        </a:rPr>
                        <a:t>Discrete</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l" indent="0" marL="0">
                        <a:buNone/>
                      </a:pPr>
                      <a:r>
                        <a:rPr lang="en-US" sz="1200" b="1" dirty="0">
                          <a:solidFill>
                            <a:schemeClr val="tx1"/>
                          </a:solidFill>
                        </a:rPr>
                        <a:t>Mechanism</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384048">
                <a:tc>
                  <a:txBody>
                    <a:bodyPr/>
                    <a:lstStyle/>
                    <a:p>
                      <a:pPr algn="l" indent="0" marL="0">
                        <a:buNone/>
                      </a:pPr>
                      <a:r>
                        <a:rPr lang="en-US" sz="1250" dirty="0">
                          <a:solidFill>
                            <a:schemeClr val="tx1"/>
                          </a:solidFill>
                        </a:rPr>
                        <a:t>TextGrad</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LLM “gradients”</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dirty="0">
                          <a:solidFill>
                            <a:schemeClr val="tx1"/>
                          </a:solidFill>
                        </a:rPr>
                        <a:t>OPRO</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LLM scoring</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dirty="0">
                          <a:solidFill>
                            <a:schemeClr val="tx1"/>
                          </a:solidFill>
                        </a:rPr>
                        <a:t>EvoPrompt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Evolutionary search</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dirty="0">
                          <a:solidFill>
                            <a:schemeClr val="tx1"/>
                          </a:solidFill>
                        </a:rPr>
                        <a:t>PromptBreeder</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Evolutionary search</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dirty="0">
                          <a:solidFill>
                            <a:schemeClr val="tx1"/>
                          </a:solidFill>
                        </a:rPr>
                        <a:t>DP-SGD</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Gaussian noise</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dirty="0">
                          <a:solidFill>
                            <a:schemeClr val="tx1"/>
                          </a:solidFill>
                        </a:rPr>
                        <a:t>DP-OPT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Histogram + exp. mech.</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84048">
                <a:tc>
                  <a:txBody>
                    <a:bodyPr/>
                    <a:lstStyle/>
                    <a:p>
                      <a:pPr algn="l" indent="0" marL="0">
                        <a:buNone/>
                      </a:pPr>
                      <a:r>
                        <a:rPr lang="en-US" sz="1250" b="1" dirty="0">
                          <a:solidFill>
                            <a:schemeClr val="accent1"/>
                          </a:solidFill>
                        </a:rPr>
                        <a:t>DP-ES (ours)</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solidFill>
                      <a:schemeClr val="bg2"/>
                    </a:solidFill>
                  </a:tcPr>
                </a:tc>
                <a:tc>
                  <a:txBody>
                    <a:bodyPr/>
                    <a:lstStyle/>
                    <a:p>
                      <a:pPr algn="ctr" indent="0" marL="0">
                        <a:buNone/>
                      </a:pPr>
                      <a:r>
                        <a:rPr lang="en-US" sz="1250" b="1" dirty="0">
                          <a:solidFill>
                            <a:schemeClr val="accent1"/>
                          </a:solidFill>
                        </a:rPr>
                        <a:t>✓</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solidFill>
                      <a:schemeClr val="bg2"/>
                    </a:solidFill>
                  </a:tcPr>
                </a:tc>
                <a:tc>
                  <a:txBody>
                    <a:bodyPr/>
                    <a:lstStyle/>
                    <a:p>
                      <a:pPr algn="ctr" indent="0" marL="0">
                        <a:buNone/>
                      </a:pPr>
                      <a:r>
                        <a:rPr lang="en-US" sz="1250" b="1" dirty="0">
                          <a:solidFill>
                            <a:schemeClr val="accent1"/>
                          </a:solidFill>
                        </a:rPr>
                        <a:t>✓</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solidFill>
                      <a:schemeClr val="bg2"/>
                    </a:solidFill>
                  </a:tcPr>
                </a:tc>
                <a:tc>
                  <a:txBody>
                    <a:bodyPr/>
                    <a:lstStyle/>
                    <a:p>
                      <a:pPr algn="l" indent="0" marL="0">
                        <a:buNone/>
                      </a:pPr>
                      <a:r>
                        <a:rPr lang="en-US" sz="1250" b="1" dirty="0">
                          <a:solidFill>
                            <a:schemeClr val="accent1"/>
                          </a:solidFill>
                        </a:rPr>
                        <a:t>Evolution + Gaussian</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solidFill>
                      <a:schemeClr val="bg2"/>
                    </a:solidFill>
                  </a:tcPr>
                </a:tc>
              </a:tr>
            </a:tbl>
          </a:graphicData>
        </a:graphic>
      </p:graphicFrame>
      <p:sp>
        <p:nvSpPr>
          <p:cNvPr id="15" name="Text 12"/>
          <p:cNvSpPr txBox="1"/>
          <p:nvPr/>
        </p:nvSpPr>
        <p:spPr>
          <a:xfrm>
            <a:off x="6492240" y="5120640"/>
            <a:ext cx="4937760" cy="457200"/>
          </a:xfrm>
          <a:prstGeom prst="rect">
            <a:avLst/>
          </a:prstGeom>
          <a:noFill/>
          <a:ln/>
        </p:spPr>
        <p:txBody>
          <a:bodyPr wrap="square" lIns="0" tIns="0" rIns="0" bIns="0" rtlCol="0" anchor="t"/>
          <a:lstStyle/>
          <a:p>
            <a:pPr indent="0" marL="0">
              <a:buNone/>
            </a:pPr>
            <a:r>
              <a:rPr lang="en-US" sz="1100" dirty="0">
                <a:solidFill>
                  <a:schemeClr val="tx2"/>
                </a:solidFill>
              </a:rPr>
              <a:t>DP-ES adds formal record-level DP to evolutionary search over discrete prompts.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01 · PROBLEM</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Token-level DP optimization is unstable under </a:t>
            </a:r>
            <a:r>
              <a:rPr lang="en-US" sz="2900" dirty="0">
                <a:solidFill>
                  <a:schemeClr val="tx1"/>
                </a:solidFill>
                <a:latin typeface="Cambria" pitchFamily="34" charset="0"/>
                <a:ea typeface="Cambria" pitchFamily="34" charset="-122"/>
                <a:cs typeface="Cambria" pitchFamily="34" charset="-120"/>
              </a:rPr>
              <a:t>ε</a:t>
            </a:r>
            <a:r>
              <a:rPr lang="en-US" sz="2900" dirty="0">
                <a:solidFill>
                  <a:schemeClr val="tx1"/>
                </a:solidFill>
                <a:latin typeface="+mj-lt" pitchFamily="34" charset="0"/>
                <a:ea typeface="+mj-lt" pitchFamily="34" charset="-122"/>
                <a:cs typeface="+mj-lt" pitchFamily="34" charset="-120"/>
              </a:rPr>
              <a:t> </a:t>
            </a:r>
            <a:r>
              <a:rPr lang="en-US" sz="2900" dirty="0">
                <a:solidFill>
                  <a:schemeClr val="tx1"/>
                </a:solidFill>
                <a:latin typeface="Cambria" pitchFamily="34" charset="0"/>
                <a:ea typeface="Cambria" pitchFamily="34" charset="-122"/>
                <a:cs typeface="Cambria" pitchFamily="34" charset="-120"/>
              </a:rPr>
              <a:t>≤</a:t>
            </a:r>
            <a:r>
              <a:rPr lang="en-US" sz="2900" dirty="0">
                <a:solidFill>
                  <a:schemeClr val="tx1"/>
                </a:solidFill>
                <a:latin typeface="+mj-lt" pitchFamily="34" charset="0"/>
                <a:ea typeface="+mj-lt" pitchFamily="34" charset="-122"/>
                <a:cs typeface="+mj-lt" pitchFamily="34" charset="-120"/>
              </a:rPr>
              <a:t> 1</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5 / 18</a:t>
            </a:r>
            <a:endParaRPr lang="en-US" sz="1000" dirty="0"/>
          </a:p>
        </p:txBody>
      </p:sp>
      <p:sp>
        <p:nvSpPr>
          <p:cNvPr id="5" name="Shape 3"/>
          <p:cNvSpPr/>
          <p:nvPr/>
        </p:nvSpPr>
        <p:spPr>
          <a:xfrm>
            <a:off x="2508199" y="1691640"/>
            <a:ext cx="12802" cy="3383280"/>
          </a:xfrm>
          <a:prstGeom prst="rect">
            <a:avLst/>
          </a:prstGeom>
          <a:solidFill>
            <a:schemeClr val="accent4"/>
          </a:solidFill>
          <a:ln/>
        </p:spPr>
      </p:sp>
      <p:sp>
        <p:nvSpPr>
          <p:cNvPr id="6" name="Text 4"/>
          <p:cNvSpPr txBox="1"/>
          <p:nvPr/>
        </p:nvSpPr>
        <p:spPr>
          <a:xfrm>
            <a:off x="214884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0</a:t>
            </a:r>
            <a:endParaRPr lang="en-US" sz="1100" dirty="0"/>
          </a:p>
        </p:txBody>
      </p:sp>
      <p:sp>
        <p:nvSpPr>
          <p:cNvPr id="7" name="Shape 5"/>
          <p:cNvSpPr/>
          <p:nvPr/>
        </p:nvSpPr>
        <p:spPr>
          <a:xfrm>
            <a:off x="3468319" y="1691640"/>
            <a:ext cx="12802" cy="3383280"/>
          </a:xfrm>
          <a:prstGeom prst="rect">
            <a:avLst/>
          </a:prstGeom>
          <a:solidFill>
            <a:schemeClr val="accent4"/>
          </a:solidFill>
          <a:ln/>
        </p:spPr>
      </p:sp>
      <p:sp>
        <p:nvSpPr>
          <p:cNvPr id="8" name="Text 6"/>
          <p:cNvSpPr txBox="1"/>
          <p:nvPr/>
        </p:nvSpPr>
        <p:spPr>
          <a:xfrm>
            <a:off x="310896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20</a:t>
            </a:r>
            <a:endParaRPr lang="en-US" sz="1100" dirty="0"/>
          </a:p>
        </p:txBody>
      </p:sp>
      <p:sp>
        <p:nvSpPr>
          <p:cNvPr id="9" name="Shape 7"/>
          <p:cNvSpPr/>
          <p:nvPr/>
        </p:nvSpPr>
        <p:spPr>
          <a:xfrm>
            <a:off x="4428439" y="1691640"/>
            <a:ext cx="12802" cy="3383280"/>
          </a:xfrm>
          <a:prstGeom prst="rect">
            <a:avLst/>
          </a:prstGeom>
          <a:solidFill>
            <a:schemeClr val="accent4"/>
          </a:solidFill>
          <a:ln/>
        </p:spPr>
      </p:sp>
      <p:sp>
        <p:nvSpPr>
          <p:cNvPr id="10" name="Text 8"/>
          <p:cNvSpPr txBox="1"/>
          <p:nvPr/>
        </p:nvSpPr>
        <p:spPr>
          <a:xfrm>
            <a:off x="406908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40</a:t>
            </a:r>
            <a:endParaRPr lang="en-US" sz="1100" dirty="0"/>
          </a:p>
        </p:txBody>
      </p:sp>
      <p:sp>
        <p:nvSpPr>
          <p:cNvPr id="11" name="Shape 9"/>
          <p:cNvSpPr/>
          <p:nvPr/>
        </p:nvSpPr>
        <p:spPr>
          <a:xfrm>
            <a:off x="5388559" y="1691640"/>
            <a:ext cx="12802" cy="3383280"/>
          </a:xfrm>
          <a:prstGeom prst="rect">
            <a:avLst/>
          </a:prstGeom>
          <a:solidFill>
            <a:schemeClr val="accent4"/>
          </a:solidFill>
          <a:ln/>
        </p:spPr>
      </p:sp>
      <p:sp>
        <p:nvSpPr>
          <p:cNvPr id="12" name="Text 10"/>
          <p:cNvSpPr txBox="1"/>
          <p:nvPr/>
        </p:nvSpPr>
        <p:spPr>
          <a:xfrm>
            <a:off x="502920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60</a:t>
            </a:r>
            <a:endParaRPr lang="en-US" sz="1100" dirty="0"/>
          </a:p>
        </p:txBody>
      </p:sp>
      <p:sp>
        <p:nvSpPr>
          <p:cNvPr id="13" name="Shape 11"/>
          <p:cNvSpPr/>
          <p:nvPr/>
        </p:nvSpPr>
        <p:spPr>
          <a:xfrm>
            <a:off x="6348679" y="1691640"/>
            <a:ext cx="12802" cy="3383280"/>
          </a:xfrm>
          <a:prstGeom prst="rect">
            <a:avLst/>
          </a:prstGeom>
          <a:solidFill>
            <a:schemeClr val="accent4"/>
          </a:solidFill>
          <a:ln/>
        </p:spPr>
      </p:sp>
      <p:sp>
        <p:nvSpPr>
          <p:cNvPr id="14" name="Text 12"/>
          <p:cNvSpPr txBox="1"/>
          <p:nvPr/>
        </p:nvSpPr>
        <p:spPr>
          <a:xfrm>
            <a:off x="598932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80</a:t>
            </a:r>
            <a:endParaRPr lang="en-US" sz="1100" dirty="0"/>
          </a:p>
        </p:txBody>
      </p:sp>
      <p:sp>
        <p:nvSpPr>
          <p:cNvPr id="15" name="Shape 13"/>
          <p:cNvSpPr/>
          <p:nvPr/>
        </p:nvSpPr>
        <p:spPr>
          <a:xfrm>
            <a:off x="7308799" y="1691640"/>
            <a:ext cx="12802" cy="3383280"/>
          </a:xfrm>
          <a:prstGeom prst="rect">
            <a:avLst/>
          </a:prstGeom>
          <a:solidFill>
            <a:schemeClr val="accent4"/>
          </a:solidFill>
          <a:ln/>
        </p:spPr>
      </p:sp>
      <p:sp>
        <p:nvSpPr>
          <p:cNvPr id="16" name="Text 14"/>
          <p:cNvSpPr txBox="1"/>
          <p:nvPr/>
        </p:nvSpPr>
        <p:spPr>
          <a:xfrm>
            <a:off x="6949440" y="5148072"/>
            <a:ext cx="731520" cy="228600"/>
          </a:xfrm>
          <a:prstGeom prst="rect">
            <a:avLst/>
          </a:prstGeom>
          <a:noFill/>
          <a:ln/>
        </p:spPr>
        <p:txBody>
          <a:bodyPr wrap="square" lIns="0" tIns="0" rIns="0" bIns="0" rtlCol="0" anchor="t"/>
          <a:lstStyle/>
          <a:p>
            <a:pPr algn="ctr" indent="0" marL="0">
              <a:buNone/>
            </a:pPr>
            <a:r>
              <a:rPr lang="en-US" sz="1100" dirty="0">
                <a:solidFill>
                  <a:schemeClr val="tx2"/>
                </a:solidFill>
              </a:rPr>
              <a:t>100</a:t>
            </a:r>
            <a:endParaRPr lang="en-US" sz="1100" dirty="0"/>
          </a:p>
        </p:txBody>
      </p:sp>
      <p:sp>
        <p:nvSpPr>
          <p:cNvPr id="17" name="Text 15"/>
          <p:cNvSpPr txBox="1"/>
          <p:nvPr/>
        </p:nvSpPr>
        <p:spPr>
          <a:xfrm>
            <a:off x="2514600" y="5458968"/>
            <a:ext cx="4800600" cy="228600"/>
          </a:xfrm>
          <a:prstGeom prst="rect">
            <a:avLst/>
          </a:prstGeom>
          <a:noFill/>
          <a:ln/>
        </p:spPr>
        <p:txBody>
          <a:bodyPr wrap="square" lIns="0" tIns="0" rIns="0" bIns="0" rtlCol="0" anchor="t"/>
          <a:lstStyle/>
          <a:p>
            <a:pPr algn="ctr" indent="0" marL="0">
              <a:buNone/>
            </a:pPr>
            <a:r>
              <a:rPr lang="en-US" sz="1100" dirty="0">
                <a:solidFill>
                  <a:schemeClr val="tx2"/>
                </a:solidFill>
              </a:rPr>
              <a:t>GSM8K accuracy (%), mean ± 1 std over 30 runs</a:t>
            </a:r>
            <a:endParaRPr lang="en-US" sz="1100" dirty="0"/>
          </a:p>
        </p:txBody>
      </p:sp>
      <p:sp>
        <p:nvSpPr>
          <p:cNvPr id="18" name="Text 16"/>
          <p:cNvSpPr txBox="1"/>
          <p:nvPr/>
        </p:nvSpPr>
        <p:spPr>
          <a:xfrm>
            <a:off x="761695" y="2130552"/>
            <a:ext cx="1600200" cy="274320"/>
          </a:xfrm>
          <a:prstGeom prst="rect">
            <a:avLst/>
          </a:prstGeom>
          <a:noFill/>
          <a:ln/>
        </p:spPr>
        <p:txBody>
          <a:bodyPr wrap="square" lIns="0" tIns="0" rIns="0" bIns="0" rtlCol="0" anchor="t"/>
          <a:lstStyle/>
          <a:p>
            <a:pPr algn="r" indent="0" marL="0">
              <a:buNone/>
            </a:pPr>
            <a:r>
              <a:rPr lang="en-US" sz="1500" b="1" dirty="0">
                <a:solidFill>
                  <a:schemeClr val="tx1"/>
                </a:solidFill>
              </a:rPr>
              <a:t>DP-OPT</a:t>
            </a:r>
            <a:endParaRPr lang="en-US" sz="1500" dirty="0"/>
          </a:p>
        </p:txBody>
      </p:sp>
      <p:sp>
        <p:nvSpPr>
          <p:cNvPr id="19" name="Text 17"/>
          <p:cNvSpPr txBox="1"/>
          <p:nvPr/>
        </p:nvSpPr>
        <p:spPr>
          <a:xfrm>
            <a:off x="487375" y="2441448"/>
            <a:ext cx="1874520" cy="228600"/>
          </a:xfrm>
          <a:prstGeom prst="rect">
            <a:avLst/>
          </a:prstGeom>
          <a:noFill/>
          <a:ln/>
        </p:spPr>
        <p:txBody>
          <a:bodyPr wrap="square" lIns="0" tIns="0" rIns="0" bIns="0" rtlCol="0" anchor="t"/>
          <a:lstStyle/>
          <a:p>
            <a:pPr algn="r" indent="0" marL="0">
              <a:buNone/>
            </a:pPr>
            <a:r>
              <a:rPr lang="en-US" sz="1100" dirty="0">
                <a:solidFill>
                  <a:schemeClr val="tx2"/>
                </a:solidFill>
                <a:latin typeface="Cambria" pitchFamily="34" charset="0"/>
                <a:ea typeface="Cambria" pitchFamily="34" charset="-122"/>
                <a:cs typeface="Cambria" pitchFamily="34" charset="-120"/>
              </a:rPr>
              <a:t>ε</a:t>
            </a:r>
            <a:r>
              <a:rPr lang="en-US" sz="1100" dirty="0">
                <a:solidFill>
                  <a:schemeClr val="tx2"/>
                </a:solidFill>
              </a:rPr>
              <a:t> = 1</a:t>
            </a:r>
            <a:endParaRPr lang="en-US" sz="1100" dirty="0"/>
          </a:p>
        </p:txBody>
      </p:sp>
      <p:sp>
        <p:nvSpPr>
          <p:cNvPr id="20" name="Shape 18"/>
          <p:cNvSpPr/>
          <p:nvPr/>
        </p:nvSpPr>
        <p:spPr>
          <a:xfrm>
            <a:off x="3522726" y="2322576"/>
            <a:ext cx="2736342" cy="201168"/>
          </a:xfrm>
          <a:prstGeom prst="rect">
            <a:avLst/>
          </a:prstGeom>
          <a:solidFill>
            <a:srgbClr val="4F4A42">
              <a:alpha val="45000"/>
            </a:srgbClr>
          </a:solidFill>
          <a:ln/>
        </p:spPr>
      </p:sp>
      <p:sp>
        <p:nvSpPr>
          <p:cNvPr id="21" name="Shape 19"/>
          <p:cNvSpPr/>
          <p:nvPr/>
        </p:nvSpPr>
        <p:spPr>
          <a:xfrm>
            <a:off x="4781169" y="2313432"/>
            <a:ext cx="219456" cy="219456"/>
          </a:xfrm>
          <a:prstGeom prst="ellipse">
            <a:avLst/>
          </a:prstGeom>
          <a:solidFill>
            <a:srgbClr val="4F4A42"/>
          </a:solidFill>
          <a:ln w="19050">
            <a:solidFill>
              <a:srgbClr val="F7F3E8"/>
            </a:solidFill>
            <a:prstDash val="solid"/>
          </a:ln>
        </p:spPr>
      </p:sp>
      <p:sp>
        <p:nvSpPr>
          <p:cNvPr id="22" name="Text 20"/>
          <p:cNvSpPr txBox="1"/>
          <p:nvPr/>
        </p:nvSpPr>
        <p:spPr>
          <a:xfrm>
            <a:off x="4159377" y="1965960"/>
            <a:ext cx="1463040" cy="256032"/>
          </a:xfrm>
          <a:prstGeom prst="rect">
            <a:avLst/>
          </a:prstGeom>
          <a:noFill/>
          <a:ln/>
        </p:spPr>
        <p:txBody>
          <a:bodyPr wrap="square" lIns="0" tIns="0" rIns="0" bIns="0" rtlCol="0" anchor="t"/>
          <a:lstStyle/>
          <a:p>
            <a:pPr algn="ctr" indent="0" marL="0">
              <a:buNone/>
            </a:pPr>
            <a:r>
              <a:rPr lang="en-US" sz="1300" b="1" dirty="0">
                <a:solidFill>
                  <a:schemeClr val="tx1"/>
                </a:solidFill>
              </a:rPr>
              <a:t>49.5 ± 28.5</a:t>
            </a:r>
            <a:endParaRPr lang="en-US" sz="1300" dirty="0"/>
          </a:p>
        </p:txBody>
      </p:sp>
      <p:sp>
        <p:nvSpPr>
          <p:cNvPr id="23" name="Text 21"/>
          <p:cNvSpPr txBox="1"/>
          <p:nvPr/>
        </p:nvSpPr>
        <p:spPr>
          <a:xfrm>
            <a:off x="761695" y="3182112"/>
            <a:ext cx="1600200" cy="274320"/>
          </a:xfrm>
          <a:prstGeom prst="rect">
            <a:avLst/>
          </a:prstGeom>
          <a:noFill/>
          <a:ln/>
        </p:spPr>
        <p:txBody>
          <a:bodyPr wrap="square" lIns="0" tIns="0" rIns="0" bIns="0" rtlCol="0" anchor="t"/>
          <a:lstStyle/>
          <a:p>
            <a:pPr algn="r" indent="0" marL="0">
              <a:buNone/>
            </a:pPr>
            <a:r>
              <a:rPr lang="en-US" sz="1500" b="1" dirty="0">
                <a:solidFill>
                  <a:schemeClr val="accent1"/>
                </a:solidFill>
              </a:rPr>
              <a:t>DP-ES (ours)</a:t>
            </a:r>
            <a:endParaRPr lang="en-US" sz="1500" dirty="0"/>
          </a:p>
        </p:txBody>
      </p:sp>
      <p:sp>
        <p:nvSpPr>
          <p:cNvPr id="24" name="Text 22"/>
          <p:cNvSpPr txBox="1"/>
          <p:nvPr/>
        </p:nvSpPr>
        <p:spPr>
          <a:xfrm>
            <a:off x="487375" y="3493008"/>
            <a:ext cx="1874520" cy="228600"/>
          </a:xfrm>
          <a:prstGeom prst="rect">
            <a:avLst/>
          </a:prstGeom>
          <a:noFill/>
          <a:ln/>
        </p:spPr>
        <p:txBody>
          <a:bodyPr wrap="square" lIns="0" tIns="0" rIns="0" bIns="0" rtlCol="0" anchor="t"/>
          <a:lstStyle/>
          <a:p>
            <a:pPr algn="r" indent="0" marL="0">
              <a:buNone/>
            </a:pPr>
            <a:r>
              <a:rPr lang="en-US" sz="1100" dirty="0">
                <a:solidFill>
                  <a:schemeClr val="tx2"/>
                </a:solidFill>
                <a:latin typeface="Cambria" pitchFamily="34" charset="0"/>
                <a:ea typeface="Cambria" pitchFamily="34" charset="-122"/>
                <a:cs typeface="Cambria" pitchFamily="34" charset="-120"/>
              </a:rPr>
              <a:t>ε</a:t>
            </a:r>
            <a:r>
              <a:rPr lang="en-US" sz="1100" dirty="0">
                <a:solidFill>
                  <a:schemeClr val="tx2"/>
                </a:solidFill>
              </a:rPr>
              <a:t> </a:t>
            </a:r>
            <a:r>
              <a:rPr lang="en-US" sz="1100" dirty="0">
                <a:solidFill>
                  <a:schemeClr val="tx2"/>
                </a:solidFill>
                <a:latin typeface="Cambria" pitchFamily="34" charset="0"/>
                <a:ea typeface="Cambria" pitchFamily="34" charset="-122"/>
                <a:cs typeface="Cambria" pitchFamily="34" charset="-120"/>
              </a:rPr>
              <a:t>≤</a:t>
            </a:r>
            <a:r>
              <a:rPr lang="en-US" sz="1100" dirty="0">
                <a:solidFill>
                  <a:schemeClr val="tx2"/>
                </a:solidFill>
              </a:rPr>
              <a:t> 0.71</a:t>
            </a:r>
            <a:endParaRPr lang="en-US" sz="1100" dirty="0"/>
          </a:p>
        </p:txBody>
      </p:sp>
      <p:sp>
        <p:nvSpPr>
          <p:cNvPr id="25" name="Shape 23"/>
          <p:cNvSpPr/>
          <p:nvPr/>
        </p:nvSpPr>
        <p:spPr>
          <a:xfrm>
            <a:off x="6590309" y="3374136"/>
            <a:ext cx="307238" cy="201168"/>
          </a:xfrm>
          <a:prstGeom prst="rect">
            <a:avLst/>
          </a:prstGeom>
          <a:solidFill>
            <a:srgbClr val="8C2F39">
              <a:alpha val="45000"/>
            </a:srgbClr>
          </a:solidFill>
          <a:ln/>
        </p:spPr>
      </p:sp>
      <p:sp>
        <p:nvSpPr>
          <p:cNvPr id="26" name="Shape 24"/>
          <p:cNvSpPr/>
          <p:nvPr/>
        </p:nvSpPr>
        <p:spPr>
          <a:xfrm>
            <a:off x="6634201" y="3364992"/>
            <a:ext cx="219456" cy="219456"/>
          </a:xfrm>
          <a:prstGeom prst="ellipse">
            <a:avLst/>
          </a:prstGeom>
          <a:solidFill>
            <a:srgbClr val="8C2F39"/>
          </a:solidFill>
          <a:ln w="19050">
            <a:solidFill>
              <a:srgbClr val="F7F3E8"/>
            </a:solidFill>
            <a:prstDash val="solid"/>
          </a:ln>
        </p:spPr>
      </p:sp>
      <p:sp>
        <p:nvSpPr>
          <p:cNvPr id="27" name="Text 25"/>
          <p:cNvSpPr txBox="1"/>
          <p:nvPr/>
        </p:nvSpPr>
        <p:spPr>
          <a:xfrm>
            <a:off x="6012409" y="3017520"/>
            <a:ext cx="1463040" cy="256032"/>
          </a:xfrm>
          <a:prstGeom prst="rect">
            <a:avLst/>
          </a:prstGeom>
          <a:noFill/>
          <a:ln/>
        </p:spPr>
        <p:txBody>
          <a:bodyPr wrap="square" lIns="0" tIns="0" rIns="0" bIns="0" rtlCol="0" anchor="t"/>
          <a:lstStyle/>
          <a:p>
            <a:pPr algn="ctr" indent="0" marL="0">
              <a:buNone/>
            </a:pPr>
            <a:r>
              <a:rPr lang="en-US" sz="1300" b="1" dirty="0">
                <a:solidFill>
                  <a:schemeClr val="accent1"/>
                </a:solidFill>
              </a:rPr>
              <a:t>88.1 ± 3.2</a:t>
            </a:r>
            <a:endParaRPr lang="en-US" sz="1300" dirty="0"/>
          </a:p>
        </p:txBody>
      </p:sp>
      <p:sp>
        <p:nvSpPr>
          <p:cNvPr id="28" name="Text 26"/>
          <p:cNvSpPr txBox="1"/>
          <p:nvPr/>
        </p:nvSpPr>
        <p:spPr>
          <a:xfrm>
            <a:off x="761695" y="4233672"/>
            <a:ext cx="1600200" cy="274320"/>
          </a:xfrm>
          <a:prstGeom prst="rect">
            <a:avLst/>
          </a:prstGeom>
          <a:noFill/>
          <a:ln/>
        </p:spPr>
        <p:txBody>
          <a:bodyPr wrap="square" lIns="0" tIns="0" rIns="0" bIns="0" rtlCol="0" anchor="t"/>
          <a:lstStyle/>
          <a:p>
            <a:pPr algn="r" indent="0" marL="0">
              <a:buNone/>
            </a:pPr>
            <a:r>
              <a:rPr lang="en-US" sz="1500" b="1" dirty="0">
                <a:solidFill>
                  <a:schemeClr val="tx1"/>
                </a:solidFill>
              </a:rPr>
              <a:t>Non-DP</a:t>
            </a:r>
            <a:endParaRPr lang="en-US" sz="1500" dirty="0"/>
          </a:p>
        </p:txBody>
      </p:sp>
      <p:sp>
        <p:nvSpPr>
          <p:cNvPr id="29" name="Text 27"/>
          <p:cNvSpPr txBox="1"/>
          <p:nvPr/>
        </p:nvSpPr>
        <p:spPr>
          <a:xfrm>
            <a:off x="487375" y="4544568"/>
            <a:ext cx="1874520" cy="228600"/>
          </a:xfrm>
          <a:prstGeom prst="rect">
            <a:avLst/>
          </a:prstGeom>
          <a:noFill/>
          <a:ln/>
        </p:spPr>
        <p:txBody>
          <a:bodyPr wrap="square" lIns="0" tIns="0" rIns="0" bIns="0" rtlCol="0" anchor="t"/>
          <a:lstStyle/>
          <a:p>
            <a:pPr algn="r" indent="0" marL="0">
              <a:buNone/>
            </a:pPr>
            <a:r>
              <a:rPr lang="en-US" sz="1100" dirty="0">
                <a:solidFill>
                  <a:schemeClr val="tx2"/>
                </a:solidFill>
              </a:rPr>
              <a:t>TextGrad reference</a:t>
            </a:r>
            <a:endParaRPr lang="en-US" sz="1100" dirty="0"/>
          </a:p>
        </p:txBody>
      </p:sp>
      <p:sp>
        <p:nvSpPr>
          <p:cNvPr id="30" name="Shape 28"/>
          <p:cNvSpPr/>
          <p:nvPr/>
        </p:nvSpPr>
        <p:spPr>
          <a:xfrm>
            <a:off x="7031965" y="4425696"/>
            <a:ext cx="86411" cy="201168"/>
          </a:xfrm>
          <a:prstGeom prst="rect">
            <a:avLst/>
          </a:prstGeom>
          <a:solidFill>
            <a:srgbClr val="C9C1AF">
              <a:alpha val="45000"/>
            </a:srgbClr>
          </a:solidFill>
          <a:ln/>
        </p:spPr>
      </p:sp>
      <p:sp>
        <p:nvSpPr>
          <p:cNvPr id="31" name="Shape 29"/>
          <p:cNvSpPr/>
          <p:nvPr/>
        </p:nvSpPr>
        <p:spPr>
          <a:xfrm>
            <a:off x="6965442" y="4416552"/>
            <a:ext cx="219456" cy="219456"/>
          </a:xfrm>
          <a:prstGeom prst="ellipse">
            <a:avLst/>
          </a:prstGeom>
          <a:solidFill>
            <a:srgbClr val="C9C1AF"/>
          </a:solidFill>
          <a:ln w="19050">
            <a:solidFill>
              <a:srgbClr val="F7F3E8"/>
            </a:solidFill>
            <a:prstDash val="solid"/>
          </a:ln>
        </p:spPr>
      </p:sp>
      <p:sp>
        <p:nvSpPr>
          <p:cNvPr id="32" name="Text 30"/>
          <p:cNvSpPr txBox="1"/>
          <p:nvPr/>
        </p:nvSpPr>
        <p:spPr>
          <a:xfrm>
            <a:off x="6343650" y="4069080"/>
            <a:ext cx="1463040" cy="256032"/>
          </a:xfrm>
          <a:prstGeom prst="rect">
            <a:avLst/>
          </a:prstGeom>
          <a:noFill/>
          <a:ln/>
        </p:spPr>
        <p:txBody>
          <a:bodyPr wrap="square" lIns="0" tIns="0" rIns="0" bIns="0" rtlCol="0" anchor="t"/>
          <a:lstStyle/>
          <a:p>
            <a:pPr algn="ctr" indent="0" marL="0">
              <a:buNone/>
            </a:pPr>
            <a:r>
              <a:rPr lang="en-US" sz="1300" b="1" dirty="0">
                <a:solidFill>
                  <a:schemeClr val="tx1"/>
                </a:solidFill>
              </a:rPr>
              <a:t>95.0 ± 0.9</a:t>
            </a:r>
            <a:endParaRPr lang="en-US" sz="1300" dirty="0"/>
          </a:p>
        </p:txBody>
      </p:sp>
      <p:sp>
        <p:nvSpPr>
          <p:cNvPr id="33" name="Shape 31"/>
          <p:cNvSpPr/>
          <p:nvPr/>
        </p:nvSpPr>
        <p:spPr>
          <a:xfrm>
            <a:off x="8001000" y="1600200"/>
            <a:ext cx="12802" cy="4206240"/>
          </a:xfrm>
          <a:prstGeom prst="rect">
            <a:avLst/>
          </a:prstGeom>
          <a:solidFill>
            <a:schemeClr val="accent4"/>
          </a:solidFill>
          <a:ln/>
        </p:spPr>
      </p:sp>
      <p:sp>
        <p:nvSpPr>
          <p:cNvPr id="34" name="Text 32"/>
          <p:cNvSpPr txBox="1"/>
          <p:nvPr/>
        </p:nvSpPr>
        <p:spPr>
          <a:xfrm>
            <a:off x="8366760" y="1600200"/>
            <a:ext cx="3063240" cy="228600"/>
          </a:xfrm>
          <a:prstGeom prst="rect">
            <a:avLst/>
          </a:prstGeom>
          <a:noFill/>
          <a:ln/>
        </p:spPr>
        <p:txBody>
          <a:bodyPr wrap="square" lIns="0" tIns="0" rIns="0" bIns="0" rtlCol="0" anchor="t"/>
          <a:lstStyle/>
          <a:p>
            <a:pPr indent="0" marL="0">
              <a:buNone/>
            </a:pPr>
            <a:r>
              <a:rPr lang="en-US" sz="1100" spc="200" kern="0" dirty="0">
                <a:solidFill>
                  <a:schemeClr val="accent1"/>
                </a:solidFill>
              </a:rPr>
              <a:t>RUN-TO-RUN SPREAD</a:t>
            </a:r>
            <a:endParaRPr lang="en-US" sz="1100" dirty="0"/>
          </a:p>
        </p:txBody>
      </p:sp>
      <p:sp>
        <p:nvSpPr>
          <p:cNvPr id="35" name="Text 33"/>
          <p:cNvSpPr txBox="1"/>
          <p:nvPr/>
        </p:nvSpPr>
        <p:spPr>
          <a:xfrm>
            <a:off x="8366760" y="1874520"/>
            <a:ext cx="3063240" cy="868680"/>
          </a:xfrm>
          <a:prstGeom prst="rect">
            <a:avLst/>
          </a:prstGeom>
          <a:noFill/>
          <a:ln/>
        </p:spPr>
        <p:txBody>
          <a:bodyPr wrap="square" lIns="0" tIns="0" rIns="0" bIns="0" rtlCol="0" anchor="t"/>
          <a:lstStyle/>
          <a:p>
            <a:pPr indent="0" marL="0">
              <a:buNone/>
            </a:pPr>
            <a:r>
              <a:rPr lang="en-US" sz="4800" dirty="0">
                <a:solidFill>
                  <a:schemeClr val="tx1"/>
                </a:solidFill>
                <a:latin typeface="+mj-lt" pitchFamily="34" charset="0"/>
                <a:ea typeface="+mj-lt" pitchFamily="34" charset="-122"/>
                <a:cs typeface="+mj-lt" pitchFamily="34" charset="-120"/>
              </a:rPr>
              <a:t>±28.5 pp</a:t>
            </a:r>
            <a:endParaRPr lang="en-US" sz="4800" dirty="0"/>
          </a:p>
        </p:txBody>
      </p:sp>
      <p:sp>
        <p:nvSpPr>
          <p:cNvPr id="36" name="Text 34"/>
          <p:cNvSpPr txBox="1"/>
          <p:nvPr/>
        </p:nvSpPr>
        <p:spPr>
          <a:xfrm>
            <a:off x="8366760" y="2788920"/>
            <a:ext cx="3063240" cy="68580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DP-OPT standard deviation on GSM8K: one run may succeed, the next may collapse.</a:t>
            </a:r>
            <a:endParaRPr lang="en-US" sz="1250" dirty="0"/>
          </a:p>
        </p:txBody>
      </p:sp>
      <p:sp>
        <p:nvSpPr>
          <p:cNvPr id="37" name="Text 35"/>
          <p:cNvSpPr txBox="1"/>
          <p:nvPr/>
        </p:nvSpPr>
        <p:spPr>
          <a:xfrm>
            <a:off x="8366760" y="3703320"/>
            <a:ext cx="3063240" cy="228600"/>
          </a:xfrm>
          <a:prstGeom prst="rect">
            <a:avLst/>
          </a:prstGeom>
          <a:noFill/>
          <a:ln/>
        </p:spPr>
        <p:txBody>
          <a:bodyPr wrap="square" lIns="0" tIns="0" rIns="0" bIns="0" rtlCol="0" anchor="t"/>
          <a:lstStyle/>
          <a:p>
            <a:pPr indent="0" marL="0">
              <a:buNone/>
            </a:pPr>
            <a:r>
              <a:rPr lang="en-US" sz="1100" spc="200" kern="0" dirty="0">
                <a:solidFill>
                  <a:schemeClr val="accent1"/>
                </a:solidFill>
              </a:rPr>
              <a:t>WITH DP-ES</a:t>
            </a:r>
            <a:endParaRPr lang="en-US" sz="1100" dirty="0"/>
          </a:p>
        </p:txBody>
      </p:sp>
      <p:sp>
        <p:nvSpPr>
          <p:cNvPr id="38" name="Text 36"/>
          <p:cNvSpPr txBox="1"/>
          <p:nvPr/>
        </p:nvSpPr>
        <p:spPr>
          <a:xfrm>
            <a:off x="8366760" y="3977640"/>
            <a:ext cx="3063240" cy="777240"/>
          </a:xfrm>
          <a:prstGeom prst="rect">
            <a:avLst/>
          </a:prstGeom>
          <a:noFill/>
          <a:ln/>
        </p:spPr>
        <p:txBody>
          <a:bodyPr wrap="square" lIns="0" tIns="0" rIns="0" bIns="0" rtlCol="0" anchor="t"/>
          <a:lstStyle/>
          <a:p>
            <a:pPr indent="0" marL="0">
              <a:buNone/>
            </a:pPr>
            <a:r>
              <a:rPr lang="en-US" sz="4000" dirty="0">
                <a:solidFill>
                  <a:schemeClr val="accent1"/>
                </a:solidFill>
                <a:latin typeface="Cambria" pitchFamily="34" charset="0"/>
                <a:ea typeface="Cambria" pitchFamily="34" charset="-122"/>
                <a:cs typeface="Cambria" pitchFamily="34" charset="-120"/>
              </a:rPr>
              <a:t>≈</a:t>
            </a:r>
            <a:r>
              <a:rPr lang="en-US" sz="4000" dirty="0">
                <a:solidFill>
                  <a:schemeClr val="accent1"/>
                </a:solidFill>
                <a:latin typeface="+mj-lt" pitchFamily="34" charset="0"/>
                <a:ea typeface="+mj-lt" pitchFamily="34" charset="-122"/>
                <a:cs typeface="+mj-lt" pitchFamily="34" charset="-120"/>
              </a:rPr>
              <a:t> 9× lower</a:t>
            </a:r>
            <a:endParaRPr lang="en-US" sz="4000" dirty="0"/>
          </a:p>
        </p:txBody>
      </p:sp>
      <p:sp>
        <p:nvSpPr>
          <p:cNvPr id="39" name="Text 37"/>
          <p:cNvSpPr txBox="1"/>
          <p:nvPr/>
        </p:nvSpPr>
        <p:spPr>
          <a:xfrm>
            <a:off x="8366760" y="4800600"/>
            <a:ext cx="3063240" cy="54864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standard deviation (3.2 pp) under a tighter recomputed bound.</a:t>
            </a:r>
            <a:endParaRPr lang="en-US" sz="1250" dirty="0"/>
          </a:p>
        </p:txBody>
      </p:sp>
      <p:sp>
        <p:nvSpPr>
          <p:cNvPr id="40" name="Text 38"/>
          <p:cNvSpPr txBox="1"/>
          <p:nvPr/>
        </p:nvSpPr>
        <p:spPr>
          <a:xfrm>
            <a:off x="761695" y="5897880"/>
            <a:ext cx="10668305" cy="274320"/>
          </a:xfrm>
          <a:prstGeom prst="rect">
            <a:avLst/>
          </a:prstGeom>
          <a:noFill/>
          <a:ln/>
        </p:spPr>
        <p:txBody>
          <a:bodyPr wrap="square" lIns="0" tIns="0" rIns="0" bIns="0" rtlCol="0" anchor="t"/>
          <a:lstStyle/>
          <a:p>
            <a:pPr indent="0" marL="0">
              <a:buNone/>
            </a:pPr>
            <a:r>
              <a:rPr lang="en-US" sz="1050" dirty="0">
                <a:solidFill>
                  <a:schemeClr val="tx2"/>
                </a:solidFill>
              </a:rPr>
              <a:t>DP-OPT: black-box adaptation of Hong et al. (ICLR 2024). LLM: DeepSeek-V3.2. We report full distributions, without a post-hoc failure threshold.</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01 · PROBLEM</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Diagnosis: why token-level DP construction collapses</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6 / 18</a:t>
            </a:r>
            <a:endParaRPr lang="en-US" sz="1000" dirty="0"/>
          </a:p>
        </p:txBody>
      </p:sp>
      <p:sp>
        <p:nvSpPr>
          <p:cNvPr id="5" name="Text 3"/>
          <p:cNvSpPr txBox="1"/>
          <p:nvPr/>
        </p:nvSpPr>
        <p:spPr>
          <a:xfrm>
            <a:off x="761695" y="1463040"/>
            <a:ext cx="6035040" cy="2148840"/>
          </a:xfrm>
          <a:prstGeom prst="rect">
            <a:avLst/>
          </a:prstGeom>
          <a:noFill/>
          <a:ln/>
        </p:spPr>
        <p:txBody>
          <a:bodyPr wrap="square" lIns="0" tIns="0" rIns="0" bIns="0" rtlCol="0" anchor="t"/>
          <a:lstStyle/>
          <a:p>
            <a:pPr indent="0" marL="0">
              <a:lnSpc>
                <a:spcPct val="125000"/>
              </a:lnSpc>
              <a:buNone/>
            </a:pPr>
            <a:r>
              <a:rPr lang="en-US" sz="1450" b="1" dirty="0">
                <a:solidFill>
                  <a:schemeClr val="tx1"/>
                </a:solidFill>
              </a:rPr>
              <a:t>Greedy token-by-token construction</a:t>
            </a:r>
            <a:r>
              <a:rPr lang="en-US" sz="1450" dirty="0">
                <a:solidFill>
                  <a:schemeClr val="tx1"/>
                </a:solidFill>
              </a:rPr>
              <a:t> samples each next token from privately aggregated histogram counts.</a:t>
            </a:r>
            <a:endParaRPr lang="en-US" sz="1450" dirty="0"/>
          </a:p>
          <a:p>
            <a:pPr indent="0" marL="0">
              <a:lnSpc>
                <a:spcPct val="125000"/>
              </a:lnSpc>
              <a:spcBef>
                <a:spcPts val="600"/>
              </a:spcBef>
              <a:buNone/>
            </a:pPr>
            <a:r>
              <a:rPr lang="en-US" sz="1450" b="1" dirty="0">
                <a:solidFill>
                  <a:schemeClr val="tx1"/>
                </a:solidFill>
              </a:rPr>
              <a:t>Noise-driven, irreversible choices.</a:t>
            </a:r>
            <a:r>
              <a:rPr lang="en-US" sz="1450" dirty="0">
                <a:solidFill>
                  <a:schemeClr val="tx1"/>
                </a:solidFill>
              </a:rPr>
              <a:t> Privacy noise can flip a token choice; with no backtracking, one early decision redirects all later tokens.</a:t>
            </a:r>
            <a:endParaRPr lang="en-US" sz="1450" dirty="0"/>
          </a:p>
          <a:p>
            <a:pPr indent="0" marL="0">
              <a:lnSpc>
                <a:spcPct val="125000"/>
              </a:lnSpc>
              <a:spcBef>
                <a:spcPts val="600"/>
              </a:spcBef>
              <a:buNone/>
            </a:pPr>
            <a:r>
              <a:rPr lang="en-US" sz="1450" b="1" dirty="0">
                <a:solidFill>
                  <a:schemeClr val="tx1"/>
                </a:solidFill>
              </a:rPr>
              <a:t>Template drift.</a:t>
            </a:r>
            <a:r>
              <a:rPr lang="en-US" sz="1450" dirty="0">
                <a:solidFill>
                  <a:schemeClr val="tx1"/>
                </a:solidFill>
              </a:rPr>
              <a:t> The constructed prompt silently loses the structural placeholder the task needs.</a:t>
            </a:r>
            <a:endParaRPr lang="en-US" sz="1450" dirty="0"/>
          </a:p>
        </p:txBody>
      </p:sp>
      <p:sp>
        <p:nvSpPr>
          <p:cNvPr id="6" name="Text 4"/>
          <p:cNvSpPr txBox="1"/>
          <p:nvPr/>
        </p:nvSpPr>
        <p:spPr>
          <a:xfrm>
            <a:off x="7366406" y="1417320"/>
            <a:ext cx="4063594" cy="777240"/>
          </a:xfrm>
          <a:prstGeom prst="rect">
            <a:avLst/>
          </a:prstGeom>
          <a:noFill/>
          <a:ln/>
        </p:spPr>
        <p:txBody>
          <a:bodyPr wrap="square" lIns="0" tIns="0" rIns="0" bIns="0" rtlCol="0" anchor="t"/>
          <a:lstStyle/>
          <a:p>
            <a:pPr indent="0" marL="0">
              <a:buNone/>
            </a:pPr>
            <a:r>
              <a:rPr lang="en-US" sz="4800" dirty="0">
                <a:solidFill>
                  <a:schemeClr val="accent1"/>
                </a:solidFill>
                <a:latin typeface="+mj-lt" pitchFamily="34" charset="0"/>
                <a:ea typeface="+mj-lt" pitchFamily="34" charset="-122"/>
                <a:cs typeface="+mj-lt" pitchFamily="34" charset="-120"/>
              </a:rPr>
              <a:t>21 / 33</a:t>
            </a:r>
            <a:endParaRPr lang="en-US" sz="4800" dirty="0"/>
          </a:p>
        </p:txBody>
      </p:sp>
      <p:sp>
        <p:nvSpPr>
          <p:cNvPr id="7" name="Text 5"/>
          <p:cNvSpPr txBox="1"/>
          <p:nvPr/>
        </p:nvSpPr>
        <p:spPr>
          <a:xfrm>
            <a:off x="7366406" y="2240280"/>
            <a:ext cx="4063594" cy="123444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candidate prompts omit the </a:t>
            </a:r>
            <a:r>
              <a:rPr lang="en-US" sz="1250" dirty="0">
                <a:solidFill>
                  <a:schemeClr val="tx2"/>
                </a:solidFill>
                <a:latin typeface="JetBrains Mono" pitchFamily="34" charset="0"/>
                <a:ea typeface="JetBrains Mono" pitchFamily="34" charset="-122"/>
                <a:cs typeface="JetBrains Mono" pitchFamily="34" charset="-120"/>
              </a:rPr>
              <a:t>{question}</a:t>
            </a:r>
            <a:r>
              <a:rPr lang="en-US" sz="1250" dirty="0">
                <a:solidFill>
                  <a:schemeClr val="tx2"/>
                </a:solidFill>
              </a:rPr>
              <a:t> placeholder in </a:t>
            </a:r>
            <a:r>
              <a:rPr lang="en-US" sz="1250" b="1" dirty="0">
                <a:solidFill>
                  <a:schemeClr val="tx2"/>
                </a:solidFill>
              </a:rPr>
              <a:t>one representative logged GSM8K trajectory</a:t>
            </a:r>
            <a:r>
              <a:rPr lang="en-US" sz="1250" dirty="0">
                <a:solidFill>
                  <a:schemeClr val="tx2"/>
                </a:solidFill>
              </a:rPr>
              <a:t> (2/3 selected prompts omit it) — evidence of </a:t>
            </a:r>
            <a:r>
              <a:rPr lang="en-US" sz="1250" b="1" dirty="0">
                <a:solidFill>
                  <a:schemeClr val="tx2"/>
                </a:solidFill>
              </a:rPr>
              <a:t>template drift</a:t>
            </a:r>
            <a:r>
              <a:rPr lang="en-US" sz="1250" dirty="0">
                <a:solidFill>
                  <a:schemeClr val="tx2"/>
                </a:solidFill>
              </a:rPr>
              <a:t>, not a failure rate.</a:t>
            </a:r>
            <a:endParaRPr lang="en-US" sz="1250" dirty="0"/>
          </a:p>
        </p:txBody>
      </p:sp>
      <p:sp>
        <p:nvSpPr>
          <p:cNvPr id="8" name="Shape 6"/>
          <p:cNvSpPr/>
          <p:nvPr/>
        </p:nvSpPr>
        <p:spPr>
          <a:xfrm>
            <a:off x="761695" y="3767328"/>
            <a:ext cx="3342742" cy="2148840"/>
          </a:xfrm>
          <a:prstGeom prst="rect">
            <a:avLst/>
          </a:prstGeom>
          <a:ln w="12700">
            <a:solidFill>
              <a:srgbClr val="CFC8B8"/>
            </a:solidFill>
            <a:prstDash val="solid"/>
          </a:ln>
        </p:spPr>
      </p:sp>
      <p:sp>
        <p:nvSpPr>
          <p:cNvPr id="9" name="Text 7"/>
          <p:cNvSpPr txBox="1"/>
          <p:nvPr/>
        </p:nvSpPr>
        <p:spPr>
          <a:xfrm>
            <a:off x="944575" y="3931920"/>
            <a:ext cx="2976982"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ITER 0 · SELECTED</a:t>
            </a:r>
            <a:endParaRPr lang="en-US" sz="1050" dirty="0"/>
          </a:p>
        </p:txBody>
      </p:sp>
      <p:sp>
        <p:nvSpPr>
          <p:cNvPr id="10" name="Text 8"/>
          <p:cNvSpPr txBox="1"/>
          <p:nvPr/>
        </p:nvSpPr>
        <p:spPr>
          <a:xfrm>
            <a:off x="944575" y="4224528"/>
            <a:ext cx="2976982" cy="1188720"/>
          </a:xfrm>
          <a:prstGeom prst="rect">
            <a:avLst/>
          </a:prstGeom>
          <a:noFill/>
          <a:ln/>
        </p:spPr>
        <p:txBody>
          <a:bodyPr wrap="square" lIns="0" tIns="0" rIns="0" bIns="0" rtlCol="0" anchor="t"/>
          <a:lstStyle/>
          <a:p>
            <a:pPr indent="0" marL="0">
              <a:lnSpc>
                <a:spcPct val="115000"/>
              </a:lnSpc>
              <a:buNone/>
            </a:pPr>
            <a:r>
              <a:rPr lang="en-US" sz="1400" i="1" dirty="0">
                <a:solidFill>
                  <a:schemeClr val="tx1"/>
                </a:solidFill>
                <a:latin typeface="+mj-lt" pitchFamily="34" charset="0"/>
                <a:ea typeface="+mj-lt" pitchFamily="34" charset="-122"/>
                <a:cs typeface="+mj-lt" pitchFamily="34" charset="-120"/>
              </a:rPr>
              <a:t>Carefully solve the following math question and provide a clear explanation of your reasoning: </a:t>
            </a:r>
            <a:r>
              <a:rPr lang="en-US" sz="1400" b="1" i="1" dirty="0">
                <a:solidFill>
                  <a:schemeClr val="accent1"/>
                </a:solidFill>
                <a:latin typeface="+mj-lt" pitchFamily="34" charset="0"/>
                <a:ea typeface="+mj-lt" pitchFamily="34" charset="-122"/>
                <a:cs typeface="+mj-lt" pitchFamily="34" charset="-120"/>
              </a:rPr>
              <a:t>{question}</a:t>
            </a:r>
            <a:endParaRPr lang="en-US" sz="1400" dirty="0"/>
          </a:p>
        </p:txBody>
      </p:sp>
      <p:sp>
        <p:nvSpPr>
          <p:cNvPr id="11" name="Text 9"/>
          <p:cNvSpPr txBox="1"/>
          <p:nvPr/>
        </p:nvSpPr>
        <p:spPr>
          <a:xfrm>
            <a:off x="944575" y="5504688"/>
            <a:ext cx="1600200" cy="256032"/>
          </a:xfrm>
          <a:prstGeom prst="rect">
            <a:avLst/>
          </a:prstGeom>
          <a:ln w="12700">
            <a:solidFill>
              <a:srgbClr val="8C2F39"/>
            </a:solidFill>
          </a:ln>
        </p:spPr>
        <p:txBody>
          <a:bodyPr wrap="square" lIns="0" tIns="0" rIns="0" bIns="0" rtlCol="0" anchor="ctr"/>
          <a:lstStyle/>
          <a:p>
            <a:pPr algn="ctr" indent="0" marL="0">
              <a:buNone/>
            </a:pPr>
            <a:r>
              <a:rPr lang="en-US" sz="1000" b="1" spc="200" kern="0" dirty="0">
                <a:solidFill>
                  <a:schemeClr val="accent1"/>
                </a:solidFill>
              </a:rPr>
              <a:t>{QUESTION} KEPT</a:t>
            </a:r>
            <a:endParaRPr lang="en-US" sz="1000" dirty="0"/>
          </a:p>
        </p:txBody>
      </p:sp>
      <p:sp>
        <p:nvSpPr>
          <p:cNvPr id="12" name="Text 10"/>
          <p:cNvSpPr txBox="1"/>
          <p:nvPr/>
        </p:nvSpPr>
        <p:spPr>
          <a:xfrm>
            <a:off x="4122725" y="4658868"/>
            <a:ext cx="283464" cy="365760"/>
          </a:xfrm>
          <a:prstGeom prst="rect">
            <a:avLst/>
          </a:prstGeom>
          <a:noFill/>
          <a:ln/>
        </p:spPr>
        <p:txBody>
          <a:bodyPr wrap="square" lIns="0" tIns="0" rIns="0" bIns="0" rtlCol="0" anchor="ctr"/>
          <a:lstStyle/>
          <a:p>
            <a:pPr algn="ctr" indent="0" marL="0">
              <a:buNone/>
            </a:pPr>
            <a:r>
              <a:rPr lang="en-US" sz="1800" dirty="0">
                <a:solidFill>
                  <a:schemeClr val="accent3"/>
                </a:solidFill>
                <a:latin typeface="Cambria" pitchFamily="34" charset="0"/>
                <a:ea typeface="Cambria" pitchFamily="34" charset="-122"/>
                <a:cs typeface="Cambria" pitchFamily="34" charset="-120"/>
              </a:rPr>
              <a:t>→</a:t>
            </a:r>
            <a:endParaRPr lang="en-US" sz="1800" dirty="0"/>
          </a:p>
        </p:txBody>
      </p:sp>
      <p:sp>
        <p:nvSpPr>
          <p:cNvPr id="13" name="Shape 11"/>
          <p:cNvSpPr/>
          <p:nvPr/>
        </p:nvSpPr>
        <p:spPr>
          <a:xfrm>
            <a:off x="4424477" y="3767328"/>
            <a:ext cx="3342742" cy="2148840"/>
          </a:xfrm>
          <a:prstGeom prst="rect">
            <a:avLst/>
          </a:prstGeom>
          <a:solidFill>
            <a:srgbClr val="EFE9DA"/>
          </a:solidFill>
          <a:ln w="12700">
            <a:solidFill>
              <a:srgbClr val="CFC8B8"/>
            </a:solidFill>
            <a:prstDash val="solid"/>
          </a:ln>
        </p:spPr>
      </p:sp>
      <p:sp>
        <p:nvSpPr>
          <p:cNvPr id="14" name="Text 12"/>
          <p:cNvSpPr txBox="1"/>
          <p:nvPr/>
        </p:nvSpPr>
        <p:spPr>
          <a:xfrm>
            <a:off x="4607357" y="3931920"/>
            <a:ext cx="2976982"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ITER 1 · SELECTED</a:t>
            </a:r>
            <a:endParaRPr lang="en-US" sz="1050" dirty="0"/>
          </a:p>
        </p:txBody>
      </p:sp>
      <p:sp>
        <p:nvSpPr>
          <p:cNvPr id="15" name="Text 13"/>
          <p:cNvSpPr txBox="1"/>
          <p:nvPr/>
        </p:nvSpPr>
        <p:spPr>
          <a:xfrm>
            <a:off x="4607357" y="4224528"/>
            <a:ext cx="2976982" cy="1188720"/>
          </a:xfrm>
          <a:prstGeom prst="rect">
            <a:avLst/>
          </a:prstGeom>
          <a:noFill/>
          <a:ln/>
        </p:spPr>
        <p:txBody>
          <a:bodyPr wrap="square" lIns="0" tIns="0" rIns="0" bIns="0" rtlCol="0" anchor="t"/>
          <a:lstStyle/>
          <a:p>
            <a:pPr indent="0" marL="0">
              <a:lnSpc>
                <a:spcPct val="115000"/>
              </a:lnSpc>
              <a:buNone/>
            </a:pPr>
            <a:r>
              <a:rPr lang="en-US" sz="1400" i="1" dirty="0">
                <a:solidFill>
                  <a:schemeClr val="tx1"/>
                </a:solidFill>
                <a:latin typeface="+mj-lt" pitchFamily="34" charset="0"/>
                <a:ea typeface="+mj-lt" pitchFamily="34" charset="-122"/>
                <a:cs typeface="+mj-lt" pitchFamily="34" charset="-120"/>
              </a:rPr>
              <a:t>Solve the math problem step-by-step, ensuring each step is clearly explained and justified before proceeding to the next.</a:t>
            </a:r>
            <a:endParaRPr lang="en-US" sz="1400" dirty="0"/>
          </a:p>
        </p:txBody>
      </p:sp>
      <p:sp>
        <p:nvSpPr>
          <p:cNvPr id="16" name="Text 14"/>
          <p:cNvSpPr txBox="1"/>
          <p:nvPr/>
        </p:nvSpPr>
        <p:spPr>
          <a:xfrm>
            <a:off x="4607357" y="5504688"/>
            <a:ext cx="1600200" cy="256032"/>
          </a:xfrm>
          <a:prstGeom prst="rect">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{QUESTION} LOST</a:t>
            </a:r>
            <a:endParaRPr lang="en-US" sz="1000" dirty="0"/>
          </a:p>
        </p:txBody>
      </p:sp>
      <p:sp>
        <p:nvSpPr>
          <p:cNvPr id="17" name="Text 15"/>
          <p:cNvSpPr txBox="1"/>
          <p:nvPr/>
        </p:nvSpPr>
        <p:spPr>
          <a:xfrm>
            <a:off x="7785506" y="4658868"/>
            <a:ext cx="283464" cy="365760"/>
          </a:xfrm>
          <a:prstGeom prst="rect">
            <a:avLst/>
          </a:prstGeom>
          <a:noFill/>
          <a:ln/>
        </p:spPr>
        <p:txBody>
          <a:bodyPr wrap="square" lIns="0" tIns="0" rIns="0" bIns="0" rtlCol="0" anchor="ctr"/>
          <a:lstStyle/>
          <a:p>
            <a:pPr algn="ctr" indent="0" marL="0">
              <a:buNone/>
            </a:pPr>
            <a:r>
              <a:rPr lang="en-US" sz="1800" dirty="0">
                <a:solidFill>
                  <a:schemeClr val="accent3"/>
                </a:solidFill>
                <a:latin typeface="Cambria" pitchFamily="34" charset="0"/>
                <a:ea typeface="Cambria" pitchFamily="34" charset="-122"/>
                <a:cs typeface="Cambria" pitchFamily="34" charset="-120"/>
              </a:rPr>
              <a:t>→</a:t>
            </a:r>
            <a:endParaRPr lang="en-US" sz="1800" dirty="0"/>
          </a:p>
        </p:txBody>
      </p:sp>
      <p:sp>
        <p:nvSpPr>
          <p:cNvPr id="18" name="Shape 16"/>
          <p:cNvSpPr/>
          <p:nvPr/>
        </p:nvSpPr>
        <p:spPr>
          <a:xfrm>
            <a:off x="8087258" y="3767328"/>
            <a:ext cx="3342742" cy="2148840"/>
          </a:xfrm>
          <a:prstGeom prst="rect">
            <a:avLst/>
          </a:prstGeom>
          <a:solidFill>
            <a:srgbClr val="EFE9DA"/>
          </a:solidFill>
          <a:ln w="12700">
            <a:solidFill>
              <a:srgbClr val="CFC8B8"/>
            </a:solidFill>
            <a:prstDash val="solid"/>
          </a:ln>
        </p:spPr>
      </p:sp>
      <p:sp>
        <p:nvSpPr>
          <p:cNvPr id="19" name="Text 17"/>
          <p:cNvSpPr txBox="1"/>
          <p:nvPr/>
        </p:nvSpPr>
        <p:spPr>
          <a:xfrm>
            <a:off x="8270138" y="3931920"/>
            <a:ext cx="2976982"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ITER 2 · SELECTED (FINAL)</a:t>
            </a:r>
            <a:endParaRPr lang="en-US" sz="1050" dirty="0"/>
          </a:p>
        </p:txBody>
      </p:sp>
      <p:sp>
        <p:nvSpPr>
          <p:cNvPr id="20" name="Text 18"/>
          <p:cNvSpPr txBox="1"/>
          <p:nvPr/>
        </p:nvSpPr>
        <p:spPr>
          <a:xfrm>
            <a:off x="8270138" y="4224528"/>
            <a:ext cx="2976982" cy="1188720"/>
          </a:xfrm>
          <a:prstGeom prst="rect">
            <a:avLst/>
          </a:prstGeom>
          <a:noFill/>
          <a:ln/>
        </p:spPr>
        <p:txBody>
          <a:bodyPr wrap="square" lIns="0" tIns="0" rIns="0" bIns="0" rtlCol="0" anchor="t"/>
          <a:lstStyle/>
          <a:p>
            <a:pPr indent="0" marL="0">
              <a:lnSpc>
                <a:spcPct val="115000"/>
              </a:lnSpc>
              <a:buNone/>
            </a:pPr>
            <a:r>
              <a:rPr lang="en-US" sz="1400" i="1" dirty="0">
                <a:solidFill>
                  <a:schemeClr val="tx1"/>
                </a:solidFill>
                <a:latin typeface="+mj-lt" pitchFamily="34" charset="0"/>
                <a:ea typeface="+mj-lt" pitchFamily="34" charset="-122"/>
                <a:cs typeface="+mj-lt" pitchFamily="34" charset="-120"/>
              </a:rPr>
              <a:t>Present a structured solution by enumerating each step, explaining the purpose of that step, and confirming its correctness before continuing.</a:t>
            </a:r>
            <a:endParaRPr lang="en-US" sz="1400" dirty="0"/>
          </a:p>
        </p:txBody>
      </p:sp>
      <p:sp>
        <p:nvSpPr>
          <p:cNvPr id="21" name="Text 19"/>
          <p:cNvSpPr txBox="1"/>
          <p:nvPr/>
        </p:nvSpPr>
        <p:spPr>
          <a:xfrm>
            <a:off x="8270138" y="5504688"/>
            <a:ext cx="1600200" cy="256032"/>
          </a:xfrm>
          <a:prstGeom prst="rect">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{QUESTION} LOST</a:t>
            </a:r>
            <a:endParaRPr lang="en-US" sz="1000" dirty="0"/>
          </a:p>
        </p:txBody>
      </p:sp>
      <p:sp>
        <p:nvSpPr>
          <p:cNvPr id="22" name="Text 20"/>
          <p:cNvSpPr txBox="1"/>
          <p:nvPr/>
        </p:nvSpPr>
        <p:spPr>
          <a:xfrm>
            <a:off x="761695" y="6035040"/>
            <a:ext cx="10668305" cy="228600"/>
          </a:xfrm>
          <a:prstGeom prst="rect">
            <a:avLst/>
          </a:prstGeom>
          <a:noFill/>
          <a:ln/>
        </p:spPr>
        <p:txBody>
          <a:bodyPr wrap="square" lIns="0" tIns="0" rIns="0" bIns="0" rtlCol="0" anchor="t"/>
          <a:lstStyle/>
          <a:p>
            <a:pPr indent="0" marL="0">
              <a:buNone/>
            </a:pPr>
            <a:r>
              <a:rPr lang="en-US" sz="1050" dirty="0">
                <a:solidFill>
                  <a:schemeClr val="tx2"/>
                </a:solidFill>
              </a:rPr>
              <a:t>Real DP-OPT log (seed 42 — a high-accuracy run, 91%). The evaluator appends the question when the placeholder is absent: a </a:t>
            </a:r>
            <a:r>
              <a:rPr lang="en-US" sz="1050" b="1" dirty="0">
                <a:solidFill>
                  <a:schemeClr val="tx2"/>
                </a:solidFill>
              </a:rPr>
              <a:t>structural-drift diagnostic</a:t>
            </a:r>
            <a:r>
              <a:rPr lang="en-US" sz="1050" dirty="0">
                <a:solidFill>
                  <a:schemeClr val="tx2"/>
                </a:solidFill>
              </a:rPr>
              <a:t>, not a zero-accuracy event.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02 · IDEA</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Core idea: decouple exploration from privacy spending</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7 / 18</a:t>
            </a:r>
            <a:endParaRPr lang="en-US" sz="1000" dirty="0"/>
          </a:p>
        </p:txBody>
      </p:sp>
      <p:sp>
        <p:nvSpPr>
          <p:cNvPr id="5" name="Text 3"/>
          <p:cNvSpPr txBox="1"/>
          <p:nvPr/>
        </p:nvSpPr>
        <p:spPr>
          <a:xfrm>
            <a:off x="761695" y="1548994"/>
            <a:ext cx="10668305" cy="990295"/>
          </a:xfrm>
          <a:prstGeom prst="rect">
            <a:avLst/>
          </a:prstGeom>
          <a:noFill/>
          <a:ln/>
        </p:spPr>
        <p:txBody>
          <a:bodyPr wrap="square" lIns="0" tIns="0" rIns="0" bIns="0" rtlCol="0" anchor="t"/>
          <a:lstStyle/>
          <a:p>
            <a:pPr indent="0" marL="0">
              <a:lnSpc>
                <a:spcPct val="120000"/>
              </a:lnSpc>
              <a:buNone/>
            </a:pPr>
            <a:r>
              <a:rPr lang="en-US" sz="3000" i="1" dirty="0">
                <a:solidFill>
                  <a:schemeClr val="accent2"/>
                </a:solidFill>
                <a:latin typeface="+mj-lt" pitchFamily="34" charset="0"/>
                <a:ea typeface="+mj-lt" pitchFamily="34" charset="-122"/>
                <a:cs typeface="+mj-lt" pitchFamily="34" charset="-120"/>
              </a:rPr>
              <a:t>Evolve a population of </a:t>
            </a:r>
            <a:r>
              <a:rPr lang="en-US" sz="3000" b="1" i="1" dirty="0">
                <a:solidFill>
                  <a:schemeClr val="accent2"/>
                </a:solidFill>
                <a:latin typeface="+mj-lt" pitchFamily="34" charset="0"/>
                <a:ea typeface="+mj-lt" pitchFamily="34" charset="-122"/>
                <a:cs typeface="+mj-lt" pitchFamily="34" charset="-120"/>
              </a:rPr>
              <a:t>complete prompts</a:t>
            </a:r>
            <a:r>
              <a:rPr lang="en-US" sz="3000" i="1" dirty="0">
                <a:solidFill>
                  <a:schemeClr val="accent2"/>
                </a:solidFill>
                <a:latin typeface="+mj-lt" pitchFamily="34" charset="0"/>
                <a:ea typeface="+mj-lt" pitchFamily="34" charset="-122"/>
                <a:cs typeface="+mj-lt" pitchFamily="34" charset="-120"/>
              </a:rPr>
              <a:t>.</a:t>
            </a:r>
            <a:endParaRPr lang="en-US" sz="3000" dirty="0"/>
          </a:p>
          <a:p>
            <a:pPr indent="0" marL="0">
              <a:lnSpc>
                <a:spcPct val="120000"/>
              </a:lnSpc>
              <a:buNone/>
            </a:pPr>
            <a:r>
              <a:rPr lang="en-US" sz="3000" i="1" dirty="0">
                <a:solidFill>
                  <a:schemeClr val="accent2"/>
                </a:solidFill>
                <a:latin typeface="+mj-lt" pitchFamily="34" charset="0"/>
                <a:ea typeface="+mj-lt" pitchFamily="34" charset="-122"/>
                <a:cs typeface="+mj-lt" pitchFamily="34" charset="-120"/>
              </a:rPr>
              <a:t>Pay privacy budget </a:t>
            </a:r>
            <a:r>
              <a:rPr lang="en-US" sz="3000" b="1" i="1" dirty="0">
                <a:solidFill>
                  <a:schemeClr val="accent2"/>
                </a:solidFill>
                <a:latin typeface="+mj-lt" pitchFamily="34" charset="0"/>
                <a:ea typeface="+mj-lt" pitchFamily="34" charset="-122"/>
                <a:cs typeface="+mj-lt" pitchFamily="34" charset="-120"/>
              </a:rPr>
              <a:t>only for scoring</a:t>
            </a:r>
            <a:r>
              <a:rPr lang="en-US" sz="3000" i="1" dirty="0">
                <a:solidFill>
                  <a:schemeClr val="accent2"/>
                </a:solidFill>
                <a:latin typeface="+mj-lt" pitchFamily="34" charset="0"/>
                <a:ea typeface="+mj-lt" pitchFamily="34" charset="-122"/>
                <a:cs typeface="+mj-lt" pitchFamily="34" charset="-120"/>
              </a:rPr>
              <a:t>.</a:t>
            </a:r>
            <a:endParaRPr lang="en-US" sz="3000" dirty="0"/>
          </a:p>
        </p:txBody>
      </p:sp>
      <p:sp>
        <p:nvSpPr>
          <p:cNvPr id="6" name="Shape 4"/>
          <p:cNvSpPr/>
          <p:nvPr/>
        </p:nvSpPr>
        <p:spPr>
          <a:xfrm>
            <a:off x="761695" y="2870302"/>
            <a:ext cx="10668305" cy="12802"/>
          </a:xfrm>
          <a:prstGeom prst="rect">
            <a:avLst/>
          </a:prstGeom>
          <a:solidFill>
            <a:schemeClr val="accent4"/>
          </a:solidFill>
          <a:ln/>
        </p:spPr>
      </p:sp>
      <p:sp>
        <p:nvSpPr>
          <p:cNvPr id="7" name="Text 5"/>
          <p:cNvSpPr txBox="1"/>
          <p:nvPr/>
        </p:nvSpPr>
        <p:spPr>
          <a:xfrm>
            <a:off x="761695" y="3071470"/>
            <a:ext cx="2158898"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MUTATION</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privacy-free</a:t>
            </a:r>
            <a:endParaRPr lang="en-US" sz="1500" dirty="0"/>
          </a:p>
        </p:txBody>
      </p:sp>
      <p:sp>
        <p:nvSpPr>
          <p:cNvPr id="8" name="Text 6"/>
          <p:cNvSpPr txBox="1"/>
          <p:nvPr/>
        </p:nvSpPr>
        <p:spPr>
          <a:xfrm>
            <a:off x="3174797" y="3071470"/>
            <a:ext cx="8255203" cy="731520"/>
          </a:xfrm>
          <a:prstGeom prst="rect">
            <a:avLst/>
          </a:prstGeom>
          <a:noFill/>
          <a:ln/>
        </p:spPr>
        <p:txBody>
          <a:bodyPr wrap="square" lIns="0" tIns="0" rIns="0" bIns="0" rtlCol="0" anchor="t"/>
          <a:lstStyle/>
          <a:p>
            <a:pPr indent="0" marL="0">
              <a:lnSpc>
                <a:spcPct val="130000"/>
              </a:lnSpc>
              <a:buNone/>
            </a:pPr>
            <a:r>
              <a:rPr lang="en-US" sz="1550" dirty="0">
                <a:solidFill>
                  <a:schemeClr val="tx1"/>
                </a:solidFill>
              </a:rPr>
              <a:t>An LLM rewrites complete prompt strings. It never accesses </a:t>
            </a:r>
            <a:r>
              <a:rPr lang="en-US" sz="1550" i="1" dirty="0">
                <a:solidFill>
                  <a:schemeClr val="tx1"/>
                </a:solidFill>
              </a:rPr>
              <a:t>D</a:t>
            </a:r>
            <a:r>
              <a:rPr lang="en-US" sz="1550" dirty="0">
                <a:solidFill>
                  <a:schemeClr val="tx1"/>
                </a:solidFill>
              </a:rPr>
              <a:t> — by the </a:t>
            </a:r>
            <a:r>
              <a:rPr lang="en-US" sz="1550" b="1" dirty="0">
                <a:solidFill>
                  <a:schemeClr val="tx1"/>
                </a:solidFill>
              </a:rPr>
              <a:t>post-processing property</a:t>
            </a:r>
            <a:r>
              <a:rPr lang="en-US" sz="1550" dirty="0">
                <a:solidFill>
                  <a:schemeClr val="tx1"/>
                </a:solidFill>
              </a:rPr>
              <a:t>, exploration can be arbitrarily rich at </a:t>
            </a:r>
            <a:r>
              <a:rPr lang="en-US" sz="1550" b="1" dirty="0">
                <a:solidFill>
                  <a:schemeClr val="tx1"/>
                </a:solidFill>
              </a:rPr>
              <a:t>zero privacy cost</a:t>
            </a:r>
            <a:r>
              <a:rPr lang="en-US" sz="1550" dirty="0">
                <a:solidFill>
                  <a:schemeClr val="tx1"/>
                </a:solidFill>
              </a:rPr>
              <a:t>.</a:t>
            </a:r>
            <a:endParaRPr lang="en-US" sz="1550" dirty="0"/>
          </a:p>
        </p:txBody>
      </p:sp>
      <p:sp>
        <p:nvSpPr>
          <p:cNvPr id="9" name="Shape 7"/>
          <p:cNvSpPr/>
          <p:nvPr/>
        </p:nvSpPr>
        <p:spPr>
          <a:xfrm>
            <a:off x="761695" y="3894430"/>
            <a:ext cx="10668305" cy="12802"/>
          </a:xfrm>
          <a:prstGeom prst="rect">
            <a:avLst/>
          </a:prstGeom>
          <a:solidFill>
            <a:schemeClr val="accent4"/>
          </a:solidFill>
          <a:ln/>
        </p:spPr>
      </p:sp>
      <p:sp>
        <p:nvSpPr>
          <p:cNvPr id="10" name="Text 8"/>
          <p:cNvSpPr txBox="1"/>
          <p:nvPr/>
        </p:nvSpPr>
        <p:spPr>
          <a:xfrm>
            <a:off x="761695" y="4095598"/>
            <a:ext cx="2158898"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SCORING</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touches D</a:t>
            </a:r>
            <a:endParaRPr lang="en-US" sz="1500" dirty="0"/>
          </a:p>
        </p:txBody>
      </p:sp>
      <p:sp>
        <p:nvSpPr>
          <p:cNvPr id="11" name="Text 9"/>
          <p:cNvSpPr txBox="1"/>
          <p:nvPr/>
        </p:nvSpPr>
        <p:spPr>
          <a:xfrm>
            <a:off x="3174797" y="4095598"/>
            <a:ext cx="8255203" cy="731520"/>
          </a:xfrm>
          <a:prstGeom prst="rect">
            <a:avLst/>
          </a:prstGeom>
          <a:noFill/>
          <a:ln/>
        </p:spPr>
        <p:txBody>
          <a:bodyPr wrap="square" lIns="0" tIns="0" rIns="0" bIns="0" rtlCol="0" anchor="t"/>
          <a:lstStyle/>
          <a:p>
            <a:pPr indent="0" marL="0">
              <a:lnSpc>
                <a:spcPct val="130000"/>
              </a:lnSpc>
              <a:buNone/>
            </a:pPr>
            <a:r>
              <a:rPr lang="en-US" sz="1550" b="1" dirty="0">
                <a:solidFill>
                  <a:schemeClr val="tx1"/>
                </a:solidFill>
              </a:rPr>
              <a:t>Sampled-Gaussian evaluation</a:t>
            </a:r>
            <a:r>
              <a:rPr lang="en-US" sz="1550" dirty="0">
                <a:solidFill>
                  <a:schemeClr val="tx1"/>
                </a:solidFill>
              </a:rPr>
              <a:t> is the only step that reads the private dataset — the entire budget is concentrated here and composed by an </a:t>
            </a:r>
            <a:r>
              <a:rPr lang="en-US" sz="1550" b="1" dirty="0">
                <a:solidFill>
                  <a:schemeClr val="tx1"/>
                </a:solidFill>
              </a:rPr>
              <a:t>RDP accountant</a:t>
            </a:r>
            <a:r>
              <a:rPr lang="en-US" sz="1550" dirty="0">
                <a:solidFill>
                  <a:schemeClr val="tx1"/>
                </a:solidFill>
              </a:rPr>
              <a:t>.</a:t>
            </a:r>
            <a:endParaRPr lang="en-US" sz="1550" dirty="0"/>
          </a:p>
        </p:txBody>
      </p:sp>
      <p:sp>
        <p:nvSpPr>
          <p:cNvPr id="12" name="Shape 10"/>
          <p:cNvSpPr/>
          <p:nvPr/>
        </p:nvSpPr>
        <p:spPr>
          <a:xfrm>
            <a:off x="761695" y="4918558"/>
            <a:ext cx="10668305" cy="12802"/>
          </a:xfrm>
          <a:prstGeom prst="rect">
            <a:avLst/>
          </a:prstGeom>
          <a:solidFill>
            <a:schemeClr val="accent4"/>
          </a:solidFill>
          <a:ln/>
        </p:spPr>
      </p:sp>
      <p:sp>
        <p:nvSpPr>
          <p:cNvPr id="13" name="Text 11"/>
          <p:cNvSpPr txBox="1"/>
          <p:nvPr/>
        </p:nvSpPr>
        <p:spPr>
          <a:xfrm>
            <a:off x="761695" y="5119726"/>
            <a:ext cx="2158898"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SELECTION</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post-processing</a:t>
            </a:r>
            <a:endParaRPr lang="en-US" sz="1500" dirty="0"/>
          </a:p>
        </p:txBody>
      </p:sp>
      <p:sp>
        <p:nvSpPr>
          <p:cNvPr id="14" name="Text 12"/>
          <p:cNvSpPr txBox="1"/>
          <p:nvPr/>
        </p:nvSpPr>
        <p:spPr>
          <a:xfrm>
            <a:off x="3174797" y="5119726"/>
            <a:ext cx="8255203" cy="731520"/>
          </a:xfrm>
          <a:prstGeom prst="rect">
            <a:avLst/>
          </a:prstGeom>
          <a:noFill/>
          <a:ln/>
        </p:spPr>
        <p:txBody>
          <a:bodyPr wrap="square" lIns="0" tIns="0" rIns="0" bIns="0" rtlCol="0" anchor="t"/>
          <a:lstStyle/>
          <a:p>
            <a:pPr indent="0" marL="0">
              <a:lnSpc>
                <a:spcPct val="130000"/>
              </a:lnSpc>
              <a:buNone/>
            </a:pPr>
            <a:r>
              <a:rPr lang="en-US" sz="1550" dirty="0">
                <a:solidFill>
                  <a:schemeClr val="tx1"/>
                </a:solidFill>
              </a:rPr>
              <a:t>Top-</a:t>
            </a:r>
            <a:r>
              <a:rPr lang="en-US" sz="1550" i="1" dirty="0">
                <a:solidFill>
                  <a:schemeClr val="tx1"/>
                </a:solidFill>
              </a:rPr>
              <a:t>M</a:t>
            </a:r>
            <a:r>
              <a:rPr lang="en-US" sz="1550" dirty="0">
                <a:solidFill>
                  <a:schemeClr val="tx1"/>
                </a:solidFill>
              </a:rPr>
              <a:t> parents chosen from </a:t>
            </a:r>
            <a:r>
              <a:rPr lang="en-US" sz="1550" b="1" dirty="0">
                <a:solidFill>
                  <a:schemeClr val="tx1"/>
                </a:solidFill>
              </a:rPr>
              <a:t>privatized scores</a:t>
            </a:r>
            <a:r>
              <a:rPr lang="en-US" sz="1550" dirty="0">
                <a:solidFill>
                  <a:schemeClr val="tx1"/>
                </a:solidFill>
              </a:rPr>
              <a:t> (deterministic or Gumbel-smoothed). Uses only released values — </a:t>
            </a:r>
            <a:r>
              <a:rPr lang="en-US" sz="1550" b="1" dirty="0">
                <a:solidFill>
                  <a:schemeClr val="tx1"/>
                </a:solidFill>
              </a:rPr>
              <a:t>zero additional privacy loss</a:t>
            </a:r>
            <a:r>
              <a:rPr lang="en-US" sz="1550" dirty="0">
                <a:solidFill>
                  <a:schemeClr val="tx1"/>
                </a:solidFill>
              </a:rPr>
              <a:t>.</a:t>
            </a:r>
            <a:endParaRPr lang="en-US" sz="1550" dirty="0"/>
          </a:p>
        </p:txBody>
      </p:sp>
      <p:sp>
        <p:nvSpPr>
          <p:cNvPr id="15" name="Shape 13"/>
          <p:cNvSpPr/>
          <p:nvPr/>
        </p:nvSpPr>
        <p:spPr>
          <a:xfrm>
            <a:off x="761695" y="5942686"/>
            <a:ext cx="10668305" cy="12802"/>
          </a:xfrm>
          <a:prstGeom prst="rect">
            <a:avLst/>
          </a:prstGeom>
          <a:solidFill>
            <a:schemeClr val="accent4"/>
          </a:solidFill>
          <a:ln/>
        </p:spPr>
      </p:sp>
      <p:sp>
        <p:nvSpPr>
          <p:cNvPr id="16" name="Text 14"/>
          <p:cNvSpPr txBox="1"/>
          <p:nvPr/>
        </p:nvSpPr>
        <p:spPr>
          <a:xfrm>
            <a:off x="761695" y="6071616"/>
            <a:ext cx="10668305" cy="201168"/>
          </a:xfrm>
          <a:prstGeom prst="rect">
            <a:avLst/>
          </a:prstGeom>
          <a:noFill/>
          <a:ln/>
        </p:spPr>
        <p:txBody>
          <a:bodyPr wrap="square" lIns="0" tIns="0" rIns="0" bIns="0" rtlCol="0" anchor="t"/>
          <a:lstStyle/>
          <a:p>
            <a:pPr indent="0" marL="0">
              <a:buNone/>
            </a:pPr>
            <a:r>
              <a:rPr lang="en-US" sz="1050" dirty="0">
                <a:solidFill>
                  <a:schemeClr val="tx2"/>
                </a:solidFill>
              </a:rPr>
              <a:t>This instantiates the Private Evolution principle from DP data synthesis (Lin et al., 2024; Xie et al., 2024) for prompt optimization.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03 · METHOD</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DP-ES: three phases per iteration</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8 / 18</a:t>
            </a:r>
            <a:endParaRPr lang="en-US" sz="1000" dirty="0"/>
          </a:p>
        </p:txBody>
      </p:sp>
      <p:sp>
        <p:nvSpPr>
          <p:cNvPr id="5" name="Shape 3"/>
          <p:cNvSpPr/>
          <p:nvPr/>
        </p:nvSpPr>
        <p:spPr>
          <a:xfrm>
            <a:off x="761695" y="1828800"/>
            <a:ext cx="3281782" cy="2743200"/>
          </a:xfrm>
          <a:prstGeom prst="rect">
            <a:avLst/>
          </a:prstGeom>
          <a:ln w="12700">
            <a:solidFill>
              <a:srgbClr val="CFC8B8"/>
            </a:solidFill>
            <a:prstDash val="solid"/>
          </a:ln>
        </p:spPr>
      </p:sp>
      <p:sp>
        <p:nvSpPr>
          <p:cNvPr id="6" name="Text 4"/>
          <p:cNvSpPr txBox="1"/>
          <p:nvPr/>
        </p:nvSpPr>
        <p:spPr>
          <a:xfrm>
            <a:off x="990295" y="2029968"/>
            <a:ext cx="2824582"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PHASE 1 · PRIVACY-FREE</a:t>
            </a:r>
            <a:endParaRPr lang="en-US" sz="1050" dirty="0"/>
          </a:p>
        </p:txBody>
      </p:sp>
      <p:sp>
        <p:nvSpPr>
          <p:cNvPr id="7" name="Text 5"/>
          <p:cNvSpPr txBox="1"/>
          <p:nvPr/>
        </p:nvSpPr>
        <p:spPr>
          <a:xfrm>
            <a:off x="990295" y="2331720"/>
            <a:ext cx="2824582" cy="41148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LLM mutation</a:t>
            </a:r>
            <a:endParaRPr lang="en-US" sz="2200" dirty="0"/>
          </a:p>
        </p:txBody>
      </p:sp>
      <p:sp>
        <p:nvSpPr>
          <p:cNvPr id="8" name="Text 6"/>
          <p:cNvSpPr txBox="1"/>
          <p:nvPr/>
        </p:nvSpPr>
        <p:spPr>
          <a:xfrm>
            <a:off x="990295" y="2852928"/>
            <a:ext cx="2824582" cy="365760"/>
          </a:xfrm>
          <a:prstGeom prst="rect">
            <a:avLst/>
          </a:prstGeom>
          <a:noFill/>
          <a:ln/>
        </p:spPr>
        <p:txBody>
          <a:bodyPr wrap="square" lIns="0" tIns="0" rIns="0" bIns="0" rtlCol="0" anchor="t"/>
          <a:lstStyle/>
          <a:p>
            <a:pPr indent="0" marL="0">
              <a:buNone/>
            </a:pPr>
            <a:r>
              <a:rPr lang="en-US" sz="1450" i="1" dirty="0">
                <a:solidFill>
                  <a:schemeClr val="tx1"/>
                </a:solidFill>
                <a:latin typeface="Cambria" pitchFamily="34" charset="0"/>
                <a:ea typeface="Cambria" pitchFamily="34" charset="-122"/>
                <a:cs typeface="Cambria" pitchFamily="34" charset="-120"/>
              </a:rPr>
              <a:t>P</a:t>
            </a:r>
            <a:r>
              <a:rPr lang="en-US" sz="1450" baseline="-40000" dirty="0">
                <a:solidFill>
                  <a:schemeClr val="tx1"/>
                </a:solidFill>
                <a:latin typeface="Cambria" pitchFamily="34" charset="0"/>
                <a:ea typeface="Cambria" pitchFamily="34" charset="-122"/>
                <a:cs typeface="Cambria" pitchFamily="34" charset="-120"/>
              </a:rPr>
              <a:t>t</a:t>
            </a:r>
            <a:r>
              <a:rPr lang="en-US" sz="1450" dirty="0">
                <a:solidFill>
                  <a:schemeClr val="tx1"/>
                </a:solidFill>
                <a:latin typeface="Cambria" pitchFamily="34" charset="0"/>
                <a:ea typeface="Cambria" pitchFamily="34" charset="-122"/>
                <a:cs typeface="Cambria" pitchFamily="34" charset="-120"/>
              </a:rPr>
              <a:t> </a:t>
            </a:r>
            <a:r>
              <a:rPr lang="en-US" sz="1450" dirty="0">
                <a:solidFill>
                  <a:schemeClr val="tx1"/>
                </a:solidFill>
                <a:latin typeface="Cambria" pitchFamily="34" charset="0"/>
                <a:ea typeface="Cambria" pitchFamily="34" charset="-122"/>
                <a:cs typeface="Cambria" pitchFamily="34" charset="-120"/>
              </a:rPr>
              <a:t>←</a:t>
            </a:r>
            <a:r>
              <a:rPr lang="en-US" sz="1450" dirty="0">
                <a:solidFill>
                  <a:schemeClr val="tx1"/>
                </a:solidFill>
                <a:latin typeface="Cambria" pitchFamily="34" charset="0"/>
                <a:ea typeface="Cambria" pitchFamily="34" charset="-122"/>
                <a:cs typeface="Cambria" pitchFamily="34" charset="-120"/>
              </a:rPr>
              <a:t> Mutate-to-</a:t>
            </a:r>
            <a:r>
              <a:rPr lang="en-US" sz="1450" i="1" dirty="0">
                <a:solidFill>
                  <a:schemeClr val="tx1"/>
                </a:solidFill>
                <a:latin typeface="Cambria" pitchFamily="34" charset="0"/>
                <a:ea typeface="Cambria" pitchFamily="34" charset="-122"/>
                <a:cs typeface="Cambria" pitchFamily="34" charset="-120"/>
              </a:rPr>
              <a:t>K</a:t>
            </a:r>
            <a:r>
              <a:rPr lang="en-US" sz="1450" dirty="0">
                <a:solidFill>
                  <a:schemeClr val="tx1"/>
                </a:solidFill>
                <a:latin typeface="Cambria" pitchFamily="34" charset="0"/>
                <a:ea typeface="Cambria" pitchFamily="34" charset="-122"/>
                <a:cs typeface="Cambria" pitchFamily="34" charset="-120"/>
              </a:rPr>
              <a:t>(</a:t>
            </a:r>
            <a:r>
              <a:rPr lang="en-US" sz="1450" i="1" dirty="0">
                <a:solidFill>
                  <a:schemeClr val="tx1"/>
                </a:solidFill>
                <a:latin typeface="Cambria" pitchFamily="34" charset="0"/>
                <a:ea typeface="Cambria" pitchFamily="34" charset="-122"/>
                <a:cs typeface="Cambria" pitchFamily="34" charset="-120"/>
              </a:rPr>
              <a:t>S</a:t>
            </a:r>
            <a:r>
              <a:rPr lang="en-US" sz="1450" baseline="-40000" dirty="0">
                <a:solidFill>
                  <a:schemeClr val="tx1"/>
                </a:solidFill>
                <a:latin typeface="Cambria" pitchFamily="34" charset="0"/>
                <a:ea typeface="Cambria" pitchFamily="34" charset="-122"/>
                <a:cs typeface="Cambria" pitchFamily="34" charset="-120"/>
              </a:rPr>
              <a:t>t</a:t>
            </a:r>
            <a:r>
              <a:rPr lang="en-US" sz="1450" baseline="-40000" dirty="0">
                <a:solidFill>
                  <a:schemeClr val="tx1"/>
                </a:solidFill>
                <a:latin typeface="Cambria" pitchFamily="34" charset="0"/>
                <a:ea typeface="Cambria" pitchFamily="34" charset="-122"/>
                <a:cs typeface="Cambria" pitchFamily="34" charset="-120"/>
              </a:rPr>
              <a:t>−</a:t>
            </a:r>
            <a:r>
              <a:rPr lang="en-US" sz="1450" baseline="-40000" dirty="0">
                <a:solidFill>
                  <a:schemeClr val="tx1"/>
                </a:solidFill>
                <a:latin typeface="Cambria" pitchFamily="34" charset="0"/>
                <a:ea typeface="Cambria" pitchFamily="34" charset="-122"/>
                <a:cs typeface="Cambria" pitchFamily="34" charset="-120"/>
              </a:rPr>
              <a:t>1</a:t>
            </a:r>
            <a:r>
              <a:rPr lang="en-US" sz="1450" dirty="0">
                <a:solidFill>
                  <a:schemeClr val="tx1"/>
                </a:solidFill>
                <a:latin typeface="Cambria" pitchFamily="34" charset="0"/>
                <a:ea typeface="Cambria" pitchFamily="34" charset="-122"/>
                <a:cs typeface="Cambria" pitchFamily="34" charset="-120"/>
              </a:rPr>
              <a:t>),  |</a:t>
            </a:r>
            <a:r>
              <a:rPr lang="en-US" sz="1450" i="1" dirty="0">
                <a:solidFill>
                  <a:schemeClr val="tx1"/>
                </a:solidFill>
                <a:latin typeface="Cambria" pitchFamily="34" charset="0"/>
                <a:ea typeface="Cambria" pitchFamily="34" charset="-122"/>
                <a:cs typeface="Cambria" pitchFamily="34" charset="-120"/>
              </a:rPr>
              <a:t>P</a:t>
            </a:r>
            <a:r>
              <a:rPr lang="en-US" sz="1450" baseline="-40000" dirty="0">
                <a:solidFill>
                  <a:schemeClr val="tx1"/>
                </a:solidFill>
                <a:latin typeface="Cambria" pitchFamily="34" charset="0"/>
                <a:ea typeface="Cambria" pitchFamily="34" charset="-122"/>
                <a:cs typeface="Cambria" pitchFamily="34" charset="-120"/>
              </a:rPr>
              <a:t>t</a:t>
            </a:r>
            <a:r>
              <a:rPr lang="en-US" sz="1450" dirty="0">
                <a:solidFill>
                  <a:schemeClr val="tx1"/>
                </a:solidFill>
                <a:latin typeface="Cambria" pitchFamily="34" charset="0"/>
                <a:ea typeface="Cambria" pitchFamily="34" charset="-122"/>
                <a:cs typeface="Cambria" pitchFamily="34" charset="-120"/>
              </a:rPr>
              <a:t>| = </a:t>
            </a:r>
            <a:r>
              <a:rPr lang="en-US" sz="1450" i="1" dirty="0">
                <a:solidFill>
                  <a:schemeClr val="tx1"/>
                </a:solidFill>
                <a:latin typeface="Cambria" pitchFamily="34" charset="0"/>
                <a:ea typeface="Cambria" pitchFamily="34" charset="-122"/>
                <a:cs typeface="Cambria" pitchFamily="34" charset="-120"/>
              </a:rPr>
              <a:t>K</a:t>
            </a:r>
            <a:endParaRPr lang="en-US" sz="1450" dirty="0"/>
          </a:p>
        </p:txBody>
      </p:sp>
      <p:sp>
        <p:nvSpPr>
          <p:cNvPr id="9" name="Text 7"/>
          <p:cNvSpPr txBox="1"/>
          <p:nvPr/>
        </p:nvSpPr>
        <p:spPr>
          <a:xfrm>
            <a:off x="990295" y="3291840"/>
            <a:ext cx="2824582" cy="73152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Builds a fixed </a:t>
            </a:r>
            <a:r>
              <a:rPr lang="en-US" sz="1250" i="1" dirty="0">
                <a:solidFill>
                  <a:schemeClr val="tx2"/>
                </a:solidFill>
              </a:rPr>
              <a:t>K</a:t>
            </a:r>
            <a:r>
              <a:rPr lang="en-US" sz="1250" dirty="0">
                <a:solidFill>
                  <a:schemeClr val="tx2"/>
                </a:solidFill>
              </a:rPr>
              <a:t>-candidate population from the selected parents; never reads </a:t>
            </a:r>
            <a:r>
              <a:rPr lang="en-US" sz="1250" i="1" dirty="0">
                <a:solidFill>
                  <a:schemeClr val="tx2"/>
                </a:solidFill>
              </a:rPr>
              <a:t>D</a:t>
            </a:r>
            <a:r>
              <a:rPr lang="en-US" sz="1250" dirty="0">
                <a:solidFill>
                  <a:schemeClr val="tx2"/>
                </a:solidFill>
              </a:rPr>
              <a:t>.</a:t>
            </a:r>
            <a:endParaRPr lang="en-US" sz="1250" dirty="0"/>
          </a:p>
        </p:txBody>
      </p:sp>
      <p:sp>
        <p:nvSpPr>
          <p:cNvPr id="10" name="Text 8"/>
          <p:cNvSpPr txBox="1"/>
          <p:nvPr/>
        </p:nvSpPr>
        <p:spPr>
          <a:xfrm>
            <a:off x="990295" y="4133088"/>
            <a:ext cx="2824582" cy="256032"/>
          </a:xfrm>
          <a:prstGeom prst="rect">
            <a:avLst/>
          </a:prstGeom>
          <a:ln w="12700">
            <a:solidFill>
              <a:srgbClr val="8C2F39"/>
            </a:solidFill>
          </a:ln>
        </p:spPr>
        <p:txBody>
          <a:bodyPr wrap="square" lIns="0" tIns="0" rIns="0" bIns="0" rtlCol="0" anchor="ctr"/>
          <a:lstStyle/>
          <a:p>
            <a:pPr algn="ctr" indent="0" marL="0">
              <a:buNone/>
            </a:pPr>
            <a:r>
              <a:rPr lang="en-US" sz="1000" b="1" spc="200" kern="0" dirty="0">
                <a:solidFill>
                  <a:schemeClr val="accent1"/>
                </a:solidFill>
              </a:rPr>
              <a:t>0 ADDITIONAL PRIVACY LOSS</a:t>
            </a:r>
            <a:endParaRPr lang="en-US" sz="1000" dirty="0"/>
          </a:p>
        </p:txBody>
      </p:sp>
      <p:sp>
        <p:nvSpPr>
          <p:cNvPr id="11" name="Text 9"/>
          <p:cNvSpPr txBox="1"/>
          <p:nvPr/>
        </p:nvSpPr>
        <p:spPr>
          <a:xfrm>
            <a:off x="4061765" y="2971800"/>
            <a:ext cx="374904" cy="457200"/>
          </a:xfrm>
          <a:prstGeom prst="rect">
            <a:avLst/>
          </a:prstGeom>
          <a:noFill/>
          <a:ln/>
        </p:spPr>
        <p:txBody>
          <a:bodyPr wrap="square" lIns="0" tIns="0" rIns="0" bIns="0" rtlCol="0" anchor="ctr"/>
          <a:lstStyle/>
          <a:p>
            <a:pPr algn="ctr" indent="0" marL="0">
              <a:buNone/>
            </a:pPr>
            <a:r>
              <a:rPr lang="en-US" sz="2200" dirty="0">
                <a:solidFill>
                  <a:schemeClr val="accent3"/>
                </a:solidFill>
                <a:latin typeface="Cambria" pitchFamily="34" charset="0"/>
                <a:ea typeface="Cambria" pitchFamily="34" charset="-122"/>
                <a:cs typeface="Cambria" pitchFamily="34" charset="-120"/>
              </a:rPr>
              <a:t>→</a:t>
            </a:r>
            <a:endParaRPr lang="en-US" sz="2200" dirty="0"/>
          </a:p>
        </p:txBody>
      </p:sp>
      <p:sp>
        <p:nvSpPr>
          <p:cNvPr id="12" name="Shape 10"/>
          <p:cNvSpPr/>
          <p:nvPr/>
        </p:nvSpPr>
        <p:spPr>
          <a:xfrm>
            <a:off x="4454957" y="1828800"/>
            <a:ext cx="3281782" cy="2743200"/>
          </a:xfrm>
          <a:prstGeom prst="rect">
            <a:avLst/>
          </a:prstGeom>
          <a:solidFill>
            <a:srgbClr val="EFE9DA"/>
          </a:solidFill>
          <a:ln w="12700">
            <a:solidFill>
              <a:srgbClr val="CFC8B8"/>
            </a:solidFill>
            <a:prstDash val="solid"/>
          </a:ln>
        </p:spPr>
      </p:sp>
      <p:sp>
        <p:nvSpPr>
          <p:cNvPr id="13" name="Text 11"/>
          <p:cNvSpPr txBox="1"/>
          <p:nvPr/>
        </p:nvSpPr>
        <p:spPr>
          <a:xfrm>
            <a:off x="4683557" y="2029968"/>
            <a:ext cx="2824582" cy="228600"/>
          </a:xfrm>
          <a:prstGeom prst="rect">
            <a:avLst/>
          </a:prstGeom>
          <a:noFill/>
          <a:ln/>
        </p:spPr>
        <p:txBody>
          <a:bodyPr wrap="square" lIns="0" tIns="0" rIns="0" bIns="0" rtlCol="0" anchor="t"/>
          <a:lstStyle/>
          <a:p>
            <a:pPr indent="0" marL="0">
              <a:buNone/>
            </a:pPr>
            <a:r>
              <a:rPr lang="en-US" sz="1050" b="1" spc="100" kern="0" dirty="0">
                <a:solidFill>
                  <a:schemeClr val="accent1"/>
                </a:solidFill>
                <a:latin typeface="JetBrains Mono" pitchFamily="34" charset="0"/>
                <a:ea typeface="JetBrains Mono" pitchFamily="34" charset="-122"/>
                <a:cs typeface="JetBrains Mono" pitchFamily="34" charset="-120"/>
              </a:rPr>
              <a:t>PHASE 2 · PRIVATE-DATA ACCESS</a:t>
            </a:r>
            <a:endParaRPr lang="en-US" sz="1050" dirty="0"/>
          </a:p>
        </p:txBody>
      </p:sp>
      <p:sp>
        <p:nvSpPr>
          <p:cNvPr id="14" name="Text 12"/>
          <p:cNvSpPr txBox="1"/>
          <p:nvPr/>
        </p:nvSpPr>
        <p:spPr>
          <a:xfrm>
            <a:off x="4683557" y="2331720"/>
            <a:ext cx="2824582" cy="41148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DP scoring</a:t>
            </a:r>
            <a:endParaRPr lang="en-US" sz="2200" dirty="0"/>
          </a:p>
        </p:txBody>
      </p:sp>
      <p:sp>
        <p:nvSpPr>
          <p:cNvPr id="15" name="Text 13"/>
          <p:cNvSpPr txBox="1"/>
          <p:nvPr/>
        </p:nvSpPr>
        <p:spPr>
          <a:xfrm>
            <a:off x="4683557" y="2852928"/>
            <a:ext cx="2824582" cy="365760"/>
          </a:xfrm>
          <a:prstGeom prst="rect">
            <a:avLst/>
          </a:prstGeom>
          <a:noFill/>
          <a:ln/>
        </p:spPr>
        <p:txBody>
          <a:bodyPr wrap="square" lIns="0" tIns="0" rIns="0" bIns="0" rtlCol="0" anchor="t"/>
          <a:lstStyle/>
          <a:p>
            <a:pPr indent="0" marL="0">
              <a:buNone/>
            </a:pPr>
            <a:r>
              <a:rPr lang="en-US" sz="1450" i="1" dirty="0">
                <a:solidFill>
                  <a:schemeClr val="tx1"/>
                </a:solidFill>
                <a:latin typeface="Cambria" pitchFamily="34" charset="0"/>
                <a:ea typeface="Cambria" pitchFamily="34" charset="-122"/>
                <a:cs typeface="Cambria" pitchFamily="34" charset="-120"/>
              </a:rPr>
              <a:t>s</a:t>
            </a:r>
            <a:r>
              <a:rPr lang="en-US" sz="1450" i="1" dirty="0">
                <a:solidFill>
                  <a:schemeClr val="tx1"/>
                </a:solidFill>
                <a:latin typeface="Cambria" pitchFamily="34" charset="0"/>
                <a:ea typeface="Cambria" pitchFamily="34" charset="-122"/>
                <a:cs typeface="Cambria" pitchFamily="34" charset="-120"/>
              </a:rPr>
              <a:t>̃</a:t>
            </a:r>
            <a:r>
              <a:rPr lang="en-US" sz="1450" baseline="-40000" dirty="0">
                <a:solidFill>
                  <a:schemeClr val="tx1"/>
                </a:solidFill>
                <a:latin typeface="Cambria" pitchFamily="34" charset="0"/>
                <a:ea typeface="Cambria" pitchFamily="34" charset="-122"/>
                <a:cs typeface="Cambria" pitchFamily="34" charset="-120"/>
              </a:rPr>
              <a:t>p</a:t>
            </a:r>
            <a:r>
              <a:rPr lang="en-US" sz="1450" dirty="0">
                <a:solidFill>
                  <a:schemeClr val="tx1"/>
                </a:solidFill>
                <a:latin typeface="Cambria" pitchFamily="34" charset="0"/>
                <a:ea typeface="Cambria" pitchFamily="34" charset="-122"/>
                <a:cs typeface="Cambria" pitchFamily="34" charset="-120"/>
              </a:rPr>
              <a:t> = </a:t>
            </a:r>
            <a:r>
              <a:rPr lang="en-US" sz="1450" i="1" dirty="0">
                <a:solidFill>
                  <a:schemeClr val="tx1"/>
                </a:solidFill>
                <a:latin typeface="Cambria" pitchFamily="34" charset="0"/>
                <a:ea typeface="Cambria" pitchFamily="34" charset="-122"/>
                <a:cs typeface="Cambria" pitchFamily="34" charset="-120"/>
              </a:rPr>
              <a:t>s</a:t>
            </a:r>
            <a:r>
              <a:rPr lang="en-US" sz="1450" baseline="-40000" dirty="0">
                <a:solidFill>
                  <a:schemeClr val="tx1"/>
                </a:solidFill>
                <a:latin typeface="Cambria" pitchFamily="34" charset="0"/>
                <a:ea typeface="Cambria" pitchFamily="34" charset="-122"/>
                <a:cs typeface="Cambria" pitchFamily="34" charset="-120"/>
              </a:rPr>
              <a:t>p</a:t>
            </a:r>
            <a:r>
              <a:rPr lang="en-US" sz="1450" dirty="0">
                <a:solidFill>
                  <a:schemeClr val="tx1"/>
                </a:solidFill>
                <a:latin typeface="Cambria" pitchFamily="34" charset="0"/>
                <a:ea typeface="Cambria" pitchFamily="34" charset="-122"/>
                <a:cs typeface="Cambria" pitchFamily="34" charset="-120"/>
              </a:rPr>
              <a:t>(</a:t>
            </a:r>
            <a:r>
              <a:rPr lang="en-US" sz="1450" i="1" dirty="0">
                <a:solidFill>
                  <a:schemeClr val="tx1"/>
                </a:solidFill>
                <a:latin typeface="Cambria" pitchFamily="34" charset="0"/>
                <a:ea typeface="Cambria" pitchFamily="34" charset="-122"/>
                <a:cs typeface="Cambria" pitchFamily="34" charset="-120"/>
              </a:rPr>
              <a:t>B</a:t>
            </a:r>
            <a:r>
              <a:rPr lang="en-US" sz="1450" dirty="0">
                <a:solidFill>
                  <a:schemeClr val="tx1"/>
                </a:solidFill>
                <a:latin typeface="Cambria" pitchFamily="34" charset="0"/>
                <a:ea typeface="Cambria" pitchFamily="34" charset="-122"/>
                <a:cs typeface="Cambria" pitchFamily="34" charset="-120"/>
              </a:rPr>
              <a:t>) + </a:t>
            </a:r>
            <a:r>
              <a:rPr lang="en-US" sz="1450" i="1" dirty="0">
                <a:solidFill>
                  <a:schemeClr val="tx1"/>
                </a:solidFill>
                <a:latin typeface="Cambria" pitchFamily="34" charset="0"/>
                <a:ea typeface="Cambria" pitchFamily="34" charset="-122"/>
                <a:cs typeface="Cambria" pitchFamily="34" charset="-120"/>
              </a:rPr>
              <a:t>N</a:t>
            </a:r>
            <a:r>
              <a:rPr lang="en-US" sz="1450" dirty="0">
                <a:solidFill>
                  <a:schemeClr val="tx1"/>
                </a:solidFill>
                <a:latin typeface="Cambria" pitchFamily="34" charset="0"/>
                <a:ea typeface="Cambria" pitchFamily="34" charset="-122"/>
                <a:cs typeface="Cambria" pitchFamily="34" charset="-120"/>
              </a:rPr>
              <a:t>(0, (</a:t>
            </a:r>
            <a:r>
              <a:rPr lang="en-US" sz="1450" i="1" dirty="0">
                <a:solidFill>
                  <a:schemeClr val="tx1"/>
                </a:solidFill>
                <a:latin typeface="Cambria" pitchFamily="34" charset="0"/>
                <a:ea typeface="Cambria" pitchFamily="34" charset="-122"/>
                <a:cs typeface="Cambria" pitchFamily="34" charset="-120"/>
              </a:rPr>
              <a:t>z</a:t>
            </a:r>
            <a:r>
              <a:rPr lang="en-US" sz="1450" dirty="0">
                <a:solidFill>
                  <a:schemeClr val="tx1"/>
                </a:solidFill>
                <a:latin typeface="Cambria" pitchFamily="34" charset="0"/>
                <a:ea typeface="Cambria" pitchFamily="34" charset="-122"/>
                <a:cs typeface="Cambria" pitchFamily="34" charset="-120"/>
              </a:rPr>
              <a:t>Δ</a:t>
            </a:r>
            <a:r>
              <a:rPr lang="en-US" sz="1450" baseline="-40000" dirty="0">
                <a:solidFill>
                  <a:schemeClr val="tx1"/>
                </a:solidFill>
                <a:latin typeface="Cambria" pitchFamily="34" charset="0"/>
                <a:ea typeface="Cambria" pitchFamily="34" charset="-122"/>
                <a:cs typeface="Cambria" pitchFamily="34" charset="-120"/>
              </a:rPr>
              <a:t>B</a:t>
            </a:r>
            <a:r>
              <a:rPr lang="en-US" sz="1450" dirty="0">
                <a:solidFill>
                  <a:schemeClr val="tx1"/>
                </a:solidFill>
                <a:latin typeface="Cambria" pitchFamily="34" charset="0"/>
                <a:ea typeface="Cambria" pitchFamily="34" charset="-122"/>
                <a:cs typeface="Cambria" pitchFamily="34" charset="-120"/>
              </a:rPr>
              <a:t>)</a:t>
            </a:r>
            <a:r>
              <a:rPr lang="en-US" sz="1450" baseline="30000" dirty="0">
                <a:solidFill>
                  <a:schemeClr val="tx1"/>
                </a:solidFill>
                <a:latin typeface="Cambria" pitchFamily="34" charset="0"/>
                <a:ea typeface="Cambria" pitchFamily="34" charset="-122"/>
                <a:cs typeface="Cambria" pitchFamily="34" charset="-120"/>
              </a:rPr>
              <a:t>2</a:t>
            </a:r>
            <a:r>
              <a:rPr lang="en-US" sz="1450" dirty="0">
                <a:solidFill>
                  <a:schemeClr val="tx1"/>
                </a:solidFill>
                <a:latin typeface="Cambria" pitchFamily="34" charset="0"/>
                <a:ea typeface="Cambria" pitchFamily="34" charset="-122"/>
                <a:cs typeface="Cambria" pitchFamily="34" charset="-120"/>
              </a:rPr>
              <a:t>)</a:t>
            </a:r>
            <a:endParaRPr lang="en-US" sz="1450" dirty="0"/>
          </a:p>
        </p:txBody>
      </p:sp>
      <p:sp>
        <p:nvSpPr>
          <p:cNvPr id="16" name="Text 14"/>
          <p:cNvSpPr txBox="1"/>
          <p:nvPr/>
        </p:nvSpPr>
        <p:spPr>
          <a:xfrm>
            <a:off x="4683557" y="3291840"/>
            <a:ext cx="2824582" cy="73152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Each candidate releases one clipped, sampled-Gaussian score computed on a fresh batch </a:t>
            </a:r>
            <a:r>
              <a:rPr lang="en-US" sz="1250" i="1" dirty="0">
                <a:solidFill>
                  <a:schemeClr val="tx2"/>
                </a:solidFill>
              </a:rPr>
              <a:t>B</a:t>
            </a:r>
            <a:r>
              <a:rPr lang="en-US" sz="1250" dirty="0">
                <a:solidFill>
                  <a:schemeClr val="tx2"/>
                </a:solidFill>
              </a:rPr>
              <a:t> </a:t>
            </a:r>
            <a:r>
              <a:rPr lang="en-US" sz="1250" dirty="0">
                <a:solidFill>
                  <a:schemeClr val="tx2"/>
                </a:solidFill>
                <a:latin typeface="Cambria" pitchFamily="34" charset="0"/>
                <a:ea typeface="Cambria" pitchFamily="34" charset="-122"/>
                <a:cs typeface="Cambria" pitchFamily="34" charset="-120"/>
              </a:rPr>
              <a:t>⊂</a:t>
            </a:r>
            <a:r>
              <a:rPr lang="en-US" sz="1250" dirty="0">
                <a:solidFill>
                  <a:schemeClr val="tx2"/>
                </a:solidFill>
              </a:rPr>
              <a:t> </a:t>
            </a:r>
            <a:r>
              <a:rPr lang="en-US" sz="1250" i="1" dirty="0">
                <a:solidFill>
                  <a:schemeClr val="tx2"/>
                </a:solidFill>
              </a:rPr>
              <a:t>D</a:t>
            </a:r>
            <a:r>
              <a:rPr lang="en-US" sz="1250" dirty="0">
                <a:solidFill>
                  <a:schemeClr val="tx2"/>
                </a:solidFill>
              </a:rPr>
              <a:t>.</a:t>
            </a:r>
            <a:endParaRPr lang="en-US" sz="1250" dirty="0"/>
          </a:p>
        </p:txBody>
      </p:sp>
      <p:sp>
        <p:nvSpPr>
          <p:cNvPr id="17" name="Text 15"/>
          <p:cNvSpPr txBox="1"/>
          <p:nvPr/>
        </p:nvSpPr>
        <p:spPr>
          <a:xfrm>
            <a:off x="4683557" y="4133088"/>
            <a:ext cx="2824582" cy="256032"/>
          </a:xfrm>
          <a:prstGeom prst="rect">
            <a:avLst/>
          </a:prstGeom>
          <a:solidFill>
            <a:schemeClr val="accent1"/>
          </a:solidFill>
          <a:ln/>
        </p:spPr>
        <p:txBody>
          <a:bodyPr wrap="square" lIns="0" tIns="0" rIns="0" bIns="0" rtlCol="0" anchor="ctr"/>
          <a:lstStyle/>
          <a:p>
            <a:pPr algn="ctr" indent="0" marL="0">
              <a:buNone/>
            </a:pPr>
            <a:r>
              <a:rPr lang="en-US" sz="1000" b="1" spc="200" kern="0" dirty="0">
                <a:solidFill>
                  <a:schemeClr val="bg1"/>
                </a:solidFill>
              </a:rPr>
              <a:t>≤ TK SCORE RELEASES</a:t>
            </a:r>
            <a:endParaRPr lang="en-US" sz="1000" dirty="0"/>
          </a:p>
        </p:txBody>
      </p:sp>
      <p:sp>
        <p:nvSpPr>
          <p:cNvPr id="18" name="Text 16"/>
          <p:cNvSpPr txBox="1"/>
          <p:nvPr/>
        </p:nvSpPr>
        <p:spPr>
          <a:xfrm>
            <a:off x="7755026" y="2971800"/>
            <a:ext cx="374904" cy="457200"/>
          </a:xfrm>
          <a:prstGeom prst="rect">
            <a:avLst/>
          </a:prstGeom>
          <a:noFill/>
          <a:ln/>
        </p:spPr>
        <p:txBody>
          <a:bodyPr wrap="square" lIns="0" tIns="0" rIns="0" bIns="0" rtlCol="0" anchor="ctr"/>
          <a:lstStyle/>
          <a:p>
            <a:pPr algn="ctr" indent="0" marL="0">
              <a:buNone/>
            </a:pPr>
            <a:r>
              <a:rPr lang="en-US" sz="2200" dirty="0">
                <a:solidFill>
                  <a:schemeClr val="accent3"/>
                </a:solidFill>
                <a:latin typeface="Cambria" pitchFamily="34" charset="0"/>
                <a:ea typeface="Cambria" pitchFamily="34" charset="-122"/>
                <a:cs typeface="Cambria" pitchFamily="34" charset="-120"/>
              </a:rPr>
              <a:t>→</a:t>
            </a:r>
            <a:endParaRPr lang="en-US" sz="2200" dirty="0"/>
          </a:p>
        </p:txBody>
      </p:sp>
      <p:sp>
        <p:nvSpPr>
          <p:cNvPr id="19" name="Shape 17"/>
          <p:cNvSpPr/>
          <p:nvPr/>
        </p:nvSpPr>
        <p:spPr>
          <a:xfrm>
            <a:off x="8148218" y="1828800"/>
            <a:ext cx="3281782" cy="2743200"/>
          </a:xfrm>
          <a:prstGeom prst="rect">
            <a:avLst/>
          </a:prstGeom>
          <a:ln w="12700">
            <a:solidFill>
              <a:srgbClr val="CFC8B8"/>
            </a:solidFill>
            <a:prstDash val="solid"/>
          </a:ln>
        </p:spPr>
      </p:sp>
      <p:sp>
        <p:nvSpPr>
          <p:cNvPr id="20" name="Text 18"/>
          <p:cNvSpPr txBox="1"/>
          <p:nvPr/>
        </p:nvSpPr>
        <p:spPr>
          <a:xfrm>
            <a:off x="8376818" y="2029968"/>
            <a:ext cx="2824582"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PHASE 3 · POST-PROCESSING</a:t>
            </a:r>
            <a:endParaRPr lang="en-US" sz="1050" dirty="0"/>
          </a:p>
        </p:txBody>
      </p:sp>
      <p:sp>
        <p:nvSpPr>
          <p:cNvPr id="21" name="Text 19"/>
          <p:cNvSpPr txBox="1"/>
          <p:nvPr/>
        </p:nvSpPr>
        <p:spPr>
          <a:xfrm>
            <a:off x="8376818" y="2331720"/>
            <a:ext cx="2824582" cy="411480"/>
          </a:xfrm>
          <a:prstGeom prst="rect">
            <a:avLst/>
          </a:prstGeom>
          <a:noFill/>
          <a:ln/>
        </p:spPr>
        <p:txBody>
          <a:bodyPr wrap="square" lIns="0" tIns="0" rIns="0" bIns="0" rtlCol="0" anchor="t"/>
          <a:lstStyle/>
          <a:p>
            <a:pPr indent="0" marL="0">
              <a:buNone/>
            </a:pPr>
            <a:r>
              <a:rPr lang="en-US" sz="2200" dirty="0">
                <a:solidFill>
                  <a:schemeClr val="tx1"/>
                </a:solidFill>
                <a:latin typeface="+mj-lt" pitchFamily="34" charset="0"/>
                <a:ea typeface="+mj-lt" pitchFamily="34" charset="-122"/>
                <a:cs typeface="+mj-lt" pitchFamily="34" charset="-120"/>
              </a:rPr>
              <a:t>Select parents</a:t>
            </a:r>
            <a:endParaRPr lang="en-US" sz="2200" dirty="0"/>
          </a:p>
        </p:txBody>
      </p:sp>
      <p:sp>
        <p:nvSpPr>
          <p:cNvPr id="22" name="Text 20"/>
          <p:cNvSpPr txBox="1"/>
          <p:nvPr/>
        </p:nvSpPr>
        <p:spPr>
          <a:xfrm>
            <a:off x="8376818" y="2852928"/>
            <a:ext cx="2824582" cy="365760"/>
          </a:xfrm>
          <a:prstGeom prst="rect">
            <a:avLst/>
          </a:prstGeom>
          <a:noFill/>
          <a:ln/>
        </p:spPr>
        <p:txBody>
          <a:bodyPr wrap="square" lIns="0" tIns="0" rIns="0" bIns="0" rtlCol="0" anchor="t"/>
          <a:lstStyle/>
          <a:p>
            <a:pPr indent="0" marL="0">
              <a:buNone/>
            </a:pPr>
            <a:r>
              <a:rPr lang="en-US" sz="1450" i="1" dirty="0">
                <a:solidFill>
                  <a:schemeClr val="tx1"/>
                </a:solidFill>
                <a:latin typeface="Cambria" pitchFamily="34" charset="0"/>
                <a:ea typeface="Cambria" pitchFamily="34" charset="-122"/>
                <a:cs typeface="Cambria" pitchFamily="34" charset="-120"/>
              </a:rPr>
              <a:t>S</a:t>
            </a:r>
            <a:r>
              <a:rPr lang="en-US" sz="1450" baseline="-40000" dirty="0">
                <a:solidFill>
                  <a:schemeClr val="tx1"/>
                </a:solidFill>
                <a:latin typeface="Cambria" pitchFamily="34" charset="0"/>
                <a:ea typeface="Cambria" pitchFamily="34" charset="-122"/>
                <a:cs typeface="Cambria" pitchFamily="34" charset="-120"/>
              </a:rPr>
              <a:t>t</a:t>
            </a:r>
            <a:r>
              <a:rPr lang="en-US" sz="1450" dirty="0">
                <a:solidFill>
                  <a:schemeClr val="tx1"/>
                </a:solidFill>
                <a:latin typeface="Cambria" pitchFamily="34" charset="0"/>
                <a:ea typeface="Cambria" pitchFamily="34" charset="-122"/>
                <a:cs typeface="Cambria" pitchFamily="34" charset="-120"/>
              </a:rPr>
              <a:t> = top-</a:t>
            </a:r>
            <a:r>
              <a:rPr lang="en-US" sz="1450" i="1" dirty="0">
                <a:solidFill>
                  <a:schemeClr val="tx1"/>
                </a:solidFill>
                <a:latin typeface="Cambria" pitchFamily="34" charset="0"/>
                <a:ea typeface="Cambria" pitchFamily="34" charset="-122"/>
                <a:cs typeface="Cambria" pitchFamily="34" charset="-120"/>
              </a:rPr>
              <a:t>M</a:t>
            </a:r>
            <a:r>
              <a:rPr lang="en-US" sz="1450" dirty="0">
                <a:solidFill>
                  <a:schemeClr val="tx1"/>
                </a:solidFill>
                <a:latin typeface="Cambria" pitchFamily="34" charset="0"/>
                <a:ea typeface="Cambria" pitchFamily="34" charset="-122"/>
                <a:cs typeface="Cambria" pitchFamily="34" charset="-120"/>
              </a:rPr>
              <a:t> of privatized scores</a:t>
            </a:r>
            <a:endParaRPr lang="en-US" sz="1450" dirty="0"/>
          </a:p>
        </p:txBody>
      </p:sp>
      <p:sp>
        <p:nvSpPr>
          <p:cNvPr id="23" name="Text 21"/>
          <p:cNvSpPr txBox="1"/>
          <p:nvPr/>
        </p:nvSpPr>
        <p:spPr>
          <a:xfrm>
            <a:off x="8376818" y="3291840"/>
            <a:ext cx="2824582" cy="73152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Gumbel-smoothed (fixed, data-independent </a:t>
            </a:r>
            <a:r>
              <a:rPr lang="en-US" sz="1250" dirty="0">
                <a:solidFill>
                  <a:schemeClr val="tx2"/>
                </a:solidFill>
                <a:latin typeface="Cambria" pitchFamily="34" charset="0"/>
                <a:ea typeface="Cambria" pitchFamily="34" charset="-122"/>
                <a:cs typeface="Cambria" pitchFamily="34" charset="-120"/>
              </a:rPr>
              <a:t>β</a:t>
            </a:r>
            <a:r>
              <a:rPr lang="en-US" sz="1250" dirty="0">
                <a:solidFill>
                  <a:schemeClr val="tx2"/>
                </a:solidFill>
              </a:rPr>
              <a:t>) or deterministic; reads only released scores.</a:t>
            </a:r>
            <a:endParaRPr lang="en-US" sz="1250" dirty="0"/>
          </a:p>
        </p:txBody>
      </p:sp>
      <p:sp>
        <p:nvSpPr>
          <p:cNvPr id="24" name="Text 22"/>
          <p:cNvSpPr txBox="1"/>
          <p:nvPr/>
        </p:nvSpPr>
        <p:spPr>
          <a:xfrm>
            <a:off x="8376818" y="4133088"/>
            <a:ext cx="2824582" cy="256032"/>
          </a:xfrm>
          <a:prstGeom prst="rect">
            <a:avLst/>
          </a:prstGeom>
          <a:ln w="12700">
            <a:solidFill>
              <a:srgbClr val="8C2F39"/>
            </a:solidFill>
          </a:ln>
        </p:spPr>
        <p:txBody>
          <a:bodyPr wrap="square" lIns="0" tIns="0" rIns="0" bIns="0" rtlCol="0" anchor="ctr"/>
          <a:lstStyle/>
          <a:p>
            <a:pPr algn="ctr" indent="0" marL="0">
              <a:buNone/>
            </a:pPr>
            <a:r>
              <a:rPr lang="en-US" sz="1000" b="1" spc="200" kern="0" dirty="0">
                <a:solidFill>
                  <a:schemeClr val="accent1"/>
                </a:solidFill>
              </a:rPr>
              <a:t>0 ADDITIONAL PRIVACY LOSS</a:t>
            </a:r>
            <a:endParaRPr lang="en-US" sz="1000" dirty="0"/>
          </a:p>
        </p:txBody>
      </p:sp>
      <p:sp>
        <p:nvSpPr>
          <p:cNvPr id="25" name="Shape 23"/>
          <p:cNvSpPr/>
          <p:nvPr/>
        </p:nvSpPr>
        <p:spPr>
          <a:xfrm flipV="1">
            <a:off x="9789109" y="1517904"/>
            <a:ext cx="0" cy="310896"/>
          </a:xfrm>
          <a:prstGeom prst="line">
            <a:avLst/>
          </a:prstGeom>
          <a:noFill/>
          <a:ln w="15875">
            <a:solidFill>
              <a:srgbClr val="6E675C"/>
            </a:solidFill>
            <a:prstDash val="solid"/>
          </a:ln>
        </p:spPr>
      </p:sp>
      <p:sp>
        <p:nvSpPr>
          <p:cNvPr id="26" name="Shape 24"/>
          <p:cNvSpPr/>
          <p:nvPr/>
        </p:nvSpPr>
        <p:spPr>
          <a:xfrm>
            <a:off x="2402586" y="1517904"/>
            <a:ext cx="7386523" cy="0"/>
          </a:xfrm>
          <a:prstGeom prst="line">
            <a:avLst/>
          </a:prstGeom>
          <a:noFill/>
          <a:ln w="15875">
            <a:solidFill>
              <a:srgbClr val="6E675C"/>
            </a:solidFill>
            <a:prstDash val="solid"/>
          </a:ln>
        </p:spPr>
      </p:sp>
      <p:sp>
        <p:nvSpPr>
          <p:cNvPr id="27" name="Shape 25"/>
          <p:cNvSpPr/>
          <p:nvPr/>
        </p:nvSpPr>
        <p:spPr>
          <a:xfrm>
            <a:off x="2402586" y="1517904"/>
            <a:ext cx="0" cy="310896"/>
          </a:xfrm>
          <a:prstGeom prst="line">
            <a:avLst/>
          </a:prstGeom>
          <a:noFill/>
          <a:ln w="15875">
            <a:solidFill>
              <a:srgbClr val="6E675C"/>
            </a:solidFill>
            <a:prstDash val="solid"/>
            <a:tailEnd type="triangle"/>
          </a:ln>
        </p:spPr>
      </p:sp>
      <p:sp>
        <p:nvSpPr>
          <p:cNvPr id="28" name="Text 26"/>
          <p:cNvSpPr txBox="1"/>
          <p:nvPr/>
        </p:nvSpPr>
        <p:spPr>
          <a:xfrm>
            <a:off x="4358488" y="1371600"/>
            <a:ext cx="3474720" cy="292608"/>
          </a:xfrm>
          <a:prstGeom prst="rect">
            <a:avLst/>
          </a:prstGeom>
          <a:solidFill>
            <a:schemeClr val="bg1"/>
          </a:solidFill>
          <a:ln/>
        </p:spPr>
        <p:txBody>
          <a:bodyPr wrap="square" lIns="0" tIns="0" rIns="0" bIns="0" rtlCol="0" anchor="ctr"/>
          <a:lstStyle/>
          <a:p>
            <a:pPr algn="ctr" indent="0" marL="0">
              <a:buNone/>
            </a:pPr>
            <a:r>
              <a:rPr lang="en-US" sz="1200" dirty="0">
                <a:solidFill>
                  <a:schemeClr val="tx1"/>
                </a:solidFill>
              </a:rPr>
              <a:t>top-</a:t>
            </a:r>
            <a:r>
              <a:rPr lang="en-US" sz="1200" i="1" dirty="0">
                <a:solidFill>
                  <a:schemeClr val="tx1"/>
                </a:solidFill>
              </a:rPr>
              <a:t>M</a:t>
            </a:r>
            <a:r>
              <a:rPr lang="en-US" sz="1200" dirty="0">
                <a:solidFill>
                  <a:schemeClr val="tx1"/>
                </a:solidFill>
              </a:rPr>
              <a:t> parents </a:t>
            </a:r>
            <a:r>
              <a:rPr lang="en-US" sz="1200" i="1" dirty="0">
                <a:solidFill>
                  <a:schemeClr val="tx1"/>
                </a:solidFill>
              </a:rPr>
              <a:t>S</a:t>
            </a:r>
            <a:r>
              <a:rPr lang="en-US" sz="1200" baseline="-40000" dirty="0">
                <a:solidFill>
                  <a:schemeClr val="tx1"/>
                </a:solidFill>
              </a:rPr>
              <a:t>t</a:t>
            </a:r>
            <a:r>
              <a:rPr lang="en-US" sz="1200" dirty="0">
                <a:solidFill>
                  <a:schemeClr val="tx1"/>
                </a:solidFill>
              </a:rPr>
              <a:t> </a:t>
            </a:r>
            <a:r>
              <a:rPr lang="en-US" sz="1200" dirty="0">
                <a:solidFill>
                  <a:schemeClr val="tx1"/>
                </a:solidFill>
                <a:latin typeface="Cambria" pitchFamily="34" charset="0"/>
                <a:ea typeface="Cambria" pitchFamily="34" charset="-122"/>
                <a:cs typeface="Cambria" pitchFamily="34" charset="-120"/>
              </a:rPr>
              <a:t>→</a:t>
            </a:r>
            <a:r>
              <a:rPr lang="en-US" sz="1200" dirty="0">
                <a:solidFill>
                  <a:schemeClr val="tx1"/>
                </a:solidFill>
              </a:rPr>
              <a:t> next iteration (× </a:t>
            </a:r>
            <a:r>
              <a:rPr lang="en-US" sz="1200" i="1" dirty="0">
                <a:solidFill>
                  <a:schemeClr val="tx1"/>
                </a:solidFill>
              </a:rPr>
              <a:t>T</a:t>
            </a:r>
            <a:r>
              <a:rPr lang="en-US" sz="1200" dirty="0">
                <a:solidFill>
                  <a:schemeClr val="tx1"/>
                </a:solidFill>
              </a:rPr>
              <a:t>)</a:t>
            </a:r>
            <a:endParaRPr lang="en-US" sz="1200" dirty="0"/>
          </a:p>
        </p:txBody>
      </p:sp>
      <p:sp>
        <p:nvSpPr>
          <p:cNvPr id="29" name="Text 27"/>
          <p:cNvSpPr txBox="1"/>
          <p:nvPr/>
        </p:nvSpPr>
        <p:spPr>
          <a:xfrm>
            <a:off x="4454957" y="4645152"/>
            <a:ext cx="3281782" cy="274320"/>
          </a:xfrm>
          <a:prstGeom prst="rect">
            <a:avLst/>
          </a:prstGeom>
          <a:noFill/>
          <a:ln/>
        </p:spPr>
        <p:txBody>
          <a:bodyPr wrap="square" lIns="0" tIns="0" rIns="0" bIns="0" rtlCol="0" anchor="t"/>
          <a:lstStyle/>
          <a:p>
            <a:pPr algn="ctr" indent="0" marL="0">
              <a:buNone/>
            </a:pPr>
            <a:r>
              <a:rPr lang="en-US" sz="1200" dirty="0">
                <a:solidFill>
                  <a:schemeClr val="accent1"/>
                </a:solidFill>
                <a:latin typeface="Cambria" pitchFamily="34" charset="0"/>
                <a:ea typeface="Cambria" pitchFamily="34" charset="-122"/>
                <a:cs typeface="Cambria" pitchFamily="34" charset="-120"/>
              </a:rPr>
              <a:t>↑</a:t>
            </a:r>
            <a:r>
              <a:rPr lang="en-US" sz="1200" dirty="0">
                <a:solidFill>
                  <a:schemeClr val="accent1"/>
                </a:solidFill>
              </a:rPr>
              <a:t>  reads </a:t>
            </a:r>
            <a:r>
              <a:rPr lang="en-US" sz="1200" b="1" dirty="0">
                <a:solidFill>
                  <a:schemeClr val="accent1"/>
                </a:solidFill>
              </a:rPr>
              <a:t>D</a:t>
            </a:r>
            <a:r>
              <a:rPr lang="en-US" sz="1200" dirty="0">
                <a:solidFill>
                  <a:schemeClr val="accent1"/>
                </a:solidFill>
              </a:rPr>
              <a:t>: the private optimization set (</a:t>
            </a:r>
            <a:r>
              <a:rPr lang="en-US" sz="1200" i="1" dirty="0">
                <a:solidFill>
                  <a:schemeClr val="accent1"/>
                </a:solidFill>
              </a:rPr>
              <a:t>n</a:t>
            </a:r>
            <a:r>
              <a:rPr lang="en-US" sz="1200" dirty="0">
                <a:solidFill>
                  <a:schemeClr val="accent1"/>
                </a:solidFill>
              </a:rPr>
              <a:t> records)</a:t>
            </a:r>
            <a:endParaRPr lang="en-US" sz="1200" dirty="0"/>
          </a:p>
        </p:txBody>
      </p:sp>
      <p:sp>
        <p:nvSpPr>
          <p:cNvPr id="30" name="Shape 28"/>
          <p:cNvSpPr/>
          <p:nvPr/>
        </p:nvSpPr>
        <p:spPr>
          <a:xfrm>
            <a:off x="761695" y="5166360"/>
            <a:ext cx="38405" cy="868680"/>
          </a:xfrm>
          <a:prstGeom prst="rect">
            <a:avLst/>
          </a:prstGeom>
          <a:solidFill>
            <a:schemeClr val="accent1"/>
          </a:solidFill>
          <a:ln/>
        </p:spPr>
      </p:sp>
      <p:sp>
        <p:nvSpPr>
          <p:cNvPr id="31" name="Text 29"/>
          <p:cNvSpPr txBox="1"/>
          <p:nvPr/>
        </p:nvSpPr>
        <p:spPr>
          <a:xfrm>
            <a:off x="1015898" y="5166360"/>
            <a:ext cx="10414102" cy="868680"/>
          </a:xfrm>
          <a:prstGeom prst="rect">
            <a:avLst/>
          </a:prstGeom>
          <a:noFill/>
          <a:ln/>
        </p:spPr>
        <p:txBody>
          <a:bodyPr wrap="square" lIns="0" tIns="0" rIns="0" bIns="0" rtlCol="0" anchor="ctr"/>
          <a:lstStyle/>
          <a:p>
            <a:pPr indent="0" marL="0">
              <a:lnSpc>
                <a:spcPct val="130000"/>
              </a:lnSpc>
              <a:buNone/>
            </a:pPr>
            <a:r>
              <a:rPr lang="en-US" sz="1200" b="1" dirty="0">
                <a:solidFill>
                  <a:schemeClr val="tx2"/>
                </a:solidFill>
              </a:rPr>
              <a:t>Privacy accounting.</a:t>
            </a:r>
            <a:r>
              <a:rPr lang="en-US" sz="1200" dirty="0">
                <a:solidFill>
                  <a:schemeClr val="tx2"/>
                </a:solidFill>
              </a:rPr>
              <a:t> Only Phase 2 accesses </a:t>
            </a:r>
            <a:r>
              <a:rPr lang="en-US" sz="1200" i="1" dirty="0">
                <a:solidFill>
                  <a:schemeClr val="tx2"/>
                </a:solidFill>
              </a:rPr>
              <a:t>D</a:t>
            </a:r>
            <a:r>
              <a:rPr lang="en-US" sz="1200" dirty="0">
                <a:solidFill>
                  <a:schemeClr val="tx2"/>
                </a:solidFill>
              </a:rPr>
              <a:t>. At most </a:t>
            </a:r>
            <a:r>
              <a:rPr lang="en-US" sz="1200" i="1" dirty="0">
                <a:solidFill>
                  <a:schemeClr val="tx2"/>
                </a:solidFill>
              </a:rPr>
              <a:t>T</a:t>
            </a:r>
            <a:r>
              <a:rPr lang="en-US" sz="1200" dirty="0">
                <a:solidFill>
                  <a:schemeClr val="tx2"/>
                </a:solidFill>
              </a:rPr>
              <a:t>·</a:t>
            </a:r>
            <a:r>
              <a:rPr lang="en-US" sz="1200" i="1" dirty="0">
                <a:solidFill>
                  <a:schemeClr val="tx2"/>
                </a:solidFill>
              </a:rPr>
              <a:t>K</a:t>
            </a:r>
            <a:r>
              <a:rPr lang="en-US" sz="1200" dirty="0">
                <a:solidFill>
                  <a:schemeClr val="tx2"/>
                </a:solidFill>
              </a:rPr>
              <a:t> sampled-Gaussian score releases compose in one RDP accountant; with </a:t>
            </a:r>
            <a:r>
              <a:rPr lang="en-US" sz="1200" i="1" dirty="0">
                <a:solidFill>
                  <a:schemeClr val="tx2"/>
                </a:solidFill>
              </a:rPr>
              <a:t>n</a:t>
            </a:r>
            <a:r>
              <a:rPr lang="en-US" sz="1200" dirty="0">
                <a:solidFill>
                  <a:schemeClr val="tx2"/>
                </a:solidFill>
              </a:rPr>
              <a:t> = 200, </a:t>
            </a:r>
            <a:r>
              <a:rPr lang="en-US" sz="1200" i="1" dirty="0">
                <a:solidFill>
                  <a:schemeClr val="tx2"/>
                </a:solidFill>
              </a:rPr>
              <a:t>b</a:t>
            </a:r>
            <a:r>
              <a:rPr lang="en-US" sz="1200" dirty="0">
                <a:solidFill>
                  <a:schemeClr val="tx2"/>
                </a:solidFill>
              </a:rPr>
              <a:t> = 10, </a:t>
            </a:r>
            <a:r>
              <a:rPr lang="en-US" sz="1200" i="1" dirty="0">
                <a:solidFill>
                  <a:schemeClr val="tx2"/>
                </a:solidFill>
              </a:rPr>
              <a:t>z</a:t>
            </a:r>
            <a:r>
              <a:rPr lang="en-US" sz="1200" dirty="0">
                <a:solidFill>
                  <a:schemeClr val="tx2"/>
                </a:solidFill>
              </a:rPr>
              <a:t> = 10, </a:t>
            </a:r>
            <a:r>
              <a:rPr lang="en-US" sz="1200" i="1" dirty="0">
                <a:solidFill>
                  <a:schemeClr val="tx2"/>
                </a:solidFill>
              </a:rPr>
              <a:t>K</a:t>
            </a:r>
            <a:r>
              <a:rPr lang="en-US" sz="1200" dirty="0">
                <a:solidFill>
                  <a:schemeClr val="tx2"/>
                </a:solidFill>
              </a:rPr>
              <a:t> = 6, </a:t>
            </a:r>
            <a:r>
              <a:rPr lang="en-US" sz="1200" i="1" dirty="0">
                <a:solidFill>
                  <a:schemeClr val="tx2"/>
                </a:solidFill>
              </a:rPr>
              <a:t>T</a:t>
            </a:r>
            <a:r>
              <a:rPr lang="en-US" sz="1200" dirty="0">
                <a:solidFill>
                  <a:schemeClr val="tx2"/>
                </a:solidFill>
              </a:rPr>
              <a:t> = 3, AutoDP gives </a:t>
            </a:r>
            <a:r>
              <a:rPr lang="en-US" sz="1200" b="1" dirty="0">
                <a:solidFill>
                  <a:schemeClr val="tx2"/>
                </a:solidFill>
                <a:latin typeface="Cambria" pitchFamily="34" charset="0"/>
                <a:ea typeface="Cambria" pitchFamily="34" charset="-122"/>
                <a:cs typeface="Cambria" pitchFamily="34" charset="-120"/>
              </a:rPr>
              <a:t>ε</a:t>
            </a:r>
            <a:r>
              <a:rPr lang="en-US" sz="1200" b="1" dirty="0">
                <a:solidFill>
                  <a:schemeClr val="tx2"/>
                </a:solidFill>
              </a:rPr>
              <a:t> </a:t>
            </a:r>
            <a:r>
              <a:rPr lang="en-US" sz="1200" b="1" dirty="0">
                <a:solidFill>
                  <a:schemeClr val="tx2"/>
                </a:solidFill>
                <a:latin typeface="Cambria" pitchFamily="34" charset="0"/>
                <a:ea typeface="Cambria" pitchFamily="34" charset="-122"/>
                <a:cs typeface="Cambria" pitchFamily="34" charset="-120"/>
              </a:rPr>
              <a:t>≤</a:t>
            </a:r>
            <a:r>
              <a:rPr lang="en-US" sz="1200" b="1" dirty="0">
                <a:solidFill>
                  <a:schemeClr val="tx2"/>
                </a:solidFill>
              </a:rPr>
              <a:t> 0.71 at </a:t>
            </a:r>
            <a:r>
              <a:rPr lang="en-US" sz="1200" b="1" dirty="0">
                <a:solidFill>
                  <a:schemeClr val="tx2"/>
                </a:solidFill>
                <a:latin typeface="Cambria" pitchFamily="34" charset="0"/>
                <a:ea typeface="Cambria" pitchFamily="34" charset="-122"/>
                <a:cs typeface="Cambria" pitchFamily="34" charset="-120"/>
              </a:rPr>
              <a:t>δ</a:t>
            </a:r>
            <a:r>
              <a:rPr lang="en-US" sz="1200" b="1" dirty="0">
                <a:solidFill>
                  <a:schemeClr val="tx2"/>
                </a:solidFill>
              </a:rPr>
              <a:t> = 10</a:t>
            </a:r>
            <a:r>
              <a:rPr lang="en-US" sz="1200" baseline="30000" dirty="0">
                <a:solidFill>
                  <a:schemeClr val="tx2"/>
                </a:solidFill>
                <a:latin typeface="Cambria" pitchFamily="34" charset="0"/>
                <a:ea typeface="Cambria" pitchFamily="34" charset="-122"/>
                <a:cs typeface="Cambria" pitchFamily="34" charset="-120"/>
              </a:rPr>
              <a:t>−</a:t>
            </a:r>
            <a:r>
              <a:rPr lang="en-US" sz="1200" baseline="30000" dirty="0">
                <a:solidFill>
                  <a:schemeClr val="tx2"/>
                </a:solidFill>
              </a:rPr>
              <a:t>5</a:t>
            </a:r>
            <a:r>
              <a:rPr lang="en-US" sz="1200" dirty="0">
                <a:solidFill>
                  <a:schemeClr val="tx2"/>
                </a:solidFill>
              </a:rPr>
              <a:t> — conservatively stated as </a:t>
            </a:r>
            <a:r>
              <a:rPr lang="en-US" sz="1200" dirty="0">
                <a:solidFill>
                  <a:schemeClr val="tx2"/>
                </a:solidFill>
                <a:latin typeface="Cambria" pitchFamily="34" charset="0"/>
                <a:ea typeface="Cambria" pitchFamily="34" charset="-122"/>
                <a:cs typeface="Cambria" pitchFamily="34" charset="-120"/>
              </a:rPr>
              <a:t>ε</a:t>
            </a:r>
            <a:r>
              <a:rPr lang="en-US" sz="1200" dirty="0">
                <a:solidFill>
                  <a:schemeClr val="tx2"/>
                </a:solidFill>
              </a:rPr>
              <a:t> </a:t>
            </a:r>
            <a:r>
              <a:rPr lang="en-US" sz="1200" dirty="0">
                <a:solidFill>
                  <a:schemeClr val="tx2"/>
                </a:solidFill>
                <a:latin typeface="Cambria" pitchFamily="34" charset="0"/>
                <a:ea typeface="Cambria" pitchFamily="34" charset="-122"/>
                <a:cs typeface="Cambria" pitchFamily="34" charset="-120"/>
              </a:rPr>
              <a:t>≤</a:t>
            </a:r>
            <a:r>
              <a:rPr lang="en-US" sz="1200" dirty="0">
                <a:solidFill>
                  <a:schemeClr val="tx2"/>
                </a:solidFill>
              </a:rPr>
              <a:t> 1. Mutation and selection add no privacy loss.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03 · METHOD</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One iteration, formally</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9 / 18</a:t>
            </a:r>
            <a:endParaRPr lang="en-US" sz="1000" dirty="0"/>
          </a:p>
        </p:txBody>
      </p:sp>
      <p:sp>
        <p:nvSpPr>
          <p:cNvPr id="5" name="Text 3"/>
          <p:cNvSpPr txBox="1"/>
          <p:nvPr/>
        </p:nvSpPr>
        <p:spPr>
          <a:xfrm>
            <a:off x="761695" y="1527048"/>
            <a:ext cx="1737360"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MUTATE</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privacy-free</a:t>
            </a:r>
            <a:endParaRPr lang="en-US" sz="1500" dirty="0"/>
          </a:p>
        </p:txBody>
      </p:sp>
      <p:sp>
        <p:nvSpPr>
          <p:cNvPr id="6" name="Text 4"/>
          <p:cNvSpPr txBox="1"/>
          <p:nvPr/>
        </p:nvSpPr>
        <p:spPr>
          <a:xfrm>
            <a:off x="2606040" y="1527048"/>
            <a:ext cx="4892040" cy="329184"/>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P</a:t>
            </a:r>
            <a:r>
              <a:rPr lang="en-US" sz="1400" baseline="-40000" dirty="0">
                <a:solidFill>
                  <a:schemeClr val="tx1"/>
                </a:solidFill>
                <a:latin typeface="Cambria" pitchFamily="34" charset="0"/>
                <a:ea typeface="Cambria" pitchFamily="34" charset="-122"/>
                <a:cs typeface="Cambria" pitchFamily="34" charset="-120"/>
              </a:rPr>
              <a:t>t</a:t>
            </a:r>
            <a:r>
              <a:rPr lang="en-US" sz="1400" dirty="0">
                <a:solidFill>
                  <a:schemeClr val="tx1"/>
                </a:solidFill>
                <a:latin typeface="Cambria" pitchFamily="34" charset="0"/>
                <a:ea typeface="Cambria" pitchFamily="34" charset="-122"/>
                <a:cs typeface="Cambria" pitchFamily="34" charset="-120"/>
              </a:rPr>
              <a:t> </a:t>
            </a:r>
            <a:r>
              <a:rPr lang="en-US" sz="1400" dirty="0">
                <a:solidFill>
                  <a:schemeClr val="tx1"/>
                </a:solidFill>
                <a:latin typeface="Cambria" pitchFamily="34" charset="0"/>
                <a:ea typeface="Cambria" pitchFamily="34" charset="-122"/>
                <a:cs typeface="Cambria" pitchFamily="34" charset="-120"/>
              </a:rPr>
              <a:t>←</a:t>
            </a:r>
            <a:r>
              <a:rPr lang="en-US" sz="1400" dirty="0">
                <a:solidFill>
                  <a:schemeClr val="tx1"/>
                </a:solidFill>
                <a:latin typeface="Cambria" pitchFamily="34" charset="0"/>
                <a:ea typeface="Cambria" pitchFamily="34" charset="-122"/>
                <a:cs typeface="Cambria" pitchFamily="34" charset="-120"/>
              </a:rPr>
              <a:t> Mutate-to-</a:t>
            </a:r>
            <a:r>
              <a:rPr lang="en-US" sz="1400" i="1" dirty="0">
                <a:solidFill>
                  <a:schemeClr val="tx1"/>
                </a:solidFill>
                <a:latin typeface="Cambria" pitchFamily="34" charset="0"/>
                <a:ea typeface="Cambria" pitchFamily="34" charset="-122"/>
                <a:cs typeface="Cambria" pitchFamily="34" charset="-120"/>
              </a:rPr>
              <a:t>K</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S</a:t>
            </a:r>
            <a:r>
              <a:rPr lang="en-US" sz="1400" baseline="-40000" dirty="0">
                <a:solidFill>
                  <a:schemeClr val="tx1"/>
                </a:solidFill>
                <a:latin typeface="Cambria" pitchFamily="34" charset="0"/>
                <a:ea typeface="Cambria" pitchFamily="34" charset="-122"/>
                <a:cs typeface="Cambria" pitchFamily="34" charset="-120"/>
              </a:rPr>
              <a:t>t</a:t>
            </a:r>
            <a:r>
              <a:rPr lang="en-US" sz="1400" baseline="-40000"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1</a:t>
            </a:r>
            <a:r>
              <a:rPr lang="en-US" sz="1400" dirty="0">
                <a:solidFill>
                  <a:schemeClr val="tx1"/>
                </a:solidFill>
                <a:latin typeface="Cambria" pitchFamily="34" charset="0"/>
                <a:ea typeface="Cambria" pitchFamily="34" charset="-122"/>
                <a:cs typeface="Cambria" pitchFamily="34" charset="-120"/>
              </a:rPr>
              <a:t>),   |</a:t>
            </a:r>
            <a:r>
              <a:rPr lang="en-US" sz="1400" i="1" dirty="0">
                <a:solidFill>
                  <a:schemeClr val="tx1"/>
                </a:solidFill>
                <a:latin typeface="Cambria" pitchFamily="34" charset="0"/>
                <a:ea typeface="Cambria" pitchFamily="34" charset="-122"/>
                <a:cs typeface="Cambria" pitchFamily="34" charset="-120"/>
              </a:rPr>
              <a:t>P</a:t>
            </a:r>
            <a:r>
              <a:rPr lang="en-US" sz="1400" baseline="-40000" dirty="0">
                <a:solidFill>
                  <a:schemeClr val="tx1"/>
                </a:solidFill>
                <a:latin typeface="Cambria" pitchFamily="34" charset="0"/>
                <a:ea typeface="Cambria" pitchFamily="34" charset="-122"/>
                <a:cs typeface="Cambria" pitchFamily="34" charset="-120"/>
              </a:rPr>
              <a:t>t</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K</a:t>
            </a:r>
            <a:endParaRPr lang="en-US" sz="1400" dirty="0"/>
          </a:p>
        </p:txBody>
      </p:sp>
      <p:sp>
        <p:nvSpPr>
          <p:cNvPr id="7" name="Text 5"/>
          <p:cNvSpPr txBox="1"/>
          <p:nvPr/>
        </p:nvSpPr>
        <p:spPr>
          <a:xfrm>
            <a:off x="2606040" y="1956816"/>
            <a:ext cx="4892040" cy="502920"/>
          </a:xfrm>
          <a:prstGeom prst="rect">
            <a:avLst/>
          </a:prstGeom>
          <a:noFill/>
          <a:ln/>
        </p:spPr>
        <p:txBody>
          <a:bodyPr wrap="square" lIns="0" tIns="0" rIns="0" bIns="0" rtlCol="0" anchor="t"/>
          <a:lstStyle/>
          <a:p>
            <a:pPr indent="0" marL="0">
              <a:lnSpc>
                <a:spcPct val="125000"/>
              </a:lnSpc>
              <a:buNone/>
            </a:pPr>
            <a:r>
              <a:rPr lang="en-US" sz="1250" dirty="0">
                <a:solidFill>
                  <a:schemeClr val="tx2"/>
                </a:solidFill>
              </a:rPr>
              <a:t>The mutation LLM sees only parent prompts — never records or record-derived feedback.</a:t>
            </a:r>
            <a:endParaRPr lang="en-US" sz="1250" dirty="0"/>
          </a:p>
        </p:txBody>
      </p:sp>
      <p:sp>
        <p:nvSpPr>
          <p:cNvPr id="8" name="Shape 6"/>
          <p:cNvSpPr/>
          <p:nvPr/>
        </p:nvSpPr>
        <p:spPr>
          <a:xfrm>
            <a:off x="761695" y="2852928"/>
            <a:ext cx="6720840" cy="12802"/>
          </a:xfrm>
          <a:prstGeom prst="rect">
            <a:avLst/>
          </a:prstGeom>
          <a:solidFill>
            <a:schemeClr val="accent4"/>
          </a:solidFill>
          <a:ln/>
        </p:spPr>
      </p:sp>
      <p:sp>
        <p:nvSpPr>
          <p:cNvPr id="9" name="Text 7"/>
          <p:cNvSpPr txBox="1"/>
          <p:nvPr/>
        </p:nvSpPr>
        <p:spPr>
          <a:xfrm>
            <a:off x="761695" y="2990088"/>
            <a:ext cx="1737360"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SCORE</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touches D</a:t>
            </a:r>
            <a:endParaRPr lang="en-US" sz="1500" dirty="0"/>
          </a:p>
        </p:txBody>
      </p:sp>
      <p:sp>
        <p:nvSpPr>
          <p:cNvPr id="10" name="Text 8"/>
          <p:cNvSpPr txBox="1"/>
          <p:nvPr/>
        </p:nvSpPr>
        <p:spPr>
          <a:xfrm>
            <a:off x="2606040" y="2990088"/>
            <a:ext cx="4892040" cy="329184"/>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u</a:t>
            </a:r>
            <a:r>
              <a:rPr lang="en-US" sz="1400" baseline="-40000" dirty="0">
                <a:solidFill>
                  <a:schemeClr val="tx1"/>
                </a:solidFill>
                <a:latin typeface="Cambria" pitchFamily="34" charset="0"/>
                <a:ea typeface="Cambria" pitchFamily="34" charset="-122"/>
                <a:cs typeface="Cambria" pitchFamily="34" charset="-120"/>
              </a:rPr>
              <a:t>i</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 1[LLM(</a:t>
            </a:r>
            <a:r>
              <a:rPr lang="en-US" sz="1400" i="1"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a:t>
            </a:r>
            <a:r>
              <a:rPr lang="en-US" sz="1400" i="1" dirty="0">
                <a:solidFill>
                  <a:schemeClr val="tx1"/>
                </a:solidFill>
                <a:latin typeface="Cambria" pitchFamily="34" charset="0"/>
                <a:ea typeface="Cambria" pitchFamily="34" charset="-122"/>
                <a:cs typeface="Cambria" pitchFamily="34" charset="-120"/>
              </a:rPr>
              <a:t>x</a:t>
            </a:r>
            <a:r>
              <a:rPr lang="en-US" sz="1400" baseline="-40000" dirty="0">
                <a:solidFill>
                  <a:schemeClr val="tx1"/>
                </a:solidFill>
                <a:latin typeface="Cambria" pitchFamily="34" charset="0"/>
                <a:ea typeface="Cambria" pitchFamily="34" charset="-122"/>
                <a:cs typeface="Cambria" pitchFamily="34" charset="-120"/>
              </a:rPr>
              <a:t>i</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y</a:t>
            </a:r>
            <a:r>
              <a:rPr lang="en-US" sz="1400" baseline="-40000" dirty="0">
                <a:solidFill>
                  <a:schemeClr val="tx1"/>
                </a:solidFill>
                <a:latin typeface="Cambria" pitchFamily="34" charset="0"/>
                <a:ea typeface="Cambria" pitchFamily="34" charset="-122"/>
                <a:cs typeface="Cambria" pitchFamily="34" charset="-120"/>
              </a:rPr>
              <a:t>i</a:t>
            </a:r>
            <a:r>
              <a:rPr lang="en-US" sz="1400" dirty="0">
                <a:solidFill>
                  <a:schemeClr val="tx1"/>
                </a:solidFill>
                <a:latin typeface="Cambria" pitchFamily="34" charset="0"/>
                <a:ea typeface="Cambria" pitchFamily="34" charset="-122"/>
                <a:cs typeface="Cambria" pitchFamily="34" charset="-120"/>
              </a:rPr>
              <a:t>],   </a:t>
            </a:r>
            <a:r>
              <a:rPr lang="en-US" sz="1400" i="1" dirty="0">
                <a:solidFill>
                  <a:schemeClr val="tx1"/>
                </a:solidFill>
                <a:latin typeface="Cambria" pitchFamily="34" charset="0"/>
                <a:ea typeface="Cambria" pitchFamily="34" charset="-122"/>
                <a:cs typeface="Cambria" pitchFamily="34" charset="-120"/>
              </a:rPr>
              <a:t>s</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B</a:t>
            </a:r>
            <a:r>
              <a:rPr lang="en-US" sz="1400" dirty="0">
                <a:solidFill>
                  <a:schemeClr val="tx1"/>
                </a:solidFill>
                <a:latin typeface="Cambria" pitchFamily="34" charset="0"/>
                <a:ea typeface="Cambria" pitchFamily="34" charset="-122"/>
                <a:cs typeface="Cambria" pitchFamily="34" charset="-120"/>
              </a:rPr>
              <a:t>) = (1/</a:t>
            </a:r>
            <a:r>
              <a:rPr lang="en-US" sz="1400" i="1" dirty="0">
                <a:solidFill>
                  <a:schemeClr val="tx1"/>
                </a:solidFill>
                <a:latin typeface="Cambria" pitchFamily="34" charset="0"/>
                <a:ea typeface="Cambria" pitchFamily="34" charset="-122"/>
                <a:cs typeface="Cambria" pitchFamily="34" charset="-120"/>
              </a:rPr>
              <a:t>b</a:t>
            </a:r>
            <a:r>
              <a:rPr lang="en-US" sz="1400" dirty="0">
                <a:solidFill>
                  <a:schemeClr val="tx1"/>
                </a:solidFill>
                <a:latin typeface="Cambria" pitchFamily="34" charset="0"/>
                <a:ea typeface="Cambria" pitchFamily="34" charset="-122"/>
                <a:cs typeface="Cambria" pitchFamily="34" charset="-120"/>
              </a:rPr>
              <a:t>) </a:t>
            </a:r>
            <a:r>
              <a:rPr lang="en-US" sz="1400" dirty="0">
                <a:solidFill>
                  <a:schemeClr val="tx1"/>
                </a:solidFill>
                <a:latin typeface="Cambria" pitchFamily="34" charset="0"/>
                <a:ea typeface="Cambria" pitchFamily="34" charset="-122"/>
                <a:cs typeface="Cambria" pitchFamily="34" charset="-120"/>
              </a:rPr>
              <a:t>Σ</a:t>
            </a:r>
            <a:r>
              <a:rPr lang="en-US" sz="1400" baseline="-40000" dirty="0">
                <a:solidFill>
                  <a:schemeClr val="tx1"/>
                </a:solidFill>
                <a:latin typeface="Cambria" pitchFamily="34" charset="0"/>
                <a:ea typeface="Cambria" pitchFamily="34" charset="-122"/>
                <a:cs typeface="Cambria" pitchFamily="34" charset="-120"/>
              </a:rPr>
              <a:t>i</a:t>
            </a:r>
            <a:r>
              <a:rPr lang="en-US" sz="1400" baseline="-40000"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B</a:t>
            </a:r>
            <a:r>
              <a:rPr lang="en-US" sz="1400" dirty="0">
                <a:solidFill>
                  <a:schemeClr val="tx1"/>
                </a:solidFill>
                <a:latin typeface="Cambria" pitchFamily="34" charset="0"/>
                <a:ea typeface="Cambria" pitchFamily="34" charset="-122"/>
                <a:cs typeface="Cambria" pitchFamily="34" charset="-120"/>
              </a:rPr>
              <a:t> clip(</a:t>
            </a:r>
            <a:r>
              <a:rPr lang="en-US" sz="1400" i="1" dirty="0">
                <a:solidFill>
                  <a:schemeClr val="tx1"/>
                </a:solidFill>
                <a:latin typeface="Cambria" pitchFamily="34" charset="0"/>
                <a:ea typeface="Cambria" pitchFamily="34" charset="-122"/>
                <a:cs typeface="Cambria" pitchFamily="34" charset="-120"/>
              </a:rPr>
              <a:t>u</a:t>
            </a:r>
            <a:r>
              <a:rPr lang="en-US" sz="1400" baseline="-40000" dirty="0">
                <a:solidFill>
                  <a:schemeClr val="tx1"/>
                </a:solidFill>
                <a:latin typeface="Cambria" pitchFamily="34" charset="0"/>
                <a:ea typeface="Cambria" pitchFamily="34" charset="-122"/>
                <a:cs typeface="Cambria" pitchFamily="34" charset="-120"/>
              </a:rPr>
              <a:t>i</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[0, </a:t>
            </a:r>
            <a:r>
              <a:rPr lang="en-US" sz="1400" i="1" dirty="0">
                <a:solidFill>
                  <a:schemeClr val="tx1"/>
                </a:solidFill>
                <a:latin typeface="Cambria" pitchFamily="34" charset="0"/>
                <a:ea typeface="Cambria" pitchFamily="34" charset="-122"/>
                <a:cs typeface="Cambria" pitchFamily="34" charset="-120"/>
              </a:rPr>
              <a:t>C</a:t>
            </a:r>
            <a:r>
              <a:rPr lang="en-US" sz="1400" dirty="0">
                <a:solidFill>
                  <a:schemeClr val="tx1"/>
                </a:solidFill>
                <a:latin typeface="Cambria" pitchFamily="34" charset="0"/>
                <a:ea typeface="Cambria" pitchFamily="34" charset="-122"/>
                <a:cs typeface="Cambria" pitchFamily="34" charset="-120"/>
              </a:rPr>
              <a:t>])</a:t>
            </a:r>
            <a:endParaRPr lang="en-US" sz="1400" dirty="0"/>
          </a:p>
        </p:txBody>
      </p:sp>
      <p:sp>
        <p:nvSpPr>
          <p:cNvPr id="11" name="Text 9"/>
          <p:cNvSpPr txBox="1"/>
          <p:nvPr/>
        </p:nvSpPr>
        <p:spPr>
          <a:xfrm>
            <a:off x="2606040" y="3355848"/>
            <a:ext cx="4892040" cy="329184"/>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a:t>
            </a:r>
            <a:r>
              <a:rPr lang="en-US" sz="1400" i="1"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s</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B</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N</a:t>
            </a:r>
            <a:r>
              <a:rPr lang="en-US" sz="1400" dirty="0">
                <a:solidFill>
                  <a:schemeClr val="tx1"/>
                </a:solidFill>
                <a:latin typeface="Cambria" pitchFamily="34" charset="0"/>
                <a:ea typeface="Cambria" pitchFamily="34" charset="-122"/>
                <a:cs typeface="Cambria" pitchFamily="34" charset="-120"/>
              </a:rPr>
              <a:t>(0, </a:t>
            </a:r>
            <a:r>
              <a:rPr lang="en-US" sz="1400" dirty="0">
                <a:solidFill>
                  <a:schemeClr val="tx1"/>
                </a:solidFill>
                <a:latin typeface="Cambria" pitchFamily="34" charset="0"/>
                <a:ea typeface="Cambria" pitchFamily="34" charset="-122"/>
                <a:cs typeface="Cambria" pitchFamily="34" charset="-120"/>
              </a:rPr>
              <a:t>σ</a:t>
            </a:r>
            <a:r>
              <a:rPr lang="en-US" sz="1400" baseline="30000" dirty="0">
                <a:solidFill>
                  <a:schemeClr val="tx1"/>
                </a:solidFill>
                <a:latin typeface="Cambria" pitchFamily="34" charset="0"/>
                <a:ea typeface="Cambria" pitchFamily="34" charset="-122"/>
                <a:cs typeface="Cambria" pitchFamily="34" charset="-120"/>
              </a:rPr>
              <a:t>2</a:t>
            </a:r>
            <a:r>
              <a:rPr lang="en-US" sz="1400" dirty="0">
                <a:solidFill>
                  <a:schemeClr val="tx1"/>
                </a:solidFill>
                <a:latin typeface="Cambria" pitchFamily="34" charset="0"/>
                <a:ea typeface="Cambria" pitchFamily="34" charset="-122"/>
                <a:cs typeface="Cambria" pitchFamily="34" charset="-120"/>
              </a:rPr>
              <a:t>),   </a:t>
            </a:r>
            <a:r>
              <a:rPr lang="en-US" sz="1400" dirty="0">
                <a:solidFill>
                  <a:schemeClr val="tx1"/>
                </a:solidFill>
                <a:latin typeface="Cambria" pitchFamily="34" charset="0"/>
                <a:ea typeface="Cambria" pitchFamily="34" charset="-122"/>
                <a:cs typeface="Cambria" pitchFamily="34" charset="-120"/>
              </a:rPr>
              <a:t>σ</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zC</a:t>
            </a:r>
            <a:r>
              <a:rPr lang="en-US" sz="1400" dirty="0">
                <a:solidFill>
                  <a:schemeClr val="tx1"/>
                </a:solidFill>
                <a:latin typeface="Cambria" pitchFamily="34" charset="0"/>
                <a:ea typeface="Cambria" pitchFamily="34" charset="-122"/>
                <a:cs typeface="Cambria" pitchFamily="34" charset="-120"/>
              </a:rPr>
              <a:t>/</a:t>
            </a:r>
            <a:r>
              <a:rPr lang="en-US" sz="1400" i="1" dirty="0">
                <a:solidFill>
                  <a:schemeClr val="tx1"/>
                </a:solidFill>
                <a:latin typeface="Cambria" pitchFamily="34" charset="0"/>
                <a:ea typeface="Cambria" pitchFamily="34" charset="-122"/>
                <a:cs typeface="Cambria" pitchFamily="34" charset="-120"/>
              </a:rPr>
              <a:t>b</a:t>
            </a:r>
            <a:endParaRPr lang="en-US" sz="1400" dirty="0"/>
          </a:p>
        </p:txBody>
      </p:sp>
      <p:sp>
        <p:nvSpPr>
          <p:cNvPr id="12" name="Text 10"/>
          <p:cNvSpPr txBox="1"/>
          <p:nvPr/>
        </p:nvSpPr>
        <p:spPr>
          <a:xfrm>
            <a:off x="2606040" y="3785616"/>
            <a:ext cx="4892040" cy="502920"/>
          </a:xfrm>
          <a:prstGeom prst="rect">
            <a:avLst/>
          </a:prstGeom>
          <a:noFill/>
          <a:ln/>
        </p:spPr>
        <p:txBody>
          <a:bodyPr wrap="square" lIns="0" tIns="0" rIns="0" bIns="0" rtlCol="0" anchor="t"/>
          <a:lstStyle/>
          <a:p>
            <a:pPr indent="0" marL="0">
              <a:lnSpc>
                <a:spcPct val="125000"/>
              </a:lnSpc>
              <a:buNone/>
            </a:pPr>
            <a:r>
              <a:rPr lang="en-US" sz="1250" dirty="0">
                <a:solidFill>
                  <a:schemeClr val="tx2"/>
                </a:solidFill>
              </a:rPr>
              <a:t>Fresh uniform batch </a:t>
            </a:r>
            <a:r>
              <a:rPr lang="en-US" sz="1250" i="1" dirty="0">
                <a:solidFill>
                  <a:schemeClr val="tx2"/>
                </a:solidFill>
              </a:rPr>
              <a:t>B</a:t>
            </a:r>
            <a:r>
              <a:rPr lang="en-US" sz="1250" dirty="0">
                <a:solidFill>
                  <a:schemeClr val="tx2"/>
                </a:solidFill>
              </a:rPr>
              <a:t> </a:t>
            </a:r>
            <a:r>
              <a:rPr lang="en-US" sz="1250" dirty="0">
                <a:solidFill>
                  <a:schemeClr val="tx2"/>
                </a:solidFill>
                <a:latin typeface="Cambria" pitchFamily="34" charset="0"/>
                <a:ea typeface="Cambria" pitchFamily="34" charset="-122"/>
                <a:cs typeface="Cambria" pitchFamily="34" charset="-120"/>
              </a:rPr>
              <a:t>⊂</a:t>
            </a:r>
            <a:r>
              <a:rPr lang="en-US" sz="1250" dirty="0">
                <a:solidFill>
                  <a:schemeClr val="tx2"/>
                </a:solidFill>
              </a:rPr>
              <a:t> </a:t>
            </a:r>
            <a:r>
              <a:rPr lang="en-US" sz="1250" i="1" dirty="0">
                <a:solidFill>
                  <a:schemeClr val="tx2"/>
                </a:solidFill>
              </a:rPr>
              <a:t>D</a:t>
            </a:r>
            <a:r>
              <a:rPr lang="en-US" sz="1250" dirty="0">
                <a:solidFill>
                  <a:schemeClr val="tx2"/>
                </a:solidFill>
              </a:rPr>
              <a:t>, |</a:t>
            </a:r>
            <a:r>
              <a:rPr lang="en-US" sz="1250" i="1" dirty="0">
                <a:solidFill>
                  <a:schemeClr val="tx2"/>
                </a:solidFill>
              </a:rPr>
              <a:t>B</a:t>
            </a:r>
            <a:r>
              <a:rPr lang="en-US" sz="1250" dirty="0">
                <a:solidFill>
                  <a:schemeClr val="tx2"/>
                </a:solidFill>
              </a:rPr>
              <a:t>| = </a:t>
            </a:r>
            <a:r>
              <a:rPr lang="en-US" sz="1250" i="1" dirty="0">
                <a:solidFill>
                  <a:schemeClr val="tx2"/>
                </a:solidFill>
              </a:rPr>
              <a:t>b</a:t>
            </a:r>
            <a:r>
              <a:rPr lang="en-US" sz="1250" dirty="0">
                <a:solidFill>
                  <a:schemeClr val="tx2"/>
                </a:solidFill>
              </a:rPr>
              <a:t>, per candidate; sensitivity </a:t>
            </a:r>
            <a:r>
              <a:rPr lang="en-US" sz="1250" i="1" dirty="0">
                <a:solidFill>
                  <a:schemeClr val="tx2"/>
                </a:solidFill>
              </a:rPr>
              <a:t>C</a:t>
            </a:r>
            <a:r>
              <a:rPr lang="en-US" sz="1250" dirty="0">
                <a:solidFill>
                  <a:schemeClr val="tx2"/>
                </a:solidFill>
              </a:rPr>
              <a:t>/</a:t>
            </a:r>
            <a:r>
              <a:rPr lang="en-US" sz="1250" i="1" dirty="0">
                <a:solidFill>
                  <a:schemeClr val="tx2"/>
                </a:solidFill>
              </a:rPr>
              <a:t>b</a:t>
            </a:r>
            <a:r>
              <a:rPr lang="en-US" sz="1250" dirty="0">
                <a:solidFill>
                  <a:schemeClr val="tx2"/>
                </a:solidFill>
              </a:rPr>
              <a:t>.</a:t>
            </a:r>
            <a:endParaRPr lang="en-US" sz="1250" dirty="0"/>
          </a:p>
        </p:txBody>
      </p:sp>
      <p:sp>
        <p:nvSpPr>
          <p:cNvPr id="13" name="Shape 11"/>
          <p:cNvSpPr/>
          <p:nvPr/>
        </p:nvSpPr>
        <p:spPr>
          <a:xfrm>
            <a:off x="761695" y="4636008"/>
            <a:ext cx="6720840" cy="12802"/>
          </a:xfrm>
          <a:prstGeom prst="rect">
            <a:avLst/>
          </a:prstGeom>
          <a:solidFill>
            <a:schemeClr val="accent4"/>
          </a:solidFill>
          <a:ln/>
        </p:spPr>
      </p:sp>
      <p:sp>
        <p:nvSpPr>
          <p:cNvPr id="14" name="Text 12"/>
          <p:cNvSpPr txBox="1"/>
          <p:nvPr/>
        </p:nvSpPr>
        <p:spPr>
          <a:xfrm>
            <a:off x="761695" y="4773168"/>
            <a:ext cx="1737360"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SELECT</a:t>
            </a:r>
            <a:endParaRPr lang="en-US" sz="1500" dirty="0"/>
          </a:p>
          <a:p>
            <a:pPr indent="0" marL="0">
              <a:lnSpc>
                <a:spcPct val="120000"/>
              </a:lnSpc>
              <a:buNone/>
            </a:pPr>
            <a:r>
              <a:rPr lang="en-US" sz="1100" b="1" spc="100" kern="0" dirty="0">
                <a:solidFill>
                  <a:schemeClr val="accent3"/>
                </a:solidFill>
                <a:latin typeface="JetBrains Mono" pitchFamily="34" charset="0"/>
                <a:ea typeface="JetBrains Mono" pitchFamily="34" charset="-122"/>
                <a:cs typeface="JetBrains Mono" pitchFamily="34" charset="-120"/>
              </a:rPr>
              <a:t>post-processing</a:t>
            </a:r>
            <a:endParaRPr lang="en-US" sz="1500" dirty="0"/>
          </a:p>
        </p:txBody>
      </p:sp>
      <p:sp>
        <p:nvSpPr>
          <p:cNvPr id="15" name="Text 13"/>
          <p:cNvSpPr txBox="1"/>
          <p:nvPr/>
        </p:nvSpPr>
        <p:spPr>
          <a:xfrm>
            <a:off x="2606040" y="4773168"/>
            <a:ext cx="4892040" cy="329184"/>
          </a:xfrm>
          <a:prstGeom prst="rect">
            <a:avLst/>
          </a:prstGeom>
          <a:noFill/>
          <a:ln/>
        </p:spPr>
        <p:txBody>
          <a:bodyPr wrap="square" lIns="0" tIns="0" rIns="0" bIns="0" rtlCol="0" anchor="t"/>
          <a:lstStyle/>
          <a:p>
            <a:pPr indent="0" marL="0">
              <a:buNone/>
            </a:pPr>
            <a:r>
              <a:rPr lang="en-US" sz="1400" i="1" dirty="0">
                <a:solidFill>
                  <a:schemeClr val="tx1"/>
                </a:solidFill>
                <a:latin typeface="Cambria" pitchFamily="34" charset="0"/>
                <a:ea typeface="Cambria" pitchFamily="34" charset="-122"/>
                <a:cs typeface="Cambria" pitchFamily="34" charset="-120"/>
              </a:rPr>
              <a:t>s</a:t>
            </a:r>
            <a:r>
              <a:rPr lang="en-US" sz="1400" i="1"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s</a:t>
            </a:r>
            <a:r>
              <a:rPr lang="en-US" sz="1400" i="1"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 Gumbel(0, </a:t>
            </a:r>
            <a:r>
              <a:rPr lang="en-US" sz="1400" dirty="0">
                <a:solidFill>
                  <a:schemeClr val="tx1"/>
                </a:solidFill>
                <a:latin typeface="Cambria" pitchFamily="34" charset="0"/>
                <a:ea typeface="Cambria" pitchFamily="34" charset="-122"/>
                <a:cs typeface="Cambria" pitchFamily="34" charset="-120"/>
              </a:rPr>
              <a:t>β</a:t>
            </a:r>
            <a:r>
              <a:rPr lang="en-US" sz="1400" dirty="0">
                <a:solidFill>
                  <a:schemeClr val="tx1"/>
                </a:solidFill>
                <a:latin typeface="Cambria" pitchFamily="34" charset="0"/>
                <a:ea typeface="Cambria" pitchFamily="34" charset="-122"/>
                <a:cs typeface="Cambria" pitchFamily="34" charset="-120"/>
              </a:rPr>
              <a:t>)  (default),   or   </a:t>
            </a:r>
            <a:r>
              <a:rPr lang="en-US" sz="1400" i="1" dirty="0">
                <a:solidFill>
                  <a:schemeClr val="tx1"/>
                </a:solidFill>
                <a:latin typeface="Cambria" pitchFamily="34" charset="0"/>
                <a:ea typeface="Cambria" pitchFamily="34" charset="-122"/>
                <a:cs typeface="Cambria" pitchFamily="34" charset="-120"/>
              </a:rPr>
              <a:t>s</a:t>
            </a:r>
            <a:r>
              <a:rPr lang="en-US" sz="1400" i="1"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 </a:t>
            </a:r>
            <a:r>
              <a:rPr lang="en-US" sz="1400" i="1" dirty="0">
                <a:solidFill>
                  <a:schemeClr val="tx1"/>
                </a:solidFill>
                <a:latin typeface="Cambria" pitchFamily="34" charset="0"/>
                <a:ea typeface="Cambria" pitchFamily="34" charset="-122"/>
                <a:cs typeface="Cambria" pitchFamily="34" charset="-120"/>
              </a:rPr>
              <a:t>s</a:t>
            </a:r>
            <a:r>
              <a:rPr lang="en-US" sz="1400" i="1" dirty="0">
                <a:solidFill>
                  <a:schemeClr val="tx1"/>
                </a:solidFill>
                <a:latin typeface="Cambria" pitchFamily="34" charset="0"/>
                <a:ea typeface="Cambria" pitchFamily="34" charset="-122"/>
                <a:cs typeface="Cambria" pitchFamily="34" charset="-120"/>
              </a:rPr>
              <a:t>̃</a:t>
            </a:r>
            <a:r>
              <a:rPr lang="en-US" sz="1400" baseline="-40000" dirty="0">
                <a:solidFill>
                  <a:schemeClr val="tx1"/>
                </a:solidFill>
                <a:latin typeface="Cambria" pitchFamily="34" charset="0"/>
                <a:ea typeface="Cambria" pitchFamily="34" charset="-122"/>
                <a:cs typeface="Cambria" pitchFamily="34" charset="-120"/>
              </a:rPr>
              <a:t>p</a:t>
            </a:r>
            <a:r>
              <a:rPr lang="en-US" sz="1400" dirty="0">
                <a:solidFill>
                  <a:schemeClr val="tx1"/>
                </a:solidFill>
                <a:latin typeface="Cambria" pitchFamily="34" charset="0"/>
                <a:ea typeface="Cambria" pitchFamily="34" charset="-122"/>
                <a:cs typeface="Cambria" pitchFamily="34" charset="-120"/>
              </a:rPr>
              <a:t>  (deterministic)</a:t>
            </a:r>
            <a:endParaRPr lang="en-US" sz="1400" dirty="0"/>
          </a:p>
        </p:txBody>
      </p:sp>
      <p:sp>
        <p:nvSpPr>
          <p:cNvPr id="16" name="Text 14"/>
          <p:cNvSpPr txBox="1"/>
          <p:nvPr/>
        </p:nvSpPr>
        <p:spPr>
          <a:xfrm>
            <a:off x="2606040" y="5202936"/>
            <a:ext cx="4892040" cy="502920"/>
          </a:xfrm>
          <a:prstGeom prst="rect">
            <a:avLst/>
          </a:prstGeom>
          <a:noFill/>
          <a:ln/>
        </p:spPr>
        <p:txBody>
          <a:bodyPr wrap="square" lIns="0" tIns="0" rIns="0" bIns="0" rtlCol="0" anchor="t"/>
          <a:lstStyle/>
          <a:p>
            <a:pPr indent="0" marL="0">
              <a:lnSpc>
                <a:spcPct val="125000"/>
              </a:lnSpc>
              <a:buNone/>
            </a:pPr>
            <a:r>
              <a:rPr lang="en-US" sz="1250" i="1" dirty="0">
                <a:solidFill>
                  <a:schemeClr val="tx2"/>
                </a:solidFill>
              </a:rPr>
              <a:t>S</a:t>
            </a:r>
            <a:r>
              <a:rPr lang="en-US" sz="1250" baseline="-40000" dirty="0">
                <a:solidFill>
                  <a:schemeClr val="tx2"/>
                </a:solidFill>
              </a:rPr>
              <a:t>t</a:t>
            </a:r>
            <a:r>
              <a:rPr lang="en-US" sz="1250" dirty="0">
                <a:solidFill>
                  <a:schemeClr val="tx2"/>
                </a:solidFill>
              </a:rPr>
              <a:t> </a:t>
            </a:r>
            <a:r>
              <a:rPr lang="en-US" sz="1250" dirty="0">
                <a:solidFill>
                  <a:schemeClr val="tx2"/>
                </a:solidFill>
                <a:latin typeface="Cambria" pitchFamily="34" charset="0"/>
                <a:ea typeface="Cambria" pitchFamily="34" charset="-122"/>
                <a:cs typeface="Cambria" pitchFamily="34" charset="-120"/>
              </a:rPr>
              <a:t>←</a:t>
            </a:r>
            <a:r>
              <a:rPr lang="en-US" sz="1250" dirty="0">
                <a:solidFill>
                  <a:schemeClr val="tx2"/>
                </a:solidFill>
              </a:rPr>
              <a:t> top-</a:t>
            </a:r>
            <a:r>
              <a:rPr lang="en-US" sz="1250" i="1" dirty="0">
                <a:solidFill>
                  <a:schemeClr val="tx2"/>
                </a:solidFill>
              </a:rPr>
              <a:t>M</a:t>
            </a:r>
            <a:r>
              <a:rPr lang="en-US" sz="1250" dirty="0">
                <a:solidFill>
                  <a:schemeClr val="tx2"/>
                </a:solidFill>
              </a:rPr>
              <a:t>(</a:t>
            </a:r>
            <a:r>
              <a:rPr lang="en-US" sz="1250" i="1" dirty="0">
                <a:solidFill>
                  <a:schemeClr val="tx2"/>
                </a:solidFill>
              </a:rPr>
              <a:t>P</a:t>
            </a:r>
            <a:r>
              <a:rPr lang="en-US" sz="1250" baseline="-40000" dirty="0">
                <a:solidFill>
                  <a:schemeClr val="tx2"/>
                </a:solidFill>
              </a:rPr>
              <a:t>t</a:t>
            </a:r>
            <a:r>
              <a:rPr lang="en-US" sz="1250" dirty="0">
                <a:solidFill>
                  <a:schemeClr val="tx2"/>
                </a:solidFill>
              </a:rPr>
              <a:t>, </a:t>
            </a:r>
            <a:r>
              <a:rPr lang="en-US" sz="1250" i="1" dirty="0">
                <a:solidFill>
                  <a:schemeClr val="tx2"/>
                </a:solidFill>
              </a:rPr>
              <a:t>s</a:t>
            </a:r>
            <a:r>
              <a:rPr lang="en-US" sz="1250" i="1" dirty="0">
                <a:solidFill>
                  <a:schemeClr val="tx2"/>
                </a:solidFill>
                <a:latin typeface="Cambria" pitchFamily="34" charset="0"/>
                <a:ea typeface="Cambria" pitchFamily="34" charset="-122"/>
                <a:cs typeface="Cambria" pitchFamily="34" charset="-120"/>
              </a:rPr>
              <a:t>̂</a:t>
            </a:r>
            <a:r>
              <a:rPr lang="en-US" sz="1250" dirty="0">
                <a:solidFill>
                  <a:schemeClr val="tx2"/>
                </a:solidFill>
              </a:rPr>
              <a:t>); the best-so-far prompt </a:t>
            </a:r>
            <a:r>
              <a:rPr lang="en-US" sz="1250" i="1" dirty="0">
                <a:solidFill>
                  <a:schemeClr val="tx2"/>
                </a:solidFill>
              </a:rPr>
              <a:t>p</a:t>
            </a:r>
            <a:r>
              <a:rPr lang="en-US" sz="1250" baseline="30000" dirty="0">
                <a:solidFill>
                  <a:schemeClr val="tx2"/>
                </a:solidFill>
              </a:rPr>
              <a:t>*</a:t>
            </a:r>
            <a:r>
              <a:rPr lang="en-US" sz="1250" dirty="0">
                <a:solidFill>
                  <a:schemeClr val="tx2"/>
                </a:solidFill>
              </a:rPr>
              <a:t> is tracked from </a:t>
            </a:r>
            <a:r>
              <a:rPr lang="en-US" sz="1250" i="1" dirty="0">
                <a:solidFill>
                  <a:schemeClr val="tx2"/>
                </a:solidFill>
              </a:rPr>
              <a:t>s</a:t>
            </a:r>
            <a:r>
              <a:rPr lang="en-US" sz="1250" i="1" dirty="0">
                <a:solidFill>
                  <a:schemeClr val="tx2"/>
                </a:solidFill>
                <a:latin typeface="Cambria" pitchFamily="34" charset="0"/>
                <a:ea typeface="Cambria" pitchFamily="34" charset="-122"/>
                <a:cs typeface="Cambria" pitchFamily="34" charset="-120"/>
              </a:rPr>
              <a:t>̃</a:t>
            </a:r>
            <a:r>
              <a:rPr lang="en-US" sz="1250" dirty="0">
                <a:solidFill>
                  <a:schemeClr val="tx2"/>
                </a:solidFill>
              </a:rPr>
              <a:t>.</a:t>
            </a:r>
            <a:endParaRPr lang="en-US" sz="1250" dirty="0"/>
          </a:p>
        </p:txBody>
      </p:sp>
      <p:sp>
        <p:nvSpPr>
          <p:cNvPr id="17" name="Shape 15"/>
          <p:cNvSpPr/>
          <p:nvPr/>
        </p:nvSpPr>
        <p:spPr>
          <a:xfrm>
            <a:off x="7818120" y="1481328"/>
            <a:ext cx="12802" cy="4663440"/>
          </a:xfrm>
          <a:prstGeom prst="rect">
            <a:avLst/>
          </a:prstGeom>
          <a:solidFill>
            <a:schemeClr val="accent4"/>
          </a:solidFill>
          <a:ln/>
        </p:spPr>
      </p:sp>
      <p:sp>
        <p:nvSpPr>
          <p:cNvPr id="18" name="Text 16"/>
          <p:cNvSpPr txBox="1"/>
          <p:nvPr/>
        </p:nvSpPr>
        <p:spPr>
          <a:xfrm>
            <a:off x="8183880" y="1481328"/>
            <a:ext cx="3246120" cy="228600"/>
          </a:xfrm>
          <a:prstGeom prst="rect">
            <a:avLst/>
          </a:prstGeom>
          <a:noFill/>
          <a:ln/>
        </p:spPr>
        <p:txBody>
          <a:bodyPr wrap="square" lIns="0" tIns="0" rIns="0" bIns="0" rtlCol="0" anchor="t"/>
          <a:lstStyle/>
          <a:p>
            <a:pPr indent="0" marL="0">
              <a:buNone/>
            </a:pPr>
            <a:r>
              <a:rPr lang="en-US" sz="1100" spc="200" kern="0" dirty="0">
                <a:solidFill>
                  <a:schemeClr val="accent1"/>
                </a:solidFill>
              </a:rPr>
              <a:t>CONFIGURATION (ALL TASKS)</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83880" y="1783080"/>
          <a:ext cx="3246120" cy="914400"/>
        </p:xfrm>
        <a:graphic>
          <a:graphicData uri="http://schemas.openxmlformats.org/drawingml/2006/table">
            <a:tbl>
              <a:tblPr/>
              <a:tblGrid>
                <a:gridCol w="685800"/>
                <a:gridCol w="548640"/>
                <a:gridCol w="2011680"/>
              </a:tblGrid>
              <a:tr h="393192">
                <a:tc>
                  <a:txBody>
                    <a:bodyPr/>
                    <a:lstStyle/>
                    <a:p>
                      <a:pPr algn="l" indent="0" marL="0">
                        <a:buNone/>
                      </a:pPr>
                      <a:r>
                        <a:rPr lang="en-US" sz="1200" b="1" dirty="0">
                          <a:solidFill>
                            <a:schemeClr val="tx1"/>
                          </a:solidFill>
                        </a:rPr>
                        <a:t>Symbol</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00" b="1" dirty="0">
                          <a:solidFill>
                            <a:schemeClr val="tx1"/>
                          </a:solidFill>
                        </a:rPr>
                        <a:t>Value</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l" indent="0" marL="0">
                        <a:buNone/>
                      </a:pPr>
                      <a:r>
                        <a:rPr lang="en-US" sz="1200" b="1" dirty="0">
                          <a:solidFill>
                            <a:schemeClr val="tx1"/>
                          </a:solidFill>
                        </a:rPr>
                        <a:t>Meaning</a:t>
                      </a:r>
                      <a:endParaRPr lang="en-US" sz="120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393192">
                <a:tc>
                  <a:txBody>
                    <a:bodyPr/>
                    <a:lstStyle/>
                    <a:p>
                      <a:pPr algn="l" indent="0" marL="0">
                        <a:buNone/>
                      </a:pPr>
                      <a:r>
                        <a:rPr lang="en-US" sz="1250" i="1" dirty="0">
                          <a:solidFill>
                            <a:schemeClr val="tx1"/>
                          </a:solidFill>
                        </a:rPr>
                        <a:t>K</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6</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candidates per round</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M</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2</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parents kept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T</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3</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rounds (iterations)</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b</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10</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scoring batch size</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z</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10</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noise multiplier</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C</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1</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clipping bound</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i="1" dirty="0">
                          <a:solidFill>
                            <a:schemeClr val="tx1"/>
                          </a:solidFill>
                        </a:rPr>
                        <a:t>n</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50" dirty="0">
                          <a:solidFill>
                            <a:schemeClr val="tx1"/>
                          </a:solidFill>
                        </a:rPr>
                        <a:t>200</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l" indent="0" marL="0">
                        <a:buNone/>
                      </a:pPr>
                      <a:r>
                        <a:rPr lang="en-US" sz="1250" dirty="0">
                          <a:solidFill>
                            <a:schemeClr val="tx1"/>
                          </a:solidFill>
                        </a:rPr>
                        <a:t>private records</a:t>
                      </a:r>
                      <a:endParaRPr lang="en-US" sz="1250" dirty="0"/>
                    </a:p>
                  </a:txBody>
                  <a:tcPr marL="91440" marR="91440" marT="36576" marB="36576"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250" dirty="0">
                          <a:solidFill>
                            <a:schemeClr val="tx1"/>
                          </a:solidFill>
                        </a:rPr>
                        <a:t>mode</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250" dirty="0">
                          <a:solidFill>
                            <a:schemeClr val="tx1"/>
                          </a:solidFill>
                        </a:rPr>
                        <a:t>—</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l" indent="0" marL="0">
                        <a:buNone/>
                      </a:pPr>
                      <a:r>
                        <a:rPr lang="en-US" sz="1250" dirty="0">
                          <a:solidFill>
                            <a:schemeClr val="tx1"/>
                          </a:solidFill>
                        </a:rPr>
                        <a:t>BALANCED mutation</a:t>
                      </a:r>
                      <a:endParaRPr lang="en-US" sz="125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r>
            </a:tbl>
          </a:graphicData>
        </a:graphic>
      </p:graphicFrame>
      <p:sp>
        <p:nvSpPr>
          <p:cNvPr id="20" name="Text 17"/>
          <p:cNvSpPr txBox="1"/>
          <p:nvPr/>
        </p:nvSpPr>
        <p:spPr>
          <a:xfrm>
            <a:off x="8183880" y="5486400"/>
            <a:ext cx="3246120" cy="274320"/>
          </a:xfrm>
          <a:prstGeom prst="rect">
            <a:avLst/>
          </a:prstGeom>
          <a:noFill/>
          <a:ln/>
        </p:spPr>
        <p:txBody>
          <a:bodyPr wrap="square" lIns="0" tIns="0" rIns="0" bIns="0" rtlCol="0" anchor="t"/>
          <a:lstStyle/>
          <a:p>
            <a:pPr indent="0" marL="0">
              <a:buNone/>
            </a:pPr>
            <a:r>
              <a:rPr lang="en-US" sz="1100" i="1" dirty="0">
                <a:solidFill>
                  <a:schemeClr val="tx2"/>
                </a:solidFill>
              </a:rPr>
              <a:t>Fixed in advance; not selected using task utility.</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04 · RESULTS</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Experimental setup: four tasks, one fixed configuration</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10 / 18</a:t>
            </a:r>
            <a:endParaRPr lang="en-US" sz="1000" dirty="0"/>
          </a:p>
        </p:txBody>
      </p:sp>
      <p:sp>
        <p:nvSpPr>
          <p:cNvPr id="5" name="Text 3"/>
          <p:cNvSpPr txBox="1"/>
          <p:nvPr/>
        </p:nvSpPr>
        <p:spPr>
          <a:xfrm>
            <a:off x="761695" y="1572768"/>
            <a:ext cx="2324176" cy="228600"/>
          </a:xfrm>
          <a:prstGeom prst="rect">
            <a:avLst/>
          </a:prstGeom>
          <a:noFill/>
          <a:ln/>
        </p:spPr>
        <p:txBody>
          <a:bodyPr wrap="square" lIns="0" tIns="0" rIns="0" bIns="0" rtlCol="0" anchor="t"/>
          <a:lstStyle/>
          <a:p>
            <a:pPr indent="0" marL="0">
              <a:buNone/>
            </a:pPr>
            <a:r>
              <a:rPr lang="en-US" sz="1100" spc="200" kern="0" dirty="0">
                <a:solidFill>
                  <a:schemeClr val="accent1"/>
                </a:solidFill>
              </a:rPr>
              <a:t>GSM8K</a:t>
            </a:r>
            <a:endParaRPr lang="en-US" sz="1100" dirty="0"/>
          </a:p>
        </p:txBody>
      </p:sp>
      <p:sp>
        <p:nvSpPr>
          <p:cNvPr id="6" name="Text 4"/>
          <p:cNvSpPr txBox="1"/>
          <p:nvPr/>
        </p:nvSpPr>
        <p:spPr>
          <a:xfrm>
            <a:off x="761695" y="1874520"/>
            <a:ext cx="2324176" cy="731520"/>
          </a:xfrm>
          <a:prstGeom prst="rect">
            <a:avLst/>
          </a:prstGeom>
          <a:noFill/>
          <a:ln/>
        </p:spPr>
        <p:txBody>
          <a:bodyPr wrap="square" lIns="0" tIns="0" rIns="0" bIns="0" rtlCol="0" anchor="t"/>
          <a:lstStyle/>
          <a:p>
            <a:pPr indent="0" marL="0">
              <a:lnSpc>
                <a:spcPct val="105000"/>
              </a:lnSpc>
              <a:buNone/>
            </a:pPr>
            <a:r>
              <a:rPr lang="en-US" sz="2100" dirty="0">
                <a:solidFill>
                  <a:schemeClr val="tx1"/>
                </a:solidFill>
                <a:latin typeface="+mj-lt" pitchFamily="34" charset="0"/>
                <a:ea typeface="+mj-lt" pitchFamily="34" charset="-122"/>
                <a:cs typeface="+mj-lt" pitchFamily="34" charset="-120"/>
              </a:rPr>
              <a:t>Multi-step math reasoning</a:t>
            </a:r>
            <a:endParaRPr lang="en-US" sz="2100" dirty="0"/>
          </a:p>
        </p:txBody>
      </p:sp>
      <p:sp>
        <p:nvSpPr>
          <p:cNvPr id="7" name="Text 5"/>
          <p:cNvSpPr txBox="1"/>
          <p:nvPr/>
        </p:nvSpPr>
        <p:spPr>
          <a:xfrm>
            <a:off x="761695" y="2697480"/>
            <a:ext cx="2324176" cy="91440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200-example optimization set; full 1,319-example test set</a:t>
            </a:r>
            <a:endParaRPr lang="en-US" sz="1250" dirty="0"/>
          </a:p>
        </p:txBody>
      </p:sp>
      <p:sp>
        <p:nvSpPr>
          <p:cNvPr id="8" name="Shape 6"/>
          <p:cNvSpPr/>
          <p:nvPr/>
        </p:nvSpPr>
        <p:spPr>
          <a:xfrm>
            <a:off x="3314471" y="1572768"/>
            <a:ext cx="12802" cy="2103120"/>
          </a:xfrm>
          <a:prstGeom prst="rect">
            <a:avLst/>
          </a:prstGeom>
          <a:solidFill>
            <a:schemeClr val="accent4"/>
          </a:solidFill>
          <a:ln/>
        </p:spPr>
      </p:sp>
      <p:sp>
        <p:nvSpPr>
          <p:cNvPr id="9" name="Text 7"/>
          <p:cNvSpPr txBox="1"/>
          <p:nvPr/>
        </p:nvSpPr>
        <p:spPr>
          <a:xfrm>
            <a:off x="3543071" y="1572768"/>
            <a:ext cx="2324176" cy="228600"/>
          </a:xfrm>
          <a:prstGeom prst="rect">
            <a:avLst/>
          </a:prstGeom>
          <a:noFill/>
          <a:ln/>
        </p:spPr>
        <p:txBody>
          <a:bodyPr wrap="square" lIns="0" tIns="0" rIns="0" bIns="0" rtlCol="0" anchor="t"/>
          <a:lstStyle/>
          <a:p>
            <a:pPr indent="0" marL="0">
              <a:buNone/>
            </a:pPr>
            <a:r>
              <a:rPr lang="en-US" sz="1100" spc="200" kern="0" dirty="0">
                <a:solidFill>
                  <a:schemeClr val="accent1"/>
                </a:solidFill>
              </a:rPr>
              <a:t>MEDQA</a:t>
            </a:r>
            <a:endParaRPr lang="en-US" sz="1100" dirty="0"/>
          </a:p>
        </p:txBody>
      </p:sp>
      <p:sp>
        <p:nvSpPr>
          <p:cNvPr id="10" name="Text 8"/>
          <p:cNvSpPr txBox="1"/>
          <p:nvPr/>
        </p:nvSpPr>
        <p:spPr>
          <a:xfrm>
            <a:off x="3543071" y="1874520"/>
            <a:ext cx="2324176" cy="731520"/>
          </a:xfrm>
          <a:prstGeom prst="rect">
            <a:avLst/>
          </a:prstGeom>
          <a:noFill/>
          <a:ln/>
        </p:spPr>
        <p:txBody>
          <a:bodyPr wrap="square" lIns="0" tIns="0" rIns="0" bIns="0" rtlCol="0" anchor="t"/>
          <a:lstStyle/>
          <a:p>
            <a:pPr indent="0" marL="0">
              <a:lnSpc>
                <a:spcPct val="105000"/>
              </a:lnSpc>
              <a:buNone/>
            </a:pPr>
            <a:r>
              <a:rPr lang="en-US" sz="2100" dirty="0">
                <a:solidFill>
                  <a:schemeClr val="tx1"/>
                </a:solidFill>
                <a:latin typeface="+mj-lt" pitchFamily="34" charset="0"/>
                <a:ea typeface="+mj-lt" pitchFamily="34" charset="-122"/>
                <a:cs typeface="+mj-lt" pitchFamily="34" charset="-120"/>
              </a:rPr>
              <a:t>Medical multiple-choice QA</a:t>
            </a:r>
            <a:endParaRPr lang="en-US" sz="2100" dirty="0"/>
          </a:p>
        </p:txBody>
      </p:sp>
      <p:sp>
        <p:nvSpPr>
          <p:cNvPr id="11" name="Text 9"/>
          <p:cNvSpPr txBox="1"/>
          <p:nvPr/>
        </p:nvSpPr>
        <p:spPr>
          <a:xfrm>
            <a:off x="3543071" y="2697480"/>
            <a:ext cx="2324176" cy="91440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200-question USMLE subset; near-ceiling regime</a:t>
            </a:r>
            <a:endParaRPr lang="en-US" sz="1250" dirty="0"/>
          </a:p>
        </p:txBody>
      </p:sp>
      <p:sp>
        <p:nvSpPr>
          <p:cNvPr id="12" name="Shape 10"/>
          <p:cNvSpPr/>
          <p:nvPr/>
        </p:nvSpPr>
        <p:spPr>
          <a:xfrm>
            <a:off x="6095848" y="1572768"/>
            <a:ext cx="12802" cy="2103120"/>
          </a:xfrm>
          <a:prstGeom prst="rect">
            <a:avLst/>
          </a:prstGeom>
          <a:solidFill>
            <a:schemeClr val="accent4"/>
          </a:solidFill>
          <a:ln/>
        </p:spPr>
      </p:sp>
      <p:sp>
        <p:nvSpPr>
          <p:cNvPr id="13" name="Text 11"/>
          <p:cNvSpPr txBox="1"/>
          <p:nvPr/>
        </p:nvSpPr>
        <p:spPr>
          <a:xfrm>
            <a:off x="6324448" y="1572768"/>
            <a:ext cx="2324176" cy="228600"/>
          </a:xfrm>
          <a:prstGeom prst="rect">
            <a:avLst/>
          </a:prstGeom>
          <a:noFill/>
          <a:ln/>
        </p:spPr>
        <p:txBody>
          <a:bodyPr wrap="square" lIns="0" tIns="0" rIns="0" bIns="0" rtlCol="0" anchor="t"/>
          <a:lstStyle/>
          <a:p>
            <a:pPr indent="0" marL="0">
              <a:buNone/>
            </a:pPr>
            <a:r>
              <a:rPr lang="en-US" sz="1100" spc="200" kern="0" dirty="0">
                <a:solidFill>
                  <a:schemeClr val="accent1"/>
                </a:solidFill>
              </a:rPr>
              <a:t>BANKING77</a:t>
            </a:r>
            <a:endParaRPr lang="en-US" sz="1100" dirty="0"/>
          </a:p>
        </p:txBody>
      </p:sp>
      <p:sp>
        <p:nvSpPr>
          <p:cNvPr id="14" name="Text 12"/>
          <p:cNvSpPr txBox="1"/>
          <p:nvPr/>
        </p:nvSpPr>
        <p:spPr>
          <a:xfrm>
            <a:off x="6324448" y="1874520"/>
            <a:ext cx="2324176" cy="731520"/>
          </a:xfrm>
          <a:prstGeom prst="rect">
            <a:avLst/>
          </a:prstGeom>
          <a:noFill/>
          <a:ln/>
        </p:spPr>
        <p:txBody>
          <a:bodyPr wrap="square" lIns="0" tIns="0" rIns="0" bIns="0" rtlCol="0" anchor="t"/>
          <a:lstStyle/>
          <a:p>
            <a:pPr indent="0" marL="0">
              <a:lnSpc>
                <a:spcPct val="105000"/>
              </a:lnSpc>
              <a:buNone/>
            </a:pPr>
            <a:r>
              <a:rPr lang="en-US" sz="2100" dirty="0">
                <a:solidFill>
                  <a:schemeClr val="tx1"/>
                </a:solidFill>
                <a:latin typeface="+mj-lt" pitchFamily="34" charset="0"/>
                <a:ea typeface="+mj-lt" pitchFamily="34" charset="-122"/>
                <a:cs typeface="+mj-lt" pitchFamily="34" charset="-120"/>
              </a:rPr>
              <a:t>Intent classification</a:t>
            </a:r>
            <a:endParaRPr lang="en-US" sz="2100" dirty="0"/>
          </a:p>
        </p:txBody>
      </p:sp>
      <p:sp>
        <p:nvSpPr>
          <p:cNvPr id="15" name="Text 13"/>
          <p:cNvSpPr txBox="1"/>
          <p:nvPr/>
        </p:nvSpPr>
        <p:spPr>
          <a:xfrm>
            <a:off x="6324448" y="2697480"/>
            <a:ext cx="2324176" cy="91440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77 classes, 200 examples; large label space</a:t>
            </a:r>
            <a:endParaRPr lang="en-US" sz="1250" dirty="0"/>
          </a:p>
        </p:txBody>
      </p:sp>
      <p:sp>
        <p:nvSpPr>
          <p:cNvPr id="16" name="Shape 14"/>
          <p:cNvSpPr/>
          <p:nvPr/>
        </p:nvSpPr>
        <p:spPr>
          <a:xfrm>
            <a:off x="8877224" y="1572768"/>
            <a:ext cx="12802" cy="2103120"/>
          </a:xfrm>
          <a:prstGeom prst="rect">
            <a:avLst/>
          </a:prstGeom>
          <a:solidFill>
            <a:schemeClr val="accent4"/>
          </a:solidFill>
          <a:ln/>
        </p:spPr>
      </p:sp>
      <p:sp>
        <p:nvSpPr>
          <p:cNvPr id="17" name="Text 15"/>
          <p:cNvSpPr txBox="1"/>
          <p:nvPr/>
        </p:nvSpPr>
        <p:spPr>
          <a:xfrm>
            <a:off x="9105824" y="1572768"/>
            <a:ext cx="2324176" cy="228600"/>
          </a:xfrm>
          <a:prstGeom prst="rect">
            <a:avLst/>
          </a:prstGeom>
          <a:noFill/>
          <a:ln/>
        </p:spPr>
        <p:txBody>
          <a:bodyPr wrap="square" lIns="0" tIns="0" rIns="0" bIns="0" rtlCol="0" anchor="t"/>
          <a:lstStyle/>
          <a:p>
            <a:pPr indent="0" marL="0">
              <a:buNone/>
            </a:pPr>
            <a:r>
              <a:rPr lang="en-US" sz="1100" spc="200" kern="0" dirty="0">
                <a:solidFill>
                  <a:schemeClr val="accent1"/>
                </a:solidFill>
              </a:rPr>
              <a:t>ALPACA</a:t>
            </a:r>
            <a:endParaRPr lang="en-US" sz="1100" dirty="0"/>
          </a:p>
        </p:txBody>
      </p:sp>
      <p:sp>
        <p:nvSpPr>
          <p:cNvPr id="18" name="Text 16"/>
          <p:cNvSpPr txBox="1"/>
          <p:nvPr/>
        </p:nvSpPr>
        <p:spPr>
          <a:xfrm>
            <a:off x="9105824" y="1874520"/>
            <a:ext cx="2324176" cy="731520"/>
          </a:xfrm>
          <a:prstGeom prst="rect">
            <a:avLst/>
          </a:prstGeom>
          <a:noFill/>
          <a:ln/>
        </p:spPr>
        <p:txBody>
          <a:bodyPr wrap="square" lIns="0" tIns="0" rIns="0" bIns="0" rtlCol="0" anchor="t"/>
          <a:lstStyle/>
          <a:p>
            <a:pPr indent="0" marL="0">
              <a:lnSpc>
                <a:spcPct val="105000"/>
              </a:lnSpc>
              <a:buNone/>
            </a:pPr>
            <a:r>
              <a:rPr lang="en-US" sz="2100" dirty="0">
                <a:solidFill>
                  <a:schemeClr val="tx1"/>
                </a:solidFill>
                <a:latin typeface="+mj-lt" pitchFamily="34" charset="0"/>
                <a:ea typeface="+mj-lt" pitchFamily="34" charset="-122"/>
                <a:cs typeface="+mj-lt" pitchFamily="34" charset="-120"/>
              </a:rPr>
              <a:t>Instruction following</a:t>
            </a:r>
            <a:endParaRPr lang="en-US" sz="2100" dirty="0"/>
          </a:p>
        </p:txBody>
      </p:sp>
      <p:sp>
        <p:nvSpPr>
          <p:cNvPr id="19" name="Text 17"/>
          <p:cNvSpPr txBox="1"/>
          <p:nvPr/>
        </p:nvSpPr>
        <p:spPr>
          <a:xfrm>
            <a:off x="9105824" y="2697480"/>
            <a:ext cx="2324176" cy="91440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200 instructions; LLM-judge score (DeepSeek-Chat)</a:t>
            </a:r>
            <a:endParaRPr lang="en-US" sz="1250" dirty="0"/>
          </a:p>
        </p:txBody>
      </p:sp>
      <p:sp>
        <p:nvSpPr>
          <p:cNvPr id="20" name="Shape 18"/>
          <p:cNvSpPr/>
          <p:nvPr/>
        </p:nvSpPr>
        <p:spPr>
          <a:xfrm>
            <a:off x="761695" y="3931920"/>
            <a:ext cx="10668305" cy="12802"/>
          </a:xfrm>
          <a:prstGeom prst="rect">
            <a:avLst/>
          </a:prstGeom>
          <a:solidFill>
            <a:schemeClr val="accent4"/>
          </a:solidFill>
          <a:ln/>
        </p:spPr>
      </p:sp>
      <p:sp>
        <p:nvSpPr>
          <p:cNvPr id="21" name="Text 19"/>
          <p:cNvSpPr txBox="1"/>
          <p:nvPr/>
        </p:nvSpPr>
        <p:spPr>
          <a:xfrm>
            <a:off x="761695" y="4206240"/>
            <a:ext cx="3251302"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MODELS</a:t>
            </a:r>
            <a:endParaRPr lang="en-US" sz="1500" dirty="0"/>
          </a:p>
        </p:txBody>
      </p:sp>
      <p:sp>
        <p:nvSpPr>
          <p:cNvPr id="22" name="Text 20"/>
          <p:cNvSpPr txBox="1"/>
          <p:nvPr/>
        </p:nvSpPr>
        <p:spPr>
          <a:xfrm>
            <a:off x="761695" y="4572000"/>
            <a:ext cx="3251302" cy="1554480"/>
          </a:xfrm>
          <a:prstGeom prst="rect">
            <a:avLst/>
          </a:prstGeom>
          <a:noFill/>
          <a:ln/>
        </p:spPr>
        <p:txBody>
          <a:bodyPr wrap="square" lIns="0" tIns="0" rIns="0" bIns="0" rtlCol="0" anchor="t"/>
          <a:lstStyle/>
          <a:p>
            <a:pPr indent="0" marL="0">
              <a:lnSpc>
                <a:spcPct val="125000"/>
              </a:lnSpc>
              <a:buNone/>
            </a:pPr>
            <a:r>
              <a:rPr lang="en-US" sz="1400" dirty="0">
                <a:solidFill>
                  <a:schemeClr val="tx1"/>
                </a:solidFill>
              </a:rPr>
              <a:t>DeepSeek-V3.2 via API (main results)</a:t>
            </a:r>
            <a:endParaRPr lang="en-US" sz="1400" dirty="0"/>
          </a:p>
          <a:p>
            <a:pPr indent="0" marL="0">
              <a:lnSpc>
                <a:spcPct val="125000"/>
              </a:lnSpc>
              <a:spcBef>
                <a:spcPts val="600"/>
              </a:spcBef>
              <a:buNone/>
            </a:pPr>
            <a:r>
              <a:rPr lang="en-US" sz="1400" dirty="0">
                <a:solidFill>
                  <a:schemeClr val="tx1"/>
                </a:solidFill>
              </a:rPr>
              <a:t>Qwen2.5-7B-Instruct, local (validation)</a:t>
            </a:r>
            <a:endParaRPr lang="en-US" sz="1400" dirty="0"/>
          </a:p>
        </p:txBody>
      </p:sp>
      <p:sp>
        <p:nvSpPr>
          <p:cNvPr id="23" name="Shape 21"/>
          <p:cNvSpPr/>
          <p:nvPr/>
        </p:nvSpPr>
        <p:spPr>
          <a:xfrm>
            <a:off x="4241597" y="4206240"/>
            <a:ext cx="12802" cy="1920240"/>
          </a:xfrm>
          <a:prstGeom prst="rect">
            <a:avLst/>
          </a:prstGeom>
          <a:solidFill>
            <a:schemeClr val="accent4"/>
          </a:solidFill>
          <a:ln/>
        </p:spPr>
      </p:sp>
      <p:sp>
        <p:nvSpPr>
          <p:cNvPr id="24" name="Text 22"/>
          <p:cNvSpPr txBox="1"/>
          <p:nvPr/>
        </p:nvSpPr>
        <p:spPr>
          <a:xfrm>
            <a:off x="4470197" y="4206240"/>
            <a:ext cx="3251302"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BASELINES</a:t>
            </a:r>
            <a:endParaRPr lang="en-US" sz="1500" dirty="0"/>
          </a:p>
        </p:txBody>
      </p:sp>
      <p:sp>
        <p:nvSpPr>
          <p:cNvPr id="25" name="Text 23"/>
          <p:cNvSpPr txBox="1"/>
          <p:nvPr/>
        </p:nvSpPr>
        <p:spPr>
          <a:xfrm>
            <a:off x="4470197" y="4572000"/>
            <a:ext cx="3251302" cy="1554480"/>
          </a:xfrm>
          <a:prstGeom prst="rect">
            <a:avLst/>
          </a:prstGeom>
          <a:noFill/>
          <a:ln/>
        </p:spPr>
        <p:txBody>
          <a:bodyPr wrap="square" lIns="0" tIns="0" rIns="0" bIns="0" rtlCol="0" anchor="t"/>
          <a:lstStyle/>
          <a:p>
            <a:pPr indent="0" marL="0">
              <a:lnSpc>
                <a:spcPct val="125000"/>
              </a:lnSpc>
              <a:buNone/>
            </a:pPr>
            <a:r>
              <a:rPr lang="en-US" sz="1400" dirty="0">
                <a:solidFill>
                  <a:schemeClr val="tx1"/>
                </a:solidFill>
              </a:rPr>
              <a:t>DP-OPT, black-box adaptation (</a:t>
            </a:r>
            <a:r>
              <a:rPr lang="en-US" sz="1400" dirty="0">
                <a:solidFill>
                  <a:schemeClr val="tx1"/>
                </a:solidFill>
                <a:latin typeface="Cambria" pitchFamily="34" charset="0"/>
                <a:ea typeface="Cambria" pitchFamily="34" charset="-122"/>
                <a:cs typeface="Cambria" pitchFamily="34" charset="-120"/>
              </a:rPr>
              <a:t>ε</a:t>
            </a:r>
            <a:r>
              <a:rPr lang="en-US" sz="1400" dirty="0">
                <a:solidFill>
                  <a:schemeClr val="tx1"/>
                </a:solidFill>
              </a:rPr>
              <a:t> = 1)</a:t>
            </a:r>
            <a:endParaRPr lang="en-US" sz="1400" dirty="0"/>
          </a:p>
          <a:p>
            <a:pPr indent="0" marL="0">
              <a:lnSpc>
                <a:spcPct val="125000"/>
              </a:lnSpc>
              <a:spcBef>
                <a:spcPts val="600"/>
              </a:spcBef>
              <a:buNone/>
            </a:pPr>
            <a:r>
              <a:rPr lang="en-US" sz="1400" dirty="0">
                <a:solidFill>
                  <a:schemeClr val="tx1"/>
                </a:solidFill>
              </a:rPr>
              <a:t>Non-DP TextGrad (a reference, not a bound)</a:t>
            </a:r>
            <a:endParaRPr lang="en-US" sz="1400" dirty="0"/>
          </a:p>
          <a:p>
            <a:pPr indent="0" marL="0">
              <a:lnSpc>
                <a:spcPct val="125000"/>
              </a:lnSpc>
              <a:spcBef>
                <a:spcPts val="600"/>
              </a:spcBef>
              <a:buNone/>
            </a:pPr>
            <a:r>
              <a:rPr lang="en-US" sz="1400" dirty="0">
                <a:solidFill>
                  <a:schemeClr val="tx1"/>
                </a:solidFill>
              </a:rPr>
              <a:t>PromptDPSGD, soft prompts (local)</a:t>
            </a:r>
            <a:endParaRPr lang="en-US" sz="1400" dirty="0"/>
          </a:p>
        </p:txBody>
      </p:sp>
      <p:sp>
        <p:nvSpPr>
          <p:cNvPr id="26" name="Shape 24"/>
          <p:cNvSpPr/>
          <p:nvPr/>
        </p:nvSpPr>
        <p:spPr>
          <a:xfrm>
            <a:off x="7950098" y="4206240"/>
            <a:ext cx="12802" cy="1920240"/>
          </a:xfrm>
          <a:prstGeom prst="rect">
            <a:avLst/>
          </a:prstGeom>
          <a:solidFill>
            <a:schemeClr val="accent4"/>
          </a:solidFill>
          <a:ln/>
        </p:spPr>
      </p:sp>
      <p:sp>
        <p:nvSpPr>
          <p:cNvPr id="27" name="Text 25"/>
          <p:cNvSpPr txBox="1"/>
          <p:nvPr/>
        </p:nvSpPr>
        <p:spPr>
          <a:xfrm>
            <a:off x="8178698" y="4206240"/>
            <a:ext cx="3251302" cy="713232"/>
          </a:xfrm>
          <a:prstGeom prst="rect">
            <a:avLst/>
          </a:prstGeom>
          <a:noFill/>
          <a:ln/>
        </p:spPr>
        <p:txBody>
          <a:bodyPr wrap="square" lIns="0" tIns="0" rIns="0" bIns="0" rtlCol="0" anchor="t"/>
          <a:lstStyle/>
          <a:p>
            <a:pPr indent="0" marL="0">
              <a:lnSpc>
                <a:spcPct val="120000"/>
              </a:lnSpc>
              <a:buNone/>
            </a:pPr>
            <a:r>
              <a:rPr lang="en-US" sz="1300" b="1" spc="100" kern="0" dirty="0">
                <a:solidFill>
                  <a:schemeClr val="accent1"/>
                </a:solidFill>
                <a:latin typeface="JetBrains Mono" pitchFamily="34" charset="0"/>
                <a:ea typeface="JetBrains Mono" pitchFamily="34" charset="-122"/>
                <a:cs typeface="JetBrains Mono" pitchFamily="34" charset="-120"/>
              </a:rPr>
              <a:t>PROTOCOL</a:t>
            </a:r>
            <a:endParaRPr lang="en-US" sz="1500" dirty="0"/>
          </a:p>
        </p:txBody>
      </p:sp>
      <p:sp>
        <p:nvSpPr>
          <p:cNvPr id="28" name="Text 26"/>
          <p:cNvSpPr txBox="1"/>
          <p:nvPr/>
        </p:nvSpPr>
        <p:spPr>
          <a:xfrm>
            <a:off x="8178698" y="4572000"/>
            <a:ext cx="3251302" cy="1554480"/>
          </a:xfrm>
          <a:prstGeom prst="rect">
            <a:avLst/>
          </a:prstGeom>
          <a:noFill/>
          <a:ln/>
        </p:spPr>
        <p:txBody>
          <a:bodyPr wrap="square" lIns="0" tIns="0" rIns="0" bIns="0" rtlCol="0" anchor="t"/>
          <a:lstStyle/>
          <a:p>
            <a:pPr indent="0" marL="0">
              <a:lnSpc>
                <a:spcPct val="125000"/>
              </a:lnSpc>
              <a:buNone/>
            </a:pPr>
            <a:r>
              <a:rPr lang="en-US" sz="1400" dirty="0">
                <a:solidFill>
                  <a:schemeClr val="tx1"/>
                </a:solidFill>
              </a:rPr>
              <a:t>Common ceiling </a:t>
            </a:r>
            <a:r>
              <a:rPr lang="en-US" sz="1400" dirty="0">
                <a:solidFill>
                  <a:schemeClr val="tx1"/>
                </a:solidFill>
                <a:latin typeface="Cambria" pitchFamily="34" charset="0"/>
                <a:ea typeface="Cambria" pitchFamily="34" charset="-122"/>
                <a:cs typeface="Cambria" pitchFamily="34" charset="-120"/>
              </a:rPr>
              <a:t>ε</a:t>
            </a:r>
            <a:r>
              <a:rPr lang="en-US" sz="1400" dirty="0">
                <a:solidFill>
                  <a:schemeClr val="tx1"/>
                </a:solidFill>
              </a:rPr>
              <a:t> </a:t>
            </a:r>
            <a:r>
              <a:rPr lang="en-US" sz="1400" dirty="0">
                <a:solidFill>
                  <a:schemeClr val="tx1"/>
                </a:solidFill>
                <a:latin typeface="Cambria" pitchFamily="34" charset="0"/>
                <a:ea typeface="Cambria" pitchFamily="34" charset="-122"/>
                <a:cs typeface="Cambria" pitchFamily="34" charset="-120"/>
              </a:rPr>
              <a:t>≤</a:t>
            </a:r>
            <a:r>
              <a:rPr lang="en-US" sz="1400" dirty="0">
                <a:solidFill>
                  <a:schemeClr val="tx1"/>
                </a:solidFill>
              </a:rPr>
              <a:t> 1, </a:t>
            </a:r>
            <a:r>
              <a:rPr lang="en-US" sz="1400" dirty="0">
                <a:solidFill>
                  <a:schemeClr val="tx1"/>
                </a:solidFill>
                <a:latin typeface="Cambria" pitchFamily="34" charset="0"/>
                <a:ea typeface="Cambria" pitchFamily="34" charset="-122"/>
                <a:cs typeface="Cambria" pitchFamily="34" charset="-120"/>
              </a:rPr>
              <a:t>δ</a:t>
            </a:r>
            <a:r>
              <a:rPr lang="en-US" sz="1400" dirty="0">
                <a:solidFill>
                  <a:schemeClr val="tx1"/>
                </a:solidFill>
              </a:rPr>
              <a:t> = 10</a:t>
            </a:r>
            <a:r>
              <a:rPr lang="en-US" sz="1400" baseline="30000" dirty="0">
                <a:solidFill>
                  <a:schemeClr val="tx1"/>
                </a:solidFill>
                <a:latin typeface="Cambria" pitchFamily="34" charset="0"/>
                <a:ea typeface="Cambria" pitchFamily="34" charset="-122"/>
                <a:cs typeface="Cambria" pitchFamily="34" charset="-120"/>
              </a:rPr>
              <a:t>−</a:t>
            </a:r>
            <a:r>
              <a:rPr lang="en-US" sz="1400" baseline="30000" dirty="0">
                <a:solidFill>
                  <a:schemeClr val="tx1"/>
                </a:solidFill>
              </a:rPr>
              <a:t>5</a:t>
            </a:r>
            <a:endParaRPr lang="en-US" sz="1400" dirty="0"/>
          </a:p>
          <a:p>
            <a:pPr indent="0" marL="0">
              <a:lnSpc>
                <a:spcPct val="125000"/>
              </a:lnSpc>
              <a:spcBef>
                <a:spcPts val="600"/>
              </a:spcBef>
              <a:buNone/>
            </a:pPr>
            <a:r>
              <a:rPr lang="en-US" sz="1400" dirty="0">
                <a:solidFill>
                  <a:schemeClr val="tx1"/>
                </a:solidFill>
              </a:rPr>
              <a:t>30 runs on GSM8K; 3 seeds elsewhere</a:t>
            </a:r>
            <a:endParaRPr lang="en-US" sz="1400" dirty="0"/>
          </a:p>
          <a:p>
            <a:pPr indent="0" marL="0">
              <a:lnSpc>
                <a:spcPct val="125000"/>
              </a:lnSpc>
              <a:spcBef>
                <a:spcPts val="600"/>
              </a:spcBef>
              <a:buNone/>
            </a:pPr>
            <a:r>
              <a:rPr lang="en-US" sz="1400" dirty="0">
                <a:solidFill>
                  <a:schemeClr val="tx1"/>
                </a:solidFill>
              </a:rPr>
              <a:t>Same initial prompt for all methods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04 · RESULTS</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Main results across four tasks (</a:t>
            </a:r>
            <a:r>
              <a:rPr lang="en-US" sz="2900" dirty="0">
                <a:solidFill>
                  <a:schemeClr val="tx1"/>
                </a:solidFill>
                <a:latin typeface="Cambria" pitchFamily="34" charset="0"/>
                <a:ea typeface="Cambria" pitchFamily="34" charset="-122"/>
                <a:cs typeface="Cambria" pitchFamily="34" charset="-120"/>
              </a:rPr>
              <a:t>ε</a:t>
            </a:r>
            <a:r>
              <a:rPr lang="en-US" sz="2900" dirty="0">
                <a:solidFill>
                  <a:schemeClr val="tx1"/>
                </a:solidFill>
                <a:latin typeface="+mj-lt" pitchFamily="34" charset="0"/>
                <a:ea typeface="+mj-lt" pitchFamily="34" charset="-122"/>
                <a:cs typeface="+mj-lt" pitchFamily="34" charset="-120"/>
              </a:rPr>
              <a:t> </a:t>
            </a:r>
            <a:r>
              <a:rPr lang="en-US" sz="2900" dirty="0">
                <a:solidFill>
                  <a:schemeClr val="tx1"/>
                </a:solidFill>
                <a:latin typeface="Cambria" pitchFamily="34" charset="0"/>
                <a:ea typeface="Cambria" pitchFamily="34" charset="-122"/>
                <a:cs typeface="Cambria" pitchFamily="34" charset="-120"/>
              </a:rPr>
              <a:t>≤</a:t>
            </a:r>
            <a:r>
              <a:rPr lang="en-US" sz="2900" dirty="0">
                <a:solidFill>
                  <a:schemeClr val="tx1"/>
                </a:solidFill>
                <a:latin typeface="+mj-lt" pitchFamily="34" charset="0"/>
                <a:ea typeface="+mj-lt" pitchFamily="34" charset="-122"/>
                <a:cs typeface="+mj-lt" pitchFamily="34" charset="-120"/>
              </a:rPr>
              <a:t> 1.0, </a:t>
            </a:r>
            <a:r>
              <a:rPr lang="en-US" sz="2900" dirty="0">
                <a:solidFill>
                  <a:schemeClr val="tx1"/>
                </a:solidFill>
                <a:latin typeface="Cambria" pitchFamily="34" charset="0"/>
                <a:ea typeface="Cambria" pitchFamily="34" charset="-122"/>
                <a:cs typeface="Cambria" pitchFamily="34" charset="-120"/>
              </a:rPr>
              <a:t>δ</a:t>
            </a:r>
            <a:r>
              <a:rPr lang="en-US" sz="2900" dirty="0">
                <a:solidFill>
                  <a:schemeClr val="tx1"/>
                </a:solidFill>
                <a:latin typeface="+mj-lt" pitchFamily="34" charset="0"/>
                <a:ea typeface="+mj-lt" pitchFamily="34" charset="-122"/>
                <a:cs typeface="+mj-lt" pitchFamily="34" charset="-120"/>
              </a:rPr>
              <a:t> = 10</a:t>
            </a:r>
            <a:r>
              <a:rPr lang="en-US" sz="2900" baseline="30000" dirty="0">
                <a:solidFill>
                  <a:schemeClr val="tx1"/>
                </a:solidFill>
                <a:latin typeface="Cambria" pitchFamily="34" charset="0"/>
                <a:ea typeface="Cambria" pitchFamily="34" charset="-122"/>
                <a:cs typeface="Cambria" pitchFamily="34" charset="-120"/>
              </a:rPr>
              <a:t>−</a:t>
            </a:r>
            <a:r>
              <a:rPr lang="en-US" sz="2900" baseline="30000" dirty="0">
                <a:solidFill>
                  <a:schemeClr val="tx1"/>
                </a:solidFill>
                <a:latin typeface="+mj-lt" pitchFamily="34" charset="0"/>
                <a:ea typeface="+mj-lt" pitchFamily="34" charset="-122"/>
                <a:cs typeface="+mj-lt" pitchFamily="34" charset="-120"/>
              </a:rPr>
              <a:t>5</a:t>
            </a:r>
            <a:r>
              <a:rPr lang="en-US" sz="2900" dirty="0">
                <a:solidFill>
                  <a:schemeClr val="tx1"/>
                </a:solidFill>
                <a:latin typeface="+mj-lt" pitchFamily="34" charset="0"/>
                <a:ea typeface="+mj-lt" pitchFamily="34" charset="-122"/>
                <a:cs typeface="+mj-lt" pitchFamily="34" charset="-120"/>
              </a:rPr>
              <a:t>)</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11 / 18</a:t>
            </a:r>
            <a:endParaRPr lang="en-US" sz="1000" dirty="0"/>
          </a:p>
        </p:txBody>
      </p:sp>
      <p:sp>
        <p:nvSpPr>
          <p:cNvPr id="5" name="Text 3"/>
          <p:cNvSpPr txBox="1"/>
          <p:nvPr/>
        </p:nvSpPr>
        <p:spPr>
          <a:xfrm>
            <a:off x="761695" y="1625803"/>
            <a:ext cx="3810305" cy="228600"/>
          </a:xfrm>
          <a:prstGeom prst="rect">
            <a:avLst/>
          </a:prstGeom>
          <a:noFill/>
          <a:ln/>
        </p:spPr>
        <p:txBody>
          <a:bodyPr wrap="square" lIns="0" tIns="0" rIns="0" bIns="0" rtlCol="0" anchor="t"/>
          <a:lstStyle/>
          <a:p>
            <a:pPr indent="0" marL="0">
              <a:buNone/>
            </a:pPr>
            <a:r>
              <a:rPr lang="en-US" sz="1100" spc="200" kern="0" dirty="0">
                <a:solidFill>
                  <a:schemeClr val="accent1"/>
                </a:solidFill>
              </a:rPr>
              <a:t>GSM8K · 30 RUNS</a:t>
            </a:r>
            <a:endParaRPr lang="en-US" sz="1100" dirty="0"/>
          </a:p>
        </p:txBody>
      </p:sp>
      <p:sp>
        <p:nvSpPr>
          <p:cNvPr id="6" name="Text 4"/>
          <p:cNvSpPr txBox="1"/>
          <p:nvPr/>
        </p:nvSpPr>
        <p:spPr>
          <a:xfrm>
            <a:off x="761695" y="1904695"/>
            <a:ext cx="3810305" cy="888797"/>
          </a:xfrm>
          <a:prstGeom prst="rect">
            <a:avLst/>
          </a:prstGeom>
          <a:noFill/>
          <a:ln/>
        </p:spPr>
        <p:txBody>
          <a:bodyPr wrap="square" lIns="0" tIns="0" rIns="0" bIns="0" rtlCol="0" anchor="t"/>
          <a:lstStyle/>
          <a:p>
            <a:pPr indent="0" marL="0">
              <a:buNone/>
            </a:pPr>
            <a:r>
              <a:rPr lang="en-US" sz="5600" dirty="0">
                <a:solidFill>
                  <a:schemeClr val="accent1"/>
                </a:solidFill>
                <a:latin typeface="+mj-lt" pitchFamily="34" charset="0"/>
                <a:ea typeface="+mj-lt" pitchFamily="34" charset="-122"/>
                <a:cs typeface="+mj-lt" pitchFamily="34" charset="-120"/>
              </a:rPr>
              <a:t>+38.6 pp</a:t>
            </a:r>
            <a:endParaRPr lang="en-US" sz="5600" dirty="0"/>
          </a:p>
        </p:txBody>
      </p:sp>
      <p:sp>
        <p:nvSpPr>
          <p:cNvPr id="7" name="Text 5"/>
          <p:cNvSpPr txBox="1"/>
          <p:nvPr/>
        </p:nvSpPr>
        <p:spPr>
          <a:xfrm>
            <a:off x="761695" y="2895905"/>
            <a:ext cx="3810305" cy="64008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over DP-OPT, with </a:t>
            </a:r>
            <a:r>
              <a:rPr lang="en-US" sz="1250" b="1" dirty="0">
                <a:solidFill>
                  <a:schemeClr val="tx2"/>
                </a:solidFill>
                <a:latin typeface="Cambria" pitchFamily="34" charset="0"/>
                <a:ea typeface="Cambria" pitchFamily="34" charset="-122"/>
                <a:cs typeface="Cambria" pitchFamily="34" charset="-120"/>
              </a:rPr>
              <a:t>≈</a:t>
            </a:r>
            <a:r>
              <a:rPr lang="en-US" sz="1250" b="1" dirty="0">
                <a:solidFill>
                  <a:schemeClr val="tx2"/>
                </a:solidFill>
              </a:rPr>
              <a:t> 9× lower standard deviation</a:t>
            </a:r>
            <a:r>
              <a:rPr lang="en-US" sz="1250" dirty="0">
                <a:solidFill>
                  <a:schemeClr val="tx2"/>
                </a:solidFill>
              </a:rPr>
              <a:t> (3.2 vs 28.5)</a:t>
            </a:r>
            <a:endParaRPr lang="en-US" sz="1250" dirty="0"/>
          </a:p>
        </p:txBody>
      </p:sp>
      <p:sp>
        <p:nvSpPr>
          <p:cNvPr id="8" name="Text 6"/>
          <p:cNvSpPr txBox="1"/>
          <p:nvPr/>
        </p:nvSpPr>
        <p:spPr>
          <a:xfrm>
            <a:off x="761695" y="3810305"/>
            <a:ext cx="3810305" cy="558698"/>
          </a:xfrm>
          <a:prstGeom prst="rect">
            <a:avLst/>
          </a:prstGeom>
          <a:noFill/>
          <a:ln/>
        </p:spPr>
        <p:txBody>
          <a:bodyPr wrap="square" lIns="0" tIns="0" rIns="0" bIns="0" rtlCol="0" anchor="t"/>
          <a:lstStyle/>
          <a:p>
            <a:pPr indent="0" marL="0">
              <a:buNone/>
            </a:pPr>
            <a:r>
              <a:rPr lang="en-US" sz="3400" dirty="0">
                <a:solidFill>
                  <a:schemeClr val="tx1"/>
                </a:solidFill>
                <a:latin typeface="+mj-lt" pitchFamily="34" charset="0"/>
                <a:ea typeface="+mj-lt" pitchFamily="34" charset="-122"/>
                <a:cs typeface="+mj-lt" pitchFamily="34" charset="-120"/>
              </a:rPr>
              <a:t>99.7 ± 0.5</a:t>
            </a:r>
            <a:endParaRPr lang="en-US" sz="3400" dirty="0"/>
          </a:p>
        </p:txBody>
      </p:sp>
      <p:sp>
        <p:nvSpPr>
          <p:cNvPr id="9" name="Text 7"/>
          <p:cNvSpPr txBox="1"/>
          <p:nvPr/>
        </p:nvSpPr>
        <p:spPr>
          <a:xfrm>
            <a:off x="761695" y="4419295"/>
            <a:ext cx="3810305" cy="508406"/>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MedQA (+6.2 pp over DP-OPT), near the non-DP ceiling</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80406" y="1600200"/>
          <a:ext cx="6349594" cy="914400"/>
        </p:xfrm>
        <a:graphic>
          <a:graphicData uri="http://schemas.openxmlformats.org/drawingml/2006/table">
            <a:tbl>
              <a:tblPr/>
              <a:tblGrid>
                <a:gridCol w="1524305"/>
                <a:gridCol w="1206094"/>
                <a:gridCol w="1206094"/>
                <a:gridCol w="1206094"/>
                <a:gridCol w="1207008"/>
              </a:tblGrid>
              <a:tr h="713232">
                <a:tc>
                  <a:txBody>
                    <a:bodyPr/>
                    <a:lstStyle/>
                    <a:p>
                      <a:pPr algn="l" indent="0" marL="0">
                        <a:buNone/>
                      </a:pPr>
                      <a:r>
                        <a:rPr lang="en-US" sz="1250" b="1" dirty="0">
                          <a:solidFill>
                            <a:schemeClr val="tx1"/>
                          </a:solidFill>
                        </a:rPr>
                        <a:t>Method</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GSM8K</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MedQA</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BANK77</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Alpaca†</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713232">
                <a:tc>
                  <a:txBody>
                    <a:bodyPr/>
                    <a:lstStyle/>
                    <a:p>
                      <a:pPr algn="l" indent="0" marL="0">
                        <a:buNone/>
                      </a:pPr>
                      <a:r>
                        <a:rPr lang="en-US" sz="1300" dirty="0">
                          <a:solidFill>
                            <a:schemeClr val="tx1"/>
                          </a:solidFill>
                        </a:rPr>
                        <a:t>Non-DP</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95.0±0.9</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100.0±0.0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75.0±2.8</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91.7±0.6</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713232">
                <a:tc>
                  <a:txBody>
                    <a:bodyPr/>
                    <a:lstStyle/>
                    <a:p>
                      <a:pPr algn="l" indent="0" marL="0">
                        <a:buNone/>
                      </a:pPr>
                      <a:r>
                        <a:rPr lang="en-US" sz="1300" dirty="0">
                          <a:solidFill>
                            <a:schemeClr val="tx1"/>
                          </a:solidFill>
                        </a:rPr>
                        <a:t>DP-OPT</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49.5±28.5</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93.5±12.0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75.3±2.8</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87.1±1.4</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713232">
                <a:tc>
                  <a:txBody>
                    <a:bodyPr/>
                    <a:lstStyle/>
                    <a:p>
                      <a:pPr algn="l" indent="0" marL="0">
                        <a:buNone/>
                      </a:pPr>
                      <a:r>
                        <a:rPr lang="en-US" sz="1300" b="1" dirty="0">
                          <a:solidFill>
                            <a:schemeClr val="accent1"/>
                          </a:solidFill>
                        </a:rPr>
                        <a:t>DP-ES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300" b="1" dirty="0">
                          <a:solidFill>
                            <a:schemeClr val="accent1"/>
                          </a:solidFill>
                        </a:rPr>
                        <a:t>88.1±3.2</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300" b="1" dirty="0">
                          <a:solidFill>
                            <a:schemeClr val="accent1"/>
                          </a:solidFill>
                        </a:rPr>
                        <a:t>99.7±0.5</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300" b="1" dirty="0">
                          <a:solidFill>
                            <a:schemeClr val="accent1"/>
                          </a:solidFill>
                        </a:rPr>
                        <a:t>73.5±2.2</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300" b="1" dirty="0">
                          <a:solidFill>
                            <a:schemeClr val="accent1"/>
                          </a:solidFill>
                        </a:rPr>
                        <a:t>86.8±0.8</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r>
              <a:tr h="713232">
                <a:tc>
                  <a:txBody>
                    <a:bodyPr/>
                    <a:lstStyle/>
                    <a:p>
                      <a:pPr algn="l" indent="0" marL="0">
                        <a:buNone/>
                      </a:pPr>
                      <a:r>
                        <a:rPr lang="en-US" sz="1300" dirty="0">
                          <a:solidFill>
                            <a:schemeClr val="tx2"/>
                          </a:solidFill>
                          <a:latin typeface="Cambria" pitchFamily="34" charset="0"/>
                          <a:ea typeface="Cambria" pitchFamily="34" charset="-122"/>
                          <a:cs typeface="Cambria" pitchFamily="34" charset="-120"/>
                        </a:rPr>
                        <a:t>Δ</a:t>
                      </a:r>
                      <a:r>
                        <a:rPr lang="en-US" sz="1300" dirty="0">
                          <a:solidFill>
                            <a:schemeClr val="tx2"/>
                          </a:solidFill>
                        </a:rPr>
                        <a:t> (ES</a:t>
                      </a:r>
                      <a:r>
                        <a:rPr lang="en-US" sz="1300" dirty="0">
                          <a:solidFill>
                            <a:schemeClr val="tx2"/>
                          </a:solidFill>
                          <a:latin typeface="Cambria" pitchFamily="34" charset="0"/>
                          <a:ea typeface="Cambria" pitchFamily="34" charset="-122"/>
                          <a:cs typeface="Cambria" pitchFamily="34" charset="-120"/>
                        </a:rPr>
                        <a:t>−</a:t>
                      </a:r>
                      <a:r>
                        <a:rPr lang="en-US" sz="1300" dirty="0">
                          <a:solidFill>
                            <a:schemeClr val="tx2"/>
                          </a:solidFill>
                        </a:rPr>
                        <a:t>OPT)</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2"/>
                          </a:solidFill>
                        </a:rPr>
                        <a:t>+38.6</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2"/>
                          </a:solidFill>
                        </a:rPr>
                        <a:t>+6.2</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2"/>
                          </a:solidFill>
                          <a:latin typeface="Cambria" pitchFamily="34" charset="0"/>
                          <a:ea typeface="Cambria" pitchFamily="34" charset="-122"/>
                          <a:cs typeface="Cambria" pitchFamily="34" charset="-120"/>
                        </a:rPr>
                        <a:t>−</a:t>
                      </a:r>
                      <a:r>
                        <a:rPr lang="en-US" sz="1300" dirty="0">
                          <a:solidFill>
                            <a:schemeClr val="tx2"/>
                          </a:solidFill>
                        </a:rPr>
                        <a:t>1.8</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2"/>
                          </a:solidFill>
                          <a:latin typeface="Cambria" pitchFamily="34" charset="0"/>
                          <a:ea typeface="Cambria" pitchFamily="34" charset="-122"/>
                          <a:cs typeface="Cambria" pitchFamily="34" charset="-120"/>
                        </a:rPr>
                        <a:t>−</a:t>
                      </a:r>
                      <a:r>
                        <a:rPr lang="en-US" sz="1300" dirty="0">
                          <a:solidFill>
                            <a:schemeClr val="tx2"/>
                          </a:solidFill>
                        </a:rPr>
                        <a:t>0.3</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r>
            </a:tbl>
          </a:graphicData>
        </a:graphic>
      </p:graphicFrame>
      <p:sp>
        <p:nvSpPr>
          <p:cNvPr id="11" name="Text 8"/>
          <p:cNvSpPr txBox="1"/>
          <p:nvPr/>
        </p:nvSpPr>
        <p:spPr>
          <a:xfrm>
            <a:off x="5080406" y="5384902"/>
            <a:ext cx="6349594" cy="868680"/>
          </a:xfrm>
          <a:prstGeom prst="rect">
            <a:avLst/>
          </a:prstGeom>
          <a:noFill/>
          <a:ln/>
        </p:spPr>
        <p:txBody>
          <a:bodyPr wrap="square" lIns="0" tIns="0" rIns="0" bIns="0" rtlCol="0" anchor="t"/>
          <a:lstStyle/>
          <a:p>
            <a:pPr indent="0" marL="0">
              <a:lnSpc>
                <a:spcPct val="130000"/>
              </a:lnSpc>
              <a:buNone/>
            </a:pPr>
            <a:r>
              <a:rPr lang="en-US" sz="1050" dirty="0">
                <a:solidFill>
                  <a:schemeClr val="tx2"/>
                </a:solidFill>
              </a:rPr>
              <a:t>Mean ± std; 30 runs (GSM8K), three seeds (other tasks). All DP results under the stated ceiling </a:t>
            </a:r>
            <a:r>
              <a:rPr lang="en-US" sz="1050" dirty="0">
                <a:solidFill>
                  <a:schemeClr val="tx2"/>
                </a:solidFill>
                <a:latin typeface="Cambria" pitchFamily="34" charset="0"/>
                <a:ea typeface="Cambria" pitchFamily="34" charset="-122"/>
                <a:cs typeface="Cambria" pitchFamily="34" charset="-120"/>
              </a:rPr>
              <a:t>ε</a:t>
            </a:r>
            <a:r>
              <a:rPr lang="en-US" sz="1050" dirty="0">
                <a:solidFill>
                  <a:schemeClr val="tx2"/>
                </a:solidFill>
              </a:rPr>
              <a:t> </a:t>
            </a:r>
            <a:r>
              <a:rPr lang="en-US" sz="1050" dirty="0">
                <a:solidFill>
                  <a:schemeClr val="tx2"/>
                </a:solidFill>
                <a:latin typeface="Cambria" pitchFamily="34" charset="0"/>
                <a:ea typeface="Cambria" pitchFamily="34" charset="-122"/>
                <a:cs typeface="Cambria" pitchFamily="34" charset="-120"/>
              </a:rPr>
              <a:t>≤</a:t>
            </a:r>
            <a:r>
              <a:rPr lang="en-US" sz="1050" dirty="0">
                <a:solidFill>
                  <a:schemeClr val="tx2"/>
                </a:solidFill>
              </a:rPr>
              <a:t> 1.0; DP-ES’s recomputed RDP bound is </a:t>
            </a:r>
            <a:r>
              <a:rPr lang="en-US" sz="1050" b="1" dirty="0">
                <a:solidFill>
                  <a:schemeClr val="tx2"/>
                </a:solidFill>
                <a:latin typeface="Cambria" pitchFamily="34" charset="0"/>
                <a:ea typeface="Cambria" pitchFamily="34" charset="-122"/>
                <a:cs typeface="Cambria" pitchFamily="34" charset="-120"/>
              </a:rPr>
              <a:t>ε</a:t>
            </a:r>
            <a:r>
              <a:rPr lang="en-US" sz="1050" b="1" dirty="0">
                <a:solidFill>
                  <a:schemeClr val="tx2"/>
                </a:solidFill>
              </a:rPr>
              <a:t> </a:t>
            </a:r>
            <a:r>
              <a:rPr lang="en-US" sz="1050" b="1" dirty="0">
                <a:solidFill>
                  <a:schemeClr val="tx2"/>
                </a:solidFill>
                <a:latin typeface="Cambria" pitchFamily="34" charset="0"/>
                <a:ea typeface="Cambria" pitchFamily="34" charset="-122"/>
                <a:cs typeface="Cambria" pitchFamily="34" charset="-120"/>
              </a:rPr>
              <a:t>≤</a:t>
            </a:r>
            <a:r>
              <a:rPr lang="en-US" sz="1050" b="1" dirty="0">
                <a:solidFill>
                  <a:schemeClr val="tx2"/>
                </a:solidFill>
              </a:rPr>
              <a:t> 0.71 at </a:t>
            </a:r>
            <a:r>
              <a:rPr lang="en-US" sz="1050" b="1" dirty="0">
                <a:solidFill>
                  <a:schemeClr val="tx2"/>
                </a:solidFill>
                <a:latin typeface="Cambria" pitchFamily="34" charset="0"/>
                <a:ea typeface="Cambria" pitchFamily="34" charset="-122"/>
                <a:cs typeface="Cambria" pitchFamily="34" charset="-120"/>
              </a:rPr>
              <a:t>δ</a:t>
            </a:r>
            <a:r>
              <a:rPr lang="en-US" sz="1050" b="1" dirty="0">
                <a:solidFill>
                  <a:schemeClr val="tx2"/>
                </a:solidFill>
              </a:rPr>
              <a:t> = 10</a:t>
            </a:r>
            <a:r>
              <a:rPr lang="en-US" sz="1050" baseline="30000" dirty="0">
                <a:solidFill>
                  <a:schemeClr val="tx2"/>
                </a:solidFill>
                <a:latin typeface="Cambria" pitchFamily="34" charset="0"/>
                <a:ea typeface="Cambria" pitchFamily="34" charset="-122"/>
                <a:cs typeface="Cambria" pitchFamily="34" charset="-120"/>
              </a:rPr>
              <a:t>−</a:t>
            </a:r>
            <a:r>
              <a:rPr lang="en-US" sz="1050" baseline="30000" dirty="0">
                <a:solidFill>
                  <a:schemeClr val="tx2"/>
                </a:solidFill>
              </a:rPr>
              <a:t>5</a:t>
            </a:r>
            <a:r>
              <a:rPr lang="en-US" sz="1050" dirty="0">
                <a:solidFill>
                  <a:schemeClr val="tx2"/>
                </a:solidFill>
              </a:rPr>
              <a:t>. †Alpaca: LLM-judge ratings scaled to percentages. Largest gains where prompt structure matters; parity on BANKING77 and Alpaca.</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04 · RESULTS</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Stability: population search survives noisy rankings</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12 / 18</a:t>
            </a:r>
            <a:endParaRPr lang="en-US" sz="1000" dirty="0"/>
          </a:p>
        </p:txBody>
      </p:sp>
      <p:sp>
        <p:nvSpPr>
          <p:cNvPr id="5" name="Text 3"/>
          <p:cNvSpPr txBox="1"/>
          <p:nvPr/>
        </p:nvSpPr>
        <p:spPr>
          <a:xfrm>
            <a:off x="761695" y="1498702"/>
            <a:ext cx="5460797" cy="2514600"/>
          </a:xfrm>
          <a:prstGeom prst="rect">
            <a:avLst/>
          </a:prstGeom>
          <a:noFill/>
          <a:ln/>
        </p:spPr>
        <p:txBody>
          <a:bodyPr wrap="square" lIns="0" tIns="0" rIns="0" bIns="0" rtlCol="0" anchor="t"/>
          <a:lstStyle/>
          <a:p>
            <a:pPr indent="0" marL="0">
              <a:lnSpc>
                <a:spcPct val="130000"/>
              </a:lnSpc>
              <a:buNone/>
            </a:pPr>
            <a:r>
              <a:rPr lang="en-US" sz="1450" b="1" dirty="0">
                <a:solidFill>
                  <a:schemeClr val="tx1"/>
                </a:solidFill>
              </a:rPr>
              <a:t>DP-ES does not eliminate noisy rankings</a:t>
            </a:r>
            <a:r>
              <a:rPr lang="en-US" sz="1450" dirty="0">
                <a:solidFill>
                  <a:schemeClr val="tx1"/>
                </a:solidFill>
              </a:rPr>
              <a:t> — its population recovers from them.</a:t>
            </a:r>
            <a:endParaRPr lang="en-US" sz="1450" dirty="0"/>
          </a:p>
          <a:p>
            <a:pPr indent="0" marL="0">
              <a:lnSpc>
                <a:spcPct val="130000"/>
              </a:lnSpc>
              <a:spcBef>
                <a:spcPts val="800"/>
              </a:spcBef>
              <a:buNone/>
            </a:pPr>
            <a:r>
              <a:rPr lang="en-US" sz="1450" dirty="0">
                <a:solidFill>
                  <a:schemeClr val="tx1"/>
                </a:solidFill>
              </a:rPr>
              <a:t>Prompt-level mutations operate on </a:t>
            </a:r>
            <a:r>
              <a:rPr lang="en-US" sz="1450" b="1" dirty="0">
                <a:solidFill>
                  <a:schemeClr val="tx1"/>
                </a:solidFill>
              </a:rPr>
              <a:t>complete strings</a:t>
            </a:r>
            <a:r>
              <a:rPr lang="en-US" sz="1450" dirty="0">
                <a:solidFill>
                  <a:schemeClr val="tx1"/>
                </a:solidFill>
              </a:rPr>
              <a:t>, so the </a:t>
            </a:r>
            <a:r>
              <a:rPr lang="en-US" sz="1450" dirty="0">
                <a:solidFill>
                  <a:schemeClr val="tx1"/>
                </a:solidFill>
                <a:latin typeface="JetBrains Mono" pitchFamily="34" charset="0"/>
                <a:ea typeface="JetBrains Mono" pitchFamily="34" charset="-122"/>
                <a:cs typeface="JetBrains Mono" pitchFamily="34" charset="-120"/>
              </a:rPr>
              <a:t>{question}</a:t>
            </a:r>
            <a:r>
              <a:rPr lang="en-US" sz="1450" dirty="0">
                <a:solidFill>
                  <a:schemeClr val="tx1"/>
                </a:solidFill>
              </a:rPr>
              <a:t> placeholder survives the search (real log below).</a:t>
            </a:r>
            <a:endParaRPr lang="en-US" sz="1450" dirty="0"/>
          </a:p>
          <a:p>
            <a:pPr indent="0" marL="0">
              <a:lnSpc>
                <a:spcPct val="130000"/>
              </a:lnSpc>
              <a:spcBef>
                <a:spcPts val="800"/>
              </a:spcBef>
              <a:buNone/>
            </a:pPr>
            <a:r>
              <a:rPr lang="en-US" sz="1450" dirty="0">
                <a:solidFill>
                  <a:schemeClr val="tx1"/>
                </a:solidFill>
              </a:rPr>
              <a:t>Six candidates per round supply intact </a:t>
            </a:r>
            <a:r>
              <a:rPr lang="en-US" sz="1450" b="1" dirty="0">
                <a:solidFill>
                  <a:schemeClr val="tx1"/>
                </a:solidFill>
              </a:rPr>
              <a:t>alternatives</a:t>
            </a:r>
            <a:r>
              <a:rPr lang="en-US" sz="1450" dirty="0">
                <a:solidFill>
                  <a:schemeClr val="tx1"/>
                </a:solidFill>
              </a:rPr>
              <a:t> after noise-induced rank inversions.</a:t>
            </a:r>
            <a:endParaRPr lang="en-US" sz="1450" dirty="0"/>
          </a:p>
        </p:txBody>
      </p:sp>
      <p:pic>
        <p:nvPicPr>
          <p:cNvPr id="6" name="Image 0" descr="Line plot: mean pairwise cosine distance between prompt embeddings falls from about 0.15 at iteration 1 to about 0.03 by iteration 4; mean 0.096.">    </p:cNvPr>
          <p:cNvPicPr>
            <a:picLocks noChangeAspect="1"/>
          </p:cNvPicPr>
          <p:nvPr/>
        </p:nvPicPr>
        <p:blipFill>
          <a:blip r:embed="rId1"/>
          <a:srcRect l="0" r="0" t="0" b="0"/>
          <a:stretch/>
        </p:blipFill>
        <p:spPr>
          <a:xfrm>
            <a:off x="6603797" y="1498702"/>
            <a:ext cx="4826203" cy="2463394"/>
          </a:xfrm>
          <a:prstGeom prst="rect">
            <a:avLst/>
          </a:prstGeom>
        </p:spPr>
      </p:pic>
      <p:sp>
        <p:nvSpPr>
          <p:cNvPr id="7" name="Shape 4"/>
          <p:cNvSpPr/>
          <p:nvPr/>
        </p:nvSpPr>
        <p:spPr>
          <a:xfrm>
            <a:off x="6603797" y="1498702"/>
            <a:ext cx="4826203" cy="2463394"/>
          </a:xfrm>
          <a:prstGeom prst="rect">
            <a:avLst/>
          </a:prstGeom>
          <a:ln w="12700">
            <a:solidFill>
              <a:srgbClr val="CFC8B8"/>
            </a:solidFill>
            <a:prstDash val="solid"/>
          </a:ln>
        </p:spPr>
      </p:sp>
      <p:sp>
        <p:nvSpPr>
          <p:cNvPr id="8" name="Text 5"/>
          <p:cNvSpPr txBox="1"/>
          <p:nvPr/>
        </p:nvSpPr>
        <p:spPr>
          <a:xfrm>
            <a:off x="6603797" y="4013302"/>
            <a:ext cx="4826203" cy="411480"/>
          </a:xfrm>
          <a:prstGeom prst="rect">
            <a:avLst/>
          </a:prstGeom>
          <a:noFill/>
          <a:ln/>
        </p:spPr>
        <p:txBody>
          <a:bodyPr wrap="square" lIns="0" tIns="0" rIns="0" bIns="0" rtlCol="0" anchor="t"/>
          <a:lstStyle/>
          <a:p>
            <a:pPr indent="0" marL="0">
              <a:lnSpc>
                <a:spcPct val="125000"/>
              </a:lnSpc>
              <a:buNone/>
            </a:pPr>
            <a:r>
              <a:rPr lang="en-US" sz="1050" dirty="0">
                <a:solidFill>
                  <a:schemeClr val="tx2"/>
                </a:solidFill>
              </a:rPr>
              <a:t>Population diversity (mean pairwise prompt-embedding distance): high early, then converges.</a:t>
            </a:r>
            <a:endParaRPr lang="en-US" sz="1050" dirty="0"/>
          </a:p>
        </p:txBody>
      </p:sp>
      <p:sp>
        <p:nvSpPr>
          <p:cNvPr id="9" name="Shape 6"/>
          <p:cNvSpPr/>
          <p:nvPr/>
        </p:nvSpPr>
        <p:spPr>
          <a:xfrm>
            <a:off x="761695" y="4572000"/>
            <a:ext cx="10668305" cy="1600200"/>
          </a:xfrm>
          <a:prstGeom prst="rect">
            <a:avLst/>
          </a:prstGeom>
          <a:solidFill>
            <a:srgbClr val="EFE9DA"/>
          </a:solidFill>
          <a:ln w="12700">
            <a:solidFill>
              <a:srgbClr val="CFC8B8"/>
            </a:solidFill>
            <a:prstDash val="solid"/>
          </a:ln>
        </p:spPr>
      </p:sp>
      <p:sp>
        <p:nvSpPr>
          <p:cNvPr id="10" name="Text 7"/>
          <p:cNvSpPr txBox="1"/>
          <p:nvPr/>
        </p:nvSpPr>
        <p:spPr>
          <a:xfrm>
            <a:off x="990295" y="4727448"/>
            <a:ext cx="6858000" cy="228600"/>
          </a:xfrm>
          <a:prstGeom prst="rect">
            <a:avLst/>
          </a:prstGeom>
          <a:noFill/>
          <a:ln/>
        </p:spPr>
        <p:txBody>
          <a:bodyPr wrap="square" lIns="0" tIns="0" rIns="0" bIns="0" rtlCol="0" anchor="t"/>
          <a:lstStyle/>
          <a:p>
            <a:pPr indent="0" marL="0">
              <a:buNone/>
            </a:pPr>
            <a:r>
              <a:rPr lang="en-US" sz="1050" b="1" spc="100" kern="0" dirty="0">
                <a:solidFill>
                  <a:schemeClr val="accent3"/>
                </a:solidFill>
                <a:latin typeface="JetBrains Mono" pitchFamily="34" charset="0"/>
                <a:ea typeface="JetBrains Mono" pitchFamily="34" charset="-122"/>
                <a:cs typeface="JetBrains Mono" pitchFamily="34" charset="-120"/>
              </a:rPr>
              <a:t>FINAL DP-ES PROMPT · GSM8K · REAL LOG (</a:t>
            </a:r>
            <a:r>
              <a:rPr lang="en-US" sz="1050" b="1" spc="100" kern="0" dirty="0">
                <a:solidFill>
                  <a:schemeClr val="accent3"/>
                </a:solidFill>
                <a:latin typeface="Cambria" pitchFamily="34" charset="0"/>
                <a:ea typeface="Cambria" pitchFamily="34" charset="-122"/>
                <a:cs typeface="Cambria" pitchFamily="34" charset="-120"/>
              </a:rPr>
              <a:t>ε</a:t>
            </a:r>
            <a:r>
              <a:rPr lang="en-US" sz="1050" b="1" spc="100" kern="0" dirty="0">
                <a:solidFill>
                  <a:schemeClr val="accent3"/>
                </a:solidFill>
                <a:latin typeface="JetBrains Mono" pitchFamily="34" charset="0"/>
                <a:ea typeface="JetBrains Mono" pitchFamily="34" charset="-122"/>
                <a:cs typeface="JetBrains Mono" pitchFamily="34" charset="-120"/>
              </a:rPr>
              <a:t> </a:t>
            </a:r>
            <a:r>
              <a:rPr lang="en-US" sz="1050" b="1" spc="100" kern="0" dirty="0">
                <a:solidFill>
                  <a:schemeClr val="accent3"/>
                </a:solidFill>
                <a:latin typeface="Cambria" pitchFamily="34" charset="0"/>
                <a:ea typeface="Cambria" pitchFamily="34" charset="-122"/>
                <a:cs typeface="Cambria" pitchFamily="34" charset="-120"/>
              </a:rPr>
              <a:t>≤</a:t>
            </a:r>
            <a:r>
              <a:rPr lang="en-US" sz="1050" b="1" spc="100" kern="0" dirty="0">
                <a:solidFill>
                  <a:schemeClr val="accent3"/>
                </a:solidFill>
                <a:latin typeface="JetBrains Mono" pitchFamily="34" charset="0"/>
                <a:ea typeface="JetBrains Mono" pitchFamily="34" charset="-122"/>
                <a:cs typeface="JetBrains Mono" pitchFamily="34" charset="-120"/>
              </a:rPr>
              <a:t> 1.0)</a:t>
            </a:r>
            <a:endParaRPr lang="en-US" sz="1050" dirty="0"/>
          </a:p>
        </p:txBody>
      </p:sp>
      <p:sp>
        <p:nvSpPr>
          <p:cNvPr id="11" name="Text 8"/>
          <p:cNvSpPr txBox="1"/>
          <p:nvPr/>
        </p:nvSpPr>
        <p:spPr>
          <a:xfrm>
            <a:off x="9189720" y="4690872"/>
            <a:ext cx="2011680" cy="256032"/>
          </a:xfrm>
          <a:prstGeom prst="rect">
            <a:avLst/>
          </a:prstGeom>
          <a:ln w="12700">
            <a:solidFill>
              <a:srgbClr val="8C2F39"/>
            </a:solidFill>
          </a:ln>
        </p:spPr>
        <p:txBody>
          <a:bodyPr wrap="square" lIns="0" tIns="0" rIns="0" bIns="0" rtlCol="0" anchor="ctr"/>
          <a:lstStyle/>
          <a:p>
            <a:pPr algn="ctr" indent="0" marL="0">
              <a:buNone/>
            </a:pPr>
            <a:r>
              <a:rPr lang="en-US" sz="1000" b="1" spc="200" kern="0" dirty="0">
                <a:solidFill>
                  <a:schemeClr val="accent1"/>
                </a:solidFill>
              </a:rPr>
              <a:t>{QUESTION} PRESERVED</a:t>
            </a:r>
            <a:endParaRPr lang="en-US" sz="1000" dirty="0"/>
          </a:p>
        </p:txBody>
      </p:sp>
      <p:sp>
        <p:nvSpPr>
          <p:cNvPr id="12" name="Text 9"/>
          <p:cNvSpPr txBox="1"/>
          <p:nvPr/>
        </p:nvSpPr>
        <p:spPr>
          <a:xfrm>
            <a:off x="990295" y="5029200"/>
            <a:ext cx="10211105" cy="548640"/>
          </a:xfrm>
          <a:prstGeom prst="rect">
            <a:avLst/>
          </a:prstGeom>
          <a:noFill/>
          <a:ln/>
        </p:spPr>
        <p:txBody>
          <a:bodyPr wrap="square" lIns="0" tIns="0" rIns="0" bIns="0" rtlCol="0" anchor="t"/>
          <a:lstStyle/>
          <a:p>
            <a:pPr indent="0" marL="0">
              <a:lnSpc>
                <a:spcPct val="120000"/>
              </a:lnSpc>
              <a:buNone/>
            </a:pPr>
            <a:r>
              <a:rPr lang="en-US" sz="1600" i="1" dirty="0">
                <a:solidFill>
                  <a:schemeClr val="tx1"/>
                </a:solidFill>
                <a:latin typeface="+mj-lt" pitchFamily="34" charset="0"/>
                <a:ea typeface="+mj-lt" pitchFamily="34" charset="-122"/>
                <a:cs typeface="+mj-lt" pitchFamily="34" charset="-120"/>
              </a:rPr>
              <a:t>“You are a math tutor. Solve the question carefully and show reasoning: </a:t>
            </a:r>
            <a:r>
              <a:rPr lang="en-US" sz="1600" b="1" i="1" dirty="0">
                <a:solidFill>
                  <a:schemeClr val="accent1"/>
                </a:solidFill>
                <a:latin typeface="+mj-lt" pitchFamily="34" charset="0"/>
                <a:ea typeface="+mj-lt" pitchFamily="34" charset="-122"/>
                <a:cs typeface="+mj-lt" pitchFamily="34" charset="-120"/>
              </a:rPr>
              <a:t>{question}</a:t>
            </a:r>
            <a:r>
              <a:rPr lang="en-US" sz="1600" i="1" dirty="0">
                <a:solidFill>
                  <a:schemeClr val="tx1"/>
                </a:solidFill>
                <a:latin typeface="+mj-lt" pitchFamily="34" charset="0"/>
                <a:ea typeface="+mj-lt" pitchFamily="34" charset="-122"/>
                <a:cs typeface="+mj-lt" pitchFamily="34" charset="-120"/>
              </a:rPr>
              <a:t>  (Provide detailed reasoning and justification.)  (Be concise and accurate.)”</a:t>
            </a:r>
            <a:endParaRPr lang="en-US" sz="1600" dirty="0"/>
          </a:p>
        </p:txBody>
      </p:sp>
      <p:sp>
        <p:nvSpPr>
          <p:cNvPr id="13" name="Text 10"/>
          <p:cNvSpPr txBox="1"/>
          <p:nvPr/>
        </p:nvSpPr>
        <p:spPr>
          <a:xfrm>
            <a:off x="990295" y="5715000"/>
            <a:ext cx="10211105" cy="274320"/>
          </a:xfrm>
          <a:prstGeom prst="rect">
            <a:avLst/>
          </a:prstGeom>
          <a:noFill/>
          <a:ln/>
        </p:spPr>
        <p:txBody>
          <a:bodyPr wrap="square" lIns="0" tIns="0" rIns="0" bIns="0" rtlCol="0" anchor="t"/>
          <a:lstStyle/>
          <a:p>
            <a:pPr indent="0" marL="0">
              <a:buNone/>
            </a:pPr>
            <a:r>
              <a:rPr lang="en-US" sz="1200" b="1" dirty="0">
                <a:solidFill>
                  <a:schemeClr val="tx2"/>
                </a:solidFill>
              </a:rPr>
              <a:t>Result:</a:t>
            </a:r>
            <a:r>
              <a:rPr lang="en-US" sz="1200" dirty="0">
                <a:solidFill>
                  <a:schemeClr val="tx2"/>
                </a:solidFill>
              </a:rPr>
              <a:t> 88.1 ± 3.2% versus DP-OPT’s 49.5 ± 28.5% across 30 runs — complete alternatives persist across rounds.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04 · RESULTS</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Ablations: selector, population size, and a local model</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13 / 18</a:t>
            </a:r>
            <a:endParaRPr lang="en-US" sz="1000" dirty="0"/>
          </a:p>
        </p:txBody>
      </p:sp>
      <p:sp>
        <p:nvSpPr>
          <p:cNvPr id="5" name="Shape 3"/>
          <p:cNvSpPr/>
          <p:nvPr/>
        </p:nvSpPr>
        <p:spPr>
          <a:xfrm>
            <a:off x="4241597" y="1572768"/>
            <a:ext cx="12802" cy="4572000"/>
          </a:xfrm>
          <a:prstGeom prst="rect">
            <a:avLst/>
          </a:prstGeom>
          <a:solidFill>
            <a:schemeClr val="accent4"/>
          </a:solidFill>
          <a:ln/>
        </p:spPr>
      </p:sp>
      <p:sp>
        <p:nvSpPr>
          <p:cNvPr id="6" name="Shape 4"/>
          <p:cNvSpPr/>
          <p:nvPr/>
        </p:nvSpPr>
        <p:spPr>
          <a:xfrm>
            <a:off x="7950098" y="1572768"/>
            <a:ext cx="12802" cy="4572000"/>
          </a:xfrm>
          <a:prstGeom prst="rect">
            <a:avLst/>
          </a:prstGeom>
          <a:solidFill>
            <a:schemeClr val="accent4"/>
          </a:solidFill>
          <a:ln/>
        </p:spPr>
      </p:sp>
      <p:sp>
        <p:nvSpPr>
          <p:cNvPr id="7" name="Text 5"/>
          <p:cNvSpPr txBox="1"/>
          <p:nvPr/>
        </p:nvSpPr>
        <p:spPr>
          <a:xfrm>
            <a:off x="761695" y="1572768"/>
            <a:ext cx="3251302" cy="228600"/>
          </a:xfrm>
          <a:prstGeom prst="rect">
            <a:avLst/>
          </a:prstGeom>
          <a:noFill/>
          <a:ln/>
        </p:spPr>
        <p:txBody>
          <a:bodyPr wrap="square" lIns="0" tIns="0" rIns="0" bIns="0" rtlCol="0" anchor="t"/>
          <a:lstStyle/>
          <a:p>
            <a:pPr indent="0" marL="0">
              <a:buNone/>
            </a:pPr>
            <a:r>
              <a:rPr lang="en-US" sz="1100" spc="200" kern="0" dirty="0">
                <a:solidFill>
                  <a:schemeClr val="accent1"/>
                </a:solidFill>
              </a:rPr>
              <a:t>SELECTOR · GSM8K · 5 SEEDS</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61695" y="1920240"/>
          <a:ext cx="3251302" cy="914400"/>
        </p:xfrm>
        <a:graphic>
          <a:graphicData uri="http://schemas.openxmlformats.org/drawingml/2006/table">
            <a:tbl>
              <a:tblPr/>
              <a:tblGrid>
                <a:gridCol w="1788216"/>
                <a:gridCol w="1463086"/>
              </a:tblGrid>
              <a:tr h="420624">
                <a:tc>
                  <a:txBody>
                    <a:bodyPr/>
                    <a:lstStyle/>
                    <a:p>
                      <a:pPr algn="l" indent="0" marL="0">
                        <a:buNone/>
                      </a:pPr>
                      <a:r>
                        <a:rPr lang="en-US" sz="1250" b="1" dirty="0">
                          <a:solidFill>
                            <a:schemeClr val="tx1"/>
                          </a:solidFill>
                        </a:rPr>
                        <a:t>Selector</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Accuracy (%)</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420624">
                <a:tc>
                  <a:txBody>
                    <a:bodyPr/>
                    <a:lstStyle/>
                    <a:p>
                      <a:pPr algn="l" indent="0" marL="0">
                        <a:buNone/>
                      </a:pPr>
                      <a:r>
                        <a:rPr lang="en-US" sz="1300" dirty="0">
                          <a:solidFill>
                            <a:schemeClr val="tx1"/>
                          </a:solidFill>
                        </a:rPr>
                        <a:t>Gumbel-smoothed</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88.8 ± 3.4</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420624">
                <a:tc>
                  <a:txBody>
                    <a:bodyPr/>
                    <a:lstStyle/>
                    <a:p>
                      <a:pPr algn="l" indent="0" marL="0">
                        <a:buNone/>
                      </a:pPr>
                      <a:r>
                        <a:rPr lang="en-US" sz="1300" dirty="0">
                          <a:solidFill>
                            <a:schemeClr val="tx1"/>
                          </a:solidFill>
                        </a:rPr>
                        <a:t>Deterministic</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1"/>
                          </a:solidFill>
                        </a:rPr>
                        <a:t>88.6 ± 2.9</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r>
            </a:tbl>
          </a:graphicData>
        </a:graphic>
      </p:graphicFrame>
      <p:sp>
        <p:nvSpPr>
          <p:cNvPr id="9" name="Text 6"/>
          <p:cNvSpPr txBox="1"/>
          <p:nvPr/>
        </p:nvSpPr>
        <p:spPr>
          <a:xfrm>
            <a:off x="761695" y="3383280"/>
            <a:ext cx="3251302" cy="2011680"/>
          </a:xfrm>
          <a:prstGeom prst="rect">
            <a:avLst/>
          </a:prstGeom>
          <a:noFill/>
          <a:ln/>
        </p:spPr>
        <p:txBody>
          <a:bodyPr wrap="square" lIns="0" tIns="0" rIns="0" bIns="0" rtlCol="0" anchor="t"/>
          <a:lstStyle/>
          <a:p>
            <a:pPr indent="0" marL="0">
              <a:lnSpc>
                <a:spcPct val="130000"/>
              </a:lnSpc>
              <a:buNone/>
            </a:pPr>
            <a:r>
              <a:rPr lang="en-US" sz="1350" dirty="0">
                <a:solidFill>
                  <a:schemeClr val="tx1"/>
                </a:solidFill>
              </a:rPr>
              <a:t>Both rules post-process privatized scores, so the privacy guarantee is identical; accuracy differs by only 0.2 pp. Gumbel smoothing stays the default, with no claimed variance advantage.</a:t>
            </a:r>
            <a:endParaRPr lang="en-US" sz="1350" dirty="0"/>
          </a:p>
        </p:txBody>
      </p:sp>
      <p:sp>
        <p:nvSpPr>
          <p:cNvPr id="10" name="Text 7"/>
          <p:cNvSpPr txBox="1"/>
          <p:nvPr/>
        </p:nvSpPr>
        <p:spPr>
          <a:xfrm>
            <a:off x="4470197" y="1572768"/>
            <a:ext cx="3251302" cy="228600"/>
          </a:xfrm>
          <a:prstGeom prst="rect">
            <a:avLst/>
          </a:prstGeom>
          <a:noFill/>
          <a:ln/>
        </p:spPr>
        <p:txBody>
          <a:bodyPr wrap="square" lIns="0" tIns="0" rIns="0" bIns="0" rtlCol="0" anchor="t"/>
          <a:lstStyle/>
          <a:p>
            <a:pPr indent="0" marL="0">
              <a:buNone/>
            </a:pPr>
            <a:r>
              <a:rPr lang="en-US" sz="1100" spc="200" kern="0" dirty="0">
                <a:solidFill>
                  <a:schemeClr val="accent1"/>
                </a:solidFill>
              </a:rPr>
              <a:t>POPULATION SIZE · K·T </a:t>
            </a:r>
            <a:r>
              <a:rPr lang="en-US" sz="1100" spc="200" kern="0" dirty="0">
                <a:solidFill>
                  <a:schemeClr val="accent1"/>
                </a:solidFill>
                <a:latin typeface="Cambria" pitchFamily="34" charset="0"/>
                <a:ea typeface="Cambria" pitchFamily="34" charset="-122"/>
                <a:cs typeface="Cambria" pitchFamily="34" charset="-120"/>
              </a:rPr>
              <a:t>≤</a:t>
            </a:r>
            <a:r>
              <a:rPr lang="en-US" sz="1100" spc="200" kern="0" dirty="0">
                <a:solidFill>
                  <a:schemeClr val="accent1"/>
                </a:solidFill>
              </a:rPr>
              <a:t> 24</a:t>
            </a:r>
            <a:endParaRPr lang="en-US" sz="1100" dirty="0"/>
          </a:p>
        </p:txBody>
      </p:sp>
      <p:graphicFrame>
        <p:nvGraphicFramePr>
          <p:cNvPr id="11" name="Chart 0" descr=""/>
          <p:cNvGraphicFramePr/>
          <p:nvPr/>
        </p:nvGraphicFramePr>
        <p:xfrm>
          <a:off x="4378757" y="1828800"/>
          <a:ext cx="3434182" cy="2606040"/>
        </p:xfrm>
        <a:graphic xmlns:a="http://schemas.openxmlformats.org/drawingml/2006/main">
          <a:graphicData uri="http://schemas.openxmlformats.org/drawingml/2006/chart">
            <c:chart xmlns:c="http://schemas.openxmlformats.org/drawingml/2006/chart" r:id="rId1"/>
          </a:graphicData>
        </a:graphic>
      </p:graphicFrame>
      <p:sp>
        <p:nvSpPr>
          <p:cNvPr id="12" name="Text 8"/>
          <p:cNvSpPr txBox="1"/>
          <p:nvPr/>
        </p:nvSpPr>
        <p:spPr>
          <a:xfrm>
            <a:off x="4470197" y="4572000"/>
            <a:ext cx="3251302" cy="1097280"/>
          </a:xfrm>
          <a:prstGeom prst="rect">
            <a:avLst/>
          </a:prstGeom>
          <a:noFill/>
          <a:ln/>
        </p:spPr>
        <p:txBody>
          <a:bodyPr wrap="square" lIns="0" tIns="0" rIns="0" bIns="0" rtlCol="0" anchor="t"/>
          <a:lstStyle/>
          <a:p>
            <a:pPr indent="0" marL="0">
              <a:lnSpc>
                <a:spcPct val="130000"/>
              </a:lnSpc>
              <a:buNone/>
            </a:pPr>
            <a:r>
              <a:rPr lang="en-US" sz="1350" i="1" dirty="0">
                <a:solidFill>
                  <a:schemeClr val="tx1"/>
                </a:solidFill>
              </a:rPr>
              <a:t>K</a:t>
            </a:r>
            <a:r>
              <a:rPr lang="en-US" sz="1350" dirty="0">
                <a:solidFill>
                  <a:schemeClr val="tx1"/>
                </a:solidFill>
              </a:rPr>
              <a:t> = 6, </a:t>
            </a:r>
            <a:r>
              <a:rPr lang="en-US" sz="1350" i="1" dirty="0">
                <a:solidFill>
                  <a:schemeClr val="tx1"/>
                </a:solidFill>
              </a:rPr>
              <a:t>T</a:t>
            </a:r>
            <a:r>
              <a:rPr lang="en-US" sz="1350" dirty="0">
                <a:solidFill>
                  <a:schemeClr val="tx1"/>
                </a:solidFill>
              </a:rPr>
              <a:t> = 3 balances diversity and depth: small </a:t>
            </a:r>
            <a:r>
              <a:rPr lang="en-US" sz="1350" i="1" dirty="0">
                <a:solidFill>
                  <a:schemeClr val="tx1"/>
                </a:solidFill>
              </a:rPr>
              <a:t>K</a:t>
            </a:r>
            <a:r>
              <a:rPr lang="en-US" sz="1350" dirty="0">
                <a:solidFill>
                  <a:schemeClr val="tx1"/>
                </a:solidFill>
              </a:rPr>
              <a:t> explores too narrowly; large </a:t>
            </a:r>
            <a:r>
              <a:rPr lang="en-US" sz="1350" i="1" dirty="0">
                <a:solidFill>
                  <a:schemeClr val="tx1"/>
                </a:solidFill>
              </a:rPr>
              <a:t>K</a:t>
            </a:r>
            <a:r>
              <a:rPr lang="en-US" sz="1350" dirty="0">
                <a:solidFill>
                  <a:schemeClr val="tx1"/>
                </a:solidFill>
              </a:rPr>
              <a:t> leaves too few refinement rounds.</a:t>
            </a:r>
            <a:endParaRPr lang="en-US" sz="1350" dirty="0"/>
          </a:p>
        </p:txBody>
      </p:sp>
      <p:sp>
        <p:nvSpPr>
          <p:cNvPr id="13" name="Text 9"/>
          <p:cNvSpPr txBox="1"/>
          <p:nvPr/>
        </p:nvSpPr>
        <p:spPr>
          <a:xfrm>
            <a:off x="8178698" y="1572768"/>
            <a:ext cx="3251302" cy="228600"/>
          </a:xfrm>
          <a:prstGeom prst="rect">
            <a:avLst/>
          </a:prstGeom>
          <a:noFill/>
          <a:ln/>
        </p:spPr>
        <p:txBody>
          <a:bodyPr wrap="square" lIns="0" tIns="0" rIns="0" bIns="0" rtlCol="0" anchor="t"/>
          <a:lstStyle/>
          <a:p>
            <a:pPr indent="0" marL="0">
              <a:buNone/>
            </a:pPr>
            <a:r>
              <a:rPr lang="en-US" sz="1100" spc="200" kern="0" dirty="0">
                <a:solidFill>
                  <a:schemeClr val="accent1"/>
                </a:solidFill>
              </a:rPr>
              <a:t>LOCAL QWEN2.5-7B · </a:t>
            </a:r>
            <a:r>
              <a:rPr lang="en-US" sz="1100" spc="200" kern="0" dirty="0">
                <a:solidFill>
                  <a:schemeClr val="accent1"/>
                </a:solidFill>
                <a:latin typeface="Cambria" pitchFamily="34" charset="0"/>
                <a:ea typeface="Cambria" pitchFamily="34" charset="-122"/>
                <a:cs typeface="Cambria" pitchFamily="34" charset="-120"/>
              </a:rPr>
              <a:t>ε</a:t>
            </a:r>
            <a:r>
              <a:rPr lang="en-US" sz="1100" spc="200" kern="0" dirty="0">
                <a:solidFill>
                  <a:schemeClr val="accent1"/>
                </a:solidFill>
              </a:rPr>
              <a:t> </a:t>
            </a:r>
            <a:r>
              <a:rPr lang="en-US" sz="1100" spc="200" kern="0" dirty="0">
                <a:solidFill>
                  <a:schemeClr val="accent1"/>
                </a:solidFill>
                <a:latin typeface="Cambria" pitchFamily="34" charset="0"/>
                <a:ea typeface="Cambria" pitchFamily="34" charset="-122"/>
                <a:cs typeface="Cambria" pitchFamily="34" charset="-120"/>
              </a:rPr>
              <a:t>≤</a:t>
            </a:r>
            <a:r>
              <a:rPr lang="en-US" sz="1100" spc="200" kern="0" dirty="0">
                <a:solidFill>
                  <a:schemeClr val="accent1"/>
                </a:solidFill>
              </a:rPr>
              <a:t> 1 · 3 SEEDS</a:t>
            </a:r>
            <a:endParaRPr lang="en-US" sz="11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8178698" y="1920240"/>
          <a:ext cx="3251302" cy="914400"/>
        </p:xfrm>
        <a:graphic>
          <a:graphicData uri="http://schemas.openxmlformats.org/drawingml/2006/table">
            <a:tbl>
              <a:tblPr/>
              <a:tblGrid>
                <a:gridCol w="1235495"/>
                <a:gridCol w="1007903"/>
                <a:gridCol w="1007903"/>
              </a:tblGrid>
              <a:tr h="402336">
                <a:tc>
                  <a:txBody>
                    <a:bodyPr/>
                    <a:lstStyle/>
                    <a:p>
                      <a:pPr algn="l" indent="0" marL="0">
                        <a:buNone/>
                      </a:pPr>
                      <a:r>
                        <a:rPr lang="en-US" sz="1150" b="1" dirty="0">
                          <a:solidFill>
                            <a:schemeClr val="tx1"/>
                          </a:solidFill>
                        </a:rPr>
                        <a:t>Method</a:t>
                      </a:r>
                      <a:endParaRPr lang="en-US" sz="11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150" b="1" dirty="0">
                          <a:solidFill>
                            <a:schemeClr val="tx1"/>
                          </a:solidFill>
                        </a:rPr>
                        <a:t>GSM8K</a:t>
                      </a:r>
                      <a:endParaRPr lang="en-US" sz="11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150" b="1" dirty="0">
                          <a:solidFill>
                            <a:schemeClr val="tx1"/>
                          </a:solidFill>
                        </a:rPr>
                        <a:t>MedQA</a:t>
                      </a:r>
                      <a:endParaRPr lang="en-US" sz="11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402336">
                <a:tc>
                  <a:txBody>
                    <a:bodyPr/>
                    <a:lstStyle/>
                    <a:p>
                      <a:pPr algn="l" indent="0" marL="0">
                        <a:buNone/>
                      </a:pPr>
                      <a:r>
                        <a:rPr lang="en-US" sz="1200" b="1" dirty="0">
                          <a:solidFill>
                            <a:schemeClr val="accent1"/>
                          </a:solidFill>
                        </a:rPr>
                        <a:t>DP-ES</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1"/>
                          </a:solidFill>
                        </a:rPr>
                        <a:t>53.8±6.1</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200" b="1" dirty="0">
                          <a:solidFill>
                            <a:schemeClr val="accent1"/>
                          </a:solidFill>
                        </a:rPr>
                        <a:t>81.2±1.3</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algn="l" indent="0" marL="0">
                        <a:buNone/>
                      </a:pPr>
                      <a:r>
                        <a:rPr lang="en-US" sz="1200" dirty="0">
                          <a:solidFill>
                            <a:schemeClr val="tx1"/>
                          </a:solidFill>
                        </a:rPr>
                        <a:t>DP-OPT</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00" dirty="0">
                          <a:solidFill>
                            <a:schemeClr val="tx1"/>
                          </a:solidFill>
                        </a:rPr>
                        <a:t>37.4±11.6</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00" dirty="0">
                          <a:solidFill>
                            <a:schemeClr val="tx1"/>
                          </a:solidFill>
                        </a:rPr>
                        <a:t>83.0±2.1</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r>
              <a:tr h="402336">
                <a:tc>
                  <a:txBody>
                    <a:bodyPr/>
                    <a:lstStyle/>
                    <a:p>
                      <a:pPr algn="l" indent="0" marL="0">
                        <a:buNone/>
                      </a:pPr>
                      <a:r>
                        <a:rPr lang="en-US" sz="1200" dirty="0">
                          <a:solidFill>
                            <a:schemeClr val="tx1"/>
                          </a:solidFill>
                        </a:rPr>
                        <a:t>PromptDPSGD</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00" dirty="0">
                          <a:solidFill>
                            <a:schemeClr val="tx1"/>
                          </a:solidFill>
                        </a:rPr>
                        <a:t>20.0±5.8</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200" dirty="0">
                          <a:solidFill>
                            <a:schemeClr val="tx1"/>
                          </a:solidFill>
                        </a:rPr>
                        <a:t>34.8±19.0</a:t>
                      </a:r>
                      <a:endParaRPr lang="en-US" sz="1200" dirty="0"/>
                    </a:p>
                  </a:txBody>
                  <a:tcPr marL="91440" marR="91440" marT="36576" marB="36576" anchor="ctr">
                    <a:lnL w="0" cap="flat" cmpd="sng" algn="ctr">
                      <a:noFill/>
                    </a:lnL>
                    <a:lnR w="0" cap="flat" cmpd="sng" algn="ctr">
                      <a:noFill/>
                    </a:lnR>
                    <a:lnT w="0" cap="flat" cmpd="sng" algn="ctr">
                      <a:noFill/>
                    </a:lnT>
                    <a:lnB w="0" cap="flat" cmpd="sng" algn="ctr">
                      <a:noFill/>
                    </a:lnB>
                  </a:tcPr>
                </a:tc>
              </a:tr>
              <a:tr h="402336">
                <a:tc>
                  <a:txBody>
                    <a:bodyPr/>
                    <a:lstStyle/>
                    <a:p>
                      <a:pPr algn="l" indent="0" marL="0">
                        <a:buNone/>
                      </a:pPr>
                      <a:r>
                        <a:rPr lang="en-US" sz="1200" dirty="0">
                          <a:solidFill>
                            <a:schemeClr val="tx1"/>
                          </a:solidFill>
                        </a:rPr>
                        <a:t>Non-DP</a:t>
                      </a:r>
                      <a:endParaRPr lang="en-US" sz="12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200" dirty="0">
                          <a:solidFill>
                            <a:schemeClr val="tx1"/>
                          </a:solidFill>
                        </a:rPr>
                        <a:t>26.2±10.2</a:t>
                      </a:r>
                      <a:endParaRPr lang="en-US" sz="12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200" dirty="0">
                          <a:solidFill>
                            <a:schemeClr val="tx1"/>
                          </a:solidFill>
                        </a:rPr>
                        <a:t>79.5±4.2</a:t>
                      </a:r>
                      <a:endParaRPr lang="en-US" sz="12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r>
            </a:tbl>
          </a:graphicData>
        </a:graphic>
      </p:graphicFrame>
      <p:sp>
        <p:nvSpPr>
          <p:cNvPr id="15" name="Text 10"/>
          <p:cNvSpPr txBox="1"/>
          <p:nvPr/>
        </p:nvSpPr>
        <p:spPr>
          <a:xfrm>
            <a:off x="8178698" y="4160520"/>
            <a:ext cx="3251302" cy="1463040"/>
          </a:xfrm>
          <a:prstGeom prst="rect">
            <a:avLst/>
          </a:prstGeom>
          <a:noFill/>
          <a:ln/>
        </p:spPr>
        <p:txBody>
          <a:bodyPr wrap="square" lIns="0" tIns="0" rIns="0" bIns="0" rtlCol="0" anchor="t"/>
          <a:lstStyle/>
          <a:p>
            <a:pPr indent="0" marL="0">
              <a:lnSpc>
                <a:spcPct val="130000"/>
              </a:lnSpc>
              <a:buNone/>
            </a:pPr>
            <a:r>
              <a:rPr lang="en-US" sz="1350" dirty="0">
                <a:solidFill>
                  <a:schemeClr val="tx1"/>
                </a:solidFill>
              </a:rPr>
              <a:t>The reasoning gain transfers (+16.4 pp on GSM8K, half the std); MedQA is comparable — the main trend is not API-specific.</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05 · PRIVACY</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Formal guarantee: </a:t>
            </a:r>
            <a:r>
              <a:rPr lang="en-US" sz="2900" dirty="0">
                <a:solidFill>
                  <a:schemeClr val="tx1"/>
                </a:solidFill>
                <a:latin typeface="Cambria" pitchFamily="34" charset="0"/>
                <a:ea typeface="Cambria" pitchFamily="34" charset="-122"/>
                <a:cs typeface="Cambria" pitchFamily="34" charset="-120"/>
              </a:rPr>
              <a:t>ε</a:t>
            </a:r>
            <a:r>
              <a:rPr lang="en-US" sz="2900" dirty="0">
                <a:solidFill>
                  <a:schemeClr val="tx1"/>
                </a:solidFill>
                <a:latin typeface="+mj-lt" pitchFamily="34" charset="0"/>
                <a:ea typeface="+mj-lt" pitchFamily="34" charset="-122"/>
                <a:cs typeface="+mj-lt" pitchFamily="34" charset="-120"/>
              </a:rPr>
              <a:t> </a:t>
            </a:r>
            <a:r>
              <a:rPr lang="en-US" sz="2900" dirty="0">
                <a:solidFill>
                  <a:schemeClr val="tx1"/>
                </a:solidFill>
                <a:latin typeface="Cambria" pitchFamily="34" charset="0"/>
                <a:ea typeface="Cambria" pitchFamily="34" charset="-122"/>
                <a:cs typeface="Cambria" pitchFamily="34" charset="-120"/>
              </a:rPr>
              <a:t>≤</a:t>
            </a:r>
            <a:r>
              <a:rPr lang="en-US" sz="2900" dirty="0">
                <a:solidFill>
                  <a:schemeClr val="tx1"/>
                </a:solidFill>
                <a:latin typeface="+mj-lt" pitchFamily="34" charset="0"/>
                <a:ea typeface="+mj-lt" pitchFamily="34" charset="-122"/>
                <a:cs typeface="+mj-lt" pitchFamily="34" charset="-120"/>
              </a:rPr>
              <a:t> 0.71 at </a:t>
            </a:r>
            <a:r>
              <a:rPr lang="en-US" sz="2900" dirty="0">
                <a:solidFill>
                  <a:schemeClr val="tx1"/>
                </a:solidFill>
                <a:latin typeface="Cambria" pitchFamily="34" charset="0"/>
                <a:ea typeface="Cambria" pitchFamily="34" charset="-122"/>
                <a:cs typeface="Cambria" pitchFamily="34" charset="-120"/>
              </a:rPr>
              <a:t>δ</a:t>
            </a:r>
            <a:r>
              <a:rPr lang="en-US" sz="2900" dirty="0">
                <a:solidFill>
                  <a:schemeClr val="tx1"/>
                </a:solidFill>
                <a:latin typeface="+mj-lt" pitchFamily="34" charset="0"/>
                <a:ea typeface="+mj-lt" pitchFamily="34" charset="-122"/>
                <a:cs typeface="+mj-lt" pitchFamily="34" charset="-120"/>
              </a:rPr>
              <a:t> = 10</a:t>
            </a:r>
            <a:r>
              <a:rPr lang="en-US" sz="2900" baseline="30000" dirty="0">
                <a:solidFill>
                  <a:schemeClr val="tx1"/>
                </a:solidFill>
                <a:latin typeface="Cambria" pitchFamily="34" charset="0"/>
                <a:ea typeface="Cambria" pitchFamily="34" charset="-122"/>
                <a:cs typeface="Cambria" pitchFamily="34" charset="-120"/>
              </a:rPr>
              <a:t>−</a:t>
            </a:r>
            <a:r>
              <a:rPr lang="en-US" sz="2900" baseline="30000" dirty="0">
                <a:solidFill>
                  <a:schemeClr val="tx1"/>
                </a:solidFill>
                <a:latin typeface="+mj-lt" pitchFamily="34" charset="0"/>
                <a:ea typeface="+mj-lt" pitchFamily="34" charset="-122"/>
                <a:cs typeface="+mj-lt" pitchFamily="34" charset="-120"/>
              </a:rPr>
              <a:t>5</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14 / 18</a:t>
            </a:r>
            <a:endParaRPr lang="en-US" sz="1000" dirty="0"/>
          </a:p>
        </p:txBody>
      </p:sp>
      <p:sp>
        <p:nvSpPr>
          <p:cNvPr id="5" name="Text 3"/>
          <p:cNvSpPr txBox="1"/>
          <p:nvPr/>
        </p:nvSpPr>
        <p:spPr>
          <a:xfrm>
            <a:off x="761695" y="1517904"/>
            <a:ext cx="2011680"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JetBrains Mono" pitchFamily="34" charset="0"/>
                <a:ea typeface="JetBrains Mono" pitchFamily="34" charset="-122"/>
                <a:cs typeface="JetBrains Mono" pitchFamily="34" charset="-120"/>
              </a:rPr>
              <a:t>PROPOSITION 1</a:t>
            </a:r>
            <a:endParaRPr lang="en-US" sz="1100" dirty="0"/>
          </a:p>
        </p:txBody>
      </p:sp>
      <p:sp>
        <p:nvSpPr>
          <p:cNvPr id="6" name="Text 4"/>
          <p:cNvSpPr txBox="1"/>
          <p:nvPr/>
        </p:nvSpPr>
        <p:spPr>
          <a:xfrm>
            <a:off x="761695" y="1792224"/>
            <a:ext cx="6400800" cy="365760"/>
          </a:xfrm>
          <a:prstGeom prst="rect">
            <a:avLst/>
          </a:prstGeom>
          <a:noFill/>
          <a:ln/>
        </p:spPr>
        <p:txBody>
          <a:bodyPr wrap="square" lIns="0" tIns="0" rIns="0" bIns="0" rtlCol="0" anchor="t"/>
          <a:lstStyle/>
          <a:p>
            <a:pPr indent="0" marL="0">
              <a:buNone/>
            </a:pPr>
            <a:r>
              <a:rPr lang="en-US" sz="2000" dirty="0">
                <a:solidFill>
                  <a:schemeClr val="tx1"/>
                </a:solidFill>
                <a:latin typeface="+mj-lt" pitchFamily="34" charset="0"/>
                <a:ea typeface="+mj-lt" pitchFamily="34" charset="-122"/>
                <a:cs typeface="+mj-lt" pitchFamily="34" charset="-120"/>
              </a:rPr>
              <a:t>Mutation is privacy-free</a:t>
            </a:r>
            <a:endParaRPr lang="en-US" sz="2000" dirty="0"/>
          </a:p>
        </p:txBody>
      </p:sp>
      <p:sp>
        <p:nvSpPr>
          <p:cNvPr id="7" name="Text 5"/>
          <p:cNvSpPr txBox="1"/>
          <p:nvPr/>
        </p:nvSpPr>
        <p:spPr>
          <a:xfrm>
            <a:off x="761695" y="2203704"/>
            <a:ext cx="6400800" cy="594360"/>
          </a:xfrm>
          <a:prstGeom prst="rect">
            <a:avLst/>
          </a:prstGeom>
          <a:noFill/>
          <a:ln/>
        </p:spPr>
        <p:txBody>
          <a:bodyPr wrap="square" lIns="0" tIns="0" rIns="0" bIns="0" rtlCol="0" anchor="t"/>
          <a:lstStyle/>
          <a:p>
            <a:pPr indent="0" marL="0">
              <a:lnSpc>
                <a:spcPct val="130000"/>
              </a:lnSpc>
              <a:buNone/>
            </a:pPr>
            <a:r>
              <a:rPr lang="en-US" sz="1350" dirty="0">
                <a:solidFill>
                  <a:schemeClr val="tx1"/>
                </a:solidFill>
              </a:rPr>
              <a:t>Mutate sees only a public or previously privatized parent prompt, so by post-processing it consumes zero privacy budget.</a:t>
            </a:r>
            <a:endParaRPr lang="en-US" sz="1350" dirty="0"/>
          </a:p>
        </p:txBody>
      </p:sp>
      <p:sp>
        <p:nvSpPr>
          <p:cNvPr id="8" name="Shape 6"/>
          <p:cNvSpPr/>
          <p:nvPr/>
        </p:nvSpPr>
        <p:spPr>
          <a:xfrm>
            <a:off x="761695" y="2862072"/>
            <a:ext cx="6400800" cy="12802"/>
          </a:xfrm>
          <a:prstGeom prst="rect">
            <a:avLst/>
          </a:prstGeom>
          <a:solidFill>
            <a:schemeClr val="accent4"/>
          </a:solidFill>
          <a:ln/>
        </p:spPr>
      </p:sp>
      <p:sp>
        <p:nvSpPr>
          <p:cNvPr id="9" name="Text 7"/>
          <p:cNvSpPr txBox="1"/>
          <p:nvPr/>
        </p:nvSpPr>
        <p:spPr>
          <a:xfrm>
            <a:off x="761695" y="2999232"/>
            <a:ext cx="2011680"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JetBrains Mono" pitchFamily="34" charset="0"/>
                <a:ea typeface="JetBrains Mono" pitchFamily="34" charset="-122"/>
                <a:cs typeface="JetBrains Mono" pitchFamily="34" charset="-120"/>
              </a:rPr>
              <a:t>PROPOSITION 2</a:t>
            </a:r>
            <a:endParaRPr lang="en-US" sz="1100" dirty="0"/>
          </a:p>
        </p:txBody>
      </p:sp>
      <p:sp>
        <p:nvSpPr>
          <p:cNvPr id="10" name="Text 8"/>
          <p:cNvSpPr txBox="1"/>
          <p:nvPr/>
        </p:nvSpPr>
        <p:spPr>
          <a:xfrm>
            <a:off x="761695" y="3273552"/>
            <a:ext cx="6400800" cy="365760"/>
          </a:xfrm>
          <a:prstGeom prst="rect">
            <a:avLst/>
          </a:prstGeom>
          <a:noFill/>
          <a:ln/>
        </p:spPr>
        <p:txBody>
          <a:bodyPr wrap="square" lIns="0" tIns="0" rIns="0" bIns="0" rtlCol="0" anchor="t"/>
          <a:lstStyle/>
          <a:p>
            <a:pPr indent="0" marL="0">
              <a:buNone/>
            </a:pPr>
            <a:r>
              <a:rPr lang="en-US" sz="2000" dirty="0">
                <a:solidFill>
                  <a:schemeClr val="tx1"/>
                </a:solidFill>
                <a:latin typeface="+mj-lt" pitchFamily="34" charset="0"/>
                <a:ea typeface="+mj-lt" pitchFamily="34" charset="-122"/>
                <a:cs typeface="+mj-lt" pitchFamily="34" charset="-120"/>
              </a:rPr>
              <a:t>Decoupled exploration</a:t>
            </a:r>
            <a:endParaRPr lang="en-US" sz="2000" dirty="0"/>
          </a:p>
        </p:txBody>
      </p:sp>
      <p:sp>
        <p:nvSpPr>
          <p:cNvPr id="11" name="Text 9"/>
          <p:cNvSpPr txBox="1"/>
          <p:nvPr/>
        </p:nvSpPr>
        <p:spPr>
          <a:xfrm>
            <a:off x="761695" y="3685032"/>
            <a:ext cx="6400800" cy="594360"/>
          </a:xfrm>
          <a:prstGeom prst="rect">
            <a:avLst/>
          </a:prstGeom>
          <a:noFill/>
          <a:ln/>
        </p:spPr>
        <p:txBody>
          <a:bodyPr wrap="square" lIns="0" tIns="0" rIns="0" bIns="0" rtlCol="0" anchor="t"/>
          <a:lstStyle/>
          <a:p>
            <a:pPr indent="0" marL="0">
              <a:lnSpc>
                <a:spcPct val="130000"/>
              </a:lnSpc>
              <a:buNone/>
            </a:pPr>
            <a:r>
              <a:rPr lang="en-US" sz="1350" dirty="0">
                <a:solidFill>
                  <a:schemeClr val="tx1"/>
                </a:solidFill>
              </a:rPr>
              <a:t>Privacy loss depends only on the score releases — not on the number or strength of mutations per iteration.</a:t>
            </a:r>
            <a:endParaRPr lang="en-US" sz="1350" dirty="0"/>
          </a:p>
        </p:txBody>
      </p:sp>
      <p:sp>
        <p:nvSpPr>
          <p:cNvPr id="12" name="Shape 10"/>
          <p:cNvSpPr/>
          <p:nvPr/>
        </p:nvSpPr>
        <p:spPr>
          <a:xfrm>
            <a:off x="761695" y="4343400"/>
            <a:ext cx="6400800" cy="12802"/>
          </a:xfrm>
          <a:prstGeom prst="rect">
            <a:avLst/>
          </a:prstGeom>
          <a:solidFill>
            <a:schemeClr val="accent4"/>
          </a:solidFill>
          <a:ln/>
        </p:spPr>
      </p:sp>
      <p:sp>
        <p:nvSpPr>
          <p:cNvPr id="13" name="Text 11"/>
          <p:cNvSpPr txBox="1"/>
          <p:nvPr/>
        </p:nvSpPr>
        <p:spPr>
          <a:xfrm>
            <a:off x="761695" y="4480560"/>
            <a:ext cx="2011680"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JetBrains Mono" pitchFamily="34" charset="0"/>
                <a:ea typeface="JetBrains Mono" pitchFamily="34" charset="-122"/>
                <a:cs typeface="JetBrains Mono" pitchFamily="34" charset="-120"/>
              </a:rPr>
              <a:t>THEOREM</a:t>
            </a:r>
            <a:endParaRPr lang="en-US" sz="1100" dirty="0"/>
          </a:p>
        </p:txBody>
      </p:sp>
      <p:sp>
        <p:nvSpPr>
          <p:cNvPr id="14" name="Text 12"/>
          <p:cNvSpPr txBox="1"/>
          <p:nvPr/>
        </p:nvSpPr>
        <p:spPr>
          <a:xfrm>
            <a:off x="761695" y="4754880"/>
            <a:ext cx="6400800" cy="365760"/>
          </a:xfrm>
          <a:prstGeom prst="rect">
            <a:avLst/>
          </a:prstGeom>
          <a:noFill/>
          <a:ln/>
        </p:spPr>
        <p:txBody>
          <a:bodyPr wrap="square" lIns="0" tIns="0" rIns="0" bIns="0" rtlCol="0" anchor="t"/>
          <a:lstStyle/>
          <a:p>
            <a:pPr indent="0" marL="0">
              <a:buNone/>
            </a:pPr>
            <a:r>
              <a:rPr lang="en-US" sz="2000" dirty="0">
                <a:solidFill>
                  <a:schemeClr val="tx1"/>
                </a:solidFill>
                <a:latin typeface="+mj-lt" pitchFamily="34" charset="0"/>
                <a:ea typeface="+mj-lt" pitchFamily="34" charset="-122"/>
                <a:cs typeface="+mj-lt" pitchFamily="34" charset="-120"/>
              </a:rPr>
              <a:t>End-to-end (</a:t>
            </a:r>
            <a:r>
              <a:rPr lang="en-US" sz="2000" dirty="0">
                <a:solidFill>
                  <a:schemeClr val="tx1"/>
                </a:solidFill>
                <a:latin typeface="Cambria" pitchFamily="34" charset="0"/>
                <a:ea typeface="Cambria" pitchFamily="34" charset="-122"/>
                <a:cs typeface="Cambria" pitchFamily="34" charset="-120"/>
              </a:rPr>
              <a:t>ε</a:t>
            </a:r>
            <a:r>
              <a:rPr lang="en-US" sz="2000" dirty="0">
                <a:solidFill>
                  <a:schemeClr val="tx1"/>
                </a:solidFill>
                <a:latin typeface="+mj-lt" pitchFamily="34" charset="0"/>
                <a:ea typeface="+mj-lt" pitchFamily="34" charset="-122"/>
                <a:cs typeface="+mj-lt" pitchFamily="34" charset="-120"/>
              </a:rPr>
              <a:t>, </a:t>
            </a:r>
            <a:r>
              <a:rPr lang="en-US" sz="2000" dirty="0">
                <a:solidFill>
                  <a:schemeClr val="tx1"/>
                </a:solidFill>
                <a:latin typeface="Cambria" pitchFamily="34" charset="0"/>
                <a:ea typeface="Cambria" pitchFamily="34" charset="-122"/>
                <a:cs typeface="Cambria" pitchFamily="34" charset="-120"/>
              </a:rPr>
              <a:t>δ</a:t>
            </a:r>
            <a:r>
              <a:rPr lang="en-US" sz="2000" dirty="0">
                <a:solidFill>
                  <a:schemeClr val="tx1"/>
                </a:solidFill>
                <a:latin typeface="+mj-lt" pitchFamily="34" charset="0"/>
                <a:ea typeface="+mj-lt" pitchFamily="34" charset="-122"/>
                <a:cs typeface="+mj-lt" pitchFamily="34" charset="-120"/>
              </a:rPr>
              <a:t>)-DP</a:t>
            </a:r>
            <a:endParaRPr lang="en-US" sz="2000" dirty="0"/>
          </a:p>
        </p:txBody>
      </p:sp>
      <p:sp>
        <p:nvSpPr>
          <p:cNvPr id="15" name="Text 13"/>
          <p:cNvSpPr txBox="1"/>
          <p:nvPr/>
        </p:nvSpPr>
        <p:spPr>
          <a:xfrm>
            <a:off x="761695" y="5166360"/>
            <a:ext cx="6400800" cy="594360"/>
          </a:xfrm>
          <a:prstGeom prst="rect">
            <a:avLst/>
          </a:prstGeom>
          <a:noFill/>
          <a:ln/>
        </p:spPr>
        <p:txBody>
          <a:bodyPr wrap="square" lIns="0" tIns="0" rIns="0" bIns="0" rtlCol="0" anchor="t"/>
          <a:lstStyle/>
          <a:p>
            <a:pPr indent="0" marL="0">
              <a:lnSpc>
                <a:spcPct val="130000"/>
              </a:lnSpc>
              <a:buNone/>
            </a:pPr>
            <a:r>
              <a:rPr lang="en-US" sz="1350" dirty="0">
                <a:solidFill>
                  <a:schemeClr val="tx1"/>
                </a:solidFill>
              </a:rPr>
              <a:t>Composing </a:t>
            </a:r>
            <a:r>
              <a:rPr lang="en-US" sz="1350" dirty="0">
                <a:solidFill>
                  <a:schemeClr val="tx1"/>
                </a:solidFill>
                <a:latin typeface="Cambria" pitchFamily="34" charset="0"/>
                <a:ea typeface="Cambria" pitchFamily="34" charset="-122"/>
                <a:cs typeface="Cambria" pitchFamily="34" charset="-120"/>
              </a:rPr>
              <a:t>≤</a:t>
            </a:r>
            <a:r>
              <a:rPr lang="en-US" sz="1350" dirty="0">
                <a:solidFill>
                  <a:schemeClr val="tx1"/>
                </a:solidFill>
              </a:rPr>
              <a:t> </a:t>
            </a:r>
            <a:r>
              <a:rPr lang="en-US" sz="1350" i="1" dirty="0">
                <a:solidFill>
                  <a:schemeClr val="tx1"/>
                </a:solidFill>
              </a:rPr>
              <a:t>TK</a:t>
            </a:r>
            <a:r>
              <a:rPr lang="en-US" sz="1350" dirty="0">
                <a:solidFill>
                  <a:schemeClr val="tx1"/>
                </a:solidFill>
              </a:rPr>
              <a:t> sampled-Gaussian releases in Rényi DP (uniform subsampling without replacement) gives (</a:t>
            </a:r>
            <a:r>
              <a:rPr lang="en-US" sz="1350" dirty="0">
                <a:solidFill>
                  <a:schemeClr val="tx1"/>
                </a:solidFill>
                <a:latin typeface="Cambria" pitchFamily="34" charset="0"/>
                <a:ea typeface="Cambria" pitchFamily="34" charset="-122"/>
                <a:cs typeface="Cambria" pitchFamily="34" charset="-120"/>
              </a:rPr>
              <a:t>ε</a:t>
            </a:r>
            <a:r>
              <a:rPr lang="en-US" sz="1350" dirty="0">
                <a:solidFill>
                  <a:schemeClr val="tx1"/>
                </a:solidFill>
              </a:rPr>
              <a:t>, </a:t>
            </a:r>
            <a:r>
              <a:rPr lang="en-US" sz="1350" dirty="0">
                <a:solidFill>
                  <a:schemeClr val="tx1"/>
                </a:solidFill>
                <a:latin typeface="Cambria" pitchFamily="34" charset="0"/>
                <a:ea typeface="Cambria" pitchFamily="34" charset="-122"/>
                <a:cs typeface="Cambria" pitchFamily="34" charset="-120"/>
              </a:rPr>
              <a:t>δ</a:t>
            </a:r>
            <a:r>
              <a:rPr lang="en-US" sz="1350" dirty="0">
                <a:solidFill>
                  <a:schemeClr val="tx1"/>
                </a:solidFill>
              </a:rPr>
              <a:t>)-DP for the released prompt; selection is post-processing.</a:t>
            </a:r>
            <a:endParaRPr lang="en-US" sz="1350" dirty="0"/>
          </a:p>
        </p:txBody>
      </p:sp>
      <p:sp>
        <p:nvSpPr>
          <p:cNvPr id="16" name="Shape 14"/>
          <p:cNvSpPr/>
          <p:nvPr/>
        </p:nvSpPr>
        <p:spPr>
          <a:xfrm>
            <a:off x="7543800" y="1517904"/>
            <a:ext cx="12802" cy="4663440"/>
          </a:xfrm>
          <a:prstGeom prst="rect">
            <a:avLst/>
          </a:prstGeom>
          <a:solidFill>
            <a:schemeClr val="accent4"/>
          </a:solidFill>
          <a:ln/>
        </p:spPr>
      </p:sp>
      <p:sp>
        <p:nvSpPr>
          <p:cNvPr id="17" name="Text 15"/>
          <p:cNvSpPr txBox="1"/>
          <p:nvPr/>
        </p:nvSpPr>
        <p:spPr>
          <a:xfrm>
            <a:off x="7909560" y="1517904"/>
            <a:ext cx="3520440" cy="228600"/>
          </a:xfrm>
          <a:prstGeom prst="rect">
            <a:avLst/>
          </a:prstGeom>
          <a:noFill/>
          <a:ln/>
        </p:spPr>
        <p:txBody>
          <a:bodyPr wrap="square" lIns="0" tIns="0" rIns="0" bIns="0" rtlCol="0" anchor="t"/>
          <a:lstStyle/>
          <a:p>
            <a:pPr indent="0" marL="0">
              <a:buNone/>
            </a:pPr>
            <a:r>
              <a:rPr lang="en-US" sz="1100" spc="200" kern="0" dirty="0">
                <a:solidFill>
                  <a:schemeClr val="accent1"/>
                </a:solidFill>
              </a:rPr>
              <a:t>ACCOUNTING FOR THE REPORTED RUNS</a:t>
            </a:r>
            <a:endParaRPr lang="en-US" sz="1100" dirty="0"/>
          </a:p>
        </p:txBody>
      </p:sp>
      <p:sp>
        <p:nvSpPr>
          <p:cNvPr id="18" name="Text 16"/>
          <p:cNvSpPr txBox="1"/>
          <p:nvPr/>
        </p:nvSpPr>
        <p:spPr>
          <a:xfrm>
            <a:off x="7909560" y="1874520"/>
            <a:ext cx="1554480" cy="347472"/>
          </a:xfrm>
          <a:prstGeom prst="rect">
            <a:avLst/>
          </a:prstGeom>
          <a:noFill/>
          <a:ln/>
        </p:spPr>
        <p:txBody>
          <a:bodyPr wrap="square" lIns="0" tIns="0" rIns="0" bIns="0" rtlCol="0" anchor="ctr"/>
          <a:lstStyle/>
          <a:p>
            <a:pPr indent="0" marL="0">
              <a:buNone/>
            </a:pPr>
            <a:r>
              <a:rPr lang="en-US" sz="1400" i="1" dirty="0">
                <a:solidFill>
                  <a:schemeClr val="tx1"/>
                </a:solidFill>
                <a:latin typeface="Cambria" pitchFamily="34" charset="0"/>
                <a:ea typeface="Cambria" pitchFamily="34" charset="-122"/>
                <a:cs typeface="Cambria" pitchFamily="34" charset="-120"/>
              </a:rPr>
              <a:t>n</a:t>
            </a:r>
            <a:r>
              <a:rPr lang="en-US" sz="1400" dirty="0">
                <a:solidFill>
                  <a:schemeClr val="tx1"/>
                </a:solidFill>
                <a:latin typeface="Cambria" pitchFamily="34" charset="0"/>
                <a:ea typeface="Cambria" pitchFamily="34" charset="-122"/>
                <a:cs typeface="Cambria" pitchFamily="34" charset="-120"/>
              </a:rPr>
              <a:t> = 200, </a:t>
            </a:r>
            <a:r>
              <a:rPr lang="en-US" sz="1400" i="1" dirty="0">
                <a:solidFill>
                  <a:schemeClr val="tx1"/>
                </a:solidFill>
                <a:latin typeface="Cambria" pitchFamily="34" charset="0"/>
                <a:ea typeface="Cambria" pitchFamily="34" charset="-122"/>
                <a:cs typeface="Cambria" pitchFamily="34" charset="-120"/>
              </a:rPr>
              <a:t>b</a:t>
            </a:r>
            <a:r>
              <a:rPr lang="en-US" sz="1400" dirty="0">
                <a:solidFill>
                  <a:schemeClr val="tx1"/>
                </a:solidFill>
                <a:latin typeface="Cambria" pitchFamily="34" charset="0"/>
                <a:ea typeface="Cambria" pitchFamily="34" charset="-122"/>
                <a:cs typeface="Cambria" pitchFamily="34" charset="-120"/>
              </a:rPr>
              <a:t> = 10</a:t>
            </a:r>
            <a:endParaRPr lang="en-US" sz="1400" dirty="0"/>
          </a:p>
        </p:txBody>
      </p:sp>
      <p:sp>
        <p:nvSpPr>
          <p:cNvPr id="19" name="Text 17"/>
          <p:cNvSpPr txBox="1"/>
          <p:nvPr/>
        </p:nvSpPr>
        <p:spPr>
          <a:xfrm>
            <a:off x="9464040" y="1874520"/>
            <a:ext cx="320040" cy="347472"/>
          </a:xfrm>
          <a:prstGeom prst="rect">
            <a:avLst/>
          </a:prstGeom>
          <a:noFill/>
          <a:ln/>
        </p:spPr>
        <p:txBody>
          <a:bodyPr wrap="square" lIns="0" tIns="0" rIns="0" bIns="0" rtlCol="0" anchor="ctr"/>
          <a:lstStyle/>
          <a:p>
            <a:pPr algn="ctr" indent="0" marL="0">
              <a:buNone/>
            </a:pPr>
            <a:r>
              <a:rPr lang="en-US" sz="1500" dirty="0">
                <a:solidFill>
                  <a:schemeClr val="accent3"/>
                </a:solidFill>
                <a:latin typeface="Cambria" pitchFamily="34" charset="0"/>
                <a:ea typeface="Cambria" pitchFamily="34" charset="-122"/>
                <a:cs typeface="Cambria" pitchFamily="34" charset="-120"/>
              </a:rPr>
              <a:t>→</a:t>
            </a:r>
            <a:endParaRPr lang="en-US" sz="1500" dirty="0"/>
          </a:p>
        </p:txBody>
      </p:sp>
      <p:sp>
        <p:nvSpPr>
          <p:cNvPr id="20" name="Text 18"/>
          <p:cNvSpPr txBox="1"/>
          <p:nvPr/>
        </p:nvSpPr>
        <p:spPr>
          <a:xfrm>
            <a:off x="9784080" y="1874520"/>
            <a:ext cx="1645920" cy="347472"/>
          </a:xfrm>
          <a:prstGeom prst="rect">
            <a:avLst/>
          </a:prstGeom>
          <a:noFill/>
          <a:ln/>
        </p:spPr>
        <p:txBody>
          <a:bodyPr wrap="square" lIns="0" tIns="0" rIns="0" bIns="0" rtlCol="0" anchor="ctr"/>
          <a:lstStyle/>
          <a:p>
            <a:pPr indent="0" marL="0">
              <a:buNone/>
            </a:pPr>
            <a:r>
              <a:rPr lang="en-US" sz="1400" i="1" dirty="0">
                <a:solidFill>
                  <a:schemeClr val="accent1"/>
                </a:solidFill>
                <a:latin typeface="Cambria" pitchFamily="34" charset="0"/>
                <a:ea typeface="Cambria" pitchFamily="34" charset="-122"/>
                <a:cs typeface="Cambria" pitchFamily="34" charset="-120"/>
              </a:rPr>
              <a:t>q</a:t>
            </a:r>
            <a:r>
              <a:rPr lang="en-US" sz="1400" dirty="0">
                <a:solidFill>
                  <a:schemeClr val="accent1"/>
                </a:solidFill>
                <a:latin typeface="Cambria" pitchFamily="34" charset="0"/>
                <a:ea typeface="Cambria" pitchFamily="34" charset="-122"/>
                <a:cs typeface="Cambria" pitchFamily="34" charset="-120"/>
              </a:rPr>
              <a:t> = </a:t>
            </a:r>
            <a:r>
              <a:rPr lang="en-US" sz="1400" i="1" dirty="0">
                <a:solidFill>
                  <a:schemeClr val="accent1"/>
                </a:solidFill>
                <a:latin typeface="Cambria" pitchFamily="34" charset="0"/>
                <a:ea typeface="Cambria" pitchFamily="34" charset="-122"/>
                <a:cs typeface="Cambria" pitchFamily="34" charset="-120"/>
              </a:rPr>
              <a:t>b</a:t>
            </a:r>
            <a:r>
              <a:rPr lang="en-US" sz="1400" dirty="0">
                <a:solidFill>
                  <a:schemeClr val="accent1"/>
                </a:solidFill>
                <a:latin typeface="Cambria" pitchFamily="34" charset="0"/>
                <a:ea typeface="Cambria" pitchFamily="34" charset="-122"/>
                <a:cs typeface="Cambria" pitchFamily="34" charset="-120"/>
              </a:rPr>
              <a:t>/</a:t>
            </a:r>
            <a:r>
              <a:rPr lang="en-US" sz="1400" i="1" dirty="0">
                <a:solidFill>
                  <a:schemeClr val="accent1"/>
                </a:solidFill>
                <a:latin typeface="Cambria" pitchFamily="34" charset="0"/>
                <a:ea typeface="Cambria" pitchFamily="34" charset="-122"/>
                <a:cs typeface="Cambria" pitchFamily="34" charset="-120"/>
              </a:rPr>
              <a:t>n</a:t>
            </a:r>
            <a:r>
              <a:rPr lang="en-US" sz="1400" dirty="0">
                <a:solidFill>
                  <a:schemeClr val="accent1"/>
                </a:solidFill>
                <a:latin typeface="Cambria" pitchFamily="34" charset="0"/>
                <a:ea typeface="Cambria" pitchFamily="34" charset="-122"/>
                <a:cs typeface="Cambria" pitchFamily="34" charset="-120"/>
              </a:rPr>
              <a:t> = 0.05</a:t>
            </a:r>
            <a:endParaRPr lang="en-US" sz="1400" dirty="0"/>
          </a:p>
        </p:txBody>
      </p:sp>
      <p:sp>
        <p:nvSpPr>
          <p:cNvPr id="21" name="Text 19"/>
          <p:cNvSpPr txBox="1"/>
          <p:nvPr/>
        </p:nvSpPr>
        <p:spPr>
          <a:xfrm>
            <a:off x="7909560" y="2331720"/>
            <a:ext cx="1554480" cy="347472"/>
          </a:xfrm>
          <a:prstGeom prst="rect">
            <a:avLst/>
          </a:prstGeom>
          <a:noFill/>
          <a:ln/>
        </p:spPr>
        <p:txBody>
          <a:bodyPr wrap="square" lIns="0" tIns="0" rIns="0" bIns="0" rtlCol="0" anchor="ctr"/>
          <a:lstStyle/>
          <a:p>
            <a:pPr indent="0" marL="0">
              <a:buNone/>
            </a:pPr>
            <a:r>
              <a:rPr lang="en-US" sz="1400" i="1" dirty="0">
                <a:solidFill>
                  <a:schemeClr val="tx1"/>
                </a:solidFill>
                <a:latin typeface="Cambria" pitchFamily="34" charset="0"/>
                <a:ea typeface="Cambria" pitchFamily="34" charset="-122"/>
                <a:cs typeface="Cambria" pitchFamily="34" charset="-120"/>
              </a:rPr>
              <a:t>z</a:t>
            </a:r>
            <a:r>
              <a:rPr lang="en-US" sz="1400" dirty="0">
                <a:solidFill>
                  <a:schemeClr val="tx1"/>
                </a:solidFill>
                <a:latin typeface="Cambria" pitchFamily="34" charset="0"/>
                <a:ea typeface="Cambria" pitchFamily="34" charset="-122"/>
                <a:cs typeface="Cambria" pitchFamily="34" charset="-120"/>
              </a:rPr>
              <a:t> = 10, </a:t>
            </a:r>
            <a:r>
              <a:rPr lang="en-US" sz="1400" i="1" dirty="0">
                <a:solidFill>
                  <a:schemeClr val="tx1"/>
                </a:solidFill>
                <a:latin typeface="Cambria" pitchFamily="34" charset="0"/>
                <a:ea typeface="Cambria" pitchFamily="34" charset="-122"/>
                <a:cs typeface="Cambria" pitchFamily="34" charset="-120"/>
              </a:rPr>
              <a:t>C</a:t>
            </a:r>
            <a:r>
              <a:rPr lang="en-US" sz="1400" dirty="0">
                <a:solidFill>
                  <a:schemeClr val="tx1"/>
                </a:solidFill>
                <a:latin typeface="Cambria" pitchFamily="34" charset="0"/>
                <a:ea typeface="Cambria" pitchFamily="34" charset="-122"/>
                <a:cs typeface="Cambria" pitchFamily="34" charset="-120"/>
              </a:rPr>
              <a:t> = 1</a:t>
            </a:r>
            <a:endParaRPr lang="en-US" sz="1400" dirty="0"/>
          </a:p>
        </p:txBody>
      </p:sp>
      <p:sp>
        <p:nvSpPr>
          <p:cNvPr id="22" name="Text 20"/>
          <p:cNvSpPr txBox="1"/>
          <p:nvPr/>
        </p:nvSpPr>
        <p:spPr>
          <a:xfrm>
            <a:off x="9464040" y="2331720"/>
            <a:ext cx="320040" cy="347472"/>
          </a:xfrm>
          <a:prstGeom prst="rect">
            <a:avLst/>
          </a:prstGeom>
          <a:noFill/>
          <a:ln/>
        </p:spPr>
        <p:txBody>
          <a:bodyPr wrap="square" lIns="0" tIns="0" rIns="0" bIns="0" rtlCol="0" anchor="ctr"/>
          <a:lstStyle/>
          <a:p>
            <a:pPr algn="ctr" indent="0" marL="0">
              <a:buNone/>
            </a:pPr>
            <a:r>
              <a:rPr lang="en-US" sz="1500" dirty="0">
                <a:solidFill>
                  <a:schemeClr val="accent3"/>
                </a:solidFill>
                <a:latin typeface="Cambria" pitchFamily="34" charset="0"/>
                <a:ea typeface="Cambria" pitchFamily="34" charset="-122"/>
                <a:cs typeface="Cambria" pitchFamily="34" charset="-120"/>
              </a:rPr>
              <a:t>→</a:t>
            </a:r>
            <a:endParaRPr lang="en-US" sz="1500" dirty="0"/>
          </a:p>
        </p:txBody>
      </p:sp>
      <p:sp>
        <p:nvSpPr>
          <p:cNvPr id="23" name="Text 21"/>
          <p:cNvSpPr txBox="1"/>
          <p:nvPr/>
        </p:nvSpPr>
        <p:spPr>
          <a:xfrm>
            <a:off x="9784080" y="2331720"/>
            <a:ext cx="1645920" cy="347472"/>
          </a:xfrm>
          <a:prstGeom prst="rect">
            <a:avLst/>
          </a:prstGeom>
          <a:noFill/>
          <a:ln/>
        </p:spPr>
        <p:txBody>
          <a:bodyPr wrap="square" lIns="0" tIns="0" rIns="0" bIns="0" rtlCol="0" anchor="ctr"/>
          <a:lstStyle/>
          <a:p>
            <a:pPr indent="0" marL="0">
              <a:buNone/>
            </a:pPr>
            <a:r>
              <a:rPr lang="en-US" sz="1400" dirty="0">
                <a:solidFill>
                  <a:schemeClr val="accent1"/>
                </a:solidFill>
                <a:latin typeface="Cambria" pitchFamily="34" charset="0"/>
                <a:ea typeface="Cambria" pitchFamily="34" charset="-122"/>
                <a:cs typeface="Cambria" pitchFamily="34" charset="-120"/>
              </a:rPr>
              <a:t>σ</a:t>
            </a:r>
            <a:r>
              <a:rPr lang="en-US" sz="1400" dirty="0">
                <a:solidFill>
                  <a:schemeClr val="accent1"/>
                </a:solidFill>
                <a:latin typeface="Cambria" pitchFamily="34" charset="0"/>
                <a:ea typeface="Cambria" pitchFamily="34" charset="-122"/>
                <a:cs typeface="Cambria" pitchFamily="34" charset="-120"/>
              </a:rPr>
              <a:t> = </a:t>
            </a:r>
            <a:r>
              <a:rPr lang="en-US" sz="1400" i="1" dirty="0">
                <a:solidFill>
                  <a:schemeClr val="accent1"/>
                </a:solidFill>
                <a:latin typeface="Cambria" pitchFamily="34" charset="0"/>
                <a:ea typeface="Cambria" pitchFamily="34" charset="-122"/>
                <a:cs typeface="Cambria" pitchFamily="34" charset="-120"/>
              </a:rPr>
              <a:t>zC</a:t>
            </a:r>
            <a:r>
              <a:rPr lang="en-US" sz="1400" dirty="0">
                <a:solidFill>
                  <a:schemeClr val="accent1"/>
                </a:solidFill>
                <a:latin typeface="Cambria" pitchFamily="34" charset="0"/>
                <a:ea typeface="Cambria" pitchFamily="34" charset="-122"/>
                <a:cs typeface="Cambria" pitchFamily="34" charset="-120"/>
              </a:rPr>
              <a:t>/</a:t>
            </a:r>
            <a:r>
              <a:rPr lang="en-US" sz="1400" i="1" dirty="0">
                <a:solidFill>
                  <a:schemeClr val="accent1"/>
                </a:solidFill>
                <a:latin typeface="Cambria" pitchFamily="34" charset="0"/>
                <a:ea typeface="Cambria" pitchFamily="34" charset="-122"/>
                <a:cs typeface="Cambria" pitchFamily="34" charset="-120"/>
              </a:rPr>
              <a:t>b</a:t>
            </a:r>
            <a:r>
              <a:rPr lang="en-US" sz="1400" dirty="0">
                <a:solidFill>
                  <a:schemeClr val="accent1"/>
                </a:solidFill>
                <a:latin typeface="Cambria" pitchFamily="34" charset="0"/>
                <a:ea typeface="Cambria" pitchFamily="34" charset="-122"/>
                <a:cs typeface="Cambria" pitchFamily="34" charset="-120"/>
              </a:rPr>
              <a:t> = 1.0</a:t>
            </a:r>
            <a:endParaRPr lang="en-US" sz="1400" dirty="0"/>
          </a:p>
        </p:txBody>
      </p:sp>
      <p:sp>
        <p:nvSpPr>
          <p:cNvPr id="24" name="Text 22"/>
          <p:cNvSpPr txBox="1"/>
          <p:nvPr/>
        </p:nvSpPr>
        <p:spPr>
          <a:xfrm>
            <a:off x="7909560" y="2788920"/>
            <a:ext cx="1554480" cy="347472"/>
          </a:xfrm>
          <a:prstGeom prst="rect">
            <a:avLst/>
          </a:prstGeom>
          <a:noFill/>
          <a:ln/>
        </p:spPr>
        <p:txBody>
          <a:bodyPr wrap="square" lIns="0" tIns="0" rIns="0" bIns="0" rtlCol="0" anchor="ctr"/>
          <a:lstStyle/>
          <a:p>
            <a:pPr indent="0" marL="0">
              <a:buNone/>
            </a:pPr>
            <a:r>
              <a:rPr lang="en-US" sz="1400" i="1" dirty="0">
                <a:solidFill>
                  <a:schemeClr val="tx1"/>
                </a:solidFill>
                <a:latin typeface="Cambria" pitchFamily="34" charset="0"/>
                <a:ea typeface="Cambria" pitchFamily="34" charset="-122"/>
                <a:cs typeface="Cambria" pitchFamily="34" charset="-120"/>
              </a:rPr>
              <a:t>K</a:t>
            </a:r>
            <a:r>
              <a:rPr lang="en-US" sz="1400" dirty="0">
                <a:solidFill>
                  <a:schemeClr val="tx1"/>
                </a:solidFill>
                <a:latin typeface="Cambria" pitchFamily="34" charset="0"/>
                <a:ea typeface="Cambria" pitchFamily="34" charset="-122"/>
                <a:cs typeface="Cambria" pitchFamily="34" charset="-120"/>
              </a:rPr>
              <a:t> = 6, </a:t>
            </a:r>
            <a:r>
              <a:rPr lang="en-US" sz="1400" i="1" dirty="0">
                <a:solidFill>
                  <a:schemeClr val="tx1"/>
                </a:solidFill>
                <a:latin typeface="Cambria" pitchFamily="34" charset="0"/>
                <a:ea typeface="Cambria" pitchFamily="34" charset="-122"/>
                <a:cs typeface="Cambria" pitchFamily="34" charset="-120"/>
              </a:rPr>
              <a:t>T</a:t>
            </a:r>
            <a:r>
              <a:rPr lang="en-US" sz="1400" dirty="0">
                <a:solidFill>
                  <a:schemeClr val="tx1"/>
                </a:solidFill>
                <a:latin typeface="Cambria" pitchFamily="34" charset="0"/>
                <a:ea typeface="Cambria" pitchFamily="34" charset="-122"/>
                <a:cs typeface="Cambria" pitchFamily="34" charset="-120"/>
              </a:rPr>
              <a:t> = 3</a:t>
            </a:r>
            <a:endParaRPr lang="en-US" sz="1400" dirty="0"/>
          </a:p>
        </p:txBody>
      </p:sp>
      <p:sp>
        <p:nvSpPr>
          <p:cNvPr id="25" name="Text 23"/>
          <p:cNvSpPr txBox="1"/>
          <p:nvPr/>
        </p:nvSpPr>
        <p:spPr>
          <a:xfrm>
            <a:off x="9464040" y="2788920"/>
            <a:ext cx="320040" cy="347472"/>
          </a:xfrm>
          <a:prstGeom prst="rect">
            <a:avLst/>
          </a:prstGeom>
          <a:noFill/>
          <a:ln/>
        </p:spPr>
        <p:txBody>
          <a:bodyPr wrap="square" lIns="0" tIns="0" rIns="0" bIns="0" rtlCol="0" anchor="ctr"/>
          <a:lstStyle/>
          <a:p>
            <a:pPr algn="ctr" indent="0" marL="0">
              <a:buNone/>
            </a:pPr>
            <a:r>
              <a:rPr lang="en-US" sz="1500" dirty="0">
                <a:solidFill>
                  <a:schemeClr val="accent3"/>
                </a:solidFill>
                <a:latin typeface="Cambria" pitchFamily="34" charset="0"/>
                <a:ea typeface="Cambria" pitchFamily="34" charset="-122"/>
                <a:cs typeface="Cambria" pitchFamily="34" charset="-120"/>
              </a:rPr>
              <a:t>→</a:t>
            </a:r>
            <a:endParaRPr lang="en-US" sz="1500" dirty="0"/>
          </a:p>
        </p:txBody>
      </p:sp>
      <p:sp>
        <p:nvSpPr>
          <p:cNvPr id="26" name="Text 24"/>
          <p:cNvSpPr txBox="1"/>
          <p:nvPr/>
        </p:nvSpPr>
        <p:spPr>
          <a:xfrm>
            <a:off x="9784080" y="2788920"/>
            <a:ext cx="1645920" cy="347472"/>
          </a:xfrm>
          <a:prstGeom prst="rect">
            <a:avLst/>
          </a:prstGeom>
          <a:noFill/>
          <a:ln/>
        </p:spPr>
        <p:txBody>
          <a:bodyPr wrap="square" lIns="0" tIns="0" rIns="0" bIns="0" rtlCol="0" anchor="ctr"/>
          <a:lstStyle/>
          <a:p>
            <a:pPr indent="0" marL="0">
              <a:buNone/>
            </a:pPr>
            <a:r>
              <a:rPr lang="en-US" sz="1400" dirty="0">
                <a:solidFill>
                  <a:schemeClr val="accent1"/>
                </a:solidFill>
                <a:latin typeface="Cambria" pitchFamily="34" charset="0"/>
                <a:ea typeface="Cambria" pitchFamily="34" charset="-122"/>
                <a:cs typeface="Cambria" pitchFamily="34" charset="-120"/>
              </a:rPr>
              <a:t>≤</a:t>
            </a:r>
            <a:r>
              <a:rPr lang="en-US" sz="1400" dirty="0">
                <a:solidFill>
                  <a:schemeClr val="accent1"/>
                </a:solidFill>
                <a:latin typeface="Cambria" pitchFamily="34" charset="0"/>
                <a:ea typeface="Cambria" pitchFamily="34" charset="-122"/>
                <a:cs typeface="Cambria" pitchFamily="34" charset="-120"/>
              </a:rPr>
              <a:t> 18 releases</a:t>
            </a:r>
            <a:endParaRPr lang="en-US" sz="1400" dirty="0"/>
          </a:p>
        </p:txBody>
      </p:sp>
      <p:sp>
        <p:nvSpPr>
          <p:cNvPr id="27" name="Shape 25"/>
          <p:cNvSpPr/>
          <p:nvPr/>
        </p:nvSpPr>
        <p:spPr>
          <a:xfrm>
            <a:off x="7909560" y="3364992"/>
            <a:ext cx="3520440" cy="12802"/>
          </a:xfrm>
          <a:prstGeom prst="rect">
            <a:avLst/>
          </a:prstGeom>
          <a:solidFill>
            <a:schemeClr val="accent4"/>
          </a:solidFill>
          <a:ln/>
        </p:spPr>
      </p:sp>
      <p:sp>
        <p:nvSpPr>
          <p:cNvPr id="28" name="Text 26"/>
          <p:cNvSpPr txBox="1"/>
          <p:nvPr/>
        </p:nvSpPr>
        <p:spPr>
          <a:xfrm>
            <a:off x="7909560" y="3520440"/>
            <a:ext cx="3520440" cy="274320"/>
          </a:xfrm>
          <a:prstGeom prst="rect">
            <a:avLst/>
          </a:prstGeom>
          <a:noFill/>
          <a:ln/>
        </p:spPr>
        <p:txBody>
          <a:bodyPr wrap="square" lIns="0" tIns="0" rIns="0" bIns="0" rtlCol="0" anchor="t"/>
          <a:lstStyle/>
          <a:p>
            <a:pPr indent="0" marL="0">
              <a:buNone/>
            </a:pPr>
            <a:r>
              <a:rPr lang="en-US" sz="1200" dirty="0">
                <a:solidFill>
                  <a:schemeClr val="tx2"/>
                </a:solidFill>
              </a:rPr>
              <a:t>AutoDP Rényi-DP accountant at </a:t>
            </a:r>
            <a:r>
              <a:rPr lang="en-US" sz="1200" dirty="0">
                <a:solidFill>
                  <a:schemeClr val="tx2"/>
                </a:solidFill>
                <a:latin typeface="Cambria" pitchFamily="34" charset="0"/>
                <a:ea typeface="Cambria" pitchFamily="34" charset="-122"/>
                <a:cs typeface="Cambria" pitchFamily="34" charset="-120"/>
              </a:rPr>
              <a:t>δ</a:t>
            </a:r>
            <a:r>
              <a:rPr lang="en-US" sz="1200" dirty="0">
                <a:solidFill>
                  <a:schemeClr val="tx2"/>
                </a:solidFill>
              </a:rPr>
              <a:t> = 10</a:t>
            </a:r>
            <a:r>
              <a:rPr lang="en-US" sz="1200" baseline="30000" dirty="0">
                <a:solidFill>
                  <a:schemeClr val="tx2"/>
                </a:solidFill>
                <a:latin typeface="Cambria" pitchFamily="34" charset="0"/>
                <a:ea typeface="Cambria" pitchFamily="34" charset="-122"/>
                <a:cs typeface="Cambria" pitchFamily="34" charset="-120"/>
              </a:rPr>
              <a:t>−</a:t>
            </a:r>
            <a:r>
              <a:rPr lang="en-US" sz="1200" baseline="30000" dirty="0">
                <a:solidFill>
                  <a:schemeClr val="tx2"/>
                </a:solidFill>
              </a:rPr>
              <a:t>5</a:t>
            </a:r>
            <a:endParaRPr lang="en-US" sz="1200" dirty="0"/>
          </a:p>
        </p:txBody>
      </p:sp>
      <p:sp>
        <p:nvSpPr>
          <p:cNvPr id="29" name="Text 27"/>
          <p:cNvSpPr txBox="1"/>
          <p:nvPr/>
        </p:nvSpPr>
        <p:spPr>
          <a:xfrm>
            <a:off x="7909560" y="3840480"/>
            <a:ext cx="3520440" cy="868680"/>
          </a:xfrm>
          <a:prstGeom prst="rect">
            <a:avLst/>
          </a:prstGeom>
          <a:noFill/>
          <a:ln/>
        </p:spPr>
        <p:txBody>
          <a:bodyPr wrap="square" lIns="0" tIns="0" rIns="0" bIns="0" rtlCol="0" anchor="t"/>
          <a:lstStyle/>
          <a:p>
            <a:pPr indent="0" marL="0">
              <a:buNone/>
            </a:pPr>
            <a:r>
              <a:rPr lang="en-US" sz="4800" dirty="0">
                <a:solidFill>
                  <a:schemeClr val="accent1"/>
                </a:solidFill>
                <a:latin typeface="Cambria" pitchFamily="34" charset="0"/>
                <a:ea typeface="Cambria" pitchFamily="34" charset="-122"/>
                <a:cs typeface="Cambria" pitchFamily="34" charset="-120"/>
              </a:rPr>
              <a:t>ε</a:t>
            </a:r>
            <a:r>
              <a:rPr lang="en-US" sz="4800" dirty="0">
                <a:solidFill>
                  <a:schemeClr val="accent1"/>
                </a:solidFill>
                <a:latin typeface="Cambria" pitchFamily="34" charset="0"/>
                <a:ea typeface="Cambria" pitchFamily="34" charset="-122"/>
                <a:cs typeface="Cambria" pitchFamily="34" charset="-120"/>
              </a:rPr>
              <a:t> = 0.705</a:t>
            </a:r>
            <a:endParaRPr lang="en-US" sz="4800" dirty="0"/>
          </a:p>
        </p:txBody>
      </p:sp>
      <p:sp>
        <p:nvSpPr>
          <p:cNvPr id="30" name="Text 28"/>
          <p:cNvSpPr txBox="1"/>
          <p:nvPr/>
        </p:nvSpPr>
        <p:spPr>
          <a:xfrm>
            <a:off x="7909560" y="4754880"/>
            <a:ext cx="3520440" cy="502920"/>
          </a:xfrm>
          <a:prstGeom prst="rect">
            <a:avLst/>
          </a:prstGeom>
          <a:noFill/>
          <a:ln/>
        </p:spPr>
        <p:txBody>
          <a:bodyPr wrap="square" lIns="0" tIns="0" rIns="0" bIns="0" rtlCol="0" anchor="t"/>
          <a:lstStyle/>
          <a:p>
            <a:pPr indent="0" marL="0">
              <a:lnSpc>
                <a:spcPct val="130000"/>
              </a:lnSpc>
              <a:buNone/>
            </a:pPr>
            <a:r>
              <a:rPr lang="en-US" sz="1250" dirty="0">
                <a:solidFill>
                  <a:schemeClr val="tx2"/>
                </a:solidFill>
              </a:rPr>
              <a:t>Reported conservatively as </a:t>
            </a:r>
            <a:r>
              <a:rPr lang="en-US" sz="1250" dirty="0">
                <a:solidFill>
                  <a:schemeClr val="tx2"/>
                </a:solidFill>
                <a:latin typeface="Cambria" pitchFamily="34" charset="0"/>
                <a:ea typeface="Cambria" pitchFamily="34" charset="-122"/>
                <a:cs typeface="Cambria" pitchFamily="34" charset="-120"/>
              </a:rPr>
              <a:t>ε</a:t>
            </a:r>
            <a:r>
              <a:rPr lang="en-US" sz="1250" dirty="0">
                <a:solidFill>
                  <a:schemeClr val="tx2"/>
                </a:solidFill>
              </a:rPr>
              <a:t> </a:t>
            </a:r>
            <a:r>
              <a:rPr lang="en-US" sz="1250" dirty="0">
                <a:solidFill>
                  <a:schemeClr val="tx2"/>
                </a:solidFill>
                <a:latin typeface="Cambria" pitchFamily="34" charset="0"/>
                <a:ea typeface="Cambria" pitchFamily="34" charset="-122"/>
                <a:cs typeface="Cambria" pitchFamily="34" charset="-120"/>
              </a:rPr>
              <a:t>≤</a:t>
            </a:r>
            <a:r>
              <a:rPr lang="en-US" sz="1250" dirty="0">
                <a:solidFill>
                  <a:schemeClr val="tx2"/>
                </a:solidFill>
              </a:rPr>
              <a:t> 1, the setting used for DP-OPT.</a:t>
            </a:r>
            <a:endParaRPr lang="en-US" sz="1250" dirty="0"/>
          </a:p>
        </p:txBody>
      </p:sp>
      <p:sp>
        <p:nvSpPr>
          <p:cNvPr id="31" name="Text 29"/>
          <p:cNvSpPr txBox="1"/>
          <p:nvPr/>
        </p:nvSpPr>
        <p:spPr>
          <a:xfrm>
            <a:off x="7909560" y="5532120"/>
            <a:ext cx="3520440" cy="274320"/>
          </a:xfrm>
          <a:prstGeom prst="rect">
            <a:avLst/>
          </a:prstGeom>
          <a:noFill/>
          <a:ln/>
        </p:spPr>
        <p:txBody>
          <a:bodyPr wrap="square" lIns="0" tIns="0" rIns="0" bIns="0" rtlCol="0" anchor="t"/>
          <a:lstStyle/>
          <a:p>
            <a:pPr indent="0" marL="0">
              <a:buNone/>
            </a:pPr>
            <a:r>
              <a:rPr lang="en-US" sz="1150" dirty="0">
                <a:solidFill>
                  <a:schemeClr val="tx1"/>
                </a:solidFill>
                <a:latin typeface="JetBrains Mono" pitchFamily="34" charset="0"/>
                <a:ea typeface="JetBrains Mono" pitchFamily="34" charset="-122"/>
                <a:cs typeface="JetBrains Mono" pitchFamily="34" charset="-120"/>
              </a:rPr>
              <a:t>$ python scripts/compute_privacy.py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05 · PRIVACY</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Implementation checks and a memorization stress test</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15 / 18</a:t>
            </a:r>
            <a:endParaRPr lang="en-US" sz="1000" dirty="0"/>
          </a:p>
        </p:txBody>
      </p:sp>
      <p:sp>
        <p:nvSpPr>
          <p:cNvPr id="5" name="Text 3"/>
          <p:cNvSpPr txBox="1"/>
          <p:nvPr/>
        </p:nvSpPr>
        <p:spPr>
          <a:xfrm>
            <a:off x="761695" y="1498702"/>
            <a:ext cx="4572000" cy="3566160"/>
          </a:xfrm>
          <a:prstGeom prst="rect">
            <a:avLst/>
          </a:prstGeom>
          <a:noFill/>
          <a:ln/>
        </p:spPr>
        <p:txBody>
          <a:bodyPr wrap="square" lIns="0" tIns="0" rIns="0" bIns="0" rtlCol="0" anchor="t"/>
          <a:lstStyle/>
          <a:p>
            <a:pPr indent="0" marL="0">
              <a:lnSpc>
                <a:spcPct val="130000"/>
              </a:lnSpc>
              <a:buNone/>
            </a:pPr>
            <a:r>
              <a:rPr lang="en-US" sz="1350" b="1" dirty="0">
                <a:solidFill>
                  <a:schemeClr val="tx1"/>
                </a:solidFill>
              </a:rPr>
              <a:t>Noise-distribution check.</a:t>
            </a:r>
            <a:r>
              <a:rPr lang="en-US" sz="1350" dirty="0">
                <a:solidFill>
                  <a:schemeClr val="tx1"/>
                </a:solidFill>
              </a:rPr>
              <a:t> 1,000 injected-noise samples pass a Kolmogorov–Smirnov test against the configured Gaussian mechanism.</a:t>
            </a:r>
            <a:endParaRPr lang="en-US" sz="1350" dirty="0"/>
          </a:p>
          <a:p>
            <a:pPr indent="0" marL="0">
              <a:lnSpc>
                <a:spcPct val="130000"/>
              </a:lnSpc>
              <a:spcBef>
                <a:spcPts val="800"/>
              </a:spcBef>
              <a:buNone/>
            </a:pPr>
            <a:r>
              <a:rPr lang="en-US" sz="1350" b="1" dirty="0">
                <a:solidFill>
                  <a:schemeClr val="tx1"/>
                </a:solidFill>
              </a:rPr>
              <a:t>Stress-test setup.</a:t>
            </a:r>
            <a:r>
              <a:rPr lang="en-US" sz="1350" dirty="0">
                <a:solidFill>
                  <a:schemeClr val="tx1"/>
                </a:solidFill>
              </a:rPr>
              <a:t> 200 synthetic customer profiles × 6 sensitive strings (name, phone, email, address, street fragment, account ID) = </a:t>
            </a:r>
            <a:r>
              <a:rPr lang="en-US" sz="1350" b="1" dirty="0">
                <a:solidFill>
                  <a:schemeClr val="tx1"/>
                </a:solidFill>
              </a:rPr>
              <a:t>1,200 strings</a:t>
            </a:r>
            <a:r>
              <a:rPr lang="en-US" sz="1350" dirty="0">
                <a:solidFill>
                  <a:schemeClr val="tx1"/>
                </a:solidFill>
              </a:rPr>
              <a:t>; we count exact and near-verbatim matches in the final prompt.</a:t>
            </a:r>
            <a:endParaRPr lang="en-US" sz="1350" dirty="0"/>
          </a:p>
          <a:p>
            <a:pPr indent="0" marL="0">
              <a:lnSpc>
                <a:spcPct val="130000"/>
              </a:lnSpc>
              <a:spcBef>
                <a:spcPts val="800"/>
              </a:spcBef>
              <a:buNone/>
            </a:pPr>
            <a:r>
              <a:rPr lang="en-US" sz="1350" b="1" dirty="0">
                <a:solidFill>
                  <a:schemeClr val="tx1"/>
                </a:solidFill>
              </a:rPr>
              <a:t>Adversarial control.</a:t>
            </a:r>
            <a:r>
              <a:rPr lang="en-US" sz="1350" dirty="0">
                <a:solidFill>
                  <a:schemeClr val="tx1"/>
                </a:solidFill>
              </a:rPr>
              <a:t> The non-DP optimizer is shown raw records and told to embed a directory; DP-ES mutation never receives records.</a:t>
            </a:r>
            <a:endParaRPr lang="en-US" sz="1350" dirty="0"/>
          </a:p>
        </p:txBody>
      </p:sp>
      <p:sp>
        <p:nvSpPr>
          <p:cNvPr id="6" name="Shape 4"/>
          <p:cNvSpPr/>
          <p:nvPr/>
        </p:nvSpPr>
        <p:spPr>
          <a:xfrm>
            <a:off x="5715000" y="1498702"/>
            <a:ext cx="2720340" cy="3429000"/>
          </a:xfrm>
          <a:prstGeom prst="rect">
            <a:avLst/>
          </a:prstGeom>
          <a:ln w="12700">
            <a:solidFill>
              <a:srgbClr val="CFC8B8"/>
            </a:solidFill>
            <a:prstDash val="solid"/>
          </a:ln>
        </p:spPr>
      </p:sp>
      <p:sp>
        <p:nvSpPr>
          <p:cNvPr id="7" name="Text 5"/>
          <p:cNvSpPr txBox="1"/>
          <p:nvPr/>
        </p:nvSpPr>
        <p:spPr>
          <a:xfrm>
            <a:off x="5916168" y="1663294"/>
            <a:ext cx="2318004" cy="228600"/>
          </a:xfrm>
          <a:prstGeom prst="rect">
            <a:avLst/>
          </a:prstGeom>
          <a:noFill/>
          <a:ln/>
        </p:spPr>
        <p:txBody>
          <a:bodyPr wrap="square" lIns="0" tIns="0" rIns="0" bIns="0" rtlCol="0" anchor="t"/>
          <a:lstStyle/>
          <a:p>
            <a:pPr indent="0" marL="0">
              <a:buNone/>
            </a:pPr>
            <a:r>
              <a:rPr lang="en-US" sz="1100" b="1" spc="100" kern="0" dirty="0">
                <a:solidFill>
                  <a:schemeClr val="accent3"/>
                </a:solidFill>
                <a:latin typeface="JetBrains Mono" pitchFamily="34" charset="0"/>
                <a:ea typeface="JetBrains Mono" pitchFamily="34" charset="-122"/>
                <a:cs typeface="JetBrains Mono" pitchFamily="34" charset="-120"/>
              </a:rPr>
              <a:t>NON-DP CONTROL</a:t>
            </a:r>
            <a:endParaRPr lang="en-US" sz="1100" dirty="0"/>
          </a:p>
        </p:txBody>
      </p:sp>
      <p:sp>
        <p:nvSpPr>
          <p:cNvPr id="8" name="Text 6"/>
          <p:cNvSpPr txBox="1"/>
          <p:nvPr/>
        </p:nvSpPr>
        <p:spPr>
          <a:xfrm>
            <a:off x="5916168" y="1910182"/>
            <a:ext cx="2318004" cy="777240"/>
          </a:xfrm>
          <a:prstGeom prst="rect">
            <a:avLst/>
          </a:prstGeom>
          <a:noFill/>
          <a:ln/>
        </p:spPr>
        <p:txBody>
          <a:bodyPr wrap="square" lIns="0" tIns="0" rIns="0" bIns="0" rtlCol="0" anchor="t"/>
          <a:lstStyle/>
          <a:p>
            <a:pPr indent="0" marL="0">
              <a:buNone/>
            </a:pPr>
            <a:r>
              <a:rPr lang="en-US" sz="4800" dirty="0">
                <a:solidFill>
                  <a:schemeClr val="tx1"/>
                </a:solidFill>
                <a:latin typeface="+mj-lt" pitchFamily="34" charset="0"/>
                <a:ea typeface="+mj-lt" pitchFamily="34" charset="-122"/>
                <a:cs typeface="+mj-lt" pitchFamily="34" charset="-120"/>
              </a:rPr>
              <a:t>40</a:t>
            </a:r>
            <a:endParaRPr lang="en-US" sz="4800" dirty="0"/>
          </a:p>
        </p:txBody>
      </p:sp>
      <p:sp>
        <p:nvSpPr>
          <p:cNvPr id="9" name="Text 7"/>
          <p:cNvSpPr txBox="1"/>
          <p:nvPr/>
        </p:nvSpPr>
        <p:spPr>
          <a:xfrm>
            <a:off x="5916168" y="2687422"/>
            <a:ext cx="2318004" cy="256032"/>
          </a:xfrm>
          <a:prstGeom prst="rect">
            <a:avLst/>
          </a:prstGeom>
          <a:noFill/>
          <a:ln/>
        </p:spPr>
        <p:txBody>
          <a:bodyPr wrap="square" lIns="0" tIns="0" rIns="0" bIns="0" rtlCol="0" anchor="t"/>
          <a:lstStyle/>
          <a:p>
            <a:pPr indent="0" marL="0">
              <a:buNone/>
            </a:pPr>
            <a:r>
              <a:rPr lang="en-US" sz="1200" dirty="0">
                <a:solidFill>
                  <a:schemeClr val="tx2"/>
                </a:solidFill>
              </a:rPr>
              <a:t>strings leaked (3.33%)</a:t>
            </a:r>
            <a:endParaRPr lang="en-US" sz="1200" dirty="0"/>
          </a:p>
        </p:txBody>
      </p:sp>
      <p:sp>
        <p:nvSpPr>
          <p:cNvPr id="10" name="Shape 8"/>
          <p:cNvSpPr/>
          <p:nvPr/>
        </p:nvSpPr>
        <p:spPr>
          <a:xfrm>
            <a:off x="5916168" y="3071470"/>
            <a:ext cx="2318004" cy="12802"/>
          </a:xfrm>
          <a:prstGeom prst="rect">
            <a:avLst/>
          </a:prstGeom>
          <a:solidFill>
            <a:schemeClr val="accent4"/>
          </a:solidFill>
          <a:ln/>
        </p:spPr>
      </p:sp>
      <p:sp>
        <p:nvSpPr>
          <p:cNvPr id="11" name="Text 9"/>
          <p:cNvSpPr txBox="1"/>
          <p:nvPr/>
        </p:nvSpPr>
        <p:spPr>
          <a:xfrm>
            <a:off x="5916168" y="3190342"/>
            <a:ext cx="2318004" cy="228600"/>
          </a:xfrm>
          <a:prstGeom prst="rect">
            <a:avLst/>
          </a:prstGeom>
          <a:noFill/>
          <a:ln/>
        </p:spPr>
        <p:txBody>
          <a:bodyPr wrap="square" lIns="0" tIns="0" rIns="0" bIns="0" rtlCol="0" anchor="t"/>
          <a:lstStyle/>
          <a:p>
            <a:pPr indent="0" marL="0">
              <a:buNone/>
            </a:pPr>
            <a:r>
              <a:rPr lang="en-US" sz="1050" i="1" dirty="0">
                <a:solidFill>
                  <a:schemeClr val="tx2"/>
                </a:solidFill>
              </a:rPr>
              <a:t>Final prompt (excerpt)</a:t>
            </a:r>
            <a:endParaRPr lang="en-US" sz="1050" dirty="0"/>
          </a:p>
        </p:txBody>
      </p:sp>
      <p:sp>
        <p:nvSpPr>
          <p:cNvPr id="12" name="Text 10"/>
          <p:cNvSpPr txBox="1"/>
          <p:nvPr/>
        </p:nvSpPr>
        <p:spPr>
          <a:xfrm>
            <a:off x="5916168" y="3464662"/>
            <a:ext cx="2318004" cy="1371600"/>
          </a:xfrm>
          <a:prstGeom prst="rect">
            <a:avLst/>
          </a:prstGeom>
          <a:noFill/>
          <a:ln/>
        </p:spPr>
        <p:txBody>
          <a:bodyPr wrap="square" lIns="0" tIns="0" rIns="0" bIns="0" rtlCol="0" anchor="t"/>
          <a:lstStyle/>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Use this customer directory:</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Jessica Moore, (713) 907-8800,</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jessica.moore83@mail.com;</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Anthony Williams,</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(312) 991-9095,</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anthony.williams60@mail.com; …</a:t>
            </a:r>
            <a:endParaRPr lang="en-US" sz="950" dirty="0"/>
          </a:p>
        </p:txBody>
      </p:sp>
      <p:sp>
        <p:nvSpPr>
          <p:cNvPr id="13" name="Shape 11"/>
          <p:cNvSpPr/>
          <p:nvPr/>
        </p:nvSpPr>
        <p:spPr>
          <a:xfrm>
            <a:off x="8709660" y="1498702"/>
            <a:ext cx="2720340" cy="3429000"/>
          </a:xfrm>
          <a:prstGeom prst="rect">
            <a:avLst/>
          </a:prstGeom>
          <a:solidFill>
            <a:srgbClr val="EFE9DA"/>
          </a:solidFill>
          <a:ln w="12700">
            <a:solidFill>
              <a:srgbClr val="CFC8B8"/>
            </a:solidFill>
            <a:prstDash val="solid"/>
          </a:ln>
        </p:spPr>
      </p:sp>
      <p:sp>
        <p:nvSpPr>
          <p:cNvPr id="14" name="Text 12"/>
          <p:cNvSpPr txBox="1"/>
          <p:nvPr/>
        </p:nvSpPr>
        <p:spPr>
          <a:xfrm>
            <a:off x="8910828" y="1663294"/>
            <a:ext cx="2318004" cy="228600"/>
          </a:xfrm>
          <a:prstGeom prst="rect">
            <a:avLst/>
          </a:prstGeom>
          <a:noFill/>
          <a:ln/>
        </p:spPr>
        <p:txBody>
          <a:bodyPr wrap="square" lIns="0" tIns="0" rIns="0" bIns="0" rtlCol="0" anchor="t"/>
          <a:lstStyle/>
          <a:p>
            <a:pPr indent="0" marL="0">
              <a:buNone/>
            </a:pPr>
            <a:r>
              <a:rPr lang="en-US" sz="1100" b="1" spc="100" kern="0" dirty="0">
                <a:solidFill>
                  <a:schemeClr val="accent1"/>
                </a:solidFill>
                <a:latin typeface="JetBrains Mono" pitchFamily="34" charset="0"/>
                <a:ea typeface="JetBrains Mono" pitchFamily="34" charset="-122"/>
                <a:cs typeface="JetBrains Mono" pitchFamily="34" charset="-120"/>
              </a:rPr>
              <a:t>DP-ES</a:t>
            </a:r>
            <a:endParaRPr lang="en-US" sz="1100" dirty="0"/>
          </a:p>
        </p:txBody>
      </p:sp>
      <p:sp>
        <p:nvSpPr>
          <p:cNvPr id="15" name="Text 13"/>
          <p:cNvSpPr txBox="1"/>
          <p:nvPr/>
        </p:nvSpPr>
        <p:spPr>
          <a:xfrm>
            <a:off x="8910828" y="1910182"/>
            <a:ext cx="2318004" cy="777240"/>
          </a:xfrm>
          <a:prstGeom prst="rect">
            <a:avLst/>
          </a:prstGeom>
          <a:noFill/>
          <a:ln/>
        </p:spPr>
        <p:txBody>
          <a:bodyPr wrap="square" lIns="0" tIns="0" rIns="0" bIns="0" rtlCol="0" anchor="t"/>
          <a:lstStyle/>
          <a:p>
            <a:pPr indent="0" marL="0">
              <a:buNone/>
            </a:pPr>
            <a:r>
              <a:rPr lang="en-US" sz="4800" dirty="0">
                <a:solidFill>
                  <a:schemeClr val="accent1"/>
                </a:solidFill>
                <a:latin typeface="+mj-lt" pitchFamily="34" charset="0"/>
                <a:ea typeface="+mj-lt" pitchFamily="34" charset="-122"/>
                <a:cs typeface="+mj-lt" pitchFamily="34" charset="-120"/>
              </a:rPr>
              <a:t>0</a:t>
            </a:r>
            <a:endParaRPr lang="en-US" sz="4800" dirty="0"/>
          </a:p>
        </p:txBody>
      </p:sp>
      <p:sp>
        <p:nvSpPr>
          <p:cNvPr id="16" name="Text 14"/>
          <p:cNvSpPr txBox="1"/>
          <p:nvPr/>
        </p:nvSpPr>
        <p:spPr>
          <a:xfrm>
            <a:off x="8910828" y="2687422"/>
            <a:ext cx="2318004" cy="256032"/>
          </a:xfrm>
          <a:prstGeom prst="rect">
            <a:avLst/>
          </a:prstGeom>
          <a:noFill/>
          <a:ln/>
        </p:spPr>
        <p:txBody>
          <a:bodyPr wrap="square" lIns="0" tIns="0" rIns="0" bIns="0" rtlCol="0" anchor="t"/>
          <a:lstStyle/>
          <a:p>
            <a:pPr indent="0" marL="0">
              <a:buNone/>
            </a:pPr>
            <a:r>
              <a:rPr lang="en-US" sz="1200" dirty="0">
                <a:solidFill>
                  <a:schemeClr val="tx2"/>
                </a:solidFill>
              </a:rPr>
              <a:t>strings leaked (0.0%)</a:t>
            </a:r>
            <a:endParaRPr lang="en-US" sz="1200" dirty="0"/>
          </a:p>
        </p:txBody>
      </p:sp>
      <p:sp>
        <p:nvSpPr>
          <p:cNvPr id="17" name="Shape 15"/>
          <p:cNvSpPr/>
          <p:nvPr/>
        </p:nvSpPr>
        <p:spPr>
          <a:xfrm>
            <a:off x="8910828" y="3071470"/>
            <a:ext cx="2318004" cy="12802"/>
          </a:xfrm>
          <a:prstGeom prst="rect">
            <a:avLst/>
          </a:prstGeom>
          <a:solidFill>
            <a:schemeClr val="accent4"/>
          </a:solidFill>
          <a:ln/>
        </p:spPr>
      </p:sp>
      <p:sp>
        <p:nvSpPr>
          <p:cNvPr id="18" name="Text 16"/>
          <p:cNvSpPr txBox="1"/>
          <p:nvPr/>
        </p:nvSpPr>
        <p:spPr>
          <a:xfrm>
            <a:off x="8910828" y="3190342"/>
            <a:ext cx="2318004" cy="228600"/>
          </a:xfrm>
          <a:prstGeom prst="rect">
            <a:avLst/>
          </a:prstGeom>
          <a:noFill/>
          <a:ln/>
        </p:spPr>
        <p:txBody>
          <a:bodyPr wrap="square" lIns="0" tIns="0" rIns="0" bIns="0" rtlCol="0" anchor="t"/>
          <a:lstStyle/>
          <a:p>
            <a:pPr indent="0" marL="0">
              <a:buNone/>
            </a:pPr>
            <a:r>
              <a:rPr lang="en-US" sz="1050" i="1" dirty="0">
                <a:solidFill>
                  <a:schemeClr val="tx2"/>
                </a:solidFill>
              </a:rPr>
              <a:t>Final prompt (excerpt)</a:t>
            </a:r>
            <a:endParaRPr lang="en-US" sz="1050" dirty="0"/>
          </a:p>
        </p:txBody>
      </p:sp>
      <p:sp>
        <p:nvSpPr>
          <p:cNvPr id="19" name="Text 17"/>
          <p:cNvSpPr txBox="1"/>
          <p:nvPr/>
        </p:nvSpPr>
        <p:spPr>
          <a:xfrm>
            <a:off x="8910828" y="3464662"/>
            <a:ext cx="2318004" cy="1371600"/>
          </a:xfrm>
          <a:prstGeom prst="rect">
            <a:avLst/>
          </a:prstGeom>
          <a:noFill/>
          <a:ln/>
        </p:spPr>
        <p:txBody>
          <a:bodyPr wrap="square" lIns="0" tIns="0" rIns="0" bIns="0" rtlCol="0" anchor="t"/>
          <a:lstStyle/>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You are a customer service</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assistant. Retrieve relevant</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information based on user</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queries. If the query involves</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account information, verify</a:t>
            </a:r>
            <a:endParaRPr lang="en-US" sz="950" dirty="0"/>
          </a:p>
          <a:p>
            <a:pPr indent="0" marL="0">
              <a:lnSpc>
                <a:spcPct val="120000"/>
              </a:lnSpc>
              <a:buNone/>
            </a:pPr>
            <a:r>
              <a:rPr lang="en-US" sz="950" dirty="0">
                <a:solidFill>
                  <a:schemeClr val="tx1"/>
                </a:solidFill>
                <a:latin typeface="JetBrains Mono" pitchFamily="34" charset="0"/>
                <a:ea typeface="JetBrains Mono" pitchFamily="34" charset="-122"/>
                <a:cs typeface="JetBrains Mono" pitchFamily="34" charset="-120"/>
              </a:rPr>
              <a:t>before responding.</a:t>
            </a:r>
            <a:endParaRPr lang="en-US" sz="950" dirty="0"/>
          </a:p>
        </p:txBody>
      </p:sp>
      <p:sp>
        <p:nvSpPr>
          <p:cNvPr id="20" name="Text 18"/>
          <p:cNvSpPr txBox="1"/>
          <p:nvPr/>
        </p:nvSpPr>
        <p:spPr>
          <a:xfrm>
            <a:off x="5715000" y="5000854"/>
            <a:ext cx="5715000" cy="201168"/>
          </a:xfrm>
          <a:prstGeom prst="rect">
            <a:avLst/>
          </a:prstGeom>
          <a:noFill/>
          <a:ln/>
        </p:spPr>
        <p:txBody>
          <a:bodyPr wrap="square" lIns="0" tIns="0" rIns="0" bIns="0" rtlCol="0" anchor="t"/>
          <a:lstStyle/>
          <a:p>
            <a:pPr indent="0" marL="0">
              <a:buNone/>
            </a:pPr>
            <a:r>
              <a:rPr lang="en-US" sz="1050" dirty="0">
                <a:solidFill>
                  <a:schemeClr val="tx2"/>
                </a:solidFill>
              </a:rPr>
              <a:t>Synthetic profiles; excerpts and counts reproduced from the saved run.</a:t>
            </a:r>
            <a:endParaRPr lang="en-US" sz="1050" dirty="0"/>
          </a:p>
        </p:txBody>
      </p:sp>
      <p:sp>
        <p:nvSpPr>
          <p:cNvPr id="21" name="Shape 19"/>
          <p:cNvSpPr/>
          <p:nvPr/>
        </p:nvSpPr>
        <p:spPr>
          <a:xfrm>
            <a:off x="761695" y="5230368"/>
            <a:ext cx="10668305" cy="12802"/>
          </a:xfrm>
          <a:prstGeom prst="rect">
            <a:avLst/>
          </a:prstGeom>
          <a:solidFill>
            <a:schemeClr val="accent4"/>
          </a:solidFill>
          <a:ln/>
        </p:spPr>
      </p:sp>
      <p:sp>
        <p:nvSpPr>
          <p:cNvPr id="22" name="Shape 20"/>
          <p:cNvSpPr/>
          <p:nvPr/>
        </p:nvSpPr>
        <p:spPr>
          <a:xfrm>
            <a:off x="761695" y="5440680"/>
            <a:ext cx="38405" cy="731520"/>
          </a:xfrm>
          <a:prstGeom prst="rect">
            <a:avLst/>
          </a:prstGeom>
          <a:solidFill>
            <a:schemeClr val="accent1"/>
          </a:solidFill>
          <a:ln/>
        </p:spPr>
      </p:sp>
      <p:sp>
        <p:nvSpPr>
          <p:cNvPr id="23" name="Text 21"/>
          <p:cNvSpPr txBox="1"/>
          <p:nvPr/>
        </p:nvSpPr>
        <p:spPr>
          <a:xfrm>
            <a:off x="1015898" y="5440680"/>
            <a:ext cx="10414102" cy="731520"/>
          </a:xfrm>
          <a:prstGeom prst="rect">
            <a:avLst/>
          </a:prstGeom>
          <a:noFill/>
          <a:ln/>
        </p:spPr>
        <p:txBody>
          <a:bodyPr wrap="square" lIns="0" tIns="0" rIns="0" bIns="0" rtlCol="0" anchor="ctr"/>
          <a:lstStyle/>
          <a:p>
            <a:pPr indent="0" marL="0">
              <a:lnSpc>
                <a:spcPct val="130000"/>
              </a:lnSpc>
              <a:buNone/>
            </a:pPr>
            <a:r>
              <a:rPr lang="en-US" sz="1200" b="1" dirty="0">
                <a:solidFill>
                  <a:schemeClr val="tx2"/>
                </a:solidFill>
              </a:rPr>
              <a:t>Reading of the evidence.</a:t>
            </a:r>
            <a:r>
              <a:rPr lang="en-US" sz="1200" dirty="0">
                <a:solidFill>
                  <a:schemeClr val="tx2"/>
                </a:solidFill>
              </a:rPr>
              <a:t> The guarantee comes from mechanism-level RDP accounting — attack-agnostic by construction. The stress test is a </a:t>
            </a:r>
            <a:r>
              <a:rPr lang="en-US" sz="1200" b="1" dirty="0">
                <a:solidFill>
                  <a:schemeClr val="tx2"/>
                </a:solidFill>
              </a:rPr>
              <a:t>targeted sanity check</a:t>
            </a:r>
            <a:r>
              <a:rPr lang="en-US" sz="1200" dirty="0">
                <a:solidFill>
                  <a:schemeClr val="tx2"/>
                </a:solidFill>
              </a:rPr>
              <a:t>: it is not membership inference and does not cover semantic leakage; finite audits cannot certify DP.</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06 · EFFICIENCY &amp; SCOPE</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Efficiency: faster, with fewer private-data round trips</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16 / 18</a:t>
            </a:r>
            <a:endParaRPr lang="en-US" sz="1000" dirty="0"/>
          </a:p>
        </p:txBody>
      </p:sp>
      <p:sp>
        <p:nvSpPr>
          <p:cNvPr id="5" name="Text 3"/>
          <p:cNvSpPr txBox="1"/>
          <p:nvPr/>
        </p:nvSpPr>
        <p:spPr>
          <a:xfrm>
            <a:off x="761695" y="1517904"/>
            <a:ext cx="4846320" cy="228600"/>
          </a:xfrm>
          <a:prstGeom prst="rect">
            <a:avLst/>
          </a:prstGeom>
          <a:noFill/>
          <a:ln/>
        </p:spPr>
        <p:txBody>
          <a:bodyPr wrap="square" lIns="0" tIns="0" rIns="0" bIns="0" rtlCol="0" anchor="t"/>
          <a:lstStyle/>
          <a:p>
            <a:pPr indent="0" marL="0">
              <a:buNone/>
            </a:pPr>
            <a:r>
              <a:rPr lang="en-US" sz="1100" spc="200" kern="0" dirty="0">
                <a:solidFill>
                  <a:schemeClr val="accent1"/>
                </a:solidFill>
              </a:rPr>
              <a:t>WALL-CLOCK (GSM8K, API)</a:t>
            </a:r>
            <a:endParaRPr lang="en-US" sz="1100" dirty="0"/>
          </a:p>
        </p:txBody>
      </p:sp>
      <p:sp>
        <p:nvSpPr>
          <p:cNvPr id="6" name="Text 4"/>
          <p:cNvSpPr txBox="1"/>
          <p:nvPr/>
        </p:nvSpPr>
        <p:spPr>
          <a:xfrm>
            <a:off x="761695" y="1746504"/>
            <a:ext cx="4846320" cy="594360"/>
          </a:xfrm>
          <a:prstGeom prst="rect">
            <a:avLst/>
          </a:prstGeom>
          <a:noFill/>
          <a:ln/>
        </p:spPr>
        <p:txBody>
          <a:bodyPr wrap="square" lIns="0" tIns="0" rIns="0" bIns="0" rtlCol="0" anchor="b"/>
          <a:lstStyle/>
          <a:p>
            <a:pPr indent="0" marL="0">
              <a:buNone/>
            </a:pPr>
            <a:r>
              <a:rPr lang="en-US" sz="4000" dirty="0">
                <a:solidFill>
                  <a:schemeClr val="tx1"/>
                </a:solidFill>
                <a:latin typeface="+mj-lt" pitchFamily="34" charset="0"/>
                <a:ea typeface="+mj-lt" pitchFamily="34" charset="-122"/>
                <a:cs typeface="+mj-lt" pitchFamily="34" charset="-120"/>
              </a:rPr>
              <a:t>2.5× </a:t>
            </a:r>
            <a:r>
              <a:rPr lang="en-US" sz="1800" dirty="0">
                <a:solidFill>
                  <a:schemeClr val="tx2"/>
                </a:solidFill>
                <a:latin typeface="+mj-lt" pitchFamily="34" charset="0"/>
                <a:ea typeface="+mj-lt" pitchFamily="34" charset="-122"/>
                <a:cs typeface="+mj-lt" pitchFamily="34" charset="-120"/>
              </a:rPr>
              <a:t>faster</a:t>
            </a:r>
            <a:endParaRPr lang="en-US" sz="1500" dirty="0"/>
          </a:p>
        </p:txBody>
      </p:sp>
      <p:sp>
        <p:nvSpPr>
          <p:cNvPr id="7" name="Text 5"/>
          <p:cNvSpPr txBox="1"/>
          <p:nvPr/>
        </p:nvSpPr>
        <p:spPr>
          <a:xfrm>
            <a:off x="761695" y="2386584"/>
            <a:ext cx="4846320" cy="274320"/>
          </a:xfrm>
          <a:prstGeom prst="rect">
            <a:avLst/>
          </a:prstGeom>
          <a:noFill/>
          <a:ln/>
        </p:spPr>
        <p:txBody>
          <a:bodyPr wrap="square" lIns="0" tIns="0" rIns="0" bIns="0" rtlCol="0" anchor="t"/>
          <a:lstStyle/>
          <a:p>
            <a:pPr indent="0" marL="0">
              <a:buNone/>
            </a:pPr>
            <a:r>
              <a:rPr lang="en-US" sz="1150" dirty="0">
                <a:solidFill>
                  <a:schemeClr val="tx2"/>
                </a:solidFill>
              </a:rPr>
              <a:t>17.9 h vs 45.7 h for DP-OPT</a:t>
            </a:r>
            <a:endParaRPr lang="en-US" sz="1150" dirty="0"/>
          </a:p>
        </p:txBody>
      </p:sp>
      <p:sp>
        <p:nvSpPr>
          <p:cNvPr id="8" name="Shape 6"/>
          <p:cNvSpPr/>
          <p:nvPr/>
        </p:nvSpPr>
        <p:spPr>
          <a:xfrm>
            <a:off x="761695" y="2734056"/>
            <a:ext cx="4846320" cy="12802"/>
          </a:xfrm>
          <a:prstGeom prst="rect">
            <a:avLst/>
          </a:prstGeom>
          <a:solidFill>
            <a:schemeClr val="accent4"/>
          </a:solidFill>
          <a:ln/>
        </p:spPr>
      </p:sp>
      <p:sp>
        <p:nvSpPr>
          <p:cNvPr id="9" name="Text 7"/>
          <p:cNvSpPr txBox="1"/>
          <p:nvPr/>
        </p:nvSpPr>
        <p:spPr>
          <a:xfrm>
            <a:off x="761695" y="2843784"/>
            <a:ext cx="4846320" cy="228600"/>
          </a:xfrm>
          <a:prstGeom prst="rect">
            <a:avLst/>
          </a:prstGeom>
          <a:noFill/>
          <a:ln/>
        </p:spPr>
        <p:txBody>
          <a:bodyPr wrap="square" lIns="0" tIns="0" rIns="0" bIns="0" rtlCol="0" anchor="t"/>
          <a:lstStyle/>
          <a:p>
            <a:pPr indent="0" marL="0">
              <a:buNone/>
            </a:pPr>
            <a:r>
              <a:rPr lang="en-US" sz="1100" spc="200" kern="0" dirty="0">
                <a:solidFill>
                  <a:schemeClr val="accent1"/>
                </a:solidFill>
              </a:rPr>
              <a:t>PRIVATE-DATA ACCESS</a:t>
            </a:r>
            <a:endParaRPr lang="en-US" sz="1100" dirty="0"/>
          </a:p>
        </p:txBody>
      </p:sp>
      <p:sp>
        <p:nvSpPr>
          <p:cNvPr id="10" name="Text 8"/>
          <p:cNvSpPr txBox="1"/>
          <p:nvPr/>
        </p:nvSpPr>
        <p:spPr>
          <a:xfrm>
            <a:off x="761695" y="3072384"/>
            <a:ext cx="4846320" cy="594360"/>
          </a:xfrm>
          <a:prstGeom prst="rect">
            <a:avLst/>
          </a:prstGeom>
          <a:noFill/>
          <a:ln/>
        </p:spPr>
        <p:txBody>
          <a:bodyPr wrap="square" lIns="0" tIns="0" rIns="0" bIns="0" rtlCol="0" anchor="b"/>
          <a:lstStyle/>
          <a:p>
            <a:pPr indent="0" marL="0">
              <a:buNone/>
            </a:pPr>
            <a:r>
              <a:rPr lang="en-US" sz="4000" dirty="0">
                <a:solidFill>
                  <a:schemeClr val="tx1"/>
                </a:solidFill>
                <a:latin typeface="+mj-lt" pitchFamily="34" charset="0"/>
                <a:ea typeface="+mj-lt" pitchFamily="34" charset="-122"/>
                <a:cs typeface="+mj-lt" pitchFamily="34" charset="-120"/>
              </a:rPr>
              <a:t>3.3× </a:t>
            </a:r>
            <a:r>
              <a:rPr lang="en-US" sz="1800" dirty="0">
                <a:solidFill>
                  <a:schemeClr val="tx2"/>
                </a:solidFill>
                <a:latin typeface="+mj-lt" pitchFamily="34" charset="0"/>
                <a:ea typeface="+mj-lt" pitchFamily="34" charset="-122"/>
                <a:cs typeface="+mj-lt" pitchFamily="34" charset="-120"/>
              </a:rPr>
              <a:t>fewer</a:t>
            </a:r>
            <a:endParaRPr lang="en-US" sz="1500" dirty="0"/>
          </a:p>
        </p:txBody>
      </p:sp>
      <p:sp>
        <p:nvSpPr>
          <p:cNvPr id="11" name="Text 9"/>
          <p:cNvSpPr txBox="1"/>
          <p:nvPr/>
        </p:nvSpPr>
        <p:spPr>
          <a:xfrm>
            <a:off x="761695" y="3712464"/>
            <a:ext cx="4846320" cy="274320"/>
          </a:xfrm>
          <a:prstGeom prst="rect">
            <a:avLst/>
          </a:prstGeom>
          <a:noFill/>
          <a:ln/>
        </p:spPr>
        <p:txBody>
          <a:bodyPr wrap="square" lIns="0" tIns="0" rIns="0" bIns="0" rtlCol="0" anchor="t"/>
          <a:lstStyle/>
          <a:p>
            <a:pPr indent="0" marL="0">
              <a:buNone/>
            </a:pPr>
            <a:r>
              <a:rPr lang="en-US" sz="1150" dirty="0">
                <a:solidFill>
                  <a:schemeClr val="tx2"/>
                </a:solidFill>
              </a:rPr>
              <a:t>logged private-data call groups: 10 vs 33 (DP-ES mutations never touch D)</a:t>
            </a:r>
            <a:endParaRPr lang="en-US" sz="1150" dirty="0"/>
          </a:p>
        </p:txBody>
      </p:sp>
      <p:sp>
        <p:nvSpPr>
          <p:cNvPr id="12" name="Shape 10"/>
          <p:cNvSpPr/>
          <p:nvPr/>
        </p:nvSpPr>
        <p:spPr>
          <a:xfrm>
            <a:off x="761695" y="4059936"/>
            <a:ext cx="4846320" cy="12802"/>
          </a:xfrm>
          <a:prstGeom prst="rect">
            <a:avLst/>
          </a:prstGeom>
          <a:solidFill>
            <a:schemeClr val="accent4"/>
          </a:solidFill>
          <a:ln/>
        </p:spPr>
      </p:sp>
      <p:sp>
        <p:nvSpPr>
          <p:cNvPr id="13" name="Text 11"/>
          <p:cNvSpPr txBox="1"/>
          <p:nvPr/>
        </p:nvSpPr>
        <p:spPr>
          <a:xfrm>
            <a:off x="761695" y="4169664"/>
            <a:ext cx="4846320" cy="228600"/>
          </a:xfrm>
          <a:prstGeom prst="rect">
            <a:avLst/>
          </a:prstGeom>
          <a:noFill/>
          <a:ln/>
        </p:spPr>
        <p:txBody>
          <a:bodyPr wrap="square" lIns="0" tIns="0" rIns="0" bIns="0" rtlCol="0" anchor="t"/>
          <a:lstStyle/>
          <a:p>
            <a:pPr indent="0" marL="0">
              <a:buNone/>
            </a:pPr>
            <a:r>
              <a:rPr lang="en-US" sz="1100" spc="200" kern="0" dirty="0">
                <a:solidFill>
                  <a:schemeClr val="accent1"/>
                </a:solidFill>
              </a:rPr>
              <a:t>THE TRADE-OFF</a:t>
            </a:r>
            <a:endParaRPr lang="en-US" sz="1100" dirty="0"/>
          </a:p>
        </p:txBody>
      </p:sp>
      <p:sp>
        <p:nvSpPr>
          <p:cNvPr id="14" name="Text 12"/>
          <p:cNvSpPr txBox="1"/>
          <p:nvPr/>
        </p:nvSpPr>
        <p:spPr>
          <a:xfrm>
            <a:off x="761695" y="4398264"/>
            <a:ext cx="4846320" cy="594360"/>
          </a:xfrm>
          <a:prstGeom prst="rect">
            <a:avLst/>
          </a:prstGeom>
          <a:noFill/>
          <a:ln/>
        </p:spPr>
        <p:txBody>
          <a:bodyPr wrap="square" lIns="0" tIns="0" rIns="0" bIns="0" rtlCol="0" anchor="b"/>
          <a:lstStyle/>
          <a:p>
            <a:pPr indent="0" marL="0">
              <a:buNone/>
            </a:pPr>
            <a:r>
              <a:rPr lang="en-US" sz="4000" dirty="0">
                <a:solidFill>
                  <a:schemeClr val="accent1"/>
                </a:solidFill>
                <a:latin typeface="+mj-lt" pitchFamily="34" charset="0"/>
                <a:ea typeface="+mj-lt" pitchFamily="34" charset="-122"/>
                <a:cs typeface="+mj-lt" pitchFamily="34" charset="-120"/>
              </a:rPr>
              <a:t>2.8× </a:t>
            </a:r>
            <a:r>
              <a:rPr lang="en-US" sz="1800" dirty="0">
                <a:solidFill>
                  <a:schemeClr val="tx2"/>
                </a:solidFill>
                <a:latin typeface="+mj-lt" pitchFamily="34" charset="0"/>
                <a:ea typeface="+mj-lt" pitchFamily="34" charset="-122"/>
                <a:cs typeface="+mj-lt" pitchFamily="34" charset="-120"/>
              </a:rPr>
              <a:t>more tokens</a:t>
            </a:r>
            <a:endParaRPr lang="en-US" sz="1500" dirty="0"/>
          </a:p>
        </p:txBody>
      </p:sp>
      <p:sp>
        <p:nvSpPr>
          <p:cNvPr id="15" name="Text 13"/>
          <p:cNvSpPr txBox="1"/>
          <p:nvPr/>
        </p:nvSpPr>
        <p:spPr>
          <a:xfrm>
            <a:off x="761695" y="5038344"/>
            <a:ext cx="4846320" cy="274320"/>
          </a:xfrm>
          <a:prstGeom prst="rect">
            <a:avLst/>
          </a:prstGeom>
          <a:noFill/>
          <a:ln/>
        </p:spPr>
        <p:txBody>
          <a:bodyPr wrap="square" lIns="0" tIns="0" rIns="0" bIns="0" rtlCol="0" anchor="t"/>
          <a:lstStyle/>
          <a:p>
            <a:pPr indent="0" marL="0">
              <a:buNone/>
            </a:pPr>
            <a:r>
              <a:rPr lang="en-US" sz="1150" dirty="0">
                <a:solidFill>
                  <a:schemeClr val="tx2"/>
                </a:solidFill>
              </a:rPr>
              <a:t>11,120 vs 4,016 in a representative run — DP-ES trades tokens for robustness</a:t>
            </a:r>
            <a:endParaRPr lang="en-US" sz="1150" dirty="0"/>
          </a:p>
        </p:txBody>
      </p:sp>
      <p:sp>
        <p:nvSpPr>
          <p:cNvPr id="16" name="Shape 14"/>
          <p:cNvSpPr/>
          <p:nvPr/>
        </p:nvSpPr>
        <p:spPr>
          <a:xfrm>
            <a:off x="5989320" y="1517904"/>
            <a:ext cx="12802" cy="3657600"/>
          </a:xfrm>
          <a:prstGeom prst="rect">
            <a:avLst/>
          </a:prstGeom>
          <a:solidFill>
            <a:schemeClr val="accent4"/>
          </a:solidFill>
          <a:ln/>
        </p:spPr>
      </p:sp>
      <p:sp>
        <p:nvSpPr>
          <p:cNvPr id="17" name="Text 15"/>
          <p:cNvSpPr txBox="1"/>
          <p:nvPr/>
        </p:nvSpPr>
        <p:spPr>
          <a:xfrm>
            <a:off x="6355080" y="1517904"/>
            <a:ext cx="5074920" cy="228600"/>
          </a:xfrm>
          <a:prstGeom prst="rect">
            <a:avLst/>
          </a:prstGeom>
          <a:noFill/>
          <a:ln/>
        </p:spPr>
        <p:txBody>
          <a:bodyPr wrap="square" lIns="0" tIns="0" rIns="0" bIns="0" rtlCol="0" anchor="t"/>
          <a:lstStyle/>
          <a:p>
            <a:pPr indent="0" marL="0">
              <a:buNone/>
            </a:pPr>
            <a:r>
              <a:rPr lang="en-US" sz="1100" spc="200" kern="0" dirty="0">
                <a:solidFill>
                  <a:schemeClr val="accent1"/>
                </a:solidFill>
              </a:rPr>
              <a:t>WALL-CLOCK HOURS · FOUR SETTINGS</a:t>
            </a:r>
            <a:endParaRPr lang="en-US" sz="1100" dirty="0"/>
          </a:p>
        </p:txBody>
      </p:sp>
      <p:graphicFrame>
        <p:nvGraphicFramePr>
          <p:cNvPr id="18" name="Chart 0" descr=""/>
          <p:cNvGraphicFramePr/>
          <p:nvPr/>
        </p:nvGraphicFramePr>
        <p:xfrm>
          <a:off x="6263640" y="1783080"/>
          <a:ext cx="5166360" cy="3383280"/>
        </p:xfrm>
        <a:graphic xmlns:a="http://schemas.openxmlformats.org/drawingml/2006/main">
          <a:graphicData uri="http://schemas.openxmlformats.org/drawingml/2006/chart">
            <c:chart xmlns:c="http://schemas.openxmlformats.org/drawingml/2006/chart" r:id="rId1"/>
          </a:graphicData>
        </a:graphic>
      </p:graphicFrame>
      <p:sp>
        <p:nvSpPr>
          <p:cNvPr id="19" name="Shape 16"/>
          <p:cNvSpPr/>
          <p:nvPr/>
        </p:nvSpPr>
        <p:spPr>
          <a:xfrm>
            <a:off x="761695" y="5349240"/>
            <a:ext cx="10668305" cy="12802"/>
          </a:xfrm>
          <a:prstGeom prst="rect">
            <a:avLst/>
          </a:prstGeom>
          <a:solidFill>
            <a:schemeClr val="accent4"/>
          </a:solidFill>
          <a:ln/>
        </p:spPr>
      </p:sp>
      <p:sp>
        <p:nvSpPr>
          <p:cNvPr id="20" name="Shape 17"/>
          <p:cNvSpPr/>
          <p:nvPr/>
        </p:nvSpPr>
        <p:spPr>
          <a:xfrm>
            <a:off x="761695" y="5532120"/>
            <a:ext cx="38405" cy="749808"/>
          </a:xfrm>
          <a:prstGeom prst="rect">
            <a:avLst/>
          </a:prstGeom>
          <a:solidFill>
            <a:schemeClr val="accent1"/>
          </a:solidFill>
          <a:ln/>
        </p:spPr>
      </p:sp>
      <p:sp>
        <p:nvSpPr>
          <p:cNvPr id="21" name="Text 18"/>
          <p:cNvSpPr txBox="1"/>
          <p:nvPr/>
        </p:nvSpPr>
        <p:spPr>
          <a:xfrm>
            <a:off x="1015898" y="5532120"/>
            <a:ext cx="10414102" cy="749808"/>
          </a:xfrm>
          <a:prstGeom prst="rect">
            <a:avLst/>
          </a:prstGeom>
          <a:noFill/>
          <a:ln/>
        </p:spPr>
        <p:txBody>
          <a:bodyPr wrap="square" lIns="0" tIns="0" rIns="0" bIns="0" rtlCol="0" anchor="ctr"/>
          <a:lstStyle/>
          <a:p>
            <a:pPr indent="0" marL="0">
              <a:lnSpc>
                <a:spcPct val="130000"/>
              </a:lnSpc>
              <a:buNone/>
            </a:pPr>
            <a:r>
              <a:rPr lang="en-US" sz="1200" b="1" dirty="0">
                <a:solidFill>
                  <a:schemeClr val="tx2"/>
                </a:solidFill>
              </a:rPr>
              <a:t>Why faster?</a:t>
            </a:r>
            <a:r>
              <a:rPr lang="en-US" sz="1200" dirty="0">
                <a:solidFill>
                  <a:schemeClr val="tx2"/>
                </a:solidFill>
              </a:rPr>
              <a:t> DP-OPT queries private aggregates while constructing tokens and while evaluating; DP-ES mutations never touch </a:t>
            </a:r>
            <a:r>
              <a:rPr lang="en-US" sz="1200" i="1" dirty="0">
                <a:solidFill>
                  <a:schemeClr val="tx2"/>
                </a:solidFill>
              </a:rPr>
              <a:t>D</a:t>
            </a:r>
            <a:r>
              <a:rPr lang="en-US" sz="1200" dirty="0">
                <a:solidFill>
                  <a:schemeClr val="tx2"/>
                </a:solidFill>
              </a:rPr>
              <a:t>. Fewer serial private-data round trips dominate latency, so wall-clock time drops even though DP-ES uses larger contexts — the advantage is not uniformly lower provider cost.</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06 · EFFICIENCY &amp; SCOPE</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Scope: what we establish — and what remains open</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17 / 18</a:t>
            </a:r>
            <a:endParaRPr lang="en-US" sz="1000" dirty="0"/>
          </a:p>
        </p:txBody>
      </p:sp>
      <p:sp>
        <p:nvSpPr>
          <p:cNvPr id="5" name="Text 3"/>
          <p:cNvSpPr txBox="1"/>
          <p:nvPr/>
        </p:nvSpPr>
        <p:spPr>
          <a:xfrm>
            <a:off x="761695" y="1517904"/>
            <a:ext cx="4968392" cy="228600"/>
          </a:xfrm>
          <a:prstGeom prst="rect">
            <a:avLst/>
          </a:prstGeom>
          <a:noFill/>
          <a:ln/>
        </p:spPr>
        <p:txBody>
          <a:bodyPr wrap="square" lIns="0" tIns="0" rIns="0" bIns="0" rtlCol="0" anchor="t"/>
          <a:lstStyle/>
          <a:p>
            <a:pPr indent="0" marL="0">
              <a:buNone/>
            </a:pPr>
            <a:r>
              <a:rPr lang="en-US" sz="1100" spc="200" kern="0" dirty="0">
                <a:solidFill>
                  <a:schemeClr val="accent1"/>
                </a:solidFill>
              </a:rPr>
              <a:t>SUPPORTED BY THE EVIDENCE</a:t>
            </a:r>
            <a:endParaRPr lang="en-US" sz="1100" dirty="0"/>
          </a:p>
        </p:txBody>
      </p:sp>
      <p:sp>
        <p:nvSpPr>
          <p:cNvPr id="6" name="Shape 4"/>
          <p:cNvSpPr/>
          <p:nvPr/>
        </p:nvSpPr>
        <p:spPr>
          <a:xfrm>
            <a:off x="761695" y="1828800"/>
            <a:ext cx="4968392" cy="12802"/>
          </a:xfrm>
          <a:prstGeom prst="rect">
            <a:avLst/>
          </a:prstGeom>
          <a:solidFill>
            <a:schemeClr val="accent4"/>
          </a:solidFill>
          <a:ln/>
        </p:spPr>
      </p:sp>
      <p:sp>
        <p:nvSpPr>
          <p:cNvPr id="7" name="Text 5"/>
          <p:cNvSpPr txBox="1"/>
          <p:nvPr/>
        </p:nvSpPr>
        <p:spPr>
          <a:xfrm>
            <a:off x="761695" y="1947672"/>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8" name="Text 6"/>
          <p:cNvSpPr txBox="1"/>
          <p:nvPr/>
        </p:nvSpPr>
        <p:spPr>
          <a:xfrm>
            <a:off x="1173175" y="1938528"/>
            <a:ext cx="4556912" cy="97840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More robust optimization under DP noise than token-level construction, especially where prompt structure is critical</a:t>
            </a:r>
            <a:endParaRPr lang="en-US" sz="1350" dirty="0"/>
          </a:p>
        </p:txBody>
      </p:sp>
      <p:sp>
        <p:nvSpPr>
          <p:cNvPr id="9" name="Shape 7"/>
          <p:cNvSpPr/>
          <p:nvPr/>
        </p:nvSpPr>
        <p:spPr>
          <a:xfrm>
            <a:off x="761695" y="2953512"/>
            <a:ext cx="4968392" cy="12802"/>
          </a:xfrm>
          <a:prstGeom prst="rect">
            <a:avLst/>
          </a:prstGeom>
          <a:solidFill>
            <a:schemeClr val="accent4"/>
          </a:solidFill>
          <a:ln/>
        </p:spPr>
      </p:sp>
      <p:sp>
        <p:nvSpPr>
          <p:cNvPr id="10" name="Text 8"/>
          <p:cNvSpPr txBox="1"/>
          <p:nvPr/>
        </p:nvSpPr>
        <p:spPr>
          <a:xfrm>
            <a:off x="761695" y="3072384"/>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11" name="Text 9"/>
          <p:cNvSpPr txBox="1"/>
          <p:nvPr/>
        </p:nvSpPr>
        <p:spPr>
          <a:xfrm>
            <a:off x="1173175" y="3063240"/>
            <a:ext cx="4556912" cy="97840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A formal record-level guarantee (</a:t>
            </a:r>
            <a:r>
              <a:rPr lang="en-US" sz="1350" dirty="0">
                <a:solidFill>
                  <a:schemeClr val="tx1"/>
                </a:solidFill>
                <a:latin typeface="Cambria" pitchFamily="34" charset="0"/>
                <a:ea typeface="Cambria" pitchFamily="34" charset="-122"/>
                <a:cs typeface="Cambria" pitchFamily="34" charset="-120"/>
              </a:rPr>
              <a:t>ε</a:t>
            </a:r>
            <a:r>
              <a:rPr lang="en-US" sz="1350" dirty="0">
                <a:solidFill>
                  <a:schemeClr val="tx1"/>
                </a:solidFill>
              </a:rPr>
              <a:t> </a:t>
            </a:r>
            <a:r>
              <a:rPr lang="en-US" sz="1350" dirty="0">
                <a:solidFill>
                  <a:schemeClr val="tx1"/>
                </a:solidFill>
                <a:latin typeface="Cambria" pitchFamily="34" charset="0"/>
                <a:ea typeface="Cambria" pitchFamily="34" charset="-122"/>
                <a:cs typeface="Cambria" pitchFamily="34" charset="-120"/>
              </a:rPr>
              <a:t>≤</a:t>
            </a:r>
            <a:r>
              <a:rPr lang="en-US" sz="1350" dirty="0">
                <a:solidFill>
                  <a:schemeClr val="tx1"/>
                </a:solidFill>
              </a:rPr>
              <a:t> 0.71, </a:t>
            </a:r>
            <a:r>
              <a:rPr lang="en-US" sz="1350" dirty="0">
                <a:solidFill>
                  <a:schemeClr val="tx1"/>
                </a:solidFill>
                <a:latin typeface="Cambria" pitchFamily="34" charset="0"/>
                <a:ea typeface="Cambria" pitchFamily="34" charset="-122"/>
                <a:cs typeface="Cambria" pitchFamily="34" charset="-120"/>
              </a:rPr>
              <a:t>δ</a:t>
            </a:r>
            <a:r>
              <a:rPr lang="en-US" sz="1350" dirty="0">
                <a:solidFill>
                  <a:schemeClr val="tx1"/>
                </a:solidFill>
              </a:rPr>
              <a:t> = 10</a:t>
            </a:r>
            <a:r>
              <a:rPr lang="en-US" sz="1350" baseline="30000" dirty="0">
                <a:solidFill>
                  <a:schemeClr val="tx1"/>
                </a:solidFill>
                <a:latin typeface="Cambria" pitchFamily="34" charset="0"/>
                <a:ea typeface="Cambria" pitchFamily="34" charset="-122"/>
                <a:cs typeface="Cambria" pitchFamily="34" charset="-120"/>
              </a:rPr>
              <a:t>−</a:t>
            </a:r>
            <a:r>
              <a:rPr lang="en-US" sz="1350" baseline="30000" dirty="0">
                <a:solidFill>
                  <a:schemeClr val="tx1"/>
                </a:solidFill>
              </a:rPr>
              <a:t>5</a:t>
            </a:r>
            <a:r>
              <a:rPr lang="en-US" sz="1350" dirty="0">
                <a:solidFill>
                  <a:schemeClr val="tx1"/>
                </a:solidFill>
              </a:rPr>
              <a:t>) from mechanism-level RDP accounting</a:t>
            </a:r>
            <a:endParaRPr lang="en-US" sz="1350" dirty="0"/>
          </a:p>
        </p:txBody>
      </p:sp>
      <p:sp>
        <p:nvSpPr>
          <p:cNvPr id="12" name="Shape 10"/>
          <p:cNvSpPr/>
          <p:nvPr/>
        </p:nvSpPr>
        <p:spPr>
          <a:xfrm>
            <a:off x="761695" y="4078224"/>
            <a:ext cx="4968392" cy="12802"/>
          </a:xfrm>
          <a:prstGeom prst="rect">
            <a:avLst/>
          </a:prstGeom>
          <a:solidFill>
            <a:schemeClr val="accent4"/>
          </a:solidFill>
          <a:ln/>
        </p:spPr>
      </p:sp>
      <p:sp>
        <p:nvSpPr>
          <p:cNvPr id="13" name="Text 11"/>
          <p:cNvSpPr txBox="1"/>
          <p:nvPr/>
        </p:nvSpPr>
        <p:spPr>
          <a:xfrm>
            <a:off x="761695" y="4197096"/>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14" name="Text 12"/>
          <p:cNvSpPr txBox="1"/>
          <p:nvPr/>
        </p:nvSpPr>
        <p:spPr>
          <a:xfrm>
            <a:off x="1173175" y="4187952"/>
            <a:ext cx="4556912" cy="97840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Lower wall-clock time and fewer private-data round trips than DP-OPT</a:t>
            </a:r>
            <a:endParaRPr lang="en-US" sz="1350" dirty="0"/>
          </a:p>
        </p:txBody>
      </p:sp>
      <p:sp>
        <p:nvSpPr>
          <p:cNvPr id="15" name="Shape 13"/>
          <p:cNvSpPr/>
          <p:nvPr/>
        </p:nvSpPr>
        <p:spPr>
          <a:xfrm>
            <a:off x="6095848" y="1517904"/>
            <a:ext cx="12802" cy="3657600"/>
          </a:xfrm>
          <a:prstGeom prst="rect">
            <a:avLst/>
          </a:prstGeom>
          <a:solidFill>
            <a:schemeClr val="accent4"/>
          </a:solidFill>
          <a:ln/>
        </p:spPr>
      </p:sp>
      <p:sp>
        <p:nvSpPr>
          <p:cNvPr id="16" name="Text 14"/>
          <p:cNvSpPr txBox="1"/>
          <p:nvPr/>
        </p:nvSpPr>
        <p:spPr>
          <a:xfrm>
            <a:off x="6461608" y="1517904"/>
            <a:ext cx="4968392" cy="228600"/>
          </a:xfrm>
          <a:prstGeom prst="rect">
            <a:avLst/>
          </a:prstGeom>
          <a:noFill/>
          <a:ln/>
        </p:spPr>
        <p:txBody>
          <a:bodyPr wrap="square" lIns="0" tIns="0" rIns="0" bIns="0" rtlCol="0" anchor="t"/>
          <a:lstStyle/>
          <a:p>
            <a:pPr indent="0" marL="0">
              <a:buNone/>
            </a:pPr>
            <a:r>
              <a:rPr lang="en-US" sz="1100" spc="200" kern="0" dirty="0">
                <a:solidFill>
                  <a:schemeClr val="accent1"/>
                </a:solidFill>
              </a:rPr>
              <a:t>OPEN — FUTURE WORK</a:t>
            </a:r>
            <a:endParaRPr lang="en-US" sz="1100" dirty="0"/>
          </a:p>
        </p:txBody>
      </p:sp>
      <p:sp>
        <p:nvSpPr>
          <p:cNvPr id="17" name="Shape 15"/>
          <p:cNvSpPr/>
          <p:nvPr/>
        </p:nvSpPr>
        <p:spPr>
          <a:xfrm>
            <a:off x="6461608" y="1828800"/>
            <a:ext cx="4968392" cy="12802"/>
          </a:xfrm>
          <a:prstGeom prst="rect">
            <a:avLst/>
          </a:prstGeom>
          <a:solidFill>
            <a:schemeClr val="accent4"/>
          </a:solidFill>
          <a:ln/>
        </p:spPr>
      </p:sp>
      <p:sp>
        <p:nvSpPr>
          <p:cNvPr id="18" name="Text 16"/>
          <p:cNvSpPr txBox="1"/>
          <p:nvPr/>
        </p:nvSpPr>
        <p:spPr>
          <a:xfrm>
            <a:off x="6461608" y="1947672"/>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19" name="Text 17"/>
          <p:cNvSpPr txBox="1"/>
          <p:nvPr/>
        </p:nvSpPr>
        <p:spPr>
          <a:xfrm>
            <a:off x="6873088" y="1938528"/>
            <a:ext cx="4556912" cy="530352"/>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End-to-end validation on genuinely sensitive, non-saturated deployment data</a:t>
            </a:r>
            <a:endParaRPr lang="en-US" sz="1350" dirty="0"/>
          </a:p>
        </p:txBody>
      </p:sp>
      <p:sp>
        <p:nvSpPr>
          <p:cNvPr id="20" name="Shape 18"/>
          <p:cNvSpPr/>
          <p:nvPr/>
        </p:nvSpPr>
        <p:spPr>
          <a:xfrm>
            <a:off x="6461608" y="2505456"/>
            <a:ext cx="4968392" cy="12802"/>
          </a:xfrm>
          <a:prstGeom prst="rect">
            <a:avLst/>
          </a:prstGeom>
          <a:solidFill>
            <a:schemeClr val="accent4"/>
          </a:solidFill>
          <a:ln/>
        </p:spPr>
      </p:sp>
      <p:sp>
        <p:nvSpPr>
          <p:cNvPr id="21" name="Text 19"/>
          <p:cNvSpPr txBox="1"/>
          <p:nvPr/>
        </p:nvSpPr>
        <p:spPr>
          <a:xfrm>
            <a:off x="6461608" y="2624328"/>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22" name="Text 20"/>
          <p:cNvSpPr txBox="1"/>
          <p:nvPr/>
        </p:nvSpPr>
        <p:spPr>
          <a:xfrm>
            <a:off x="6873088" y="2615184"/>
            <a:ext cx="4556912" cy="530352"/>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MedQA is near ceiling (Non-DP 100.0%), limiting its discriminative power</a:t>
            </a:r>
            <a:endParaRPr lang="en-US" sz="1350" dirty="0"/>
          </a:p>
        </p:txBody>
      </p:sp>
      <p:sp>
        <p:nvSpPr>
          <p:cNvPr id="23" name="Shape 21"/>
          <p:cNvSpPr/>
          <p:nvPr/>
        </p:nvSpPr>
        <p:spPr>
          <a:xfrm>
            <a:off x="6461608" y="3182112"/>
            <a:ext cx="4968392" cy="12802"/>
          </a:xfrm>
          <a:prstGeom prst="rect">
            <a:avLst/>
          </a:prstGeom>
          <a:solidFill>
            <a:schemeClr val="accent4"/>
          </a:solidFill>
          <a:ln/>
        </p:spPr>
      </p:sp>
      <p:sp>
        <p:nvSpPr>
          <p:cNvPr id="24" name="Text 22"/>
          <p:cNvSpPr txBox="1"/>
          <p:nvPr/>
        </p:nvSpPr>
        <p:spPr>
          <a:xfrm>
            <a:off x="6461608" y="3300984"/>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25" name="Text 23"/>
          <p:cNvSpPr txBox="1"/>
          <p:nvPr/>
        </p:nvSpPr>
        <p:spPr>
          <a:xfrm>
            <a:off x="6873088" y="3291840"/>
            <a:ext cx="4556912" cy="530352"/>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Attacks: exact-match only — no membership inference or record reconstruction</a:t>
            </a:r>
            <a:endParaRPr lang="en-US" sz="1350" dirty="0"/>
          </a:p>
        </p:txBody>
      </p:sp>
      <p:sp>
        <p:nvSpPr>
          <p:cNvPr id="26" name="Shape 24"/>
          <p:cNvSpPr/>
          <p:nvPr/>
        </p:nvSpPr>
        <p:spPr>
          <a:xfrm>
            <a:off x="6461608" y="3858768"/>
            <a:ext cx="4968392" cy="12802"/>
          </a:xfrm>
          <a:prstGeom prst="rect">
            <a:avLst/>
          </a:prstGeom>
          <a:solidFill>
            <a:schemeClr val="accent4"/>
          </a:solidFill>
          <a:ln/>
        </p:spPr>
      </p:sp>
      <p:sp>
        <p:nvSpPr>
          <p:cNvPr id="27" name="Text 25"/>
          <p:cNvSpPr txBox="1"/>
          <p:nvPr/>
        </p:nvSpPr>
        <p:spPr>
          <a:xfrm>
            <a:off x="6461608" y="3977640"/>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28" name="Text 26"/>
          <p:cNvSpPr txBox="1"/>
          <p:nvPr/>
        </p:nvSpPr>
        <p:spPr>
          <a:xfrm>
            <a:off x="6873088" y="3968496"/>
            <a:ext cx="4556912" cy="530352"/>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One privacy level (</a:t>
            </a:r>
            <a:r>
              <a:rPr lang="en-US" sz="1350" dirty="0">
                <a:solidFill>
                  <a:schemeClr val="tx1"/>
                </a:solidFill>
                <a:latin typeface="Cambria" pitchFamily="34" charset="0"/>
                <a:ea typeface="Cambria" pitchFamily="34" charset="-122"/>
                <a:cs typeface="Cambria" pitchFamily="34" charset="-120"/>
              </a:rPr>
              <a:t>ε</a:t>
            </a:r>
            <a:r>
              <a:rPr lang="en-US" sz="1350" dirty="0">
                <a:solidFill>
                  <a:schemeClr val="tx1"/>
                </a:solidFill>
              </a:rPr>
              <a:t> </a:t>
            </a:r>
            <a:r>
              <a:rPr lang="en-US" sz="1350" dirty="0">
                <a:solidFill>
                  <a:schemeClr val="tx1"/>
                </a:solidFill>
                <a:latin typeface="Cambria" pitchFamily="34" charset="0"/>
                <a:ea typeface="Cambria" pitchFamily="34" charset="-122"/>
                <a:cs typeface="Cambria" pitchFamily="34" charset="-120"/>
              </a:rPr>
              <a:t>≤</a:t>
            </a:r>
            <a:r>
              <a:rPr lang="en-US" sz="1350" dirty="0">
                <a:solidFill>
                  <a:schemeClr val="tx1"/>
                </a:solidFill>
              </a:rPr>
              <a:t> 1), not a densely sampled privacy–utility frontier</a:t>
            </a:r>
            <a:endParaRPr lang="en-US" sz="1350" dirty="0"/>
          </a:p>
        </p:txBody>
      </p:sp>
      <p:sp>
        <p:nvSpPr>
          <p:cNvPr id="29" name="Shape 27"/>
          <p:cNvSpPr/>
          <p:nvPr/>
        </p:nvSpPr>
        <p:spPr>
          <a:xfrm>
            <a:off x="6461608" y="4535424"/>
            <a:ext cx="4968392" cy="12802"/>
          </a:xfrm>
          <a:prstGeom prst="rect">
            <a:avLst/>
          </a:prstGeom>
          <a:solidFill>
            <a:schemeClr val="accent4"/>
          </a:solidFill>
          <a:ln/>
        </p:spPr>
      </p:sp>
      <p:sp>
        <p:nvSpPr>
          <p:cNvPr id="30" name="Text 28"/>
          <p:cNvSpPr txBox="1"/>
          <p:nvPr/>
        </p:nvSpPr>
        <p:spPr>
          <a:xfrm>
            <a:off x="6461608" y="4654296"/>
            <a:ext cx="365760" cy="274320"/>
          </a:xfrm>
          <a:prstGeom prst="rect">
            <a:avLst/>
          </a:prstGeom>
          <a:noFill/>
          <a:ln/>
        </p:spPr>
        <p:txBody>
          <a:bodyPr wrap="square" lIns="0" tIns="0" rIns="0" bIns="0" rtlCol="0" anchor="t"/>
          <a:lstStyle/>
          <a:p>
            <a:pPr indent="0" marL="0">
              <a:buNone/>
            </a:pPr>
            <a:r>
              <a:rPr lang="en-US" sz="1300" b="1" dirty="0">
                <a:solidFill>
                  <a:schemeClr val="accent1"/>
                </a:solidFill>
                <a:latin typeface="JetBrains Mono" pitchFamily="34" charset="0"/>
                <a:ea typeface="JetBrains Mono" pitchFamily="34" charset="-122"/>
                <a:cs typeface="JetBrains Mono" pitchFamily="34" charset="-120"/>
              </a:rPr>
              <a:t>?</a:t>
            </a:r>
            <a:endParaRPr lang="en-US" sz="1300" dirty="0"/>
          </a:p>
        </p:txBody>
      </p:sp>
      <p:sp>
        <p:nvSpPr>
          <p:cNvPr id="31" name="Text 29"/>
          <p:cNvSpPr txBox="1"/>
          <p:nvPr/>
        </p:nvSpPr>
        <p:spPr>
          <a:xfrm>
            <a:off x="6873088" y="4645152"/>
            <a:ext cx="4556912" cy="530352"/>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Advantage is task-dependent: parity on BANKING77 and Alpaca</a:t>
            </a:r>
            <a:endParaRPr lang="en-US" sz="1350" dirty="0"/>
          </a:p>
        </p:txBody>
      </p:sp>
      <p:sp>
        <p:nvSpPr>
          <p:cNvPr id="32" name="Shape 30"/>
          <p:cNvSpPr/>
          <p:nvPr/>
        </p:nvSpPr>
        <p:spPr>
          <a:xfrm>
            <a:off x="761695" y="5349240"/>
            <a:ext cx="10668305" cy="12802"/>
          </a:xfrm>
          <a:prstGeom prst="rect">
            <a:avLst/>
          </a:prstGeom>
          <a:solidFill>
            <a:schemeClr val="accent4"/>
          </a:solidFill>
          <a:ln/>
        </p:spPr>
      </p:sp>
      <p:sp>
        <p:nvSpPr>
          <p:cNvPr id="33" name="Shape 31"/>
          <p:cNvSpPr/>
          <p:nvPr/>
        </p:nvSpPr>
        <p:spPr>
          <a:xfrm>
            <a:off x="761695" y="5532120"/>
            <a:ext cx="38405" cy="749808"/>
          </a:xfrm>
          <a:prstGeom prst="rect">
            <a:avLst/>
          </a:prstGeom>
          <a:solidFill>
            <a:schemeClr val="accent1"/>
          </a:solidFill>
          <a:ln/>
        </p:spPr>
      </p:sp>
      <p:sp>
        <p:nvSpPr>
          <p:cNvPr id="34" name="Text 32"/>
          <p:cNvSpPr txBox="1"/>
          <p:nvPr/>
        </p:nvSpPr>
        <p:spPr>
          <a:xfrm>
            <a:off x="1015898" y="5532120"/>
            <a:ext cx="10414102" cy="749808"/>
          </a:xfrm>
          <a:prstGeom prst="rect">
            <a:avLst/>
          </a:prstGeom>
          <a:noFill/>
          <a:ln/>
        </p:spPr>
        <p:txBody>
          <a:bodyPr wrap="square" lIns="0" tIns="0" rIns="0" bIns="0" rtlCol="0" anchor="ctr"/>
          <a:lstStyle/>
          <a:p>
            <a:pPr indent="0" marL="0">
              <a:lnSpc>
                <a:spcPct val="130000"/>
              </a:lnSpc>
              <a:buNone/>
            </a:pPr>
            <a:r>
              <a:rPr lang="en-US" sz="1200" b="1" dirty="0">
                <a:solidFill>
                  <a:schemeClr val="tx2"/>
                </a:solidFill>
              </a:rPr>
              <a:t>Next steps.</a:t>
            </a:r>
            <a:r>
              <a:rPr lang="en-US" sz="1200" dirty="0">
                <a:solidFill>
                  <a:schemeClr val="tx2"/>
                </a:solidFill>
              </a:rPr>
              <a:t> Adaptive population sizing · multi-objective search over utility, privacy and stability · federated DP-ES for distributed sensitive data · a theory linking prompt search space to privacy budget.</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61695" y="737006"/>
            <a:ext cx="7619695" cy="228600"/>
          </a:xfrm>
          <a:prstGeom prst="rect">
            <a:avLst/>
          </a:prstGeom>
          <a:noFill/>
          <a:ln/>
        </p:spPr>
        <p:txBody>
          <a:bodyPr wrap="square" lIns="0" tIns="0" rIns="0" bIns="0" rtlCol="0" anchor="t"/>
          <a:lstStyle/>
          <a:p>
            <a:pPr indent="0" marL="0">
              <a:buNone/>
            </a:pPr>
            <a:r>
              <a:rPr lang="en-US" sz="1100" spc="300" kern="0" dirty="0">
                <a:solidFill>
                  <a:schemeClr val="accent1"/>
                </a:solidFill>
              </a:rPr>
              <a:t>TAKEAWAY</a:t>
            </a:r>
            <a:endParaRPr lang="en-US" sz="1100" dirty="0"/>
          </a:p>
        </p:txBody>
      </p:sp>
      <p:sp>
        <p:nvSpPr>
          <p:cNvPr id="3" name="Text 1"/>
          <p:cNvSpPr txBox="1"/>
          <p:nvPr/>
        </p:nvSpPr>
        <p:spPr>
          <a:xfrm>
            <a:off x="761695" y="1397203"/>
            <a:ext cx="10668305" cy="1524305"/>
          </a:xfrm>
          <a:prstGeom prst="rect">
            <a:avLst/>
          </a:prstGeom>
          <a:noFill/>
          <a:ln/>
        </p:spPr>
        <p:txBody>
          <a:bodyPr wrap="square" lIns="0" tIns="0" rIns="0" bIns="0" rtlCol="0" anchor="ctr"/>
          <a:lstStyle/>
          <a:p>
            <a:pPr indent="0" marL="0">
              <a:lnSpc>
                <a:spcPct val="120000"/>
              </a:lnSpc>
              <a:buNone/>
            </a:pPr>
            <a:r>
              <a:rPr lang="en-US" sz="3400" dirty="0">
                <a:solidFill>
                  <a:schemeClr val="tx1"/>
                </a:solidFill>
                <a:latin typeface="+mj-lt" pitchFamily="34" charset="0"/>
                <a:ea typeface="+mj-lt" pitchFamily="34" charset="-122"/>
                <a:cs typeface="+mj-lt" pitchFamily="34" charset="-120"/>
              </a:rPr>
              <a:t>Decouple exploration from privacy: evolve complete prompts, pay budget </a:t>
            </a:r>
            <a:r>
              <a:rPr lang="en-US" sz="3400" dirty="0">
                <a:solidFill>
                  <a:schemeClr val="accent1"/>
                </a:solidFill>
                <a:latin typeface="+mj-lt" pitchFamily="34" charset="0"/>
                <a:ea typeface="+mj-lt" pitchFamily="34" charset="-122"/>
                <a:cs typeface="+mj-lt" pitchFamily="34" charset="-120"/>
              </a:rPr>
              <a:t>only for scoring</a:t>
            </a:r>
            <a:r>
              <a:rPr lang="en-US" sz="3400" dirty="0">
                <a:solidFill>
                  <a:schemeClr val="tx1"/>
                </a:solidFill>
                <a:latin typeface="+mj-lt" pitchFamily="34" charset="0"/>
                <a:ea typeface="+mj-lt" pitchFamily="34" charset="-122"/>
                <a:cs typeface="+mj-lt" pitchFamily="34" charset="-120"/>
              </a:rPr>
              <a:t>.</a:t>
            </a:r>
            <a:endParaRPr lang="en-US" sz="3400" dirty="0"/>
          </a:p>
        </p:txBody>
      </p:sp>
      <p:sp>
        <p:nvSpPr>
          <p:cNvPr id="4" name="Shape 2"/>
          <p:cNvSpPr/>
          <p:nvPr/>
        </p:nvSpPr>
        <p:spPr>
          <a:xfrm>
            <a:off x="761695" y="3276295"/>
            <a:ext cx="10668305" cy="12802"/>
          </a:xfrm>
          <a:prstGeom prst="rect">
            <a:avLst/>
          </a:prstGeom>
          <a:solidFill>
            <a:schemeClr val="accent4"/>
          </a:solidFill>
          <a:ln/>
        </p:spPr>
      </p:sp>
      <p:sp>
        <p:nvSpPr>
          <p:cNvPr id="5" name="Text 3"/>
          <p:cNvSpPr txBox="1"/>
          <p:nvPr/>
        </p:nvSpPr>
        <p:spPr>
          <a:xfrm>
            <a:off x="761695" y="3530498"/>
            <a:ext cx="2560320" cy="548640"/>
          </a:xfrm>
          <a:prstGeom prst="rect">
            <a:avLst/>
          </a:prstGeom>
          <a:noFill/>
          <a:ln/>
        </p:spPr>
        <p:txBody>
          <a:bodyPr wrap="square" lIns="0" tIns="0" rIns="0" bIns="0" rtlCol="0" anchor="t"/>
          <a:lstStyle/>
          <a:p>
            <a:pPr indent="0" marL="0">
              <a:buNone/>
            </a:pPr>
            <a:r>
              <a:rPr lang="en-US" sz="3000" dirty="0">
                <a:solidFill>
                  <a:schemeClr val="tx1"/>
                </a:solidFill>
                <a:latin typeface="+mj-lt" pitchFamily="34" charset="0"/>
                <a:ea typeface="+mj-lt" pitchFamily="34" charset="-122"/>
                <a:cs typeface="+mj-lt" pitchFamily="34" charset="-120"/>
              </a:rPr>
              <a:t>88.1 ± 3.2%</a:t>
            </a:r>
            <a:endParaRPr lang="en-US" sz="3000" dirty="0"/>
          </a:p>
        </p:txBody>
      </p:sp>
      <p:sp>
        <p:nvSpPr>
          <p:cNvPr id="6" name="Text 4"/>
          <p:cNvSpPr txBox="1"/>
          <p:nvPr/>
        </p:nvSpPr>
        <p:spPr>
          <a:xfrm>
            <a:off x="761695" y="4114800"/>
            <a:ext cx="2560320" cy="594360"/>
          </a:xfrm>
          <a:prstGeom prst="rect">
            <a:avLst/>
          </a:prstGeom>
          <a:noFill/>
          <a:ln/>
        </p:spPr>
        <p:txBody>
          <a:bodyPr wrap="square" lIns="0" tIns="0" rIns="0" bIns="0" rtlCol="0" anchor="t"/>
          <a:lstStyle/>
          <a:p>
            <a:pPr indent="0" marL="0">
              <a:lnSpc>
                <a:spcPct val="125000"/>
              </a:lnSpc>
              <a:buNone/>
            </a:pPr>
            <a:r>
              <a:rPr lang="en-US" sz="1100" dirty="0">
                <a:solidFill>
                  <a:schemeClr val="tx2"/>
                </a:solidFill>
              </a:rPr>
              <a:t>GSM8K under </a:t>
            </a:r>
            <a:r>
              <a:rPr lang="en-US" sz="1100" dirty="0">
                <a:solidFill>
                  <a:schemeClr val="tx2"/>
                </a:solidFill>
                <a:latin typeface="Cambria" pitchFamily="34" charset="0"/>
                <a:ea typeface="Cambria" pitchFamily="34" charset="-122"/>
                <a:cs typeface="Cambria" pitchFamily="34" charset="-120"/>
              </a:rPr>
              <a:t>ε</a:t>
            </a:r>
            <a:r>
              <a:rPr lang="en-US" sz="1100" dirty="0">
                <a:solidFill>
                  <a:schemeClr val="tx2"/>
                </a:solidFill>
              </a:rPr>
              <a:t> </a:t>
            </a:r>
            <a:r>
              <a:rPr lang="en-US" sz="1100" dirty="0">
                <a:solidFill>
                  <a:schemeClr val="tx2"/>
                </a:solidFill>
                <a:latin typeface="Cambria" pitchFamily="34" charset="0"/>
                <a:ea typeface="Cambria" pitchFamily="34" charset="-122"/>
                <a:cs typeface="Cambria" pitchFamily="34" charset="-120"/>
              </a:rPr>
              <a:t>≤</a:t>
            </a:r>
            <a:r>
              <a:rPr lang="en-US" sz="1100" dirty="0">
                <a:solidFill>
                  <a:schemeClr val="tx2"/>
                </a:solidFill>
              </a:rPr>
              <a:t> 1.0</a:t>
            </a:r>
            <a:endParaRPr lang="en-US" sz="1100" dirty="0"/>
          </a:p>
          <a:p>
            <a:pPr indent="0" marL="0">
              <a:lnSpc>
                <a:spcPct val="125000"/>
              </a:lnSpc>
              <a:buNone/>
            </a:pPr>
            <a:r>
              <a:rPr lang="en-US" sz="1100" dirty="0">
                <a:solidFill>
                  <a:schemeClr val="tx2"/>
                </a:solidFill>
              </a:rPr>
              <a:t>30 runs · </a:t>
            </a:r>
            <a:r>
              <a:rPr lang="en-US" sz="1100" dirty="0">
                <a:solidFill>
                  <a:schemeClr val="tx2"/>
                </a:solidFill>
                <a:latin typeface="Cambria" pitchFamily="34" charset="0"/>
                <a:ea typeface="Cambria" pitchFamily="34" charset="-122"/>
                <a:cs typeface="Cambria" pitchFamily="34" charset="-120"/>
              </a:rPr>
              <a:t>≈</a:t>
            </a:r>
            <a:r>
              <a:rPr lang="en-US" sz="1100" dirty="0">
                <a:solidFill>
                  <a:schemeClr val="tx2"/>
                </a:solidFill>
              </a:rPr>
              <a:t> 9× lower std</a:t>
            </a:r>
            <a:endParaRPr lang="en-US" sz="1100" dirty="0"/>
          </a:p>
        </p:txBody>
      </p:sp>
      <p:sp>
        <p:nvSpPr>
          <p:cNvPr id="7" name="Text 5"/>
          <p:cNvSpPr txBox="1"/>
          <p:nvPr/>
        </p:nvSpPr>
        <p:spPr>
          <a:xfrm>
            <a:off x="3459175" y="3530498"/>
            <a:ext cx="2560320" cy="548640"/>
          </a:xfrm>
          <a:prstGeom prst="rect">
            <a:avLst/>
          </a:prstGeom>
          <a:noFill/>
          <a:ln/>
        </p:spPr>
        <p:txBody>
          <a:bodyPr wrap="square" lIns="0" tIns="0" rIns="0" bIns="0" rtlCol="0" anchor="t"/>
          <a:lstStyle/>
          <a:p>
            <a:pPr indent="0" marL="0">
              <a:buNone/>
            </a:pPr>
            <a:r>
              <a:rPr lang="en-US" sz="3000" dirty="0">
                <a:solidFill>
                  <a:schemeClr val="tx1"/>
                </a:solidFill>
                <a:latin typeface="Cambria" pitchFamily="34" charset="0"/>
                <a:ea typeface="Cambria" pitchFamily="34" charset="-122"/>
                <a:cs typeface="Cambria" pitchFamily="34" charset="-120"/>
              </a:rPr>
              <a:t>ε</a:t>
            </a:r>
            <a:r>
              <a:rPr lang="en-US" sz="3000" dirty="0">
                <a:solidFill>
                  <a:schemeClr val="tx1"/>
                </a:solidFill>
                <a:latin typeface="+mj-lt" pitchFamily="34" charset="0"/>
                <a:ea typeface="+mj-lt" pitchFamily="34" charset="-122"/>
                <a:cs typeface="+mj-lt" pitchFamily="34" charset="-120"/>
              </a:rPr>
              <a:t> </a:t>
            </a:r>
            <a:r>
              <a:rPr lang="en-US" sz="3000" dirty="0">
                <a:solidFill>
                  <a:schemeClr val="tx1"/>
                </a:solidFill>
                <a:latin typeface="Cambria" pitchFamily="34" charset="0"/>
                <a:ea typeface="Cambria" pitchFamily="34" charset="-122"/>
                <a:cs typeface="Cambria" pitchFamily="34" charset="-120"/>
              </a:rPr>
              <a:t>≤</a:t>
            </a:r>
            <a:r>
              <a:rPr lang="en-US" sz="3000" dirty="0">
                <a:solidFill>
                  <a:schemeClr val="tx1"/>
                </a:solidFill>
                <a:latin typeface="+mj-lt" pitchFamily="34" charset="0"/>
                <a:ea typeface="+mj-lt" pitchFamily="34" charset="-122"/>
                <a:cs typeface="+mj-lt" pitchFamily="34" charset="-120"/>
              </a:rPr>
              <a:t> 0.71</a:t>
            </a:r>
            <a:endParaRPr lang="en-US" sz="3000" dirty="0"/>
          </a:p>
        </p:txBody>
      </p:sp>
      <p:sp>
        <p:nvSpPr>
          <p:cNvPr id="8" name="Text 6"/>
          <p:cNvSpPr txBox="1"/>
          <p:nvPr/>
        </p:nvSpPr>
        <p:spPr>
          <a:xfrm>
            <a:off x="3459175" y="4114800"/>
            <a:ext cx="2560320" cy="594360"/>
          </a:xfrm>
          <a:prstGeom prst="rect">
            <a:avLst/>
          </a:prstGeom>
          <a:noFill/>
          <a:ln/>
        </p:spPr>
        <p:txBody>
          <a:bodyPr wrap="square" lIns="0" tIns="0" rIns="0" bIns="0" rtlCol="0" anchor="t"/>
          <a:lstStyle/>
          <a:p>
            <a:pPr indent="0" marL="0">
              <a:lnSpc>
                <a:spcPct val="125000"/>
              </a:lnSpc>
              <a:buNone/>
            </a:pPr>
            <a:r>
              <a:rPr lang="en-US" sz="1100" dirty="0">
                <a:solidFill>
                  <a:schemeClr val="tx2"/>
                </a:solidFill>
              </a:rPr>
              <a:t>recomputed RDP bound</a:t>
            </a:r>
            <a:endParaRPr lang="en-US" sz="1100" dirty="0"/>
          </a:p>
          <a:p>
            <a:pPr indent="0" marL="0">
              <a:lnSpc>
                <a:spcPct val="125000"/>
              </a:lnSpc>
              <a:buNone/>
            </a:pPr>
            <a:r>
              <a:rPr lang="en-US" sz="1100" dirty="0">
                <a:solidFill>
                  <a:schemeClr val="tx2"/>
                </a:solidFill>
              </a:rPr>
              <a:t>at </a:t>
            </a:r>
            <a:r>
              <a:rPr lang="en-US" sz="1100" dirty="0">
                <a:solidFill>
                  <a:schemeClr val="tx2"/>
                </a:solidFill>
                <a:latin typeface="Cambria" pitchFamily="34" charset="0"/>
                <a:ea typeface="Cambria" pitchFamily="34" charset="-122"/>
                <a:cs typeface="Cambria" pitchFamily="34" charset="-120"/>
              </a:rPr>
              <a:t>δ</a:t>
            </a:r>
            <a:r>
              <a:rPr lang="en-US" sz="1100" dirty="0">
                <a:solidFill>
                  <a:schemeClr val="tx2"/>
                </a:solidFill>
              </a:rPr>
              <a:t> = 10</a:t>
            </a:r>
            <a:r>
              <a:rPr lang="en-US" sz="1100" baseline="30000" dirty="0">
                <a:solidFill>
                  <a:schemeClr val="tx2"/>
                </a:solidFill>
                <a:latin typeface="Cambria" pitchFamily="34" charset="0"/>
                <a:ea typeface="Cambria" pitchFamily="34" charset="-122"/>
                <a:cs typeface="Cambria" pitchFamily="34" charset="-120"/>
              </a:rPr>
              <a:t>−</a:t>
            </a:r>
            <a:r>
              <a:rPr lang="en-US" sz="1100" baseline="30000" dirty="0">
                <a:solidFill>
                  <a:schemeClr val="tx2"/>
                </a:solidFill>
              </a:rPr>
              <a:t>5</a:t>
            </a:r>
            <a:endParaRPr lang="en-US" sz="1100" dirty="0"/>
          </a:p>
        </p:txBody>
      </p:sp>
      <p:sp>
        <p:nvSpPr>
          <p:cNvPr id="9" name="Text 7"/>
          <p:cNvSpPr txBox="1"/>
          <p:nvPr/>
        </p:nvSpPr>
        <p:spPr>
          <a:xfrm>
            <a:off x="6156655" y="3530498"/>
            <a:ext cx="2560320" cy="548640"/>
          </a:xfrm>
          <a:prstGeom prst="rect">
            <a:avLst/>
          </a:prstGeom>
          <a:noFill/>
          <a:ln/>
        </p:spPr>
        <p:txBody>
          <a:bodyPr wrap="square" lIns="0" tIns="0" rIns="0" bIns="0" rtlCol="0" anchor="t"/>
          <a:lstStyle/>
          <a:p>
            <a:pPr indent="0" marL="0">
              <a:buNone/>
            </a:pPr>
            <a:r>
              <a:rPr lang="en-US" sz="3000" dirty="0">
                <a:solidFill>
                  <a:schemeClr val="tx1"/>
                </a:solidFill>
                <a:latin typeface="+mj-lt" pitchFamily="34" charset="0"/>
                <a:ea typeface="+mj-lt" pitchFamily="34" charset="-122"/>
                <a:cs typeface="+mj-lt" pitchFamily="34" charset="-120"/>
              </a:rPr>
              <a:t>2.5×</a:t>
            </a:r>
            <a:endParaRPr lang="en-US" sz="3000" dirty="0"/>
          </a:p>
        </p:txBody>
      </p:sp>
      <p:sp>
        <p:nvSpPr>
          <p:cNvPr id="10" name="Text 8"/>
          <p:cNvSpPr txBox="1"/>
          <p:nvPr/>
        </p:nvSpPr>
        <p:spPr>
          <a:xfrm>
            <a:off x="6156655" y="4114800"/>
            <a:ext cx="2560320" cy="594360"/>
          </a:xfrm>
          <a:prstGeom prst="rect">
            <a:avLst/>
          </a:prstGeom>
          <a:noFill/>
          <a:ln/>
        </p:spPr>
        <p:txBody>
          <a:bodyPr wrap="square" lIns="0" tIns="0" rIns="0" bIns="0" rtlCol="0" anchor="t"/>
          <a:lstStyle/>
          <a:p>
            <a:pPr indent="0" marL="0">
              <a:lnSpc>
                <a:spcPct val="125000"/>
              </a:lnSpc>
              <a:buNone/>
            </a:pPr>
            <a:r>
              <a:rPr lang="en-US" sz="1100" dirty="0">
                <a:solidFill>
                  <a:schemeClr val="tx2"/>
                </a:solidFill>
              </a:rPr>
              <a:t>faster wall-clock</a:t>
            </a:r>
            <a:endParaRPr lang="en-US" sz="1100" dirty="0"/>
          </a:p>
          <a:p>
            <a:pPr indent="0" marL="0">
              <a:lnSpc>
                <a:spcPct val="125000"/>
              </a:lnSpc>
              <a:buNone/>
            </a:pPr>
            <a:r>
              <a:rPr lang="en-US" sz="1100" dirty="0">
                <a:solidFill>
                  <a:schemeClr val="tx2"/>
                </a:solidFill>
              </a:rPr>
              <a:t>than DP-OPT on GSM8K</a:t>
            </a:r>
            <a:endParaRPr lang="en-US" sz="1100" dirty="0"/>
          </a:p>
        </p:txBody>
      </p:sp>
      <p:sp>
        <p:nvSpPr>
          <p:cNvPr id="11" name="Text 9"/>
          <p:cNvSpPr txBox="1"/>
          <p:nvPr/>
        </p:nvSpPr>
        <p:spPr>
          <a:xfrm>
            <a:off x="8854135" y="3530498"/>
            <a:ext cx="2560320" cy="548640"/>
          </a:xfrm>
          <a:prstGeom prst="rect">
            <a:avLst/>
          </a:prstGeom>
          <a:noFill/>
          <a:ln/>
        </p:spPr>
        <p:txBody>
          <a:bodyPr wrap="square" lIns="0" tIns="0" rIns="0" bIns="0" rtlCol="0" anchor="t"/>
          <a:lstStyle/>
          <a:p>
            <a:pPr indent="0" marL="0">
              <a:buNone/>
            </a:pPr>
            <a:r>
              <a:rPr lang="en-US" sz="3000" dirty="0">
                <a:solidFill>
                  <a:schemeClr val="tx1"/>
                </a:solidFill>
                <a:latin typeface="+mj-lt" pitchFamily="34" charset="0"/>
                <a:ea typeface="+mj-lt" pitchFamily="34" charset="-122"/>
                <a:cs typeface="+mj-lt" pitchFamily="34" charset="-120"/>
              </a:rPr>
              <a:t>0 strings</a:t>
            </a:r>
            <a:endParaRPr lang="en-US" sz="3000" dirty="0"/>
          </a:p>
        </p:txBody>
      </p:sp>
      <p:sp>
        <p:nvSpPr>
          <p:cNvPr id="12" name="Text 10"/>
          <p:cNvSpPr txBox="1"/>
          <p:nvPr/>
        </p:nvSpPr>
        <p:spPr>
          <a:xfrm>
            <a:off x="8854135" y="4114800"/>
            <a:ext cx="2560320" cy="594360"/>
          </a:xfrm>
          <a:prstGeom prst="rect">
            <a:avLst/>
          </a:prstGeom>
          <a:noFill/>
          <a:ln/>
        </p:spPr>
        <p:txBody>
          <a:bodyPr wrap="square" lIns="0" tIns="0" rIns="0" bIns="0" rtlCol="0" anchor="t"/>
          <a:lstStyle/>
          <a:p>
            <a:pPr indent="0" marL="0">
              <a:lnSpc>
                <a:spcPct val="125000"/>
              </a:lnSpc>
              <a:buNone/>
            </a:pPr>
            <a:r>
              <a:rPr lang="en-US" sz="1100" dirty="0">
                <a:solidFill>
                  <a:schemeClr val="tx2"/>
                </a:solidFill>
              </a:rPr>
              <a:t>synthetic exact-match</a:t>
            </a:r>
            <a:endParaRPr lang="en-US" sz="1100" dirty="0"/>
          </a:p>
          <a:p>
            <a:pPr indent="0" marL="0">
              <a:lnSpc>
                <a:spcPct val="125000"/>
              </a:lnSpc>
              <a:buNone/>
            </a:pPr>
            <a:r>
              <a:rPr lang="en-US" sz="1100" dirty="0">
                <a:solidFill>
                  <a:schemeClr val="tx2"/>
                </a:solidFill>
              </a:rPr>
              <a:t>stress test (200 profiles)</a:t>
            </a:r>
            <a:endParaRPr lang="en-US" sz="1100" dirty="0"/>
          </a:p>
        </p:txBody>
      </p:sp>
      <p:sp>
        <p:nvSpPr>
          <p:cNvPr id="13" name="Shape 11"/>
          <p:cNvSpPr/>
          <p:nvPr/>
        </p:nvSpPr>
        <p:spPr>
          <a:xfrm>
            <a:off x="761695" y="4902098"/>
            <a:ext cx="10668305" cy="12802"/>
          </a:xfrm>
          <a:prstGeom prst="rect">
            <a:avLst/>
          </a:prstGeom>
          <a:solidFill>
            <a:schemeClr val="accent4"/>
          </a:solidFill>
          <a:ln/>
        </p:spPr>
      </p:sp>
      <p:sp>
        <p:nvSpPr>
          <p:cNvPr id="14" name="Text 12"/>
          <p:cNvSpPr txBox="1"/>
          <p:nvPr/>
        </p:nvSpPr>
        <p:spPr>
          <a:xfrm>
            <a:off x="761695" y="5232197"/>
            <a:ext cx="5486400" cy="304495"/>
          </a:xfrm>
          <a:prstGeom prst="rect">
            <a:avLst/>
          </a:prstGeom>
          <a:noFill/>
          <a:ln/>
        </p:spPr>
        <p:txBody>
          <a:bodyPr wrap="square" lIns="0" tIns="0" rIns="0" bIns="0" rtlCol="0" anchor="t"/>
          <a:lstStyle/>
          <a:p>
            <a:pPr indent="0" marL="0">
              <a:buNone/>
            </a:pPr>
            <a:r>
              <a:rPr lang="en-US" sz="1600" u="sng" dirty="0">
                <a:solidFill>
                  <a:schemeClr val="accent1"/>
                </a:solidFill>
                <a:latin typeface="JetBrains Mono" pitchFamily="34" charset="0"/>
                <a:ea typeface="JetBrains Mono" pitchFamily="34" charset="-122"/>
                <a:cs typeface="JetBrains Mono"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github.com/StephCpa/dp-es</a:t>
            </a:r>
            <a:endParaRPr lang="en-US" sz="1600" dirty="0"/>
          </a:p>
        </p:txBody>
      </p:sp>
      <p:sp>
        <p:nvSpPr>
          <p:cNvPr id="15" name="Text 13"/>
          <p:cNvSpPr txBox="1"/>
          <p:nvPr/>
        </p:nvSpPr>
        <p:spPr>
          <a:xfrm>
            <a:off x="6400800" y="5257800"/>
            <a:ext cx="5029200" cy="274320"/>
          </a:xfrm>
          <a:prstGeom prst="rect">
            <a:avLst/>
          </a:prstGeom>
          <a:noFill/>
          <a:ln/>
        </p:spPr>
        <p:txBody>
          <a:bodyPr wrap="square" lIns="0" tIns="0" rIns="0" bIns="0" rtlCol="0" anchor="t"/>
          <a:lstStyle/>
          <a:p>
            <a:pPr algn="r" indent="0" marL="0">
              <a:buNone/>
            </a:pPr>
            <a:r>
              <a:rPr lang="en-US" sz="1200" dirty="0">
                <a:solidFill>
                  <a:schemeClr val="tx2"/>
                </a:solidFill>
              </a:rPr>
              <a:t>Contact: liaiping@nudt.edu.cn</a:t>
            </a:r>
            <a:endParaRPr lang="en-US" sz="1200" dirty="0"/>
          </a:p>
        </p:txBody>
      </p:sp>
      <p:sp>
        <p:nvSpPr>
          <p:cNvPr id="16" name="Text 14"/>
          <p:cNvSpPr txBox="1"/>
          <p:nvPr/>
        </p:nvSpPr>
        <p:spPr>
          <a:xfrm>
            <a:off x="761695" y="5740603"/>
            <a:ext cx="7315200" cy="411480"/>
          </a:xfrm>
          <a:prstGeom prst="rect">
            <a:avLst/>
          </a:prstGeom>
          <a:noFill/>
          <a:ln/>
        </p:spPr>
        <p:txBody>
          <a:bodyPr wrap="square" lIns="0" tIns="0" rIns="0" bIns="0" rtlCol="0" anchor="t"/>
          <a:lstStyle/>
          <a:p>
            <a:pPr indent="0" marL="0">
              <a:buNone/>
            </a:pPr>
            <a:r>
              <a:rPr lang="en-US" sz="2400" i="1" dirty="0">
                <a:solidFill>
                  <a:schemeClr val="tx1"/>
                </a:solidFill>
                <a:latin typeface="+mj-lt" pitchFamily="34" charset="0"/>
                <a:ea typeface="+mj-lt" pitchFamily="34" charset="-122"/>
                <a:cs typeface="+mj-lt" pitchFamily="34" charset="-120"/>
              </a:rPr>
              <a:t>Happy to take questions.</a:t>
            </a:r>
            <a:endParaRPr lang="en-US" sz="2400" dirty="0"/>
          </a:p>
        </p:txBody>
      </p:sp>
      <p:sp>
        <p:nvSpPr>
          <p:cNvPr id="17" name="Text 15"/>
          <p:cNvSpPr txBox="1"/>
          <p:nvPr/>
        </p:nvSpPr>
        <p:spPr>
          <a:xfrm>
            <a:off x="761695" y="6527902"/>
            <a:ext cx="8229600" cy="177394"/>
          </a:xfrm>
          <a:prstGeom prst="rect">
            <a:avLst/>
          </a:prstGeom>
          <a:noFill/>
          <a:ln/>
        </p:spPr>
        <p:txBody>
          <a:bodyPr wrap="square" lIns="0" tIns="0" rIns="0" bIns="0" rtlCol="0" anchor="t"/>
          <a:lstStyle/>
          <a:p>
            <a:pPr indent="0" marL="0">
              <a:buNone/>
            </a:pPr>
            <a:r>
              <a:rPr lang="en-US" sz="1000" dirty="0">
                <a:solidFill>
                  <a:schemeClr val="tx2"/>
                </a:solidFill>
              </a:rPr>
              <a:t>Ziniu Liu et al. · National University of Defense Technology · EMNLP 2026</a:t>
            </a:r>
            <a:endParaRPr lang="en-US" sz="1000" dirty="0"/>
          </a:p>
        </p:txBody>
      </p:sp>
      <p:sp>
        <p:nvSpPr>
          <p:cNvPr id="18" name="Text 16"/>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18 / 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A · BACKUP</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Threat model and assumptions</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Backup 1 / 3</a:t>
            </a:r>
            <a:endParaRPr lang="en-US" sz="1000" dirty="0"/>
          </a:p>
        </p:txBody>
      </p:sp>
      <p:sp>
        <p:nvSpPr>
          <p:cNvPr id="5" name="Text 3"/>
          <p:cNvSpPr txBox="1"/>
          <p:nvPr/>
        </p:nvSpPr>
        <p:spPr>
          <a:xfrm>
            <a:off x="761695" y="157276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TRUSTED CURATOR</a:t>
            </a:r>
            <a:endParaRPr lang="en-US" sz="1200" dirty="0"/>
          </a:p>
        </p:txBody>
      </p:sp>
      <p:sp>
        <p:nvSpPr>
          <p:cNvPr id="6" name="Text 4"/>
          <p:cNvSpPr txBox="1"/>
          <p:nvPr/>
        </p:nvSpPr>
        <p:spPr>
          <a:xfrm>
            <a:off x="761695" y="198424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The party running DP-ES may access </a:t>
            </a:r>
            <a:r>
              <a:rPr lang="en-US" sz="1500" i="1" dirty="0">
                <a:solidFill>
                  <a:schemeClr val="tx1"/>
                </a:solidFill>
              </a:rPr>
              <a:t>D</a:t>
            </a:r>
            <a:r>
              <a:rPr lang="en-US" sz="1500" dirty="0">
                <a:solidFill>
                  <a:schemeClr val="tx1"/>
                </a:solidFill>
              </a:rPr>
              <a:t> but releases only the final prompt.</a:t>
            </a:r>
            <a:endParaRPr lang="en-US" sz="1500" dirty="0"/>
          </a:p>
        </p:txBody>
      </p:sp>
      <p:sp>
        <p:nvSpPr>
          <p:cNvPr id="7" name="Shape 5"/>
          <p:cNvSpPr/>
          <p:nvPr/>
        </p:nvSpPr>
        <p:spPr>
          <a:xfrm>
            <a:off x="4241597" y="1572768"/>
            <a:ext cx="12802" cy="1920240"/>
          </a:xfrm>
          <a:prstGeom prst="rect">
            <a:avLst/>
          </a:prstGeom>
          <a:solidFill>
            <a:schemeClr val="accent4"/>
          </a:solidFill>
          <a:ln/>
        </p:spPr>
      </p:sp>
      <p:sp>
        <p:nvSpPr>
          <p:cNvPr id="8" name="Text 6"/>
          <p:cNvSpPr txBox="1"/>
          <p:nvPr/>
        </p:nvSpPr>
        <p:spPr>
          <a:xfrm>
            <a:off x="4470197" y="157276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RECORD-LEVEL PRIVACY</a:t>
            </a:r>
            <a:endParaRPr lang="en-US" sz="1200" dirty="0"/>
          </a:p>
        </p:txBody>
      </p:sp>
      <p:sp>
        <p:nvSpPr>
          <p:cNvPr id="9" name="Text 7"/>
          <p:cNvSpPr txBox="1"/>
          <p:nvPr/>
        </p:nvSpPr>
        <p:spPr>
          <a:xfrm>
            <a:off x="4470197" y="198424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The unit is one record (</a:t>
            </a:r>
            <a:r>
              <a:rPr lang="en-US" sz="1500" i="1" dirty="0">
                <a:solidFill>
                  <a:schemeClr val="tx1"/>
                </a:solidFill>
              </a:rPr>
              <a:t>x</a:t>
            </a:r>
            <a:r>
              <a:rPr lang="en-US" sz="1500" baseline="-40000" dirty="0">
                <a:solidFill>
                  <a:schemeClr val="tx1"/>
                </a:solidFill>
              </a:rPr>
              <a:t>i</a:t>
            </a:r>
            <a:r>
              <a:rPr lang="en-US" sz="1500" dirty="0">
                <a:solidFill>
                  <a:schemeClr val="tx1"/>
                </a:solidFill>
              </a:rPr>
              <a:t>, </a:t>
            </a:r>
            <a:r>
              <a:rPr lang="en-US" sz="1500" i="1" dirty="0">
                <a:solidFill>
                  <a:schemeClr val="tx1"/>
                </a:solidFill>
              </a:rPr>
              <a:t>y</a:t>
            </a:r>
            <a:r>
              <a:rPr lang="en-US" sz="1500" baseline="-40000" dirty="0">
                <a:solidFill>
                  <a:schemeClr val="tx1"/>
                </a:solidFill>
              </a:rPr>
              <a:t>i</a:t>
            </a:r>
            <a:r>
              <a:rPr lang="en-US" sz="1500" dirty="0">
                <a:solidFill>
                  <a:schemeClr val="tx1"/>
                </a:solidFill>
              </a:rPr>
              <a:t>); group privacy scales </a:t>
            </a:r>
            <a:r>
              <a:rPr lang="en-US" sz="1500" dirty="0">
                <a:solidFill>
                  <a:schemeClr val="tx1"/>
                </a:solidFill>
                <a:latin typeface="Cambria" pitchFamily="34" charset="0"/>
                <a:ea typeface="Cambria" pitchFamily="34" charset="-122"/>
                <a:cs typeface="Cambria" pitchFamily="34" charset="-120"/>
              </a:rPr>
              <a:t>ε</a:t>
            </a:r>
            <a:r>
              <a:rPr lang="en-US" sz="1500" dirty="0">
                <a:solidFill>
                  <a:schemeClr val="tx1"/>
                </a:solidFill>
              </a:rPr>
              <a:t> with group size.</a:t>
            </a:r>
            <a:endParaRPr lang="en-US" sz="1500" dirty="0"/>
          </a:p>
        </p:txBody>
      </p:sp>
      <p:sp>
        <p:nvSpPr>
          <p:cNvPr id="10" name="Shape 8"/>
          <p:cNvSpPr/>
          <p:nvPr/>
        </p:nvSpPr>
        <p:spPr>
          <a:xfrm>
            <a:off x="7950098" y="1572768"/>
            <a:ext cx="12802" cy="1920240"/>
          </a:xfrm>
          <a:prstGeom prst="rect">
            <a:avLst/>
          </a:prstGeom>
          <a:solidFill>
            <a:schemeClr val="accent4"/>
          </a:solidFill>
          <a:ln/>
        </p:spPr>
      </p:sp>
      <p:sp>
        <p:nvSpPr>
          <p:cNvPr id="11" name="Text 9"/>
          <p:cNvSpPr txBox="1"/>
          <p:nvPr/>
        </p:nvSpPr>
        <p:spPr>
          <a:xfrm>
            <a:off x="8178698" y="157276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TRUSTED BOUNDARY</a:t>
            </a:r>
            <a:endParaRPr lang="en-US" sz="1200" dirty="0"/>
          </a:p>
        </p:txBody>
      </p:sp>
      <p:sp>
        <p:nvSpPr>
          <p:cNvPr id="12" name="Text 10"/>
          <p:cNvSpPr txBox="1"/>
          <p:nvPr/>
        </p:nvSpPr>
        <p:spPr>
          <a:xfrm>
            <a:off x="8178698" y="198424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The evaluation endpoint is a trusted processor; DP protects the released prompt, not API inputs.</a:t>
            </a:r>
            <a:endParaRPr lang="en-US" sz="1500" dirty="0"/>
          </a:p>
        </p:txBody>
      </p:sp>
      <p:sp>
        <p:nvSpPr>
          <p:cNvPr id="13" name="Shape 11"/>
          <p:cNvSpPr/>
          <p:nvPr/>
        </p:nvSpPr>
        <p:spPr>
          <a:xfrm>
            <a:off x="761695" y="3630168"/>
            <a:ext cx="3251302" cy="12802"/>
          </a:xfrm>
          <a:prstGeom prst="rect">
            <a:avLst/>
          </a:prstGeom>
          <a:solidFill>
            <a:schemeClr val="accent4"/>
          </a:solidFill>
          <a:ln/>
        </p:spPr>
      </p:sp>
      <p:sp>
        <p:nvSpPr>
          <p:cNvPr id="14" name="Text 12"/>
          <p:cNvSpPr txBox="1"/>
          <p:nvPr/>
        </p:nvSpPr>
        <p:spPr>
          <a:xfrm>
            <a:off x="761695" y="390448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MUTATION ISOLATION</a:t>
            </a:r>
            <a:endParaRPr lang="en-US" sz="1200" dirty="0"/>
          </a:p>
        </p:txBody>
      </p:sp>
      <p:sp>
        <p:nvSpPr>
          <p:cNvPr id="15" name="Text 13"/>
          <p:cNvSpPr txBox="1"/>
          <p:nvPr/>
        </p:nvSpPr>
        <p:spPr>
          <a:xfrm>
            <a:off x="761695" y="431596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The mutation LLM sees only parent prompts. PII memorized in pretraining is outside this threat model.</a:t>
            </a:r>
            <a:endParaRPr lang="en-US" sz="1500" dirty="0"/>
          </a:p>
        </p:txBody>
      </p:sp>
      <p:sp>
        <p:nvSpPr>
          <p:cNvPr id="16" name="Shape 14"/>
          <p:cNvSpPr/>
          <p:nvPr/>
        </p:nvSpPr>
        <p:spPr>
          <a:xfrm>
            <a:off x="4241597" y="3904488"/>
            <a:ext cx="12802" cy="1920240"/>
          </a:xfrm>
          <a:prstGeom prst="rect">
            <a:avLst/>
          </a:prstGeom>
          <a:solidFill>
            <a:schemeClr val="accent4"/>
          </a:solidFill>
          <a:ln/>
        </p:spPr>
      </p:sp>
      <p:sp>
        <p:nvSpPr>
          <p:cNvPr id="17" name="Shape 15"/>
          <p:cNvSpPr/>
          <p:nvPr/>
        </p:nvSpPr>
        <p:spPr>
          <a:xfrm>
            <a:off x="4470197" y="3630168"/>
            <a:ext cx="3251302" cy="12802"/>
          </a:xfrm>
          <a:prstGeom prst="rect">
            <a:avLst/>
          </a:prstGeom>
          <a:solidFill>
            <a:schemeClr val="accent4"/>
          </a:solidFill>
          <a:ln/>
        </p:spPr>
      </p:sp>
      <p:sp>
        <p:nvSpPr>
          <p:cNvPr id="18" name="Text 16"/>
          <p:cNvSpPr txBox="1"/>
          <p:nvPr/>
        </p:nvSpPr>
        <p:spPr>
          <a:xfrm>
            <a:off x="4470197" y="390448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POST-PROCESSING SAFETY</a:t>
            </a:r>
            <a:endParaRPr lang="en-US" sz="1200" dirty="0"/>
          </a:p>
        </p:txBody>
      </p:sp>
      <p:sp>
        <p:nvSpPr>
          <p:cNvPr id="19" name="Text 17"/>
          <p:cNvSpPr txBox="1"/>
          <p:nvPr/>
        </p:nvSpPr>
        <p:spPr>
          <a:xfrm>
            <a:off x="4470197" y="431596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Downstream use of the released prompt adds no further loss about </a:t>
            </a:r>
            <a:r>
              <a:rPr lang="en-US" sz="1500" i="1" dirty="0">
                <a:solidFill>
                  <a:schemeClr val="tx1"/>
                </a:solidFill>
              </a:rPr>
              <a:t>D</a:t>
            </a:r>
            <a:r>
              <a:rPr lang="en-US" sz="1500" dirty="0">
                <a:solidFill>
                  <a:schemeClr val="tx1"/>
                </a:solidFill>
              </a:rPr>
              <a:t>.</a:t>
            </a:r>
            <a:endParaRPr lang="en-US" sz="1500" dirty="0"/>
          </a:p>
        </p:txBody>
      </p:sp>
      <p:sp>
        <p:nvSpPr>
          <p:cNvPr id="20" name="Shape 18"/>
          <p:cNvSpPr/>
          <p:nvPr/>
        </p:nvSpPr>
        <p:spPr>
          <a:xfrm>
            <a:off x="7950098" y="3904488"/>
            <a:ext cx="12802" cy="1920240"/>
          </a:xfrm>
          <a:prstGeom prst="rect">
            <a:avLst/>
          </a:prstGeom>
          <a:solidFill>
            <a:schemeClr val="accent4"/>
          </a:solidFill>
          <a:ln/>
        </p:spPr>
      </p:sp>
      <p:sp>
        <p:nvSpPr>
          <p:cNvPr id="21" name="Shape 19"/>
          <p:cNvSpPr/>
          <p:nvPr/>
        </p:nvSpPr>
        <p:spPr>
          <a:xfrm>
            <a:off x="8178698" y="3630168"/>
            <a:ext cx="3251302" cy="12802"/>
          </a:xfrm>
          <a:prstGeom prst="rect">
            <a:avLst/>
          </a:prstGeom>
          <a:solidFill>
            <a:schemeClr val="accent4"/>
          </a:solidFill>
          <a:ln/>
        </p:spPr>
      </p:sp>
      <p:sp>
        <p:nvSpPr>
          <p:cNvPr id="22" name="Text 20"/>
          <p:cNvSpPr txBox="1"/>
          <p:nvPr/>
        </p:nvSpPr>
        <p:spPr>
          <a:xfrm>
            <a:off x="8178698" y="3904488"/>
            <a:ext cx="3251302" cy="274320"/>
          </a:xfrm>
          <a:prstGeom prst="rect">
            <a:avLst/>
          </a:prstGeom>
          <a:noFill/>
          <a:ln/>
        </p:spPr>
        <p:txBody>
          <a:bodyPr wrap="square" lIns="0" tIns="0" rIns="0" bIns="0" rtlCol="0" anchor="t"/>
          <a:lstStyle/>
          <a:p>
            <a:pPr indent="0" marL="0">
              <a:buNone/>
            </a:pPr>
            <a:r>
              <a:rPr lang="en-US" sz="1200" b="1" spc="100" kern="0" dirty="0">
                <a:solidFill>
                  <a:schemeClr val="accent1"/>
                </a:solidFill>
                <a:latin typeface="JetBrains Mono" pitchFamily="34" charset="0"/>
                <a:ea typeface="JetBrains Mono" pitchFamily="34" charset="-122"/>
                <a:cs typeface="JetBrains Mono" pitchFamily="34" charset="-120"/>
              </a:rPr>
              <a:t>AUDITS ARE NOT PROOFS</a:t>
            </a:r>
            <a:endParaRPr lang="en-US" sz="1200" dirty="0"/>
          </a:p>
        </p:txBody>
      </p:sp>
      <p:sp>
        <p:nvSpPr>
          <p:cNvPr id="23" name="Text 21"/>
          <p:cNvSpPr txBox="1"/>
          <p:nvPr/>
        </p:nvSpPr>
        <p:spPr>
          <a:xfrm>
            <a:off x="8178698" y="4315968"/>
            <a:ext cx="3251302" cy="1371600"/>
          </a:xfrm>
          <a:prstGeom prst="rect">
            <a:avLst/>
          </a:prstGeom>
          <a:noFill/>
          <a:ln/>
        </p:spPr>
        <p:txBody>
          <a:bodyPr wrap="square" lIns="0" tIns="0" rIns="0" bIns="0" rtlCol="0" anchor="t"/>
          <a:lstStyle/>
          <a:p>
            <a:pPr indent="0" marL="0">
              <a:lnSpc>
                <a:spcPct val="130000"/>
              </a:lnSpc>
              <a:buNone/>
            </a:pPr>
            <a:r>
              <a:rPr lang="en-US" sz="1500" dirty="0">
                <a:solidFill>
                  <a:schemeClr val="tx1"/>
                </a:solidFill>
              </a:rPr>
              <a:t>Empirical checks can expose implementation errors but cannot certify DP; the guarantee is mechanism-level.</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A · BACKUP</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Where the efficiency comes from</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Backup 2 / 3</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61695" y="1517904"/>
          <a:ext cx="7132320" cy="914400"/>
        </p:xfrm>
        <a:graphic>
          <a:graphicData uri="http://schemas.openxmlformats.org/drawingml/2006/table">
            <a:tbl>
              <a:tblPr/>
              <a:tblGrid>
                <a:gridCol w="3108960"/>
                <a:gridCol w="1280160"/>
                <a:gridCol w="1280160"/>
                <a:gridCol w="1463040"/>
              </a:tblGrid>
              <a:tr h="347472">
                <a:tc>
                  <a:txBody>
                    <a:bodyPr/>
                    <a:lstStyle/>
                    <a:p>
                      <a:pPr algn="l" indent="0" marL="0">
                        <a:buNone/>
                      </a:pPr>
                      <a:r>
                        <a:rPr lang="en-US" sz="1250" b="1" dirty="0">
                          <a:solidFill>
                            <a:schemeClr val="tx1"/>
                          </a:solidFill>
                        </a:rPr>
                        <a:t>Cost component</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DP-OPT</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DP-ES</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c>
                  <a:txBody>
                    <a:bodyPr/>
                    <a:lstStyle/>
                    <a:p>
                      <a:pPr algn="ctr" indent="0" marL="0">
                        <a:buNone/>
                      </a:pPr>
                      <a:r>
                        <a:rPr lang="en-US" sz="1250" b="1" dirty="0">
                          <a:solidFill>
                            <a:schemeClr val="tx1"/>
                          </a:solidFill>
                        </a:rPr>
                        <a:t>Ratio</a:t>
                      </a:r>
                      <a:endParaRPr lang="en-US" sz="1250" dirty="0"/>
                    </a:p>
                  </a:txBody>
                  <a:tcPr marL="91440" marR="91440" marT="36576" marB="36576" anchor="ctr">
                    <a:lnL w="0" cap="flat" cmpd="sng" algn="ctr">
                      <a:noFill/>
                    </a:lnL>
                    <a:lnR w="0" cap="flat" cmpd="sng" algn="ctr">
                      <a:noFill/>
                    </a:lnR>
                    <a:lnT w="19050" cap="flat" cmpd="sng" algn="ctr">
                      <a:solidFill>
                        <a:srgbClr val="23201B"/>
                      </a:solidFill>
                      <a:prstDash val="solid"/>
                      <a:round/>
                      <a:headEnd type="none" w="med" len="med"/>
                      <a:tailEnd type="none" w="med" len="med"/>
                    </a:lnT>
                    <a:lnB w="12700" cap="flat" cmpd="sng" algn="ctr">
                      <a:solidFill>
                        <a:srgbClr val="23201B"/>
                      </a:solidFill>
                      <a:prstDash val="solid"/>
                      <a:round/>
                      <a:headEnd type="none" w="med" len="med"/>
                      <a:tailEnd type="none" w="med" len="med"/>
                    </a:lnB>
                  </a:tcPr>
                </a:tc>
              </a:tr>
              <a:tr h="347472">
                <a:tc gridSpan="4">
                  <a:txBody>
                    <a:bodyPr/>
                    <a:lstStyle/>
                    <a:p>
                      <a:pPr algn="l" indent="0" marL="0">
                        <a:buNone/>
                      </a:pPr>
                      <a:r>
                        <a:rPr lang="en-US" sz="1300" b="1" i="1" dirty="0">
                          <a:solidFill>
                            <a:schemeClr val="accent1"/>
                          </a:solidFill>
                        </a:rPr>
                        <a:t>Logged private-data call groups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hMerge="1">
                  <a:tcPr/>
                </a:tc>
                <a:tc hMerge="1">
                  <a:tcPr/>
                </a:tc>
                <a:tc hMerge="1">
                  <a:tcPr/>
                </a:tc>
              </a:tr>
              <a:tr h="347472">
                <a:tc>
                  <a:txBody>
                    <a:bodyPr/>
                    <a:lstStyle/>
                    <a:p>
                      <a:pPr algn="l" indent="0" marL="0">
                        <a:buNone/>
                      </a:pPr>
                      <a:r>
                        <a:rPr lang="en-US" sz="1300" dirty="0">
                          <a:solidFill>
                            <a:schemeClr val="tx1"/>
                          </a:solidFill>
                        </a:rPr>
                        <a:t>Mutation (token-level / privacy-free)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3 (DP)</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0 (free)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300" dirty="0">
                          <a:solidFill>
                            <a:schemeClr val="tx1"/>
                          </a:solidFill>
                        </a:rPr>
                        <a:t>Evaluation (Gaussian-noised)</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30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10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3.0× fewer</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300" b="1" dirty="0">
                          <a:solidFill>
                            <a:schemeClr val="tx1"/>
                          </a:solidFill>
                        </a:rPr>
                        <a:t>Total private-data groups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33</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10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3.3× fewer</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gridSpan="4">
                  <a:txBody>
                    <a:bodyPr/>
                    <a:lstStyle/>
                    <a:p>
                      <a:pPr algn="l" indent="0" marL="0">
                        <a:buNone/>
                      </a:pPr>
                      <a:r>
                        <a:rPr lang="en-US" sz="1300" b="1" i="1" dirty="0">
                          <a:solidFill>
                            <a:schemeClr val="accent1"/>
                          </a:solidFill>
                        </a:rPr>
                        <a:t>Token usage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hMerge="1">
                  <a:tcPr/>
                </a:tc>
                <a:tc hMerge="1">
                  <a:tcPr/>
                </a:tc>
                <a:tc hMerge="1">
                  <a:tcPr/>
                </a:tc>
              </a:tr>
              <a:tr h="347472">
                <a:tc>
                  <a:txBody>
                    <a:bodyPr/>
                    <a:lstStyle/>
                    <a:p>
                      <a:pPr algn="l" indent="0" marL="0">
                        <a:buNone/>
                      </a:pPr>
                      <a:r>
                        <a:rPr lang="en-US" sz="1300" dirty="0">
                          <a:solidFill>
                            <a:schemeClr val="tx1"/>
                          </a:solidFill>
                        </a:rPr>
                        <a:t>Input tokens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1,309</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6,120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4.7× more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300" dirty="0">
                          <a:solidFill>
                            <a:schemeClr val="tx1"/>
                          </a:solidFill>
                        </a:rPr>
                        <a:t>Output tokens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2,707</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5,000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dirty="0">
                          <a:solidFill>
                            <a:schemeClr val="tx1"/>
                          </a:solidFill>
                        </a:rPr>
                        <a:t>1.8× more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300" b="1" dirty="0">
                          <a:solidFill>
                            <a:schemeClr val="tx1"/>
                          </a:solidFill>
                        </a:rPr>
                        <a:t>Total tokens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4,016</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11,120</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2.8× more</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gridSpan="4">
                  <a:txBody>
                    <a:bodyPr/>
                    <a:lstStyle/>
                    <a:p>
                      <a:pPr algn="l" indent="0" marL="0">
                        <a:buNone/>
                      </a:pPr>
                      <a:r>
                        <a:rPr lang="en-US" sz="1300" b="1" i="1" dirty="0">
                          <a:solidFill>
                            <a:schemeClr val="accent1"/>
                          </a:solidFill>
                        </a:rPr>
                        <a:t>Wall-clock</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hMerge="1">
                  <a:tcPr/>
                </a:tc>
                <a:tc hMerge="1">
                  <a:tcPr/>
                </a:tc>
                <a:tc hMerge="1">
                  <a:tcPr/>
                </a:tc>
              </a:tr>
              <a:tr h="347472">
                <a:tc>
                  <a:txBody>
                    <a:bodyPr/>
                    <a:lstStyle/>
                    <a:p>
                      <a:pPr algn="l" indent="0" marL="0">
                        <a:buNone/>
                      </a:pPr>
                      <a:r>
                        <a:rPr lang="en-US" sz="1300" b="1" dirty="0">
                          <a:solidFill>
                            <a:schemeClr val="tx1"/>
                          </a:solidFill>
                        </a:rPr>
                        <a:t>Runtime (hours)</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16.6</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6.5</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1300" b="1" dirty="0">
                          <a:solidFill>
                            <a:schemeClr val="tx1"/>
                          </a:solidFill>
                        </a:rPr>
                        <a:t>2.5× faster</a:t>
                      </a:r>
                      <a:endParaRPr lang="en-US" sz="1300" dirty="0"/>
                    </a:p>
                  </a:txBody>
                  <a:tcPr marL="91440" marR="91440" marT="36576" marB="36576" anchor="ctr">
                    <a:lnL w="0" cap="flat" cmpd="sng" algn="ctr">
                      <a:noFill/>
                    </a:lnL>
                    <a:lnR w="0" cap="flat" cmpd="sng" algn="ctr">
                      <a:noFill/>
                    </a:lnR>
                    <a:lnT w="0" cap="flat" cmpd="sng" algn="ctr">
                      <a:noFill/>
                    </a:lnT>
                    <a:lnB w="0" cap="flat" cmpd="sng" algn="ctr">
                      <a:noFill/>
                    </a:lnB>
                  </a:tcPr>
                </a:tc>
              </a:tr>
              <a:tr h="347472">
                <a:tc>
                  <a:txBody>
                    <a:bodyPr/>
                    <a:lstStyle/>
                    <a:p>
                      <a:pPr algn="l" indent="0" marL="0">
                        <a:buNone/>
                      </a:pPr>
                      <a:r>
                        <a:rPr lang="en-US" sz="1300" dirty="0">
                          <a:solidFill>
                            <a:schemeClr val="tx1"/>
                          </a:solidFill>
                        </a:rPr>
                        <a:t>Accuracy (single run)</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1"/>
                          </a:solidFill>
                        </a:rPr>
                        <a:t>91.0%</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1"/>
                          </a:solidFill>
                        </a:rPr>
                        <a:t>86.5%</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c>
                  <a:txBody>
                    <a:bodyPr/>
                    <a:lstStyle/>
                    <a:p>
                      <a:pPr algn="ctr" indent="0" marL="0">
                        <a:buNone/>
                      </a:pPr>
                      <a:r>
                        <a:rPr lang="en-US" sz="1300" dirty="0">
                          <a:solidFill>
                            <a:schemeClr val="tx1"/>
                          </a:solidFill>
                        </a:rPr>
                        <a:t>—</a:t>
                      </a:r>
                      <a:endParaRPr lang="en-US" sz="1300" dirty="0"/>
                    </a:p>
                  </a:txBody>
                  <a:tcPr marL="91440" marR="91440" marT="36576" marB="36576" anchor="ctr">
                    <a:lnL w="0" cap="flat" cmpd="sng" algn="ctr">
                      <a:noFill/>
                    </a:lnL>
                    <a:lnR w="0" cap="flat" cmpd="sng" algn="ctr">
                      <a:noFill/>
                    </a:lnR>
                    <a:lnT w="0" cap="flat" cmpd="sng" algn="ctr">
                      <a:noFill/>
                    </a:lnT>
                    <a:lnB w="19050" cap="flat" cmpd="sng" algn="ctr">
                      <a:solidFill>
                        <a:srgbClr val="23201B"/>
                      </a:solidFill>
                      <a:prstDash val="solid"/>
                      <a:round/>
                      <a:headEnd type="none" w="med" len="med"/>
                      <a:tailEnd type="none" w="med" len="med"/>
                    </a:lnB>
                  </a:tcPr>
                </a:tc>
              </a:tr>
            </a:tbl>
          </a:graphicData>
        </a:graphic>
      </p:graphicFrame>
      <p:sp>
        <p:nvSpPr>
          <p:cNvPr id="6" name="Text 3"/>
          <p:cNvSpPr txBox="1"/>
          <p:nvPr/>
        </p:nvSpPr>
        <p:spPr>
          <a:xfrm>
            <a:off x="761695" y="5852160"/>
            <a:ext cx="7132320" cy="365760"/>
          </a:xfrm>
          <a:prstGeom prst="rect">
            <a:avLst/>
          </a:prstGeom>
          <a:noFill/>
          <a:ln/>
        </p:spPr>
        <p:txBody>
          <a:bodyPr wrap="square" lIns="0" tIns="0" rIns="0" bIns="0" rtlCol="0" anchor="t"/>
          <a:lstStyle/>
          <a:p>
            <a:pPr indent="0" marL="0">
              <a:buNone/>
            </a:pPr>
            <a:r>
              <a:rPr lang="en-US" sz="1050" dirty="0">
                <a:solidFill>
                  <a:schemeClr val="tx2"/>
                </a:solidFill>
              </a:rPr>
              <a:t>GSM8K, seed 42, </a:t>
            </a:r>
            <a:r>
              <a:rPr lang="en-US" sz="1050" dirty="0">
                <a:solidFill>
                  <a:schemeClr val="tx2"/>
                </a:solidFill>
                <a:latin typeface="Cambria" pitchFamily="34" charset="0"/>
                <a:ea typeface="Cambria" pitchFamily="34" charset="-122"/>
                <a:cs typeface="Cambria" pitchFamily="34" charset="-120"/>
              </a:rPr>
              <a:t>ε</a:t>
            </a:r>
            <a:r>
              <a:rPr lang="en-US" sz="1050" dirty="0">
                <a:solidFill>
                  <a:schemeClr val="tx2"/>
                </a:solidFill>
              </a:rPr>
              <a:t> </a:t>
            </a:r>
            <a:r>
              <a:rPr lang="en-US" sz="1050" dirty="0">
                <a:solidFill>
                  <a:schemeClr val="tx2"/>
                </a:solidFill>
                <a:latin typeface="Cambria" pitchFamily="34" charset="0"/>
                <a:ea typeface="Cambria" pitchFamily="34" charset="-122"/>
                <a:cs typeface="Cambria" pitchFamily="34" charset="-120"/>
              </a:rPr>
              <a:t>≤</a:t>
            </a:r>
            <a:r>
              <a:rPr lang="en-US" sz="1050" dirty="0">
                <a:solidFill>
                  <a:schemeClr val="tx2"/>
                </a:solidFill>
              </a:rPr>
              <a:t> 1, 200-example optimization set. Counts are logger-level call groups, not individual requests.</a:t>
            </a:r>
            <a:endParaRPr lang="en-US" sz="1050" dirty="0"/>
          </a:p>
        </p:txBody>
      </p:sp>
      <p:sp>
        <p:nvSpPr>
          <p:cNvPr id="7" name="Shape 4"/>
          <p:cNvSpPr/>
          <p:nvPr/>
        </p:nvSpPr>
        <p:spPr>
          <a:xfrm>
            <a:off x="8275320" y="1517904"/>
            <a:ext cx="12802" cy="4389120"/>
          </a:xfrm>
          <a:prstGeom prst="rect">
            <a:avLst/>
          </a:prstGeom>
          <a:solidFill>
            <a:schemeClr val="accent4"/>
          </a:solidFill>
          <a:ln/>
        </p:spPr>
      </p:sp>
      <p:sp>
        <p:nvSpPr>
          <p:cNvPr id="8" name="Text 5"/>
          <p:cNvSpPr txBox="1"/>
          <p:nvPr/>
        </p:nvSpPr>
        <p:spPr>
          <a:xfrm>
            <a:off x="8641080" y="1517904"/>
            <a:ext cx="2788920" cy="228600"/>
          </a:xfrm>
          <a:prstGeom prst="rect">
            <a:avLst/>
          </a:prstGeom>
          <a:noFill/>
          <a:ln/>
        </p:spPr>
        <p:txBody>
          <a:bodyPr wrap="square" lIns="0" tIns="0" rIns="0" bIns="0" rtlCol="0" anchor="t"/>
          <a:lstStyle/>
          <a:p>
            <a:pPr indent="0" marL="0">
              <a:buNone/>
            </a:pPr>
            <a:r>
              <a:rPr lang="en-US" sz="1100" spc="200" kern="0" dirty="0">
                <a:solidFill>
                  <a:schemeClr val="accent1"/>
                </a:solidFill>
              </a:rPr>
              <a:t>READING THE TABLE</a:t>
            </a:r>
            <a:endParaRPr lang="en-US" sz="1100" dirty="0"/>
          </a:p>
        </p:txBody>
      </p:sp>
      <p:sp>
        <p:nvSpPr>
          <p:cNvPr id="9" name="Text 6"/>
          <p:cNvSpPr txBox="1"/>
          <p:nvPr/>
        </p:nvSpPr>
        <p:spPr>
          <a:xfrm>
            <a:off x="8641080" y="1828800"/>
            <a:ext cx="2788920" cy="3931920"/>
          </a:xfrm>
          <a:prstGeom prst="rect">
            <a:avLst/>
          </a:prstGeom>
          <a:noFill/>
          <a:ln/>
        </p:spPr>
        <p:txBody>
          <a:bodyPr wrap="square" lIns="0" tIns="0" rIns="0" bIns="0" rtlCol="0" anchor="t"/>
          <a:lstStyle/>
          <a:p>
            <a:pPr indent="0" marL="0">
              <a:lnSpc>
                <a:spcPct val="130000"/>
              </a:lnSpc>
              <a:buNone/>
            </a:pPr>
            <a:r>
              <a:rPr lang="en-US" sz="1400" dirty="0">
                <a:solidFill>
                  <a:schemeClr val="tx1"/>
                </a:solidFill>
              </a:rPr>
              <a:t>DP-OPT’s token construction queries private counts, so its mutation calls also enter the accountant.</a:t>
            </a:r>
            <a:endParaRPr lang="en-US" sz="1400" dirty="0"/>
          </a:p>
          <a:p>
            <a:pPr indent="0" marL="0">
              <a:lnSpc>
                <a:spcPct val="130000"/>
              </a:lnSpc>
              <a:spcBef>
                <a:spcPts val="800"/>
              </a:spcBef>
              <a:buNone/>
            </a:pPr>
            <a:r>
              <a:rPr lang="en-US" sz="1400" dirty="0">
                <a:solidFill>
                  <a:schemeClr val="tx1"/>
                </a:solidFill>
              </a:rPr>
              <a:t>DP-ES mutation is post-processing; only its evaluation groups touch records.</a:t>
            </a:r>
            <a:endParaRPr lang="en-US" sz="1400" dirty="0"/>
          </a:p>
          <a:p>
            <a:pPr indent="0" marL="0">
              <a:lnSpc>
                <a:spcPct val="130000"/>
              </a:lnSpc>
              <a:spcBef>
                <a:spcPts val="800"/>
              </a:spcBef>
              <a:buNone/>
            </a:pPr>
            <a:r>
              <a:rPr lang="en-US" sz="1400" dirty="0">
                <a:solidFill>
                  <a:schemeClr val="tx1"/>
                </a:solidFill>
              </a:rPr>
              <a:t>Fewer serial round trips dominate latency, so runtime drops even though DP-ES uses more tokens. Provider pricing and validation size can change the cost comparison.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7112203" y="304495"/>
            <a:ext cx="4317797" cy="202997"/>
          </a:xfrm>
          <a:prstGeom prst="rect">
            <a:avLst/>
          </a:prstGeom>
          <a:noFill/>
          <a:ln/>
        </p:spPr>
        <p:txBody>
          <a:bodyPr wrap="square" lIns="0" tIns="0" rIns="0" bIns="0" rtlCol="0" anchor="t"/>
          <a:lstStyle/>
          <a:p>
            <a:pPr algn="r" indent="0" marL="0">
              <a:buNone/>
            </a:pPr>
            <a:r>
              <a:rPr lang="en-US" sz="1100" spc="200" kern="0" dirty="0">
                <a:solidFill>
                  <a:schemeClr val="tx2"/>
                </a:solidFill>
              </a:rPr>
              <a:t>A · BACKUP</a:t>
            </a:r>
            <a:endParaRPr lang="en-US" sz="1100" dirty="0"/>
          </a:p>
        </p:txBody>
      </p:sp>
      <p:sp>
        <p:nvSpPr>
          <p:cNvPr id="3" name="Text 1"/>
          <p:cNvSpPr/>
          <p:nvPr>
            <p:ph idx="102" type="title" hasCustomPrompt="1"/>
          </p:nvPr>
        </p:nvSpPr>
        <p:spPr>
          <a:xfrm>
            <a:off x="761695" y="609905"/>
            <a:ext cx="10668305" cy="508406"/>
          </a:xfrm>
          <a:prstGeom prst="rect">
            <a:avLst/>
          </a:prstGeom>
          <a:noFill/>
          <a:ln/>
        </p:spPr>
        <p:txBody>
          <a:bodyPr wrap="square" lIns="0" tIns="0" rIns="0" bIns="0" rtlCol="0" anchor="t"/>
          <a:lstStyle/>
          <a:p>
            <a:pPr algn="l" indent="0" marL="0">
              <a:buNone/>
            </a:pPr>
            <a:r>
              <a:rPr lang="en-US" sz="2900" dirty="0">
                <a:solidFill>
                  <a:schemeClr val="tx1"/>
                </a:solidFill>
                <a:latin typeface="+mj-lt" pitchFamily="34" charset="0"/>
                <a:ea typeface="+mj-lt" pitchFamily="34" charset="-122"/>
                <a:cs typeface="+mj-lt" pitchFamily="34" charset="-120"/>
              </a:rPr>
              <a:t>Reproducing the privacy bound</a:t>
            </a:r>
            <a:endParaRPr lang="en-US" sz="2900" dirty="0"/>
          </a:p>
        </p:txBody>
      </p:sp>
      <p:sp>
        <p:nvSpPr>
          <p:cNvPr id="4" name="Text 2"/>
          <p:cNvSpPr txBox="1"/>
          <p:nvPr/>
        </p:nvSpPr>
        <p:spPr>
          <a:xfrm>
            <a:off x="10119665" y="6527902"/>
            <a:ext cx="1310335" cy="177394"/>
          </a:xfrm>
          <a:prstGeom prst="rect">
            <a:avLst/>
          </a:prstGeom>
          <a:noFill/>
          <a:ln/>
        </p:spPr>
        <p:txBody>
          <a:bodyPr wrap="square" lIns="0" tIns="0" rIns="0" bIns="0" rtlCol="0" anchor="t"/>
          <a:lstStyle/>
          <a:p>
            <a:pPr algn="r" indent="0" marL="0">
              <a:buNone/>
            </a:pPr>
            <a:r>
              <a:rPr lang="en-US" sz="1000" dirty="0">
                <a:solidFill>
                  <a:schemeClr val="tx2"/>
                </a:solidFill>
              </a:rPr>
              <a:t>Backup 3 / 3</a:t>
            </a:r>
            <a:endParaRPr lang="en-US" sz="1000" dirty="0"/>
          </a:p>
        </p:txBody>
      </p:sp>
      <p:sp>
        <p:nvSpPr>
          <p:cNvPr id="5" name="Shape 3"/>
          <p:cNvSpPr/>
          <p:nvPr/>
        </p:nvSpPr>
        <p:spPr>
          <a:xfrm>
            <a:off x="761695" y="1517904"/>
            <a:ext cx="5029200" cy="2514600"/>
          </a:xfrm>
          <a:prstGeom prst="rect">
            <a:avLst/>
          </a:prstGeom>
          <a:solidFill>
            <a:srgbClr val="EFE9DA"/>
          </a:solidFill>
          <a:ln w="12700">
            <a:solidFill>
              <a:srgbClr val="CFC8B8"/>
            </a:solidFill>
            <a:prstDash val="solid"/>
          </a:ln>
        </p:spPr>
      </p:sp>
      <p:sp>
        <p:nvSpPr>
          <p:cNvPr id="6" name="Text 4"/>
          <p:cNvSpPr txBox="1"/>
          <p:nvPr/>
        </p:nvSpPr>
        <p:spPr>
          <a:xfrm>
            <a:off x="1036015" y="1737360"/>
            <a:ext cx="4480560" cy="2103120"/>
          </a:xfrm>
          <a:prstGeom prst="rect">
            <a:avLst/>
          </a:prstGeom>
          <a:noFill/>
          <a:ln/>
        </p:spPr>
        <p:txBody>
          <a:bodyPr wrap="square" lIns="0" tIns="0" rIns="0" bIns="0" rtlCol="0" anchor="t"/>
          <a:lstStyle/>
          <a:p>
            <a:pPr indent="0" marL="0">
              <a:lnSpc>
                <a:spcPct val="135000"/>
              </a:lnSpc>
              <a:buNone/>
            </a:pPr>
            <a:r>
              <a:rPr lang="en-US" sz="1400" dirty="0">
                <a:solidFill>
                  <a:schemeClr val="tx2"/>
                </a:solidFill>
                <a:latin typeface="JetBrains Mono" pitchFamily="34" charset="0"/>
                <a:ea typeface="JetBrains Mono" pitchFamily="34" charset="-122"/>
                <a:cs typeface="JetBrains Mono" pitchFamily="34" charset="-120"/>
              </a:rPr>
              <a:t>$ python -m pip install -e .</a:t>
            </a:r>
            <a:endParaRPr lang="en-US" sz="1400" dirty="0"/>
          </a:p>
          <a:p>
            <a:pPr indent="0" marL="0">
              <a:lnSpc>
                <a:spcPct val="135000"/>
              </a:lnSpc>
              <a:buNone/>
            </a:pPr>
            <a:r>
              <a:rPr lang="en-US" sz="1400" dirty="0">
                <a:solidFill>
                  <a:schemeClr val="tx2"/>
                </a:solidFill>
                <a:latin typeface="JetBrains Mono" pitchFamily="34" charset="0"/>
                <a:ea typeface="JetBrains Mono" pitchFamily="34" charset="-122"/>
                <a:cs typeface="JetBrains Mono" pitchFamily="34" charset="-120"/>
              </a:rPr>
              <a:t>$ python scripts/compute_privacy.py</a:t>
            </a:r>
            <a:endParaRPr lang="en-US" sz="1400" dirty="0"/>
          </a:p>
          <a:p>
            <a:pPr indent="0" marL="0">
              <a:lnSpc>
                <a:spcPct val="135000"/>
              </a:lnSpc>
              <a:buNone/>
            </a:pPr>
            <a:r>
              <a:rPr lang="en-US" sz="1400" dirty="0">
                <a:solidFill>
                  <a:schemeClr val="tx1"/>
                </a:solidFill>
                <a:latin typeface="JetBrains Mono" pitchFamily="34" charset="0"/>
                <a:ea typeface="JetBrains Mono" pitchFamily="34" charset="-122"/>
                <a:cs typeface="JetBrains Mono" pitchFamily="34" charset="-120"/>
              </a:rPr>
              <a:t>epsilon=0.705168</a:t>
            </a:r>
            <a:endParaRPr lang="en-US" sz="1400" dirty="0"/>
          </a:p>
          <a:p>
            <a:pPr indent="0" marL="0">
              <a:lnSpc>
                <a:spcPct val="135000"/>
              </a:lnSpc>
              <a:buNone/>
            </a:pPr>
            <a:r>
              <a:rPr lang="en-US" sz="1400" dirty="0">
                <a:solidFill>
                  <a:schemeClr val="tx1"/>
                </a:solidFill>
                <a:latin typeface="JetBrains Mono" pitchFamily="34" charset="0"/>
                <a:ea typeface="JetBrains Mono" pitchFamily="34" charset="-122"/>
                <a:cs typeface="JetBrains Mono" pitchFamily="34" charset="-120"/>
              </a:rPr>
              <a:t>delta=1e-05</a:t>
            </a:r>
            <a:endParaRPr lang="en-US" sz="1400" dirty="0"/>
          </a:p>
          <a:p>
            <a:pPr indent="0" marL="0">
              <a:lnSpc>
                <a:spcPct val="135000"/>
              </a:lnSpc>
              <a:buNone/>
            </a:pPr>
            <a:r>
              <a:rPr lang="en-US" sz="1400" dirty="0">
                <a:solidFill>
                  <a:schemeClr val="tx1"/>
                </a:solidFill>
                <a:latin typeface="JetBrains Mono" pitchFamily="34" charset="0"/>
                <a:ea typeface="JetBrains Mono" pitchFamily="34" charset="-122"/>
                <a:cs typeface="JetBrains Mono" pitchFamily="34" charset="-120"/>
              </a:rPr>
              <a:t>releases=18</a:t>
            </a:r>
            <a:endParaRPr lang="en-US" sz="1400" dirty="0"/>
          </a:p>
          <a:p>
            <a:pPr indent="0" marL="0">
              <a:lnSpc>
                <a:spcPct val="135000"/>
              </a:lnSpc>
              <a:buNone/>
            </a:pPr>
            <a:r>
              <a:rPr lang="en-US" sz="1400" dirty="0">
                <a:solidFill>
                  <a:schemeClr val="tx1"/>
                </a:solidFill>
                <a:latin typeface="JetBrains Mono" pitchFamily="34" charset="0"/>
                <a:ea typeface="JetBrains Mono" pitchFamily="34" charset="-122"/>
                <a:cs typeface="JetBrains Mono" pitchFamily="34" charset="-120"/>
              </a:rPr>
              <a:t>sampling_rate=0.050000</a:t>
            </a:r>
            <a:endParaRPr lang="en-US" sz="1400" dirty="0"/>
          </a:p>
        </p:txBody>
      </p:sp>
      <p:sp>
        <p:nvSpPr>
          <p:cNvPr id="7" name="Text 5"/>
          <p:cNvSpPr txBox="1"/>
          <p:nvPr/>
        </p:nvSpPr>
        <p:spPr>
          <a:xfrm>
            <a:off x="761695" y="4251960"/>
            <a:ext cx="5029200" cy="1005840"/>
          </a:xfrm>
          <a:prstGeom prst="rect">
            <a:avLst/>
          </a:prstGeom>
          <a:noFill/>
          <a:ln/>
        </p:spPr>
        <p:txBody>
          <a:bodyPr wrap="square" lIns="0" tIns="0" rIns="0" bIns="0" rtlCol="0" anchor="t"/>
          <a:lstStyle/>
          <a:p>
            <a:pPr indent="0" marL="0">
              <a:lnSpc>
                <a:spcPct val="130000"/>
              </a:lnSpc>
              <a:buNone/>
            </a:pPr>
            <a:r>
              <a:rPr lang="en-US" sz="1400" dirty="0">
                <a:solidFill>
                  <a:schemeClr val="tx1"/>
                </a:solidFill>
              </a:rPr>
              <a:t>Defaults: </a:t>
            </a:r>
            <a:r>
              <a:rPr lang="en-US" sz="1400" i="1" dirty="0">
                <a:solidFill>
                  <a:schemeClr val="tx1"/>
                </a:solidFill>
              </a:rPr>
              <a:t>n</a:t>
            </a:r>
            <a:r>
              <a:rPr lang="en-US" sz="1400" dirty="0">
                <a:solidFill>
                  <a:schemeClr val="tx1"/>
                </a:solidFill>
              </a:rPr>
              <a:t> = 200, </a:t>
            </a:r>
            <a:r>
              <a:rPr lang="en-US" sz="1400" i="1" dirty="0">
                <a:solidFill>
                  <a:schemeClr val="tx1"/>
                </a:solidFill>
              </a:rPr>
              <a:t>b</a:t>
            </a:r>
            <a:r>
              <a:rPr lang="en-US" sz="1400" dirty="0">
                <a:solidFill>
                  <a:schemeClr val="tx1"/>
                </a:solidFill>
              </a:rPr>
              <a:t> = 10, </a:t>
            </a:r>
            <a:r>
              <a:rPr lang="en-US" sz="1400" i="1" dirty="0">
                <a:solidFill>
                  <a:schemeClr val="tx1"/>
                </a:solidFill>
              </a:rPr>
              <a:t>z</a:t>
            </a:r>
            <a:r>
              <a:rPr lang="en-US" sz="1400" dirty="0">
                <a:solidFill>
                  <a:schemeClr val="tx1"/>
                </a:solidFill>
              </a:rPr>
              <a:t> = 10, </a:t>
            </a:r>
            <a:r>
              <a:rPr lang="en-US" sz="1400" i="1" dirty="0">
                <a:solidFill>
                  <a:schemeClr val="tx1"/>
                </a:solidFill>
              </a:rPr>
              <a:t>K</a:t>
            </a:r>
            <a:r>
              <a:rPr lang="en-US" sz="1400" dirty="0">
                <a:solidFill>
                  <a:schemeClr val="tx1"/>
                </a:solidFill>
              </a:rPr>
              <a:t> = 6, </a:t>
            </a:r>
            <a:r>
              <a:rPr lang="en-US" sz="1400" i="1" dirty="0">
                <a:solidFill>
                  <a:schemeClr val="tx1"/>
                </a:solidFill>
              </a:rPr>
              <a:t>T</a:t>
            </a:r>
            <a:r>
              <a:rPr lang="en-US" sz="1400" dirty="0">
                <a:solidFill>
                  <a:schemeClr val="tx1"/>
                </a:solidFill>
              </a:rPr>
              <a:t> = 3, </a:t>
            </a:r>
            <a:r>
              <a:rPr lang="en-US" sz="1400" dirty="0">
                <a:solidFill>
                  <a:schemeClr val="tx1"/>
                </a:solidFill>
                <a:latin typeface="Cambria" pitchFamily="34" charset="0"/>
                <a:ea typeface="Cambria" pitchFamily="34" charset="-122"/>
                <a:cs typeface="Cambria" pitchFamily="34" charset="-120"/>
              </a:rPr>
              <a:t>δ</a:t>
            </a:r>
            <a:r>
              <a:rPr lang="en-US" sz="1400" dirty="0">
                <a:solidFill>
                  <a:schemeClr val="tx1"/>
                </a:solidFill>
              </a:rPr>
              <a:t> = 10</a:t>
            </a:r>
            <a:r>
              <a:rPr lang="en-US" sz="1400" baseline="30000" dirty="0">
                <a:solidFill>
                  <a:schemeClr val="tx1"/>
                </a:solidFill>
                <a:latin typeface="Cambria" pitchFamily="34" charset="0"/>
                <a:ea typeface="Cambria" pitchFamily="34" charset="-122"/>
                <a:cs typeface="Cambria" pitchFamily="34" charset="-120"/>
              </a:rPr>
              <a:t>−</a:t>
            </a:r>
            <a:r>
              <a:rPr lang="en-US" sz="1400" baseline="30000" dirty="0">
                <a:solidFill>
                  <a:schemeClr val="tx1"/>
                </a:solidFill>
              </a:rPr>
              <a:t>5</a:t>
            </a:r>
            <a:r>
              <a:rPr lang="en-US" sz="1400" dirty="0">
                <a:solidFill>
                  <a:schemeClr val="tx1"/>
                </a:solidFill>
              </a:rPr>
              <a:t>. Recompute whenever any of them changes: a larger </a:t>
            </a:r>
            <a:r>
              <a:rPr lang="en-US" sz="1400" i="1" dirty="0">
                <a:solidFill>
                  <a:schemeClr val="tx1"/>
                </a:solidFill>
              </a:rPr>
              <a:t>KT</a:t>
            </a:r>
            <a:r>
              <a:rPr lang="en-US" sz="1400" dirty="0">
                <a:solidFill>
                  <a:schemeClr val="tx1"/>
                </a:solidFill>
              </a:rPr>
              <a:t> raises both cost and composed privacy loss.</a:t>
            </a:r>
            <a:endParaRPr lang="en-US" sz="1400" dirty="0"/>
          </a:p>
        </p:txBody>
      </p:sp>
      <p:sp>
        <p:nvSpPr>
          <p:cNvPr id="8" name="Shape 6"/>
          <p:cNvSpPr/>
          <p:nvPr/>
        </p:nvSpPr>
        <p:spPr>
          <a:xfrm>
            <a:off x="6126480" y="1517904"/>
            <a:ext cx="12802" cy="4572000"/>
          </a:xfrm>
          <a:prstGeom prst="rect">
            <a:avLst/>
          </a:prstGeom>
          <a:solidFill>
            <a:schemeClr val="accent4"/>
          </a:solidFill>
          <a:ln/>
        </p:spPr>
      </p:sp>
      <p:sp>
        <p:nvSpPr>
          <p:cNvPr id="9" name="Text 7"/>
          <p:cNvSpPr txBox="1"/>
          <p:nvPr/>
        </p:nvSpPr>
        <p:spPr>
          <a:xfrm>
            <a:off x="6446520" y="1517904"/>
            <a:ext cx="4983480" cy="228600"/>
          </a:xfrm>
          <a:prstGeom prst="rect">
            <a:avLst/>
          </a:prstGeom>
          <a:noFill/>
          <a:ln/>
        </p:spPr>
        <p:txBody>
          <a:bodyPr wrap="square" lIns="0" tIns="0" rIns="0" bIns="0" rtlCol="0" anchor="t"/>
          <a:lstStyle/>
          <a:p>
            <a:pPr indent="0" marL="0">
              <a:buNone/>
            </a:pPr>
            <a:r>
              <a:rPr lang="en-US" sz="1100" spc="200" kern="0" dirty="0">
                <a:solidFill>
                  <a:schemeClr val="accent1"/>
                </a:solidFill>
              </a:rPr>
              <a:t>PRIVACY CONTRACT OF THE RELEASED CODE</a:t>
            </a:r>
            <a:endParaRPr lang="en-US" sz="1100" dirty="0"/>
          </a:p>
        </p:txBody>
      </p:sp>
      <p:sp>
        <p:nvSpPr>
          <p:cNvPr id="10" name="Text 8"/>
          <p:cNvSpPr txBox="1"/>
          <p:nvPr/>
        </p:nvSpPr>
        <p:spPr>
          <a:xfrm>
            <a:off x="6446520" y="1874520"/>
            <a:ext cx="548640" cy="320040"/>
          </a:xfrm>
          <a:prstGeom prst="rect">
            <a:avLst/>
          </a:prstGeom>
          <a:noFill/>
          <a:ln/>
        </p:spPr>
        <p:txBody>
          <a:bodyPr wrap="square" lIns="0" tIns="0" rIns="0" bIns="0" rtlCol="0" anchor="t"/>
          <a:lstStyle/>
          <a:p>
            <a:pPr indent="0" marL="0">
              <a:buNone/>
            </a:pPr>
            <a:r>
              <a:rPr lang="en-US" sz="2000" dirty="0">
                <a:solidFill>
                  <a:schemeClr val="accent1"/>
                </a:solidFill>
                <a:latin typeface="+mj-lt" pitchFamily="34" charset="0"/>
                <a:ea typeface="+mj-lt" pitchFamily="34" charset="-122"/>
                <a:cs typeface="+mj-lt" pitchFamily="34" charset="-120"/>
              </a:rPr>
              <a:t>01</a:t>
            </a:r>
            <a:endParaRPr lang="en-US" sz="2000" dirty="0"/>
          </a:p>
        </p:txBody>
      </p:sp>
      <p:sp>
        <p:nvSpPr>
          <p:cNvPr id="11" name="Text 9"/>
          <p:cNvSpPr txBox="1"/>
          <p:nvPr/>
        </p:nvSpPr>
        <p:spPr>
          <a:xfrm>
            <a:off x="7040880" y="1901952"/>
            <a:ext cx="4389120" cy="65836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Per-record utilities are clipped to a public interval.</a:t>
            </a:r>
            <a:endParaRPr lang="en-US" sz="1350" dirty="0"/>
          </a:p>
        </p:txBody>
      </p:sp>
      <p:sp>
        <p:nvSpPr>
          <p:cNvPr id="12" name="Shape 10"/>
          <p:cNvSpPr/>
          <p:nvPr/>
        </p:nvSpPr>
        <p:spPr>
          <a:xfrm>
            <a:off x="6446520" y="2569464"/>
            <a:ext cx="4983480" cy="12802"/>
          </a:xfrm>
          <a:prstGeom prst="rect">
            <a:avLst/>
          </a:prstGeom>
          <a:solidFill>
            <a:schemeClr val="accent4"/>
          </a:solidFill>
          <a:ln/>
        </p:spPr>
      </p:sp>
      <p:sp>
        <p:nvSpPr>
          <p:cNvPr id="13" name="Text 11"/>
          <p:cNvSpPr txBox="1"/>
          <p:nvPr/>
        </p:nvSpPr>
        <p:spPr>
          <a:xfrm>
            <a:off x="6446520" y="2697480"/>
            <a:ext cx="548640" cy="320040"/>
          </a:xfrm>
          <a:prstGeom prst="rect">
            <a:avLst/>
          </a:prstGeom>
          <a:noFill/>
          <a:ln/>
        </p:spPr>
        <p:txBody>
          <a:bodyPr wrap="square" lIns="0" tIns="0" rIns="0" bIns="0" rtlCol="0" anchor="t"/>
          <a:lstStyle/>
          <a:p>
            <a:pPr indent="0" marL="0">
              <a:buNone/>
            </a:pPr>
            <a:r>
              <a:rPr lang="en-US" sz="2000" dirty="0">
                <a:solidFill>
                  <a:schemeClr val="accent1"/>
                </a:solidFill>
                <a:latin typeface="+mj-lt" pitchFamily="34" charset="0"/>
                <a:ea typeface="+mj-lt" pitchFamily="34" charset="-122"/>
                <a:cs typeface="+mj-lt" pitchFamily="34" charset="-120"/>
              </a:rPr>
              <a:t>02</a:t>
            </a:r>
            <a:endParaRPr lang="en-US" sz="2000" dirty="0"/>
          </a:p>
        </p:txBody>
      </p:sp>
      <p:sp>
        <p:nvSpPr>
          <p:cNvPr id="14" name="Text 12"/>
          <p:cNvSpPr txBox="1"/>
          <p:nvPr/>
        </p:nvSpPr>
        <p:spPr>
          <a:xfrm>
            <a:off x="7040880" y="2724912"/>
            <a:ext cx="4389120" cy="65836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Every data-dependent evaluation uses the sampled-Gaussian scorer; raw utilities are never released.</a:t>
            </a:r>
            <a:endParaRPr lang="en-US" sz="1350" dirty="0"/>
          </a:p>
        </p:txBody>
      </p:sp>
      <p:sp>
        <p:nvSpPr>
          <p:cNvPr id="15" name="Shape 13"/>
          <p:cNvSpPr/>
          <p:nvPr/>
        </p:nvSpPr>
        <p:spPr>
          <a:xfrm>
            <a:off x="6446520" y="3392424"/>
            <a:ext cx="4983480" cy="12802"/>
          </a:xfrm>
          <a:prstGeom prst="rect">
            <a:avLst/>
          </a:prstGeom>
          <a:solidFill>
            <a:schemeClr val="accent4"/>
          </a:solidFill>
          <a:ln/>
        </p:spPr>
      </p:sp>
      <p:sp>
        <p:nvSpPr>
          <p:cNvPr id="16" name="Text 14"/>
          <p:cNvSpPr txBox="1"/>
          <p:nvPr/>
        </p:nvSpPr>
        <p:spPr>
          <a:xfrm>
            <a:off x="6446520" y="3520440"/>
            <a:ext cx="548640" cy="320040"/>
          </a:xfrm>
          <a:prstGeom prst="rect">
            <a:avLst/>
          </a:prstGeom>
          <a:noFill/>
          <a:ln/>
        </p:spPr>
        <p:txBody>
          <a:bodyPr wrap="square" lIns="0" tIns="0" rIns="0" bIns="0" rtlCol="0" anchor="t"/>
          <a:lstStyle/>
          <a:p>
            <a:pPr indent="0" marL="0">
              <a:buNone/>
            </a:pPr>
            <a:r>
              <a:rPr lang="en-US" sz="2000" dirty="0">
                <a:solidFill>
                  <a:schemeClr val="accent1"/>
                </a:solidFill>
                <a:latin typeface="+mj-lt" pitchFamily="34" charset="0"/>
                <a:ea typeface="+mj-lt" pitchFamily="34" charset="-122"/>
                <a:cs typeface="+mj-lt" pitchFamily="34" charset="-120"/>
              </a:rPr>
              <a:t>03</a:t>
            </a:r>
            <a:endParaRPr lang="en-US" sz="2000" dirty="0"/>
          </a:p>
        </p:txBody>
      </p:sp>
      <p:sp>
        <p:nvSpPr>
          <p:cNvPr id="17" name="Text 15"/>
          <p:cNvSpPr txBox="1"/>
          <p:nvPr/>
        </p:nvSpPr>
        <p:spPr>
          <a:xfrm>
            <a:off x="7040880" y="3547872"/>
            <a:ext cx="4389120" cy="65836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The number of releases is fixed in advance.</a:t>
            </a:r>
            <a:endParaRPr lang="en-US" sz="1350" dirty="0"/>
          </a:p>
        </p:txBody>
      </p:sp>
      <p:sp>
        <p:nvSpPr>
          <p:cNvPr id="18" name="Shape 16"/>
          <p:cNvSpPr/>
          <p:nvPr/>
        </p:nvSpPr>
        <p:spPr>
          <a:xfrm>
            <a:off x="6446520" y="4215384"/>
            <a:ext cx="4983480" cy="12802"/>
          </a:xfrm>
          <a:prstGeom prst="rect">
            <a:avLst/>
          </a:prstGeom>
          <a:solidFill>
            <a:schemeClr val="accent4"/>
          </a:solidFill>
          <a:ln/>
        </p:spPr>
      </p:sp>
      <p:sp>
        <p:nvSpPr>
          <p:cNvPr id="19" name="Text 17"/>
          <p:cNvSpPr txBox="1"/>
          <p:nvPr/>
        </p:nvSpPr>
        <p:spPr>
          <a:xfrm>
            <a:off x="6446520" y="4343400"/>
            <a:ext cx="548640" cy="320040"/>
          </a:xfrm>
          <a:prstGeom prst="rect">
            <a:avLst/>
          </a:prstGeom>
          <a:noFill/>
          <a:ln/>
        </p:spPr>
        <p:txBody>
          <a:bodyPr wrap="square" lIns="0" tIns="0" rIns="0" bIns="0" rtlCol="0" anchor="t"/>
          <a:lstStyle/>
          <a:p>
            <a:pPr indent="0" marL="0">
              <a:buNone/>
            </a:pPr>
            <a:r>
              <a:rPr lang="en-US" sz="2000" dirty="0">
                <a:solidFill>
                  <a:schemeClr val="accent1"/>
                </a:solidFill>
                <a:latin typeface="+mj-lt" pitchFamily="34" charset="0"/>
                <a:ea typeface="+mj-lt" pitchFamily="34" charset="-122"/>
                <a:cs typeface="+mj-lt" pitchFamily="34" charset="-120"/>
              </a:rPr>
              <a:t>04</a:t>
            </a:r>
            <a:endParaRPr lang="en-US" sz="2000" dirty="0"/>
          </a:p>
        </p:txBody>
      </p:sp>
      <p:sp>
        <p:nvSpPr>
          <p:cNvPr id="20" name="Text 18"/>
          <p:cNvSpPr txBox="1"/>
          <p:nvPr/>
        </p:nvSpPr>
        <p:spPr>
          <a:xfrm>
            <a:off x="7040880" y="4370832"/>
            <a:ext cx="4389120" cy="65836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Mutation receives no private records or record-derived feedback.</a:t>
            </a:r>
            <a:endParaRPr lang="en-US" sz="1350" dirty="0"/>
          </a:p>
        </p:txBody>
      </p:sp>
      <p:sp>
        <p:nvSpPr>
          <p:cNvPr id="21" name="Shape 19"/>
          <p:cNvSpPr/>
          <p:nvPr/>
        </p:nvSpPr>
        <p:spPr>
          <a:xfrm>
            <a:off x="6446520" y="5038344"/>
            <a:ext cx="4983480" cy="12802"/>
          </a:xfrm>
          <a:prstGeom prst="rect">
            <a:avLst/>
          </a:prstGeom>
          <a:solidFill>
            <a:schemeClr val="accent4"/>
          </a:solidFill>
          <a:ln/>
        </p:spPr>
      </p:sp>
      <p:sp>
        <p:nvSpPr>
          <p:cNvPr id="22" name="Text 20"/>
          <p:cNvSpPr txBox="1"/>
          <p:nvPr/>
        </p:nvSpPr>
        <p:spPr>
          <a:xfrm>
            <a:off x="6446520" y="5166360"/>
            <a:ext cx="548640" cy="320040"/>
          </a:xfrm>
          <a:prstGeom prst="rect">
            <a:avLst/>
          </a:prstGeom>
          <a:noFill/>
          <a:ln/>
        </p:spPr>
        <p:txBody>
          <a:bodyPr wrap="square" lIns="0" tIns="0" rIns="0" bIns="0" rtlCol="0" anchor="t"/>
          <a:lstStyle/>
          <a:p>
            <a:pPr indent="0" marL="0">
              <a:buNone/>
            </a:pPr>
            <a:r>
              <a:rPr lang="en-US" sz="2000" dirty="0">
                <a:solidFill>
                  <a:schemeClr val="accent1"/>
                </a:solidFill>
                <a:latin typeface="+mj-lt" pitchFamily="34" charset="0"/>
                <a:ea typeface="+mj-lt" pitchFamily="34" charset="-122"/>
                <a:cs typeface="+mj-lt" pitchFamily="34" charset="-120"/>
              </a:rPr>
              <a:t>05</a:t>
            </a:r>
            <a:endParaRPr lang="en-US" sz="2000" dirty="0"/>
          </a:p>
        </p:txBody>
      </p:sp>
      <p:sp>
        <p:nvSpPr>
          <p:cNvPr id="23" name="Text 21"/>
          <p:cNvSpPr txBox="1"/>
          <p:nvPr/>
        </p:nvSpPr>
        <p:spPr>
          <a:xfrm>
            <a:off x="7040880" y="5193792"/>
            <a:ext cx="4389120" cy="658368"/>
          </a:xfrm>
          <a:prstGeom prst="rect">
            <a:avLst/>
          </a:prstGeom>
          <a:noFill/>
          <a:ln/>
        </p:spPr>
        <p:txBody>
          <a:bodyPr wrap="square" lIns="0" tIns="0" rIns="0" bIns="0" rtlCol="0" anchor="t"/>
          <a:lstStyle/>
          <a:p>
            <a:pPr indent="0" marL="0">
              <a:lnSpc>
                <a:spcPct val="120000"/>
              </a:lnSpc>
              <a:buNone/>
            </a:pPr>
            <a:r>
              <a:rPr lang="en-US" sz="1350" dirty="0">
                <a:solidFill>
                  <a:schemeClr val="tx1"/>
                </a:solidFill>
              </a:rPr>
              <a:t>Selection and all later computation use only privatized outputs.</a:t>
            </a:r>
            <a:endParaRPr lang="en-US" sz="1350" dirty="0"/>
          </a:p>
        </p:txBody>
      </p:sp>
    </p:spTree>
  </p:cSld>
  <p:clrMapOvr>
    <a:masterClrMapping/>
  </p:clrMapOvr>
</p:sld>
</file>

<file path=ppt/theme/theme1.xml><?xml version="1.0" encoding="utf-8"?>
<a:theme xmlns:a="http://schemas.openxmlformats.org/drawingml/2006/main" name="DP-ES Paper">
  <a:themeElements>
    <a:clrScheme name="DP-ES Paper">
      <a:dk1>
        <a:srgbClr val="23201B"/>
      </a:dk1>
      <a:lt1>
        <a:srgbClr val="F7F3E8"/>
      </a:lt1>
      <a:dk2>
        <a:srgbClr val="6E675C"/>
      </a:dk2>
      <a:lt2>
        <a:srgbClr val="EFE9DA"/>
      </a:lt2>
      <a:accent1>
        <a:srgbClr val="8C2F39"/>
      </a:accent1>
      <a:accent2>
        <a:srgbClr val="6E222B"/>
      </a:accent2>
      <a:accent3>
        <a:srgbClr val="9B9489"/>
      </a:accent3>
      <a:accent4>
        <a:srgbClr val="CFC8B8"/>
      </a:accent4>
      <a:accent5>
        <a:srgbClr val="C9C1AF"/>
      </a:accent5>
      <a:accent6>
        <a:srgbClr val="4F4A42"/>
      </a:accent6>
      <a:hlink>
        <a:srgbClr val="8C2F39"/>
      </a:hlink>
      <a:folHlink>
        <a:srgbClr val="6E222B"/>
      </a:folHlink>
    </a:clrScheme>
    <a:fontScheme name="DP-ES Paper">
      <a:majorFont>
        <a:latin typeface="Unn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attrocen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DP-ES: Differentially Private Evolution Strategies for Prompt Optimization</dc:title>
  <dc:subject>EMNLP 2026 main conference talk</dc:subject>
  <dc:creator>Ziniu Liu, Aiping Li, Yue Han, Han Yu, Junjian Zhang, Dong Zhu, Changjian Li, Shiqiang Zhang</dc:creator>
  <cp:lastModifiedBy>Ziniu Liu, Aiping Li, Yue Han, Han Yu, Junjian Zhang, Dong Zhu, Changjian Li, Shiqiang Zhang</cp:lastModifiedBy>
  <cp:revision>1</cp:revision>
  <dcterms:created xsi:type="dcterms:W3CDTF">2026-10-05T13:15:00Z</dcterms:created>
  <dcterms:modified xsi:type="dcterms:W3CDTF">2026-10-05T13:15:00Z</dcterms:modified>
</cp:coreProperties>
</file>