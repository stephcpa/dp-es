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5d2eabb-d6ba-ecde-de41-b0727d5ef791}">
          <p14:sldIdLst>
            <p14:sldId id="256"/>
            <p14:sldId id="257"/>
          </p14:sldIdLst>
        </p14:section>
        <p14:section name="Motivation" id="{93cbbd28-ddeb-9b92-b913-9c37782a7a47}">
          <p14:sldIdLst>
            <p14:sldId id="258"/>
            <p14:sldId id="259"/>
          </p14:sldIdLst>
        </p14:section>
        <p14:section name="Diagnosis" id="{cdef6996-d551-8a0e-58cd-da995c6410b1}">
          <p14:sldIdLst>
            <p14:sldId id="260"/>
            <p14:sldId id="261"/>
            <p14:sldId id="262"/>
          </p14:sldIdLst>
        </p14:section>
        <p14:section name="Method" id="{3fb5203a-aefc-5b8f-b9c8-022f6a6e73b7}">
          <p14:sldIdLst>
            <p14:sldId id="263"/>
            <p14:sldId id="264"/>
            <p14:sldId id="265"/>
          </p14:sldIdLst>
        </p14:section>
        <p14:section name="Results" id="{33eea13c-6be5-5dab-634a-5bdcddd79a06}">
          <p14:sldIdLst>
            <p14:sldId id="266"/>
            <p14:sldId id="267"/>
            <p14:sldId id="268"/>
            <p14:sldId id="269"/>
            <p14:sldId id="270"/>
            <p14:sldId id="271"/>
          </p14:sldIdLst>
        </p14:section>
        <p14:section name="Scope and conclusion" id="{0a69dc3e-dc10-61b9-8783-c7ec78855b7c}">
          <p14:sldIdLst>
            <p14:sldId id="272"/>
            <p14:sldId id="273"/>
          </p14:sldIdLst>
        </p14:section>
        <p14:section name="Backup" id="{034d251e-9e74-3637-b687-656a8ce49503}">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Non-DP (TextGrad)</c:v>
                </c:pt>
              </c:strCache>
            </c:strRef>
          </c:tx>
          <c:spPr>
            <a:solidFill>
              <a:srgbClr val="6E747C"/>
            </a:solidFill>
            <a:effectLst/>
          </c:spPr>
          <c:invertIfNegative val="0"/>
          <c:dLbls>
            <c:numFmt formatCode="0.0" sourceLinked="0"/>
            <c:txPr>
              <a:bodyPr/>
              <a:lstStyle/>
              <a:p>
                <a:pPr>
                  <a:defRPr b="0" i="0" strike="noStrike" sz="1100" u="none">
                    <a:solidFill>
                      <a:srgbClr val="333333"/>
                    </a:solidFill>
                    <a:latin typeface="+mn-lt"/>
                  </a:defRPr>
                </a:pPr>
              </a:p>
            </c:txPr>
            <c:showLegendKey val="0"/>
            <c:showVal val="1"/>
            <c:showCatName val="0"/>
            <c:showSerName val="0"/>
            <c:showPercent val="0"/>
            <c:showBubbleSize val="0"/>
            <c:showLeaderLines val="0"/>
          </c:dLbls>
          <c:cat>
            <c:multiLvlStrRef>
              <c:f>Sheet1!$A$2:$A$5</c:f>
              <c:multiLvlStrCache>
                <c:ptCount val="4"/>
                <c:lvl>
                  <c:pt idx="0">
                    <c:v>GSM8K</c:v>
                  </c:pt>
                  <c:pt idx="1">
                    <c:v>MedQA</c:v>
                  </c:pt>
                  <c:pt idx="2">
                    <c:v>BANKING77</c:v>
                  </c:pt>
                  <c:pt idx="3">
                    <c:v>Alpaca†</c:v>
                  </c:pt>
                </c:lvl>
              </c:multiLvlStrCache>
            </c:multiLvlStrRef>
          </c:cat>
          <c:val>
            <c:numRef>
              <c:f>Sheet1!$B$2:$B$5</c:f>
              <c:numCache>
                <c:formatCode>General</c:formatCode>
                <c:ptCount val="4"/>
                <c:pt idx="0">
                  <c:v>95</c:v>
                </c:pt>
                <c:pt idx="1">
                  <c:v>100</c:v>
                </c:pt>
                <c:pt idx="2">
                  <c:v>75</c:v>
                </c:pt>
                <c:pt idx="3">
                  <c:v>91.7</c:v>
                </c:pt>
              </c:numCache>
            </c:numRef>
          </c:val>
        </c:ser>
        <c:ser>
          <c:idx val="1"/>
          <c:order val="1"/>
          <c:tx>
            <c:strRef>
              <c:f>Sheet1!$C$1</c:f>
              <c:strCache>
                <c:ptCount val="1"/>
                <c:pt idx="0">
                  <c:v>DP-OPT (ε = 1)</c:v>
                </c:pt>
              </c:strCache>
            </c:strRef>
          </c:tx>
          <c:spPr>
            <a:solidFill>
              <a:srgbClr val="A6192E"/>
            </a:solidFill>
            <a:effectLst/>
          </c:spPr>
          <c:invertIfNegative val="0"/>
          <c:dLbls>
            <c:numFmt formatCode="0.0" sourceLinked="0"/>
            <c:txPr>
              <a:bodyPr/>
              <a:lstStyle/>
              <a:p>
                <a:pPr>
                  <a:defRPr b="0" i="0" strike="noStrike" sz="1100" u="none">
                    <a:solidFill>
                      <a:srgbClr val="333333"/>
                    </a:solidFill>
                    <a:latin typeface="+mn-lt"/>
                  </a:defRPr>
                </a:pPr>
              </a:p>
            </c:txPr>
            <c:showLegendKey val="0"/>
            <c:showVal val="1"/>
            <c:showCatName val="0"/>
            <c:showSerName val="0"/>
            <c:showPercent val="0"/>
            <c:showBubbleSize val="0"/>
            <c:showLeaderLines val="0"/>
          </c:dLbls>
          <c:cat>
            <c:multiLvlStrRef>
              <c:f>Sheet1!$A$2:$A$5</c:f>
              <c:multiLvlStrCache>
                <c:ptCount val="4"/>
                <c:lvl>
                  <c:pt idx="0">
                    <c:v>GSM8K</c:v>
                  </c:pt>
                  <c:pt idx="1">
                    <c:v>MedQA</c:v>
                  </c:pt>
                  <c:pt idx="2">
                    <c:v>BANKING77</c:v>
                  </c:pt>
                  <c:pt idx="3">
                    <c:v>Alpaca†</c:v>
                  </c:pt>
                </c:lvl>
              </c:multiLvlStrCache>
            </c:multiLvlStrRef>
          </c:cat>
          <c:val>
            <c:numRef>
              <c:f>Sheet1!$C$2:$C$5</c:f>
              <c:numCache>
                <c:formatCode>General</c:formatCode>
                <c:ptCount val="4"/>
                <c:pt idx="0">
                  <c:v>49.5</c:v>
                </c:pt>
                <c:pt idx="1">
                  <c:v>93.5</c:v>
                </c:pt>
                <c:pt idx="2">
                  <c:v>75.3</c:v>
                </c:pt>
                <c:pt idx="3">
                  <c:v>87.1</c:v>
                </c:pt>
              </c:numCache>
            </c:numRef>
          </c:val>
        </c:ser>
        <c:ser>
          <c:idx val="2"/>
          <c:order val="2"/>
          <c:tx>
            <c:strRef>
              <c:f>Sheet1!$D$1</c:f>
              <c:strCache>
                <c:ptCount val="1"/>
                <c:pt idx="0">
                  <c:v>DP-ES (ε ≤ 0.71)</c:v>
                </c:pt>
              </c:strCache>
            </c:strRef>
          </c:tx>
          <c:spPr>
            <a:solidFill>
              <a:srgbClr val="2E6B4F"/>
            </a:solidFill>
            <a:effectLst/>
          </c:spPr>
          <c:invertIfNegative val="0"/>
          <c:dLbls>
            <c:numFmt formatCode="0.0" sourceLinked="0"/>
            <c:txPr>
              <a:bodyPr/>
              <a:lstStyle/>
              <a:p>
                <a:pPr>
                  <a:defRPr b="0" i="0" strike="noStrike" sz="1100" u="none">
                    <a:solidFill>
                      <a:srgbClr val="333333"/>
                    </a:solidFill>
                    <a:latin typeface="+mn-lt"/>
                  </a:defRPr>
                </a:pPr>
              </a:p>
            </c:txPr>
            <c:showLegendKey val="0"/>
            <c:showVal val="1"/>
            <c:showCatName val="0"/>
            <c:showSerName val="0"/>
            <c:showPercent val="0"/>
            <c:showBubbleSize val="0"/>
            <c:showLeaderLines val="0"/>
          </c:dLbls>
          <c:cat>
            <c:multiLvlStrRef>
              <c:f>Sheet1!$A$2:$A$5</c:f>
              <c:multiLvlStrCache>
                <c:ptCount val="4"/>
                <c:lvl>
                  <c:pt idx="0">
                    <c:v>GSM8K</c:v>
                  </c:pt>
                  <c:pt idx="1">
                    <c:v>MedQA</c:v>
                  </c:pt>
                  <c:pt idx="2">
                    <c:v>BANKING77</c:v>
                  </c:pt>
                  <c:pt idx="3">
                    <c:v>Alpaca†</c:v>
                  </c:pt>
                </c:lvl>
              </c:multiLvlStrCache>
            </c:multiLvlStrRef>
          </c:cat>
          <c:val>
            <c:numRef>
              <c:f>Sheet1!$D$2:$D$5</c:f>
              <c:numCache>
                <c:formatCode>General</c:formatCode>
                <c:ptCount val="4"/>
                <c:pt idx="0">
                  <c:v>88.1</c:v>
                </c:pt>
                <c:pt idx="1">
                  <c:v>99.7</c:v>
                </c:pt>
                <c:pt idx="2">
                  <c:v>73.5</c:v>
                </c:pt>
                <c:pt idx="3">
                  <c:v>86.8</c:v>
                </c:pt>
              </c:numCache>
            </c:numRef>
          </c:val>
        </c:ser>
        <c:dLbls>
          <c:numFmt formatCode="0.0" sourceLinked="0"/>
          <c:txPr>
            <a:bodyPr/>
            <a:lstStyle/>
            <a:p>
              <a:pPr>
                <a:defRPr b="0" i="0" strike="noStrike" sz="1100" u="none">
                  <a:solidFill>
                    <a:srgbClr val="3333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9DEDB"/>
              </a:solidFill>
              <a:prstDash val="solid"/>
              <a:round/>
            </a:ln>
          </c:spPr>
        </c:majorGridlines>
        <c:title>
          <c:tx>
            <c:rich>
              <a:bodyPr/>
              <a:lstStyle/>
              <a:p>
                <a:pPr>
                  <a:defRPr sz="1200" b="0" i="0" u="none" strike="noStrike">
                    <a:solidFill>
                      <a:srgbClr val="444444"/>
                    </a:solidFill>
                    <a:latin typeface="+mn-lt"/>
                  </a:defRPr>
                </a:pPr>
                <a:r>
                  <a:rPr sz="1200" b="0" i="0" u="none" strike="noStrike">
                    <a:solidFill>
                      <a:srgbClr val="444444"/>
                    </a:solidFill>
                    <a:latin typeface="+mn-lt"/>
                  </a:rPr>
                  <a:t>Accuracy / score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mn-lt"/>
              </a:defRPr>
            </a:pPr>
            <a:endParaRPr lang="en-US"/>
          </a:p>
        </c:txPr>
        <c:crossAx val="2094734554"/>
        <c:crosses val="autoZero"/>
        <c:crossBetween val="between"/>
        <c:majorUnit val="20"/>
      </c:valAx>
      <c:spPr>
        <a:noFill/>
        <a:ln>
          <a:noFill/>
        </a:ln>
        <a:effectLst/>
      </c:spPr>
    </c:plotArea>
    <c:legend>
      <c:legendPos val="t"/>
      <c:overlay val="0"/>
      <c:txPr>
        <a:bodyPr/>
        <a:lstStyle/>
        <a:p>
          <a:pPr>
            <a:defRPr sz="13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DP-ES</c:v>
                </c:pt>
              </c:strCache>
            </c:strRef>
          </c:tx>
          <c:spPr>
            <a:solidFill>
              <a:srgbClr val="2E6B4F"/>
            </a:solidFill>
            <a:effectLst/>
          </c:spPr>
          <c:invertIfNegative val="0"/>
          <c:dLbls>
            <c:numFmt formatCode="0.0#" sourceLinked="0"/>
            <c:txPr>
              <a:bodyPr/>
              <a:lstStyle/>
              <a:p>
                <a:pPr>
                  <a:defRPr b="0" i="0" strike="noStrike" sz="1100" u="none">
                    <a:solidFill>
                      <a:srgbClr val="333333"/>
                    </a:solidFill>
                    <a:latin typeface="+mn-lt"/>
                  </a:defRPr>
                </a:pPr>
              </a:p>
            </c:txPr>
            <c:showLegendKey val="0"/>
            <c:showVal val="1"/>
            <c:showCatName val="0"/>
            <c:showSerName val="0"/>
            <c:showPercent val="0"/>
            <c:showBubbleSize val="0"/>
            <c:showLeaderLines val="0"/>
          </c:dLbls>
          <c:cat>
            <c:multiLvlStrRef>
              <c:f>Sheet1!$A$2:$A$5</c:f>
              <c:multiLvlStrCache>
                <c:ptCount val="4"/>
                <c:lvl>
                  <c:pt idx="0">
                    <c:v>MedQA (Qwen2.5-7B)</c:v>
                  </c:pt>
                  <c:pt idx="1">
                    <c:v>GSM8K (Qwen2.5-7B)</c:v>
                  </c:pt>
                  <c:pt idx="2">
                    <c:v>MedQA (API)</c:v>
                  </c:pt>
                  <c:pt idx="3">
                    <c:v>GSM8K (API)</c:v>
                  </c:pt>
                </c:lvl>
              </c:multiLvlStrCache>
            </c:multiLvlStrRef>
          </c:cat>
          <c:val>
            <c:numRef>
              <c:f>Sheet1!$B$2:$B$5</c:f>
              <c:numCache>
                <c:formatCode>General</c:formatCode>
                <c:ptCount val="4"/>
                <c:pt idx="0">
                  <c:v>1.87</c:v>
                </c:pt>
                <c:pt idx="1">
                  <c:v>7.37</c:v>
                </c:pt>
                <c:pt idx="2">
                  <c:v>7</c:v>
                </c:pt>
                <c:pt idx="3">
                  <c:v>17.9</c:v>
                </c:pt>
              </c:numCache>
            </c:numRef>
          </c:val>
        </c:ser>
        <c:ser>
          <c:idx val="1"/>
          <c:order val="1"/>
          <c:tx>
            <c:strRef>
              <c:f>Sheet1!$C$1</c:f>
              <c:strCache>
                <c:ptCount val="1"/>
                <c:pt idx="0">
                  <c:v>DP-OPT</c:v>
                </c:pt>
              </c:strCache>
            </c:strRef>
          </c:tx>
          <c:spPr>
            <a:solidFill>
              <a:srgbClr val="A6192E"/>
            </a:solidFill>
            <a:effectLst/>
          </c:spPr>
          <c:invertIfNegative val="0"/>
          <c:dLbls>
            <c:numFmt formatCode="0.0#" sourceLinked="0"/>
            <c:txPr>
              <a:bodyPr/>
              <a:lstStyle/>
              <a:p>
                <a:pPr>
                  <a:defRPr b="0" i="0" strike="noStrike" sz="1100" u="none">
                    <a:solidFill>
                      <a:srgbClr val="333333"/>
                    </a:solidFill>
                    <a:latin typeface="+mn-lt"/>
                  </a:defRPr>
                </a:pPr>
              </a:p>
            </c:txPr>
            <c:showLegendKey val="0"/>
            <c:showVal val="1"/>
            <c:showCatName val="0"/>
            <c:showSerName val="0"/>
            <c:showPercent val="0"/>
            <c:showBubbleSize val="0"/>
            <c:showLeaderLines val="0"/>
          </c:dLbls>
          <c:cat>
            <c:multiLvlStrRef>
              <c:f>Sheet1!$A$2:$A$5</c:f>
              <c:multiLvlStrCache>
                <c:ptCount val="4"/>
                <c:lvl>
                  <c:pt idx="0">
                    <c:v>MedQA (Qwen2.5-7B)</c:v>
                  </c:pt>
                  <c:pt idx="1">
                    <c:v>GSM8K (Qwen2.5-7B)</c:v>
                  </c:pt>
                  <c:pt idx="2">
                    <c:v>MedQA (API)</c:v>
                  </c:pt>
                  <c:pt idx="3">
                    <c:v>GSM8K (API)</c:v>
                  </c:pt>
                </c:lvl>
              </c:multiLvlStrCache>
            </c:multiLvlStrRef>
          </c:cat>
          <c:val>
            <c:numRef>
              <c:f>Sheet1!$C$2:$C$5</c:f>
              <c:numCache>
                <c:formatCode>General</c:formatCode>
                <c:ptCount val="4"/>
                <c:pt idx="0">
                  <c:v>3.24</c:v>
                </c:pt>
                <c:pt idx="1">
                  <c:v>14.6</c:v>
                </c:pt>
                <c:pt idx="2">
                  <c:v>18.4</c:v>
                </c:pt>
                <c:pt idx="3">
                  <c:v>45.7</c:v>
                </c:pt>
              </c:numCache>
            </c:numRef>
          </c:val>
        </c:ser>
        <c:dLbls>
          <c:numFmt formatCode="0.0#" sourceLinked="0"/>
          <c:txPr>
            <a:bodyPr/>
            <a:lstStyle/>
            <a:p>
              <a:pPr>
                <a:defRPr b="0" i="0" strike="noStrike" sz="1100" u="none">
                  <a:solidFill>
                    <a:srgbClr val="3333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b"/>
        <c:majorGridlines>
          <c:spPr>
            <a:ln w="9525" cap="flat">
              <a:solidFill>
                <a:srgbClr val="D9DEDB"/>
              </a:solidFill>
              <a:prstDash val="solid"/>
              <a:round/>
            </a:ln>
          </c:spPr>
        </c:majorGridlines>
        <c:title>
          <c:tx>
            <c:rich>
              <a:bodyPr/>
              <a:lstStyle/>
              <a:p>
                <a:pPr>
                  <a:defRPr sz="1100" b="0" i="0" u="none" strike="noStrike">
                    <a:solidFill>
                      <a:srgbClr val="444444"/>
                    </a:solidFill>
                    <a:latin typeface="+mn-lt"/>
                  </a:defRPr>
                </a:pPr>
                <a:r>
                  <a:rPr sz="1100" b="0" i="0" u="none" strike="noStrike">
                    <a:solidFill>
                      <a:srgbClr val="444444"/>
                    </a:solidFill>
                    <a:latin typeface="+mn-lt"/>
                  </a:rPr>
                  <a:t>Wall-clock hours</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mn-lt"/>
              </a:defRPr>
            </a:pPr>
            <a:endParaRPr lang="en-US"/>
          </a:p>
        </c:txPr>
        <c:crossAx val="2094734554"/>
        <c:crosses val="autoZero"/>
        <c:crossBetween val="between"/>
        <c:majorUnit val="10"/>
      </c:valAx>
      <c:spPr>
        <a:noFill/>
        <a:ln>
          <a:noFill/>
        </a:ln>
        <a:effectLst/>
      </c:spPr>
    </c:plotArea>
    <c:legend>
      <c:legendPos val="r"/>
      <c:overlay val="0"/>
      <c:txPr>
        <a:bodyPr/>
        <a:lstStyle/>
        <a:p>
          <a:pPr>
            <a:defRPr sz="12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GSM8K accuracy (%)</c:v>
                </c:pt>
              </c:strCache>
            </c:strRef>
          </c:tx>
          <c:spPr>
            <a:solidFill>
              <a:srgbClr val="6E747C"/>
            </a:solidFill>
            <a:effectLst/>
          </c:spPr>
          <c:invertIfNegative val="0"/>
          <c:dLbls>
            <c:numFmt formatCode="0.0" sourceLinked="0"/>
            <c:txPr>
              <a:bodyPr/>
              <a:lstStyle/>
              <a:p>
                <a:pPr>
                  <a:defRPr b="0" i="0" strike="noStrike" sz="1100" u="none">
                    <a:solidFill>
                      <a:srgbClr val="333333"/>
                    </a:solidFill>
                    <a:latin typeface="+mn-lt"/>
                  </a:defRPr>
                </a:pPr>
              </a:p>
            </c:txPr>
            <c:showLegendKey val="0"/>
            <c:showVal val="1"/>
            <c:showCatName val="0"/>
            <c:showSerName val="0"/>
            <c:showPercent val="0"/>
            <c:showBubbleSize val="0"/>
            <c:showLeaderLines val="0"/>
          </c:dLbls>
          <c:dPt>
            <c:idx val="0"/>
            <c:invertIfNegative val="0"/>
            <c:bubble3D val="0"/>
            <c:spPr>
              <a:solidFill>
                <a:srgbClr val="6E747C"/>
              </a:solidFill>
              <a:effectLst/>
            </c:spPr>
          </c:dPt>
          <c:dPt>
            <c:idx val="1"/>
            <c:invertIfNegative val="0"/>
            <c:bubble3D val="0"/>
            <c:spPr>
              <a:solidFill>
                <a:srgbClr val="2E6B4F"/>
              </a:solidFill>
              <a:effectLst/>
            </c:spPr>
          </c:dPt>
          <c:dPt>
            <c:idx val="2"/>
            <c:invertIfNegative val="0"/>
            <c:bubble3D val="0"/>
            <c:spPr>
              <a:solidFill>
                <a:srgbClr val="6E747C"/>
              </a:solidFill>
              <a:effectLst/>
            </c:spPr>
          </c:dPt>
          <c:dPt>
            <c:idx val="3"/>
            <c:invertIfNegative val="0"/>
            <c:bubble3D val="0"/>
            <c:spPr>
              <a:solidFill>
                <a:srgbClr val="6E747C"/>
              </a:solidFill>
              <a:effectLst/>
            </c:spPr>
          </c:dPt>
          <c:cat>
            <c:multiLvlStrRef>
              <c:f>Sheet1!$A$2:$A$5</c:f>
              <c:multiLvlStrCache>
                <c:ptCount val="4"/>
                <c:lvl>
                  <c:pt idx="0">
                    <c:v>K=3, T=4</c:v>
                  </c:pt>
                  <c:pt idx="1">
                    <c:v>K=6, T=3</c:v>
                  </c:pt>
                  <c:pt idx="2">
                    <c:v>K=9, T=2</c:v>
                  </c:pt>
                  <c:pt idx="3">
                    <c:v>K=12, T=2</c:v>
                  </c:pt>
                </c:lvl>
              </c:multiLvlStrCache>
            </c:multiLvlStrRef>
          </c:cat>
          <c:val>
            <c:numRef>
              <c:f>Sheet1!$B$2:$B$5</c:f>
              <c:numCache>
                <c:formatCode>General</c:formatCode>
                <c:ptCount val="4"/>
                <c:pt idx="0">
                  <c:v>78.5</c:v>
                </c:pt>
                <c:pt idx="1">
                  <c:v>86.5</c:v>
                </c:pt>
                <c:pt idx="2">
                  <c:v>82</c:v>
                </c:pt>
                <c:pt idx="3">
                  <c:v>82</c:v>
                </c:pt>
              </c:numCache>
            </c:numRef>
          </c:val>
        </c:ser>
        <c:dLbls>
          <c:numFmt formatCode="0.0" sourceLinked="0"/>
          <c:txPr>
            <a:bodyPr/>
            <a:lstStyle/>
            <a:p>
              <a:pPr>
                <a:defRPr b="0" i="0" strike="noStrike" sz="1100" u="none">
                  <a:solidFill>
                    <a:srgbClr val="3333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ax val="95"/>
          <c:min val="60"/>
        </c:scaling>
        <c:delete val="0"/>
        <c:axPos val="l"/>
        <c:majorGridlines>
          <c:spPr>
            <a:ln w="9525" cap="flat">
              <a:solidFill>
                <a:srgbClr val="D9DE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4444"/>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 am presenting DP-ES, Differentially Private Evolution Strategies for Prompt Optimization, joint work with colleagues at the National University of Defense Technology and CRRC Zhuzhou. In one sentence: when we optimize prompts on private data under differential privacy, the structure of the search matters. Token-by-token private construction is fragile; evolving a population of complete prompts, and spending privacy only on noisy scoring, is far more robust. The graphic on the right is the method in miniature: six candidate prompts per round, two parents kept, three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has five parts. First, why prompt optimization on sensitive data needs formal privacy. Second, a diagnosis of why the main existing approach, token-level private construction as in DP-OPT, is unstable under tight budgets. Third, our method, DP-ES. Fourth, results on accuracy, stability, efficiency, ablations and a memorization stress test. And finally, an explicit statement of scope: what our evidence does and does not establish.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Automatic prompt optimization works well, but it needs task data, and in many applications that data is sensitive: patient records, financial logs. An optimizer can memorize what it sees; in the worst case it returns a prompt like the one on the left, which literally contains a patient record. Model-training defenses such as DP-SGD or DP-LoRA need access to weights, which we do not have with API-only models. So we need formal, record-level differential privacy for the released prompt, and, crucially, an optimizer that remains robust under the noise that DP introduces. That robustness question is the focus of this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Formally, we have a private dataset of input-output pairs and want the prompt that maximizes task performance, for example accuracy. The constraint is (epsilon, delta)-differential privacy with respect to that dataset: changing one record may change the distribution of the released prompt only by a factor e to the epsilon, plus delta. The table positions us. Non-private prompt optimizers, including evolutionary ones like EvoPrompt and PromptBreeder, give no guarantee. DP-SGD gives a guarantee but needs continuous parameters. DP-OPT is the closest prior work: private and discrete, using token histograms with the exponential mechanism. DP-ES is private and discrete, using evolution plus Gaussian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a diagnosis. We ran our black-box adaptation of DP-OPT thirty times on GSM8K at epsilon equal to one. Mean accuracy is 49.5 percent, but the standard deviation is 28.5 points: the band covers roughly 21 to 78 percent. Some runs work well; others collapse. For reference, DP-ES reaches 88.1 plus or minus 3.2 percent under a tighter bound, about nine times lower standard deviation, and the non-private TextGrad reference is at 95. Note that we report the full distribution rather than imposing a post-hoc threshold to label failures. The question is: where does this variance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see the mechanism, here is a real logged DP-OPT trajectory on GSM8K, seed 42. At iteration 0 the selected prompt contains the question placeholder. By iterations 1 and 2 the selected prompts are fluent instructions, but the placeholder has disappeared. Across the whole search, 21 of 33 candidates omit it. We are careful here: this particular run still reaches 91 percent, because our harness appends the question when the placeholder is missing. So we do not count this as a failure. It is evidence of template drift: token-level construction has no global view of what the prompt must contain.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three structural causes. First, token-level myopia: the prompt is built greedily by private voting over next tokens, and nothing checks global coherence. Second, there is no backtracking: a released token cannot be revised. Third, selection is noise-sensitive: DP noise can swap the ranking of similar candidates, and with no recovery path one inversion can redirect the whole search. These are properties of the search structure, not of a particular noise level. So our response is to change the search unit: optimize complete prompts with a population, and borrow the key idea of Private Evolution from DP data synthesis: only evaluation touches private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DP-ES. Each round has three phases. Phase one, in green: an LLM mutates the current parent prompts into K complete candidates. The mutation LLM sees only prompts, never records, so this step is post-processing and costs no privacy. Phase two, in blue, is the only place private data enters: each candidate is scored on a freshly sampled batch, the per-record utility is clipped, averaged, and released with Gaussian noise. Phase three selects the top M parents using only the privatized scores, so it is again post-processing. The loop repeats T times. Over the whole run there are at most T times K score releases, and that number alone determines the privacy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Slightly more formally. Mutation produces exactly K candidates from the parent set. In our experiments we use a balanced mode that mixes larger and smaller semantic edits. Scoring: for each candidate we draw a fresh batch of b records, compute a zero-one correctness utility, clip it, average it, and add Gaussian noise with standard deviation z times C over b. Selection: by default we add Gumbel noise with a fixed, data-independent scale before taking the top M, purely to smooth rank inversions; deterministic top-M is the beta equals zero case. Both are post-processing. On the right is the single configuration we use for every task. These values were fixed in advance and not tuned on task utility.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privacy argument is short. Proposition one: mutation sees only public or already privatized prompts, so it is post-processing and free. Proposition two follows: privacy loss is independent of how many or how strong the mutations are, which is exactly the decoupling we want. The theorem composes at most T times K sampled-Gaussian releases with a Renyi-DP accountant for sampling without replacement. With 200 records, batch 10, noise multiplier 10, and 18 releases, AutoDP gives epsilon 0.705 at delta ten to the minus five. We report the common conservative ceiling epsilon at most one, which is DP-OPT's stated setting. The script in our repository reproduces this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 on four task families: GSM8K for multi-step math reasoning, MedQA for medical multiple-choice questions, BANKING77 for 77-way intent classification, and Alpaca for open-ended instruction following, scored by an LLM judge. The main experiments use DeepSeek-V3.2 through its API, and we validate locally with Qwen2.5-7B. We compare against DP-OPT in a black-box adaptation at epsilon one, and against non-private TextGrad as a reference. All methods share the same initial prompt, and DP-ES uses one fixed configuration for every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main results. On GSM8K, DP-ES reaches 88.1 percent versus 49.5 for DP-OPT, a gain of 38.6 points, and within seven points of the non-private reference. On MedQA, 99.7 versus 93.5. On BANKING77 and Alpaca the two private methods are within two points of each other. So the advantage is task-dependent: it is largest when prompt structure is critical, as in multi-step reasoning, and we see parity on well-structured classification and instruction following. One caveat: MedQA is near ceiling on this 200-question subset, so we do not over-interpret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evolution work better under noise? On the left is population diversity, the mean pairwise embedding distance between prompts. Early iterations are diverse, around 0.15, before the population converges. That diversity means DP-ES holds several complete hypotheses at once, so when Gaussian noise swaps two scores, a good alternative is still in the population. On the right is the final DP-ES prompt from a logged GSM8K run. Because mutations operate on whole strings, the question placeholder is preserved. And because mutation is free, we can afford rich exploration without spending more privacy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DP-ES is also cheaper in time. On GSM8K through the API it takes 17.9 hours versus 45.7 for DP-OPT, 2.5 times faster, and the speed-up holds on MedQA and with the local Qwen model. The reason is the number of private-data round trips: 10 logged call groups versus 33, because DP-OPT queries private aggregates during token construction as well as evaluation. To be transparent about the trade-off: DP-ES uses larger contexts, about 2.8 times more tokens. So the advantage is lower wall-clock time and fewer private-data round trips, not uniformly lower provider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robustness checks. Panel a: Gumbel-smoothed and deterministic top-M selection reach 88.8 and 88.6 percent over five seeds. Both are post-processing, so privacy is identical; we keep smoothing as the default but do not claim a variance advantage. Panel b: with K times T capped at 24, K equals six and T equals three gives the best trade-off between population diversity and number of refinement rounds. Panel c: with a local Qwen2.5-7B model, DP-ES beats DP-OPT by 16.4 points on GSM8K with half the standard deviation, and the two are comparable on MedQA, the same task-dependent pattern as with the API model. The soft-prompt baseline PromptDPSGD trails both discrete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formal guarantee, we ran targeted diagnostics. We built 200 synthetic customer profiles with six sensitive strings each, 1,200 strings in total, and searched final prompts for exact or near-verbatim matches. An intentionally adversarial non-private control, which is shown raw records and asked to embed a directory, ends up with 40 of those strings in its prompt. DP-ES, whose mutation never sees records, contains none. We also checked that 1,000 logged noise draws match the configured Gaussian. To be clear, these are sanity checks for implementation errors; they do not test semantic leakage or membership inference, and they cannot certify DP. The guarantee comes from the accountant.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explicit about scope. Our evidence supports three claims: DP-ES is a structurally more robust DP prompt optimizer than token-level construction, especially when prompt structure matters; it carries a formal record-level guarantee from the accountant; and it is faster with fewer private-data round trips. What we have not shown: end-to-end validation on genuinely sensitive, non-saturated data, which current public benchmarks do not offer; MedQA is near ceiling; our attack coverage is exact-match only; we report one privacy level rather than a full frontier; and the advantage is task-dependent. Natural next steps are adaptive population sizing, multi-objective search, and a federated variant.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First, a diagnosis: token-level private prompt construction is structurally fragile, with 49.5 plus or minus 28.5 percent on GSM8K and visible template drift. Second, a method: DP-ES evolves complete prompts and spends privacy only on sampled-Gaussian scoring; mutation and selection are post-processing. Third, the evidence: 88.1 percent on GSM8K, nine times lower variance, and 2.5 times faster, at epsilon 0.71. Code, the privacy accountant and the paper source are on GitHub. Thank you,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These are the assumptions behind the formal guarantee, as stated in the appendix of the paper. They match those of DP-OPT and standard DP machine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Cost decomposition by call purpose for one representative GSM8K run (Appendix, efficiency breakdown). Provider pricing and validation-set size can change the cost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repository reproduces the reported bound with AutoDP; the five conditions on the right are the contract under which the formal guarantee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PES_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777240"/>
            <a:ext cx="7315200" cy="365760"/>
          </a:xfrm>
          <a:prstGeom prst="rect">
            <a:avLst/>
          </a:prstGeom>
          <a:noFill/>
          <a:ln/>
        </p:spPr>
        <p:txBody>
          <a:bodyPr wrap="square" rtlCol="0"/>
          <a:lstStyle>
            <a:lvl1pPr indent="0" marL="0">
              <a:buNone/>
              <a:defRPr lang="en-US" sz="1400" b="1" spc="200" kern="0"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731520" y="1234440"/>
            <a:ext cx="7315200" cy="2103120"/>
          </a:xfrm>
          <a:prstGeom prst="rect">
            <a:avLst/>
          </a:prstGeom>
          <a:noFill/>
          <a:ln/>
        </p:spPr>
        <p:txBody>
          <a:bodyPr wrap="square" rtlCol="0"/>
          <a:lstStyle>
            <a:lvl1pPr algn="l" indent="0" marL="0">
              <a:buNone/>
              <a:defRPr lang="en-US" sz="4000" b="1" dirty="0">
                <a:solidFill>
                  <a:schemeClr val="bg1"/>
                </a:solidFill>
                <a:latin typeface="+mj-lt" pitchFamily="34" charset="0"/>
                <a:ea typeface="+mj-lt" pitchFamily="34" charset="-122"/>
                <a:cs typeface="+mj-lt"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PES_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rtlCol="0"/>
          <a:lstStyle>
            <a:lvl1pPr algn="l" indent="0" marL="0">
              <a:buNone/>
              <a:defRPr lang="en-US" sz="3000" b="1" dirty="0">
                <a:solidFill>
                  <a:schemeClr val="tx2"/>
                </a:solidFill>
                <a:latin typeface="+mj-lt" pitchFamily="34" charset="0"/>
                <a:ea typeface="+mj-lt" pitchFamily="34" charset="-122"/>
                <a:cs typeface="+mj-lt" pitchFamily="34" charset="-120"/>
              </a:defRPr>
            </a:lvl1pPr>
          </a:lstStyle>
          <a:p>
            <a:pPr algn="l" indent="0" marL="0">
              <a:buNone/>
            </a:pPr>
            <a:endParaRPr lang="en-US" sz="30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Liu et al.  ·  DP-ES  ·  EMNLP 2026</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PES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rtlCol="0"/>
          <a:lstStyle>
            <a:lvl1pPr algn="l" indent="0" marL="0">
              <a:buNone/>
              <a:defRPr lang="en-US" sz="3000" b="1" dirty="0">
                <a:solidFill>
                  <a:schemeClr val="bg1"/>
                </a:solidFill>
                <a:latin typeface="+mj-lt" pitchFamily="34" charset="0"/>
                <a:ea typeface="+mj-lt" pitchFamily="34" charset="-122"/>
                <a:cs typeface="+mj-lt" pitchFamily="34" charset="-120"/>
              </a:defRPr>
            </a:lvl1pPr>
          </a:lstStyle>
          <a:p>
            <a:pPr algn="l" indent="0" marL="0">
              <a:buNone/>
            </a:pPr>
            <a:endParaRPr lang="en-US" sz="30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Liu et al.  ·  DP-ES  ·  EMNLP 2026</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StephCpa/dp-es" TargetMode="External"/><Relationship Id="rId1"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3.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3.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StephCpa/dp-es" TargetMode="External"/><Relationship Id="rId1" Type="http://schemas.openxmlformats.org/officeDocument/2006/relationships/image" Target="../media/image-18-1.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777240"/>
            <a:ext cx="7315200" cy="365760"/>
          </a:xfrm>
          <a:prstGeom prst="rect">
            <a:avLst/>
          </a:prstGeom>
          <a:noFill/>
          <a:ln/>
        </p:spPr>
        <p:txBody>
          <a:bodyPr wrap="square" lIns="0" tIns="0" rIns="0" bIns="0" rtlCol="0" anchor="t"/>
          <a:lstStyle/>
          <a:p>
            <a:pPr indent="0" marL="0">
              <a:buNone/>
            </a:pPr>
            <a:r>
              <a:rPr lang="en-US" sz="1400" b="1" spc="200" kern="0" dirty="0">
                <a:solidFill>
                  <a:schemeClr val="accent6"/>
                </a:solidFill>
              </a:rPr>
              <a:t>EMNLP 2026  ·  MAIN CONFERENCE</a:t>
            </a:r>
            <a:endParaRPr lang="en-US" sz="1400" dirty="0"/>
          </a:p>
        </p:txBody>
      </p:sp>
      <p:sp>
        <p:nvSpPr>
          <p:cNvPr id="3" name="Text 0"/>
          <p:cNvSpPr/>
          <p:nvPr>
            <p:ph idx="101" type="title" hasCustomPrompt="1"/>
          </p:nvPr>
        </p:nvSpPr>
        <p:spPr>
          <a:xfrm>
            <a:off x="731520" y="1234440"/>
            <a:ext cx="7315200" cy="2103120"/>
          </a:xfrm>
          <a:prstGeom prst="rect">
            <a:avLst/>
          </a:prstGeom>
          <a:noFill/>
          <a:ln/>
        </p:spPr>
        <p:txBody>
          <a:bodyPr wrap="square" lIns="0" tIns="0" rIns="0" bIns="0" rtlCol="0" anchor="t"/>
          <a:lstStyle/>
          <a:p>
            <a:pPr algn="l" indent="0" marL="0">
              <a:buNone/>
            </a:pPr>
            <a:r>
              <a:rPr lang="en-US" sz="4000" b="1" dirty="0">
                <a:solidFill>
                  <a:schemeClr val="bg1"/>
                </a:solidFill>
                <a:latin typeface="+mj-lt" pitchFamily="34" charset="0"/>
                <a:ea typeface="+mj-lt" pitchFamily="34" charset="-122"/>
                <a:cs typeface="+mj-lt" pitchFamily="34" charset="-120"/>
              </a:rPr>
              <a:t>DP-ES: Differentially Private Evolution Strategies for Prompt Optimization</a:t>
            </a:r>
            <a:endParaRPr lang="en-US" sz="4000" dirty="0"/>
          </a:p>
        </p:txBody>
      </p:sp>
      <p:sp>
        <p:nvSpPr>
          <p:cNvPr id="4" name="Text 2"/>
          <p:cNvSpPr txBox="1"/>
          <p:nvPr/>
        </p:nvSpPr>
        <p:spPr>
          <a:xfrm>
            <a:off x="731520" y="3520440"/>
            <a:ext cx="7315200" cy="777240"/>
          </a:xfrm>
          <a:prstGeom prst="rect">
            <a:avLst/>
          </a:prstGeom>
          <a:noFill/>
          <a:ln/>
        </p:spPr>
        <p:txBody>
          <a:bodyPr wrap="square" lIns="0" tIns="0" rIns="0" bIns="0" rtlCol="0" anchor="t"/>
          <a:lstStyle/>
          <a:p>
            <a:pPr indent="0" marL="0">
              <a:buNone/>
            </a:pPr>
            <a:r>
              <a:rPr lang="en-US" sz="1800" dirty="0">
                <a:solidFill>
                  <a:schemeClr val="bg1"/>
                </a:solidFill>
              </a:rPr>
              <a:t>Ziniu Liu</a:t>
            </a:r>
            <a:r>
              <a:rPr lang="en-US" sz="1800" baseline="30000" dirty="0">
                <a:solidFill>
                  <a:schemeClr val="bg1"/>
                </a:solidFill>
              </a:rPr>
              <a:t>1</a:t>
            </a:r>
            <a:r>
              <a:rPr lang="en-US" sz="1800" dirty="0">
                <a:solidFill>
                  <a:schemeClr val="bg1"/>
                </a:solidFill>
              </a:rPr>
              <a:t>,  </a:t>
            </a:r>
            <a:r>
              <a:rPr lang="en-US" sz="1800" dirty="0">
                <a:solidFill>
                  <a:schemeClr val="bg1"/>
                </a:solidFill>
              </a:rPr>
              <a:t>Aiping Li</a:t>
            </a:r>
            <a:r>
              <a:rPr lang="en-US" sz="1800" baseline="30000" dirty="0">
                <a:solidFill>
                  <a:schemeClr val="bg1"/>
                </a:solidFill>
              </a:rPr>
              <a:t>1,*</a:t>
            </a:r>
            <a:r>
              <a:rPr lang="en-US" sz="1800" dirty="0">
                <a:solidFill>
                  <a:schemeClr val="bg1"/>
                </a:solidFill>
              </a:rPr>
              <a:t>,  </a:t>
            </a:r>
            <a:r>
              <a:rPr lang="en-US" sz="1800" dirty="0">
                <a:solidFill>
                  <a:schemeClr val="bg1"/>
                </a:solidFill>
              </a:rPr>
              <a:t>Yue Han</a:t>
            </a:r>
            <a:r>
              <a:rPr lang="en-US" sz="1800" baseline="30000" dirty="0">
                <a:solidFill>
                  <a:schemeClr val="bg1"/>
                </a:solidFill>
              </a:rPr>
              <a:t>1</a:t>
            </a:r>
            <a:r>
              <a:rPr lang="en-US" sz="1800" dirty="0">
                <a:solidFill>
                  <a:schemeClr val="bg1"/>
                </a:solidFill>
              </a:rPr>
              <a:t>,  </a:t>
            </a:r>
            <a:r>
              <a:rPr lang="en-US" sz="1800" dirty="0">
                <a:solidFill>
                  <a:schemeClr val="bg1"/>
                </a:solidFill>
              </a:rPr>
              <a:t>Han Yu</a:t>
            </a:r>
            <a:r>
              <a:rPr lang="en-US" sz="1800" baseline="30000" dirty="0">
                <a:solidFill>
                  <a:schemeClr val="bg1"/>
                </a:solidFill>
              </a:rPr>
              <a:t>1</a:t>
            </a:r>
            <a:r>
              <a:rPr lang="en-US" sz="1800" dirty="0">
                <a:solidFill>
                  <a:schemeClr val="bg1"/>
                </a:solidFill>
              </a:rPr>
              <a:t>,  </a:t>
            </a:r>
            <a:r>
              <a:rPr lang="en-US" sz="1800" dirty="0">
                <a:solidFill>
                  <a:schemeClr val="bg1"/>
                </a:solidFill>
              </a:rPr>
              <a:t>Junjian Zhang</a:t>
            </a:r>
            <a:r>
              <a:rPr lang="en-US" sz="1800" baseline="30000" dirty="0">
                <a:solidFill>
                  <a:schemeClr val="bg1"/>
                </a:solidFill>
              </a:rPr>
              <a:t>1</a:t>
            </a:r>
            <a:r>
              <a:rPr lang="en-US" sz="1800" dirty="0">
                <a:solidFill>
                  <a:schemeClr val="bg1"/>
                </a:solidFill>
              </a:rPr>
              <a:t>,  </a:t>
            </a:r>
            <a:r>
              <a:rPr lang="en-US" sz="1800" dirty="0">
                <a:solidFill>
                  <a:schemeClr val="bg1"/>
                </a:solidFill>
              </a:rPr>
              <a:t>Dong Zhu</a:t>
            </a:r>
            <a:r>
              <a:rPr lang="en-US" sz="1800" baseline="30000" dirty="0">
                <a:solidFill>
                  <a:schemeClr val="bg1"/>
                </a:solidFill>
              </a:rPr>
              <a:t>1</a:t>
            </a:r>
            <a:r>
              <a:rPr lang="en-US" sz="1800" dirty="0">
                <a:solidFill>
                  <a:schemeClr val="bg1"/>
                </a:solidFill>
              </a:rPr>
              <a:t>,  </a:t>
            </a:r>
            <a:r>
              <a:rPr lang="en-US" sz="1800" dirty="0">
                <a:solidFill>
                  <a:schemeClr val="bg1"/>
                </a:solidFill>
              </a:rPr>
              <a:t>Changjian Li</a:t>
            </a:r>
            <a:r>
              <a:rPr lang="en-US" sz="1800" baseline="30000" dirty="0">
                <a:solidFill>
                  <a:schemeClr val="bg1"/>
                </a:solidFill>
              </a:rPr>
              <a:t>1</a:t>
            </a:r>
            <a:r>
              <a:rPr lang="en-US" sz="1800" dirty="0">
                <a:solidFill>
                  <a:schemeClr val="bg1"/>
                </a:solidFill>
              </a:rPr>
              <a:t>,  </a:t>
            </a:r>
            <a:r>
              <a:rPr lang="en-US" sz="1800" dirty="0">
                <a:solidFill>
                  <a:schemeClr val="bg1"/>
                </a:solidFill>
              </a:rPr>
              <a:t>Shiqiang Zhang</a:t>
            </a:r>
            <a:r>
              <a:rPr lang="en-US" sz="1800" baseline="30000" dirty="0">
                <a:solidFill>
                  <a:schemeClr val="bg1"/>
                </a:solidFill>
              </a:rPr>
              <a:t>2</a:t>
            </a:r>
            <a:endParaRPr lang="en-US" sz="1800" dirty="0"/>
          </a:p>
        </p:txBody>
      </p:sp>
      <p:sp>
        <p:nvSpPr>
          <p:cNvPr id="5" name="Text 3"/>
          <p:cNvSpPr txBox="1"/>
          <p:nvPr/>
        </p:nvSpPr>
        <p:spPr>
          <a:xfrm>
            <a:off x="731520" y="4389120"/>
            <a:ext cx="7315200" cy="1097280"/>
          </a:xfrm>
          <a:prstGeom prst="rect">
            <a:avLst/>
          </a:prstGeom>
          <a:noFill/>
          <a:ln/>
        </p:spPr>
        <p:txBody>
          <a:bodyPr wrap="square" lIns="0" tIns="0" rIns="0" bIns="0" rtlCol="0" anchor="t"/>
          <a:lstStyle/>
          <a:p>
            <a:pPr indent="0" marL="0">
              <a:spcAft>
                <a:spcPts val="200"/>
              </a:spcAft>
              <a:buNone/>
            </a:pPr>
            <a:r>
              <a:rPr lang="en-US" sz="1300" baseline="30000" dirty="0">
                <a:solidFill>
                  <a:schemeClr val="bg2"/>
                </a:solidFill>
              </a:rPr>
              <a:t>1</a:t>
            </a:r>
            <a:r>
              <a:rPr lang="en-US" sz="1300" dirty="0">
                <a:solidFill>
                  <a:schemeClr val="bg2"/>
                </a:solidFill>
              </a:rPr>
              <a:t> National University of Defense Technology</a:t>
            </a:r>
            <a:endParaRPr lang="en-US" sz="1300" dirty="0"/>
          </a:p>
          <a:p>
            <a:pPr indent="0" marL="0">
              <a:spcAft>
                <a:spcPts val="200"/>
              </a:spcAft>
              <a:buNone/>
            </a:pPr>
            <a:r>
              <a:rPr lang="en-US" sz="1300" baseline="30000" dirty="0">
                <a:solidFill>
                  <a:schemeClr val="bg2"/>
                </a:solidFill>
              </a:rPr>
              <a:t>2</a:t>
            </a:r>
            <a:r>
              <a:rPr lang="en-US" sz="1300" dirty="0">
                <a:solidFill>
                  <a:schemeClr val="bg2"/>
                </a:solidFill>
              </a:rPr>
              <a:t> CRRC Zhuzhou Electric Locomotive Research Institute Co., Ltd.,</a:t>
            </a:r>
            <a:endParaRPr lang="en-US" sz="1300" dirty="0"/>
          </a:p>
          <a:p>
            <a:pPr indent="0" marL="0">
              <a:spcAft>
                <a:spcPts val="200"/>
              </a:spcAft>
              <a:buNone/>
            </a:pPr>
            <a:r>
              <a:rPr lang="en-US" sz="1300" dirty="0">
                <a:solidFill>
                  <a:schemeClr val="bg2"/>
                </a:solidFill>
              </a:rPr>
              <a:t>   China Academy of Railway Sciences</a:t>
            </a:r>
            <a:endParaRPr lang="en-US" sz="1300" dirty="0"/>
          </a:p>
          <a:p>
            <a:pPr indent="0" marL="0">
              <a:spcAft>
                <a:spcPts val="200"/>
              </a:spcAft>
              <a:buNone/>
            </a:pPr>
            <a:r>
              <a:rPr lang="en-US" sz="1300" baseline="30000" dirty="0">
                <a:solidFill>
                  <a:schemeClr val="bg2"/>
                </a:solidFill>
              </a:rPr>
              <a:t>*</a:t>
            </a:r>
            <a:r>
              <a:rPr lang="en-US" sz="1300" dirty="0">
                <a:solidFill>
                  <a:schemeClr val="bg2"/>
                </a:solidFill>
              </a:rPr>
              <a:t> Corresponding author: liaiping@nudt.edu.cn</a:t>
            </a:r>
            <a:endParaRPr lang="en-US" sz="1300" dirty="0"/>
          </a:p>
        </p:txBody>
      </p:sp>
      <p:pic>
        <p:nvPicPr>
          <p:cNvPr id="6" name="Image 0" descr="Github icon">    </p:cNvPr>
          <p:cNvPicPr>
            <a:picLocks noChangeAspect="1"/>
          </p:cNvPicPr>
          <p:nvPr/>
        </p:nvPicPr>
        <p:blipFill>
          <a:blip r:embed="rId1"/>
          <a:stretch>
            <a:fillRect/>
          </a:stretch>
        </p:blipFill>
        <p:spPr>
          <a:xfrm>
            <a:off x="731520" y="5870448"/>
            <a:ext cx="274320" cy="274320"/>
          </a:xfrm>
          <a:prstGeom prst="rect">
            <a:avLst/>
          </a:prstGeom>
        </p:spPr>
      </p:pic>
      <p:sp>
        <p:nvSpPr>
          <p:cNvPr id="7" name="Text 4">
            <a:hlinkClick r:id="rId2" tooltip=""/>
          </p:cNvPr>
          <p:cNvSpPr txBox="1"/>
          <p:nvPr/>
        </p:nvSpPr>
        <p:spPr>
          <a:xfrm>
            <a:off x="1097280" y="5852160"/>
            <a:ext cx="4572000" cy="310896"/>
          </a:xfrm>
          <a:prstGeom prst="rect">
            <a:avLst/>
          </a:prstGeom>
          <a:noFill/>
          <a:ln/>
        </p:spPr>
        <p:txBody>
          <a:bodyPr wrap="square" lIns="0" tIns="0" rIns="0" bIns="0" rtlCol="0" anchor="ctr"/>
          <a:lstStyle/>
          <a:p>
            <a:pPr indent="0" marL="0">
              <a:buNone/>
            </a:pPr>
            <a:r>
              <a:rPr lang="en-US" sz="1400" u="sng" dirty="0">
                <a:solidFill>
                  <a:schemeClr val="accent6"/>
                </a:solidFill>
                <a:hlinkClick r:id="rId2" invalidUrl="" action="" tgtFrame="" tooltip="" history="1" highlightClick="0" endSnd="0">
                  <a:extLst>
                    <a:ext uri="{A12FA001-AC4F-418D-AE19-62706E023703}">
                      <ahyp:hlinkClr xmlns:ahyp="http://schemas.microsoft.com/office/drawing/2018/hyperlinkcolor" val="tx"/>
                    </a:ext>
                  </a:extLst>
                </a:hlinkClick>
              </a:rPr>
              <a:t>github.com/StephCpa/dp-es</a:t>
            </a:r>
            <a:endParaRPr lang="en-US" sz="1400" dirty="0"/>
          </a:p>
        </p:txBody>
      </p:sp>
      <p:sp>
        <p:nvSpPr>
          <p:cNvPr id="8" name="Shape 5"/>
          <p:cNvSpPr/>
          <p:nvPr/>
        </p:nvSpPr>
        <p:spPr>
          <a:xfrm flipV="1">
            <a:off x="8961120" y="1554480"/>
            <a:ext cx="932688" cy="566928"/>
          </a:xfrm>
          <a:prstGeom prst="line">
            <a:avLst/>
          </a:prstGeom>
          <a:noFill/>
          <a:ln w="9525">
            <a:solidFill>
              <a:srgbClr val="9DC0AC">
                <a:alpha val="55000"/>
              </a:srgbClr>
            </a:solidFill>
            <a:prstDash val="solid"/>
          </a:ln>
        </p:spPr>
      </p:sp>
      <p:sp>
        <p:nvSpPr>
          <p:cNvPr id="9" name="Shape 6"/>
          <p:cNvSpPr/>
          <p:nvPr/>
        </p:nvSpPr>
        <p:spPr>
          <a:xfrm>
            <a:off x="8961120" y="2121408"/>
            <a:ext cx="932688" cy="0"/>
          </a:xfrm>
          <a:prstGeom prst="line">
            <a:avLst/>
          </a:prstGeom>
          <a:noFill/>
          <a:ln w="9525">
            <a:solidFill>
              <a:srgbClr val="9DC0AC">
                <a:alpha val="55000"/>
              </a:srgbClr>
            </a:solidFill>
            <a:prstDash val="solid"/>
          </a:ln>
        </p:spPr>
      </p:sp>
      <p:sp>
        <p:nvSpPr>
          <p:cNvPr id="10" name="Shape 7"/>
          <p:cNvSpPr/>
          <p:nvPr/>
        </p:nvSpPr>
        <p:spPr>
          <a:xfrm>
            <a:off x="8961120" y="2121408"/>
            <a:ext cx="932688" cy="566928"/>
          </a:xfrm>
          <a:prstGeom prst="line">
            <a:avLst/>
          </a:prstGeom>
          <a:noFill/>
          <a:ln w="9525">
            <a:solidFill>
              <a:srgbClr val="9DC0AC">
                <a:alpha val="55000"/>
              </a:srgbClr>
            </a:solidFill>
            <a:prstDash val="solid"/>
          </a:ln>
        </p:spPr>
      </p:sp>
      <p:sp>
        <p:nvSpPr>
          <p:cNvPr id="11" name="Shape 8"/>
          <p:cNvSpPr/>
          <p:nvPr/>
        </p:nvSpPr>
        <p:spPr>
          <a:xfrm>
            <a:off x="8961120" y="2121408"/>
            <a:ext cx="932688" cy="1133856"/>
          </a:xfrm>
          <a:prstGeom prst="line">
            <a:avLst/>
          </a:prstGeom>
          <a:noFill/>
          <a:ln w="9525">
            <a:solidFill>
              <a:srgbClr val="9DC0AC">
                <a:alpha val="55000"/>
              </a:srgbClr>
            </a:solidFill>
            <a:prstDash val="solid"/>
          </a:ln>
        </p:spPr>
      </p:sp>
      <p:sp>
        <p:nvSpPr>
          <p:cNvPr id="12" name="Shape 9"/>
          <p:cNvSpPr/>
          <p:nvPr/>
        </p:nvSpPr>
        <p:spPr>
          <a:xfrm>
            <a:off x="8961120" y="2121408"/>
            <a:ext cx="932688" cy="1700784"/>
          </a:xfrm>
          <a:prstGeom prst="line">
            <a:avLst/>
          </a:prstGeom>
          <a:noFill/>
          <a:ln w="9525">
            <a:solidFill>
              <a:srgbClr val="9DC0AC">
                <a:alpha val="55000"/>
              </a:srgbClr>
            </a:solidFill>
            <a:prstDash val="solid"/>
          </a:ln>
        </p:spPr>
      </p:sp>
      <p:sp>
        <p:nvSpPr>
          <p:cNvPr id="13" name="Shape 10"/>
          <p:cNvSpPr/>
          <p:nvPr/>
        </p:nvSpPr>
        <p:spPr>
          <a:xfrm>
            <a:off x="8961120" y="2121408"/>
            <a:ext cx="932688" cy="2267712"/>
          </a:xfrm>
          <a:prstGeom prst="line">
            <a:avLst/>
          </a:prstGeom>
          <a:noFill/>
          <a:ln w="9525">
            <a:solidFill>
              <a:srgbClr val="9DC0AC">
                <a:alpha val="55000"/>
              </a:srgbClr>
            </a:solidFill>
            <a:prstDash val="solid"/>
          </a:ln>
        </p:spPr>
      </p:sp>
      <p:sp>
        <p:nvSpPr>
          <p:cNvPr id="14" name="Shape 11"/>
          <p:cNvSpPr/>
          <p:nvPr/>
        </p:nvSpPr>
        <p:spPr>
          <a:xfrm flipV="1">
            <a:off x="8961120" y="1554480"/>
            <a:ext cx="932688" cy="2267712"/>
          </a:xfrm>
          <a:prstGeom prst="line">
            <a:avLst/>
          </a:prstGeom>
          <a:noFill/>
          <a:ln w="9525">
            <a:solidFill>
              <a:srgbClr val="9DC0AC">
                <a:alpha val="55000"/>
              </a:srgbClr>
            </a:solidFill>
            <a:prstDash val="solid"/>
          </a:ln>
        </p:spPr>
      </p:sp>
      <p:sp>
        <p:nvSpPr>
          <p:cNvPr id="15" name="Shape 12"/>
          <p:cNvSpPr/>
          <p:nvPr/>
        </p:nvSpPr>
        <p:spPr>
          <a:xfrm flipV="1">
            <a:off x="8961120" y="2121408"/>
            <a:ext cx="932688" cy="1700784"/>
          </a:xfrm>
          <a:prstGeom prst="line">
            <a:avLst/>
          </a:prstGeom>
          <a:noFill/>
          <a:ln w="9525">
            <a:solidFill>
              <a:srgbClr val="9DC0AC">
                <a:alpha val="55000"/>
              </a:srgbClr>
            </a:solidFill>
            <a:prstDash val="solid"/>
          </a:ln>
        </p:spPr>
      </p:sp>
      <p:sp>
        <p:nvSpPr>
          <p:cNvPr id="16" name="Shape 13"/>
          <p:cNvSpPr/>
          <p:nvPr/>
        </p:nvSpPr>
        <p:spPr>
          <a:xfrm flipV="1">
            <a:off x="8961120" y="2688336"/>
            <a:ext cx="932688" cy="1133856"/>
          </a:xfrm>
          <a:prstGeom prst="line">
            <a:avLst/>
          </a:prstGeom>
          <a:noFill/>
          <a:ln w="9525">
            <a:solidFill>
              <a:srgbClr val="9DC0AC">
                <a:alpha val="55000"/>
              </a:srgbClr>
            </a:solidFill>
            <a:prstDash val="solid"/>
          </a:ln>
        </p:spPr>
      </p:sp>
      <p:sp>
        <p:nvSpPr>
          <p:cNvPr id="17" name="Shape 14"/>
          <p:cNvSpPr/>
          <p:nvPr/>
        </p:nvSpPr>
        <p:spPr>
          <a:xfrm flipV="1">
            <a:off x="8961120" y="3255264"/>
            <a:ext cx="932688" cy="566928"/>
          </a:xfrm>
          <a:prstGeom prst="line">
            <a:avLst/>
          </a:prstGeom>
          <a:noFill/>
          <a:ln w="9525">
            <a:solidFill>
              <a:srgbClr val="9DC0AC">
                <a:alpha val="55000"/>
              </a:srgbClr>
            </a:solidFill>
            <a:prstDash val="solid"/>
          </a:ln>
        </p:spPr>
      </p:sp>
      <p:sp>
        <p:nvSpPr>
          <p:cNvPr id="18" name="Shape 15"/>
          <p:cNvSpPr/>
          <p:nvPr/>
        </p:nvSpPr>
        <p:spPr>
          <a:xfrm>
            <a:off x="8961120" y="3822192"/>
            <a:ext cx="932688" cy="0"/>
          </a:xfrm>
          <a:prstGeom prst="line">
            <a:avLst/>
          </a:prstGeom>
          <a:noFill/>
          <a:ln w="9525">
            <a:solidFill>
              <a:srgbClr val="9DC0AC">
                <a:alpha val="55000"/>
              </a:srgbClr>
            </a:solidFill>
            <a:prstDash val="solid"/>
          </a:ln>
        </p:spPr>
      </p:sp>
      <p:sp>
        <p:nvSpPr>
          <p:cNvPr id="19" name="Shape 16"/>
          <p:cNvSpPr/>
          <p:nvPr/>
        </p:nvSpPr>
        <p:spPr>
          <a:xfrm>
            <a:off x="8961120" y="3822192"/>
            <a:ext cx="932688" cy="566928"/>
          </a:xfrm>
          <a:prstGeom prst="line">
            <a:avLst/>
          </a:prstGeom>
          <a:noFill/>
          <a:ln w="9525">
            <a:solidFill>
              <a:srgbClr val="9DC0AC">
                <a:alpha val="55000"/>
              </a:srgbClr>
            </a:solidFill>
            <a:prstDash val="solid"/>
          </a:ln>
        </p:spPr>
      </p:sp>
      <p:sp>
        <p:nvSpPr>
          <p:cNvPr id="20" name="Shape 17"/>
          <p:cNvSpPr/>
          <p:nvPr/>
        </p:nvSpPr>
        <p:spPr>
          <a:xfrm flipV="1">
            <a:off x="10149840" y="1554480"/>
            <a:ext cx="932688" cy="1133856"/>
          </a:xfrm>
          <a:prstGeom prst="line">
            <a:avLst/>
          </a:prstGeom>
          <a:noFill/>
          <a:ln w="9525">
            <a:solidFill>
              <a:srgbClr val="9DC0AC">
                <a:alpha val="55000"/>
              </a:srgbClr>
            </a:solidFill>
            <a:prstDash val="solid"/>
          </a:ln>
        </p:spPr>
      </p:sp>
      <p:sp>
        <p:nvSpPr>
          <p:cNvPr id="21" name="Shape 18"/>
          <p:cNvSpPr/>
          <p:nvPr/>
        </p:nvSpPr>
        <p:spPr>
          <a:xfrm flipV="1">
            <a:off x="10149840" y="2121408"/>
            <a:ext cx="932688" cy="566928"/>
          </a:xfrm>
          <a:prstGeom prst="line">
            <a:avLst/>
          </a:prstGeom>
          <a:noFill/>
          <a:ln w="9525">
            <a:solidFill>
              <a:srgbClr val="9DC0AC">
                <a:alpha val="55000"/>
              </a:srgbClr>
            </a:solidFill>
            <a:prstDash val="solid"/>
          </a:ln>
        </p:spPr>
      </p:sp>
      <p:sp>
        <p:nvSpPr>
          <p:cNvPr id="22" name="Shape 19"/>
          <p:cNvSpPr/>
          <p:nvPr/>
        </p:nvSpPr>
        <p:spPr>
          <a:xfrm>
            <a:off x="10149840" y="2688336"/>
            <a:ext cx="932688" cy="0"/>
          </a:xfrm>
          <a:prstGeom prst="line">
            <a:avLst/>
          </a:prstGeom>
          <a:noFill/>
          <a:ln w="9525">
            <a:solidFill>
              <a:srgbClr val="9DC0AC">
                <a:alpha val="55000"/>
              </a:srgbClr>
            </a:solidFill>
            <a:prstDash val="solid"/>
          </a:ln>
        </p:spPr>
      </p:sp>
      <p:sp>
        <p:nvSpPr>
          <p:cNvPr id="23" name="Shape 20"/>
          <p:cNvSpPr/>
          <p:nvPr/>
        </p:nvSpPr>
        <p:spPr>
          <a:xfrm>
            <a:off x="10149840" y="2688336"/>
            <a:ext cx="932688" cy="566928"/>
          </a:xfrm>
          <a:prstGeom prst="line">
            <a:avLst/>
          </a:prstGeom>
          <a:noFill/>
          <a:ln w="9525">
            <a:solidFill>
              <a:srgbClr val="9DC0AC">
                <a:alpha val="55000"/>
              </a:srgbClr>
            </a:solidFill>
            <a:prstDash val="solid"/>
          </a:ln>
        </p:spPr>
      </p:sp>
      <p:sp>
        <p:nvSpPr>
          <p:cNvPr id="24" name="Shape 21"/>
          <p:cNvSpPr/>
          <p:nvPr/>
        </p:nvSpPr>
        <p:spPr>
          <a:xfrm>
            <a:off x="10149840" y="2688336"/>
            <a:ext cx="932688" cy="1133856"/>
          </a:xfrm>
          <a:prstGeom prst="line">
            <a:avLst/>
          </a:prstGeom>
          <a:noFill/>
          <a:ln w="9525">
            <a:solidFill>
              <a:srgbClr val="9DC0AC">
                <a:alpha val="55000"/>
              </a:srgbClr>
            </a:solidFill>
            <a:prstDash val="solid"/>
          </a:ln>
        </p:spPr>
      </p:sp>
      <p:sp>
        <p:nvSpPr>
          <p:cNvPr id="25" name="Shape 22"/>
          <p:cNvSpPr/>
          <p:nvPr/>
        </p:nvSpPr>
        <p:spPr>
          <a:xfrm>
            <a:off x="10149840" y="2688336"/>
            <a:ext cx="932688" cy="1700784"/>
          </a:xfrm>
          <a:prstGeom prst="line">
            <a:avLst/>
          </a:prstGeom>
          <a:noFill/>
          <a:ln w="9525">
            <a:solidFill>
              <a:srgbClr val="9DC0AC">
                <a:alpha val="55000"/>
              </a:srgbClr>
            </a:solidFill>
            <a:prstDash val="solid"/>
          </a:ln>
        </p:spPr>
      </p:sp>
      <p:sp>
        <p:nvSpPr>
          <p:cNvPr id="26" name="Shape 23"/>
          <p:cNvSpPr/>
          <p:nvPr/>
        </p:nvSpPr>
        <p:spPr>
          <a:xfrm flipV="1">
            <a:off x="10149840" y="1554480"/>
            <a:ext cx="932688" cy="1700784"/>
          </a:xfrm>
          <a:prstGeom prst="line">
            <a:avLst/>
          </a:prstGeom>
          <a:noFill/>
          <a:ln w="9525">
            <a:solidFill>
              <a:srgbClr val="9DC0AC">
                <a:alpha val="55000"/>
              </a:srgbClr>
            </a:solidFill>
            <a:prstDash val="solid"/>
          </a:ln>
        </p:spPr>
      </p:sp>
      <p:sp>
        <p:nvSpPr>
          <p:cNvPr id="27" name="Shape 24"/>
          <p:cNvSpPr/>
          <p:nvPr/>
        </p:nvSpPr>
        <p:spPr>
          <a:xfrm flipV="1">
            <a:off x="10149840" y="2121408"/>
            <a:ext cx="932688" cy="1133856"/>
          </a:xfrm>
          <a:prstGeom prst="line">
            <a:avLst/>
          </a:prstGeom>
          <a:noFill/>
          <a:ln w="9525">
            <a:solidFill>
              <a:srgbClr val="9DC0AC">
                <a:alpha val="55000"/>
              </a:srgbClr>
            </a:solidFill>
            <a:prstDash val="solid"/>
          </a:ln>
        </p:spPr>
      </p:sp>
      <p:sp>
        <p:nvSpPr>
          <p:cNvPr id="28" name="Shape 25"/>
          <p:cNvSpPr/>
          <p:nvPr/>
        </p:nvSpPr>
        <p:spPr>
          <a:xfrm flipV="1">
            <a:off x="10149840" y="2688336"/>
            <a:ext cx="932688" cy="566928"/>
          </a:xfrm>
          <a:prstGeom prst="line">
            <a:avLst/>
          </a:prstGeom>
          <a:noFill/>
          <a:ln w="9525">
            <a:solidFill>
              <a:srgbClr val="9DC0AC">
                <a:alpha val="55000"/>
              </a:srgbClr>
            </a:solidFill>
            <a:prstDash val="solid"/>
          </a:ln>
        </p:spPr>
      </p:sp>
      <p:sp>
        <p:nvSpPr>
          <p:cNvPr id="29" name="Shape 26"/>
          <p:cNvSpPr/>
          <p:nvPr/>
        </p:nvSpPr>
        <p:spPr>
          <a:xfrm>
            <a:off x="10149840" y="3255264"/>
            <a:ext cx="932688" cy="0"/>
          </a:xfrm>
          <a:prstGeom prst="line">
            <a:avLst/>
          </a:prstGeom>
          <a:noFill/>
          <a:ln w="9525">
            <a:solidFill>
              <a:srgbClr val="9DC0AC">
                <a:alpha val="55000"/>
              </a:srgbClr>
            </a:solidFill>
            <a:prstDash val="solid"/>
          </a:ln>
        </p:spPr>
      </p:sp>
      <p:sp>
        <p:nvSpPr>
          <p:cNvPr id="30" name="Shape 27"/>
          <p:cNvSpPr/>
          <p:nvPr/>
        </p:nvSpPr>
        <p:spPr>
          <a:xfrm>
            <a:off x="10149840" y="3255264"/>
            <a:ext cx="932688" cy="566928"/>
          </a:xfrm>
          <a:prstGeom prst="line">
            <a:avLst/>
          </a:prstGeom>
          <a:noFill/>
          <a:ln w="9525">
            <a:solidFill>
              <a:srgbClr val="9DC0AC">
                <a:alpha val="55000"/>
              </a:srgbClr>
            </a:solidFill>
            <a:prstDash val="solid"/>
          </a:ln>
        </p:spPr>
      </p:sp>
      <p:sp>
        <p:nvSpPr>
          <p:cNvPr id="31" name="Shape 28"/>
          <p:cNvSpPr/>
          <p:nvPr/>
        </p:nvSpPr>
        <p:spPr>
          <a:xfrm>
            <a:off x="10149840" y="3255264"/>
            <a:ext cx="932688" cy="1133856"/>
          </a:xfrm>
          <a:prstGeom prst="line">
            <a:avLst/>
          </a:prstGeom>
          <a:noFill/>
          <a:ln w="9525">
            <a:solidFill>
              <a:srgbClr val="9DC0AC">
                <a:alpha val="55000"/>
              </a:srgbClr>
            </a:solidFill>
            <a:prstDash val="solid"/>
          </a:ln>
        </p:spPr>
      </p:sp>
      <p:sp>
        <p:nvSpPr>
          <p:cNvPr id="32" name="Shape 29"/>
          <p:cNvSpPr/>
          <p:nvPr/>
        </p:nvSpPr>
        <p:spPr>
          <a:xfrm>
            <a:off x="8686800" y="1417320"/>
            <a:ext cx="274320" cy="274320"/>
          </a:xfrm>
          <a:prstGeom prst="ellipse">
            <a:avLst/>
          </a:prstGeom>
          <a:solidFill>
            <a:schemeClr val="tx2"/>
          </a:solidFill>
          <a:ln w="15875">
            <a:solidFill>
              <a:schemeClr val="accent6"/>
            </a:solidFill>
            <a:prstDash val="solid"/>
          </a:ln>
        </p:spPr>
      </p:sp>
      <p:sp>
        <p:nvSpPr>
          <p:cNvPr id="33" name="Shape 30"/>
          <p:cNvSpPr/>
          <p:nvPr/>
        </p:nvSpPr>
        <p:spPr>
          <a:xfrm>
            <a:off x="8686800" y="1984248"/>
            <a:ext cx="274320" cy="274320"/>
          </a:xfrm>
          <a:prstGeom prst="ellipse">
            <a:avLst/>
          </a:prstGeom>
          <a:solidFill>
            <a:schemeClr val="accent4"/>
          </a:solidFill>
          <a:ln/>
        </p:spPr>
      </p:sp>
      <p:sp>
        <p:nvSpPr>
          <p:cNvPr id="34" name="Shape 31"/>
          <p:cNvSpPr/>
          <p:nvPr/>
        </p:nvSpPr>
        <p:spPr>
          <a:xfrm>
            <a:off x="8686800" y="2551176"/>
            <a:ext cx="274320" cy="274320"/>
          </a:xfrm>
          <a:prstGeom prst="ellipse">
            <a:avLst/>
          </a:prstGeom>
          <a:solidFill>
            <a:schemeClr val="tx2"/>
          </a:solidFill>
          <a:ln w="15875">
            <a:solidFill>
              <a:schemeClr val="accent6"/>
            </a:solidFill>
            <a:prstDash val="solid"/>
          </a:ln>
        </p:spPr>
      </p:sp>
      <p:sp>
        <p:nvSpPr>
          <p:cNvPr id="35" name="Shape 32"/>
          <p:cNvSpPr/>
          <p:nvPr/>
        </p:nvSpPr>
        <p:spPr>
          <a:xfrm>
            <a:off x="8686800" y="3118104"/>
            <a:ext cx="274320" cy="274320"/>
          </a:xfrm>
          <a:prstGeom prst="ellipse">
            <a:avLst/>
          </a:prstGeom>
          <a:solidFill>
            <a:schemeClr val="tx2"/>
          </a:solidFill>
          <a:ln w="15875">
            <a:solidFill>
              <a:schemeClr val="accent6"/>
            </a:solidFill>
            <a:prstDash val="solid"/>
          </a:ln>
        </p:spPr>
      </p:sp>
      <p:sp>
        <p:nvSpPr>
          <p:cNvPr id="36" name="Shape 33"/>
          <p:cNvSpPr/>
          <p:nvPr/>
        </p:nvSpPr>
        <p:spPr>
          <a:xfrm>
            <a:off x="8686800" y="3685032"/>
            <a:ext cx="274320" cy="274320"/>
          </a:xfrm>
          <a:prstGeom prst="ellipse">
            <a:avLst/>
          </a:prstGeom>
          <a:solidFill>
            <a:schemeClr val="accent4"/>
          </a:solidFill>
          <a:ln/>
        </p:spPr>
      </p:sp>
      <p:sp>
        <p:nvSpPr>
          <p:cNvPr id="37" name="Shape 34"/>
          <p:cNvSpPr/>
          <p:nvPr/>
        </p:nvSpPr>
        <p:spPr>
          <a:xfrm>
            <a:off x="8686800" y="4251960"/>
            <a:ext cx="274320" cy="274320"/>
          </a:xfrm>
          <a:prstGeom prst="ellipse">
            <a:avLst/>
          </a:prstGeom>
          <a:solidFill>
            <a:schemeClr val="tx2"/>
          </a:solidFill>
          <a:ln w="15875">
            <a:solidFill>
              <a:schemeClr val="accent6"/>
            </a:solidFill>
            <a:prstDash val="solid"/>
          </a:ln>
        </p:spPr>
      </p:sp>
      <p:sp>
        <p:nvSpPr>
          <p:cNvPr id="38" name="Shape 35"/>
          <p:cNvSpPr/>
          <p:nvPr/>
        </p:nvSpPr>
        <p:spPr>
          <a:xfrm>
            <a:off x="9875520" y="1417320"/>
            <a:ext cx="274320" cy="274320"/>
          </a:xfrm>
          <a:prstGeom prst="ellipse">
            <a:avLst/>
          </a:prstGeom>
          <a:solidFill>
            <a:schemeClr val="tx2"/>
          </a:solidFill>
          <a:ln w="15875">
            <a:solidFill>
              <a:schemeClr val="accent6"/>
            </a:solidFill>
            <a:prstDash val="solid"/>
          </a:ln>
        </p:spPr>
      </p:sp>
      <p:sp>
        <p:nvSpPr>
          <p:cNvPr id="39" name="Shape 36"/>
          <p:cNvSpPr/>
          <p:nvPr/>
        </p:nvSpPr>
        <p:spPr>
          <a:xfrm>
            <a:off x="9875520" y="1984248"/>
            <a:ext cx="274320" cy="274320"/>
          </a:xfrm>
          <a:prstGeom prst="ellipse">
            <a:avLst/>
          </a:prstGeom>
          <a:solidFill>
            <a:schemeClr val="tx2"/>
          </a:solidFill>
          <a:ln w="15875">
            <a:solidFill>
              <a:schemeClr val="accent6"/>
            </a:solidFill>
            <a:prstDash val="solid"/>
          </a:ln>
        </p:spPr>
      </p:sp>
      <p:sp>
        <p:nvSpPr>
          <p:cNvPr id="40" name="Shape 37"/>
          <p:cNvSpPr/>
          <p:nvPr/>
        </p:nvSpPr>
        <p:spPr>
          <a:xfrm>
            <a:off x="9875520" y="2551176"/>
            <a:ext cx="274320" cy="274320"/>
          </a:xfrm>
          <a:prstGeom prst="ellipse">
            <a:avLst/>
          </a:prstGeom>
          <a:solidFill>
            <a:schemeClr val="accent4"/>
          </a:solidFill>
          <a:ln/>
        </p:spPr>
      </p:sp>
      <p:sp>
        <p:nvSpPr>
          <p:cNvPr id="41" name="Shape 38"/>
          <p:cNvSpPr/>
          <p:nvPr/>
        </p:nvSpPr>
        <p:spPr>
          <a:xfrm>
            <a:off x="9875520" y="3118104"/>
            <a:ext cx="274320" cy="274320"/>
          </a:xfrm>
          <a:prstGeom prst="ellipse">
            <a:avLst/>
          </a:prstGeom>
          <a:solidFill>
            <a:schemeClr val="accent4"/>
          </a:solidFill>
          <a:ln/>
        </p:spPr>
      </p:sp>
      <p:sp>
        <p:nvSpPr>
          <p:cNvPr id="42" name="Shape 39"/>
          <p:cNvSpPr/>
          <p:nvPr/>
        </p:nvSpPr>
        <p:spPr>
          <a:xfrm>
            <a:off x="9875520" y="3685032"/>
            <a:ext cx="274320" cy="274320"/>
          </a:xfrm>
          <a:prstGeom prst="ellipse">
            <a:avLst/>
          </a:prstGeom>
          <a:solidFill>
            <a:schemeClr val="tx2"/>
          </a:solidFill>
          <a:ln w="15875">
            <a:solidFill>
              <a:schemeClr val="accent6"/>
            </a:solidFill>
            <a:prstDash val="solid"/>
          </a:ln>
        </p:spPr>
      </p:sp>
      <p:sp>
        <p:nvSpPr>
          <p:cNvPr id="43" name="Shape 40"/>
          <p:cNvSpPr/>
          <p:nvPr/>
        </p:nvSpPr>
        <p:spPr>
          <a:xfrm>
            <a:off x="9875520" y="4251960"/>
            <a:ext cx="274320" cy="274320"/>
          </a:xfrm>
          <a:prstGeom prst="ellipse">
            <a:avLst/>
          </a:prstGeom>
          <a:solidFill>
            <a:schemeClr val="tx2"/>
          </a:solidFill>
          <a:ln w="15875">
            <a:solidFill>
              <a:schemeClr val="accent6"/>
            </a:solidFill>
            <a:prstDash val="solid"/>
          </a:ln>
        </p:spPr>
      </p:sp>
      <p:sp>
        <p:nvSpPr>
          <p:cNvPr id="44" name="Shape 41"/>
          <p:cNvSpPr/>
          <p:nvPr/>
        </p:nvSpPr>
        <p:spPr>
          <a:xfrm>
            <a:off x="11064240" y="1417320"/>
            <a:ext cx="274320" cy="274320"/>
          </a:xfrm>
          <a:prstGeom prst="ellipse">
            <a:avLst/>
          </a:prstGeom>
          <a:solidFill>
            <a:schemeClr val="tx2"/>
          </a:solidFill>
          <a:ln w="15875">
            <a:solidFill>
              <a:schemeClr val="accent6"/>
            </a:solidFill>
            <a:prstDash val="solid"/>
          </a:ln>
        </p:spPr>
      </p:sp>
      <p:sp>
        <p:nvSpPr>
          <p:cNvPr id="45" name="Shape 42"/>
          <p:cNvSpPr/>
          <p:nvPr/>
        </p:nvSpPr>
        <p:spPr>
          <a:xfrm>
            <a:off x="11064240" y="1984248"/>
            <a:ext cx="274320" cy="274320"/>
          </a:xfrm>
          <a:prstGeom prst="ellipse">
            <a:avLst/>
          </a:prstGeom>
          <a:solidFill>
            <a:schemeClr val="tx2"/>
          </a:solidFill>
          <a:ln w="15875">
            <a:solidFill>
              <a:schemeClr val="accent6"/>
            </a:solidFill>
            <a:prstDash val="solid"/>
          </a:ln>
        </p:spPr>
      </p:sp>
      <p:sp>
        <p:nvSpPr>
          <p:cNvPr id="46" name="Shape 43"/>
          <p:cNvSpPr/>
          <p:nvPr/>
        </p:nvSpPr>
        <p:spPr>
          <a:xfrm>
            <a:off x="11064240" y="2551176"/>
            <a:ext cx="274320" cy="274320"/>
          </a:xfrm>
          <a:prstGeom prst="ellipse">
            <a:avLst/>
          </a:prstGeom>
          <a:solidFill>
            <a:schemeClr val="accent4"/>
          </a:solidFill>
          <a:ln/>
        </p:spPr>
      </p:sp>
      <p:sp>
        <p:nvSpPr>
          <p:cNvPr id="47" name="Shape 44"/>
          <p:cNvSpPr/>
          <p:nvPr/>
        </p:nvSpPr>
        <p:spPr>
          <a:xfrm>
            <a:off x="11064240" y="3118104"/>
            <a:ext cx="274320" cy="274320"/>
          </a:xfrm>
          <a:prstGeom prst="ellipse">
            <a:avLst/>
          </a:prstGeom>
          <a:solidFill>
            <a:schemeClr val="tx2"/>
          </a:solidFill>
          <a:ln w="15875">
            <a:solidFill>
              <a:schemeClr val="accent6"/>
            </a:solidFill>
            <a:prstDash val="solid"/>
          </a:ln>
        </p:spPr>
      </p:sp>
      <p:sp>
        <p:nvSpPr>
          <p:cNvPr id="48" name="Shape 45"/>
          <p:cNvSpPr/>
          <p:nvPr/>
        </p:nvSpPr>
        <p:spPr>
          <a:xfrm>
            <a:off x="11064240" y="3685032"/>
            <a:ext cx="274320" cy="274320"/>
          </a:xfrm>
          <a:prstGeom prst="ellipse">
            <a:avLst/>
          </a:prstGeom>
          <a:solidFill>
            <a:schemeClr val="tx2"/>
          </a:solidFill>
          <a:ln w="15875">
            <a:solidFill>
              <a:schemeClr val="accent6"/>
            </a:solidFill>
            <a:prstDash val="solid"/>
          </a:ln>
        </p:spPr>
      </p:sp>
      <p:sp>
        <p:nvSpPr>
          <p:cNvPr id="49" name="Shape 46"/>
          <p:cNvSpPr/>
          <p:nvPr/>
        </p:nvSpPr>
        <p:spPr>
          <a:xfrm>
            <a:off x="11064240" y="4251960"/>
            <a:ext cx="274320" cy="274320"/>
          </a:xfrm>
          <a:prstGeom prst="ellipse">
            <a:avLst/>
          </a:prstGeom>
          <a:solidFill>
            <a:schemeClr val="tx2"/>
          </a:solidFill>
          <a:ln w="15875">
            <a:solidFill>
              <a:schemeClr val="accent6"/>
            </a:solidFill>
            <a:prstDash val="solid"/>
          </a:ln>
        </p:spPr>
      </p:sp>
      <p:sp>
        <p:nvSpPr>
          <p:cNvPr id="50" name="Text 47"/>
          <p:cNvSpPr txBox="1"/>
          <p:nvPr/>
        </p:nvSpPr>
        <p:spPr>
          <a:xfrm>
            <a:off x="11402568" y="2505456"/>
            <a:ext cx="457200" cy="365760"/>
          </a:xfrm>
          <a:prstGeom prst="rect">
            <a:avLst/>
          </a:prstGeom>
          <a:noFill/>
          <a:ln/>
        </p:spPr>
        <p:txBody>
          <a:bodyPr wrap="square" lIns="0" tIns="0" rIns="0" bIns="0" rtlCol="0" anchor="ctr"/>
          <a:lstStyle/>
          <a:p>
            <a:pPr indent="0" marL="0">
              <a:buNone/>
            </a:pPr>
            <a:r>
              <a:rPr lang="en-US" sz="1800" i="1" dirty="0">
                <a:solidFill>
                  <a:schemeClr val="accent4"/>
                </a:solidFill>
                <a:latin typeface="+mj-lt" pitchFamily="34" charset="0"/>
                <a:ea typeface="+mj-lt" pitchFamily="34" charset="-122"/>
                <a:cs typeface="+mj-lt" pitchFamily="34" charset="-120"/>
              </a:rPr>
              <a:t>p</a:t>
            </a:r>
            <a:r>
              <a:rPr lang="en-US" sz="1800" baseline="30000" dirty="0">
                <a:solidFill>
                  <a:schemeClr val="accent4"/>
                </a:solidFill>
                <a:latin typeface="+mj-lt" pitchFamily="34" charset="0"/>
                <a:ea typeface="+mj-lt" pitchFamily="34" charset="-122"/>
                <a:cs typeface="+mj-lt" pitchFamily="34" charset="-120"/>
              </a:rPr>
              <a:t>*</a:t>
            </a:r>
            <a:endParaRPr lang="en-US" sz="1800" dirty="0"/>
          </a:p>
        </p:txBody>
      </p:sp>
      <p:sp>
        <p:nvSpPr>
          <p:cNvPr id="51" name="Text 48"/>
          <p:cNvSpPr txBox="1"/>
          <p:nvPr/>
        </p:nvSpPr>
        <p:spPr>
          <a:xfrm>
            <a:off x="8366760" y="4892040"/>
            <a:ext cx="914400" cy="274320"/>
          </a:xfrm>
          <a:prstGeom prst="rect">
            <a:avLst/>
          </a:prstGeom>
          <a:noFill/>
          <a:ln/>
        </p:spPr>
        <p:txBody>
          <a:bodyPr wrap="square" lIns="0" tIns="0" rIns="0" bIns="0" rtlCol="0" anchor="ctr"/>
          <a:lstStyle/>
          <a:p>
            <a:pPr algn="ctr" indent="0" marL="0">
              <a:buNone/>
            </a:pPr>
            <a:r>
              <a:rPr lang="en-US" sz="1300" i="1" dirty="0">
                <a:solidFill>
                  <a:schemeClr val="accent6"/>
                </a:solidFill>
                <a:latin typeface="+mj-lt" pitchFamily="34" charset="0"/>
                <a:ea typeface="+mj-lt" pitchFamily="34" charset="-122"/>
                <a:cs typeface="+mj-lt" pitchFamily="34" charset="-120"/>
              </a:rPr>
              <a:t>t</a:t>
            </a:r>
            <a:r>
              <a:rPr lang="en-US" sz="1300" dirty="0">
                <a:solidFill>
                  <a:schemeClr val="accent6"/>
                </a:solidFill>
                <a:latin typeface="+mj-lt" pitchFamily="34" charset="0"/>
                <a:ea typeface="+mj-lt" pitchFamily="34" charset="-122"/>
                <a:cs typeface="+mj-lt" pitchFamily="34" charset="-120"/>
              </a:rPr>
              <a:t> = 1</a:t>
            </a:r>
            <a:endParaRPr lang="en-US" sz="1300" dirty="0"/>
          </a:p>
        </p:txBody>
      </p:sp>
      <p:sp>
        <p:nvSpPr>
          <p:cNvPr id="52" name="Text 49"/>
          <p:cNvSpPr txBox="1"/>
          <p:nvPr/>
        </p:nvSpPr>
        <p:spPr>
          <a:xfrm>
            <a:off x="9555480" y="4892040"/>
            <a:ext cx="914400" cy="274320"/>
          </a:xfrm>
          <a:prstGeom prst="rect">
            <a:avLst/>
          </a:prstGeom>
          <a:noFill/>
          <a:ln/>
        </p:spPr>
        <p:txBody>
          <a:bodyPr wrap="square" lIns="0" tIns="0" rIns="0" bIns="0" rtlCol="0" anchor="ctr"/>
          <a:lstStyle/>
          <a:p>
            <a:pPr algn="ctr" indent="0" marL="0">
              <a:buNone/>
            </a:pPr>
            <a:r>
              <a:rPr lang="en-US" sz="1300" i="1" dirty="0">
                <a:solidFill>
                  <a:schemeClr val="accent6"/>
                </a:solidFill>
                <a:latin typeface="+mj-lt" pitchFamily="34" charset="0"/>
                <a:ea typeface="+mj-lt" pitchFamily="34" charset="-122"/>
                <a:cs typeface="+mj-lt" pitchFamily="34" charset="-120"/>
              </a:rPr>
              <a:t>t</a:t>
            </a:r>
            <a:r>
              <a:rPr lang="en-US" sz="1300" dirty="0">
                <a:solidFill>
                  <a:schemeClr val="accent6"/>
                </a:solidFill>
                <a:latin typeface="+mj-lt" pitchFamily="34" charset="0"/>
                <a:ea typeface="+mj-lt" pitchFamily="34" charset="-122"/>
                <a:cs typeface="+mj-lt" pitchFamily="34" charset="-120"/>
              </a:rPr>
              <a:t> = 2</a:t>
            </a:r>
            <a:endParaRPr lang="en-US" sz="1300" dirty="0"/>
          </a:p>
        </p:txBody>
      </p:sp>
      <p:sp>
        <p:nvSpPr>
          <p:cNvPr id="53" name="Text 50"/>
          <p:cNvSpPr txBox="1"/>
          <p:nvPr/>
        </p:nvSpPr>
        <p:spPr>
          <a:xfrm>
            <a:off x="10744200" y="4892040"/>
            <a:ext cx="914400" cy="274320"/>
          </a:xfrm>
          <a:prstGeom prst="rect">
            <a:avLst/>
          </a:prstGeom>
          <a:noFill/>
          <a:ln/>
        </p:spPr>
        <p:txBody>
          <a:bodyPr wrap="square" lIns="0" tIns="0" rIns="0" bIns="0" rtlCol="0" anchor="ctr"/>
          <a:lstStyle/>
          <a:p>
            <a:pPr algn="ctr" indent="0" marL="0">
              <a:buNone/>
            </a:pPr>
            <a:r>
              <a:rPr lang="en-US" sz="1300" i="1" dirty="0">
                <a:solidFill>
                  <a:schemeClr val="accent6"/>
                </a:solidFill>
                <a:latin typeface="+mj-lt" pitchFamily="34" charset="0"/>
                <a:ea typeface="+mj-lt" pitchFamily="34" charset="-122"/>
                <a:cs typeface="+mj-lt" pitchFamily="34" charset="-120"/>
              </a:rPr>
              <a:t>t</a:t>
            </a:r>
            <a:r>
              <a:rPr lang="en-US" sz="1300" dirty="0">
                <a:solidFill>
                  <a:schemeClr val="accent6"/>
                </a:solidFill>
                <a:latin typeface="+mj-lt" pitchFamily="34" charset="0"/>
                <a:ea typeface="+mj-lt" pitchFamily="34" charset="-122"/>
                <a:cs typeface="+mj-lt" pitchFamily="34" charset="-120"/>
              </a:rPr>
              <a:t> = 3</a:t>
            </a:r>
            <a:endParaRPr lang="en-US" sz="1300" dirty="0"/>
          </a:p>
        </p:txBody>
      </p:sp>
      <p:sp>
        <p:nvSpPr>
          <p:cNvPr id="54" name="Text 51"/>
          <p:cNvSpPr txBox="1"/>
          <p:nvPr/>
        </p:nvSpPr>
        <p:spPr>
          <a:xfrm>
            <a:off x="8183880" y="5257800"/>
            <a:ext cx="3657600" cy="274320"/>
          </a:xfrm>
          <a:prstGeom prst="rect">
            <a:avLst/>
          </a:prstGeom>
          <a:noFill/>
          <a:ln/>
        </p:spPr>
        <p:txBody>
          <a:bodyPr wrap="square" lIns="0" tIns="0" rIns="0" bIns="0" rtlCol="0" anchor="ctr"/>
          <a:lstStyle/>
          <a:p>
            <a:pPr algn="ctr" indent="0" marL="0">
              <a:buNone/>
            </a:pPr>
            <a:r>
              <a:rPr lang="en-US" sz="1200" i="1" dirty="0">
                <a:solidFill>
                  <a:schemeClr val="accent6"/>
                </a:solidFill>
              </a:rPr>
              <a:t>K</a:t>
            </a:r>
            <a:r>
              <a:rPr lang="en-US" sz="1200" dirty="0">
                <a:solidFill>
                  <a:schemeClr val="accent6"/>
                </a:solidFill>
              </a:rPr>
              <a:t> = 6 candidates  ·  </a:t>
            </a:r>
            <a:r>
              <a:rPr lang="en-US" sz="1200" i="1" dirty="0">
                <a:solidFill>
                  <a:schemeClr val="accent6"/>
                </a:solidFill>
              </a:rPr>
              <a:t>M</a:t>
            </a:r>
            <a:r>
              <a:rPr lang="en-US" sz="1200" dirty="0">
                <a:solidFill>
                  <a:schemeClr val="accent6"/>
                </a:solidFill>
              </a:rPr>
              <a:t> = 2 parents  ·  </a:t>
            </a:r>
            <a:r>
              <a:rPr lang="en-US" sz="1200" i="1" dirty="0">
                <a:solidFill>
                  <a:schemeClr val="accent6"/>
                </a:solidFill>
              </a:rPr>
              <a:t>T</a:t>
            </a:r>
            <a:r>
              <a:rPr lang="en-US" sz="1200" dirty="0">
                <a:solidFill>
                  <a:schemeClr val="accent6"/>
                </a:solidFill>
              </a:rPr>
              <a:t> = 3 rounds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OVERVIEW</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Outline</a:t>
            </a:r>
            <a:endParaRPr lang="en-US" sz="3000" dirty="0"/>
          </a:p>
        </p:txBody>
      </p:sp>
      <p:sp>
        <p:nvSpPr>
          <p:cNvPr id="4" name="Text 2"/>
          <p:cNvSpPr txBox="1"/>
          <p:nvPr/>
        </p:nvSpPr>
        <p:spPr>
          <a:xfrm>
            <a:off x="548640"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1</a:t>
            </a:r>
            <a:endParaRPr lang="en-US" sz="1800" dirty="0"/>
          </a:p>
        </p:txBody>
      </p:sp>
      <p:sp>
        <p:nvSpPr>
          <p:cNvPr id="5" name="Text 3"/>
          <p:cNvSpPr txBox="1"/>
          <p:nvPr/>
        </p:nvSpPr>
        <p:spPr>
          <a:xfrm>
            <a:off x="1280160" y="1600200"/>
            <a:ext cx="5669280" cy="36576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Motivation</a:t>
            </a:r>
            <a:endParaRPr lang="en-US" sz="2000" dirty="0"/>
          </a:p>
        </p:txBody>
      </p:sp>
      <p:sp>
        <p:nvSpPr>
          <p:cNvPr id="6" name="Text 4"/>
          <p:cNvSpPr txBox="1"/>
          <p:nvPr/>
        </p:nvSpPr>
        <p:spPr>
          <a:xfrm>
            <a:off x="1280160" y="1984248"/>
            <a:ext cx="5669280" cy="365760"/>
          </a:xfrm>
          <a:prstGeom prst="rect">
            <a:avLst/>
          </a:prstGeom>
          <a:noFill/>
          <a:ln/>
        </p:spPr>
        <p:txBody>
          <a:bodyPr wrap="square" lIns="0" tIns="0" rIns="0" bIns="0" rtlCol="0" anchor="t"/>
          <a:lstStyle/>
          <a:p>
            <a:pPr indent="0" marL="0">
              <a:buNone/>
            </a:pPr>
            <a:r>
              <a:rPr lang="en-US" sz="1500" dirty="0">
                <a:solidFill>
                  <a:schemeClr val="accent3"/>
                </a:solidFill>
              </a:rPr>
              <a:t>Why prompt optimization on sensitive data needs formal privacy</a:t>
            </a:r>
            <a:endParaRPr lang="en-US" sz="1500" dirty="0"/>
          </a:p>
        </p:txBody>
      </p:sp>
      <p:sp>
        <p:nvSpPr>
          <p:cNvPr id="7" name="Text 5"/>
          <p:cNvSpPr txBox="1"/>
          <p:nvPr/>
        </p:nvSpPr>
        <p:spPr>
          <a:xfrm>
            <a:off x="548640" y="2542032"/>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2</a:t>
            </a:r>
            <a:endParaRPr lang="en-US" sz="1800" dirty="0"/>
          </a:p>
        </p:txBody>
      </p:sp>
      <p:sp>
        <p:nvSpPr>
          <p:cNvPr id="8" name="Text 6"/>
          <p:cNvSpPr txBox="1"/>
          <p:nvPr/>
        </p:nvSpPr>
        <p:spPr>
          <a:xfrm>
            <a:off x="1280160" y="2496312"/>
            <a:ext cx="5669280" cy="36576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Diagnosis</a:t>
            </a:r>
            <a:endParaRPr lang="en-US" sz="2000" dirty="0"/>
          </a:p>
        </p:txBody>
      </p:sp>
      <p:sp>
        <p:nvSpPr>
          <p:cNvPr id="9" name="Text 7"/>
          <p:cNvSpPr txBox="1"/>
          <p:nvPr/>
        </p:nvSpPr>
        <p:spPr>
          <a:xfrm>
            <a:off x="1280160" y="2880360"/>
            <a:ext cx="5669280" cy="365760"/>
          </a:xfrm>
          <a:prstGeom prst="rect">
            <a:avLst/>
          </a:prstGeom>
          <a:noFill/>
          <a:ln/>
        </p:spPr>
        <p:txBody>
          <a:bodyPr wrap="square" lIns="0" tIns="0" rIns="0" bIns="0" rtlCol="0" anchor="t"/>
          <a:lstStyle/>
          <a:p>
            <a:pPr indent="0" marL="0">
              <a:buNone/>
            </a:pPr>
            <a:r>
              <a:rPr lang="en-US" sz="1500" dirty="0">
                <a:solidFill>
                  <a:schemeClr val="accent3"/>
                </a:solidFill>
              </a:rPr>
              <a:t>Why token-level DP prompt construction is unstable under tight budgets</a:t>
            </a:r>
            <a:endParaRPr lang="en-US" sz="1500" dirty="0"/>
          </a:p>
        </p:txBody>
      </p:sp>
      <p:sp>
        <p:nvSpPr>
          <p:cNvPr id="10" name="Text 8"/>
          <p:cNvSpPr txBox="1"/>
          <p:nvPr/>
        </p:nvSpPr>
        <p:spPr>
          <a:xfrm>
            <a:off x="548640" y="3438144"/>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3</a:t>
            </a:r>
            <a:endParaRPr lang="en-US" sz="1800" dirty="0"/>
          </a:p>
        </p:txBody>
      </p:sp>
      <p:sp>
        <p:nvSpPr>
          <p:cNvPr id="11" name="Text 9"/>
          <p:cNvSpPr txBox="1"/>
          <p:nvPr/>
        </p:nvSpPr>
        <p:spPr>
          <a:xfrm>
            <a:off x="1280160" y="3392424"/>
            <a:ext cx="5669280" cy="36576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Method</a:t>
            </a:r>
            <a:endParaRPr lang="en-US" sz="2000" dirty="0"/>
          </a:p>
        </p:txBody>
      </p:sp>
      <p:sp>
        <p:nvSpPr>
          <p:cNvPr id="12" name="Text 10"/>
          <p:cNvSpPr txBox="1"/>
          <p:nvPr/>
        </p:nvSpPr>
        <p:spPr>
          <a:xfrm>
            <a:off x="1280160" y="3776472"/>
            <a:ext cx="5669280" cy="365760"/>
          </a:xfrm>
          <a:prstGeom prst="rect">
            <a:avLst/>
          </a:prstGeom>
          <a:noFill/>
          <a:ln/>
        </p:spPr>
        <p:txBody>
          <a:bodyPr wrap="square" lIns="0" tIns="0" rIns="0" bIns="0" rtlCol="0" anchor="t"/>
          <a:lstStyle/>
          <a:p>
            <a:pPr indent="0" marL="0">
              <a:buNone/>
            </a:pPr>
            <a:r>
              <a:rPr lang="en-US" sz="1500" dirty="0">
                <a:solidFill>
                  <a:schemeClr val="accent3"/>
                </a:solidFill>
              </a:rPr>
              <a:t>DP-ES: privacy-free mutation, private scoring, post-processed selection</a:t>
            </a:r>
            <a:endParaRPr lang="en-US" sz="1500" dirty="0"/>
          </a:p>
        </p:txBody>
      </p:sp>
      <p:sp>
        <p:nvSpPr>
          <p:cNvPr id="13" name="Text 11"/>
          <p:cNvSpPr txBox="1"/>
          <p:nvPr/>
        </p:nvSpPr>
        <p:spPr>
          <a:xfrm>
            <a:off x="548640" y="4334256"/>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4</a:t>
            </a:r>
            <a:endParaRPr lang="en-US" sz="1800" dirty="0"/>
          </a:p>
        </p:txBody>
      </p:sp>
      <p:sp>
        <p:nvSpPr>
          <p:cNvPr id="14" name="Text 12"/>
          <p:cNvSpPr txBox="1"/>
          <p:nvPr/>
        </p:nvSpPr>
        <p:spPr>
          <a:xfrm>
            <a:off x="1280160" y="4288536"/>
            <a:ext cx="5669280" cy="36576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Results</a:t>
            </a:r>
            <a:endParaRPr lang="en-US" sz="2000" dirty="0"/>
          </a:p>
        </p:txBody>
      </p:sp>
      <p:sp>
        <p:nvSpPr>
          <p:cNvPr id="15" name="Text 13"/>
          <p:cNvSpPr txBox="1"/>
          <p:nvPr/>
        </p:nvSpPr>
        <p:spPr>
          <a:xfrm>
            <a:off x="1280160" y="4672584"/>
            <a:ext cx="5669280" cy="365760"/>
          </a:xfrm>
          <a:prstGeom prst="rect">
            <a:avLst/>
          </a:prstGeom>
          <a:noFill/>
          <a:ln/>
        </p:spPr>
        <p:txBody>
          <a:bodyPr wrap="square" lIns="0" tIns="0" rIns="0" bIns="0" rtlCol="0" anchor="t"/>
          <a:lstStyle/>
          <a:p>
            <a:pPr indent="0" marL="0">
              <a:buNone/>
            </a:pPr>
            <a:r>
              <a:rPr lang="en-US" sz="1500" dirty="0">
                <a:solidFill>
                  <a:schemeClr val="accent3"/>
                </a:solidFill>
              </a:rPr>
              <a:t>Accuracy, stability, efficiency, ablations, memorization stress test</a:t>
            </a:r>
            <a:endParaRPr lang="en-US" sz="1500" dirty="0"/>
          </a:p>
        </p:txBody>
      </p:sp>
      <p:sp>
        <p:nvSpPr>
          <p:cNvPr id="16" name="Text 14"/>
          <p:cNvSpPr txBox="1"/>
          <p:nvPr/>
        </p:nvSpPr>
        <p:spPr>
          <a:xfrm>
            <a:off x="548640" y="5230368"/>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5</a:t>
            </a:r>
            <a:endParaRPr lang="en-US" sz="1800" dirty="0"/>
          </a:p>
        </p:txBody>
      </p:sp>
      <p:sp>
        <p:nvSpPr>
          <p:cNvPr id="17" name="Text 15"/>
          <p:cNvSpPr txBox="1"/>
          <p:nvPr/>
        </p:nvSpPr>
        <p:spPr>
          <a:xfrm>
            <a:off x="1280160" y="5184648"/>
            <a:ext cx="5669280" cy="36576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Scope</a:t>
            </a:r>
            <a:endParaRPr lang="en-US" sz="2000" dirty="0"/>
          </a:p>
        </p:txBody>
      </p:sp>
      <p:sp>
        <p:nvSpPr>
          <p:cNvPr id="18" name="Text 16"/>
          <p:cNvSpPr txBox="1"/>
          <p:nvPr/>
        </p:nvSpPr>
        <p:spPr>
          <a:xfrm>
            <a:off x="1280160" y="5568696"/>
            <a:ext cx="5669280" cy="365760"/>
          </a:xfrm>
          <a:prstGeom prst="rect">
            <a:avLst/>
          </a:prstGeom>
          <a:noFill/>
          <a:ln/>
        </p:spPr>
        <p:txBody>
          <a:bodyPr wrap="square" lIns="0" tIns="0" rIns="0" bIns="0" rtlCol="0" anchor="t"/>
          <a:lstStyle/>
          <a:p>
            <a:pPr indent="0" marL="0">
              <a:buNone/>
            </a:pPr>
            <a:r>
              <a:rPr lang="en-US" sz="1500" dirty="0">
                <a:solidFill>
                  <a:schemeClr val="accent3"/>
                </a:solidFill>
              </a:rPr>
              <a:t>What the evidence does and does not establish</a:t>
            </a:r>
            <a:endParaRPr lang="en-US" sz="1500" dirty="0"/>
          </a:p>
        </p:txBody>
      </p:sp>
      <p:sp>
        <p:nvSpPr>
          <p:cNvPr id="19" name="Shape 17"/>
          <p:cNvSpPr/>
          <p:nvPr/>
        </p:nvSpPr>
        <p:spPr>
          <a:xfrm>
            <a:off x="7406640" y="1600200"/>
            <a:ext cx="4236415" cy="4343400"/>
          </a:xfrm>
          <a:prstGeom prst="roundRect">
            <a:avLst>
              <a:gd name="adj" fmla="val 1727"/>
            </a:avLst>
          </a:prstGeom>
          <a:solidFill>
            <a:schemeClr val="bg2"/>
          </a:solidFill>
          <a:ln/>
        </p:spPr>
      </p:sp>
      <p:sp>
        <p:nvSpPr>
          <p:cNvPr id="20" name="Text 18"/>
          <p:cNvSpPr txBox="1"/>
          <p:nvPr/>
        </p:nvSpPr>
        <p:spPr>
          <a:xfrm>
            <a:off x="7726680" y="1874520"/>
            <a:ext cx="3657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THE TALK IN ONE SENTENCE</a:t>
            </a:r>
            <a:endParaRPr lang="en-US" sz="1200" dirty="0"/>
          </a:p>
        </p:txBody>
      </p:sp>
      <p:sp>
        <p:nvSpPr>
          <p:cNvPr id="21" name="Text 19"/>
          <p:cNvSpPr txBox="1"/>
          <p:nvPr/>
        </p:nvSpPr>
        <p:spPr>
          <a:xfrm>
            <a:off x="7726680" y="2286000"/>
            <a:ext cx="3611880" cy="2194560"/>
          </a:xfrm>
          <a:prstGeom prst="rect">
            <a:avLst/>
          </a:prstGeom>
          <a:noFill/>
          <a:ln/>
        </p:spPr>
        <p:txBody>
          <a:bodyPr wrap="square" lIns="0" tIns="0" rIns="0" bIns="0" rtlCol="0" anchor="t"/>
          <a:lstStyle/>
          <a:p>
            <a:pPr indent="0" marL="0">
              <a:lnSpc>
                <a:spcPct val="105000"/>
              </a:lnSpc>
              <a:buNone/>
            </a:pPr>
            <a:r>
              <a:rPr lang="en-US" sz="2000" i="1" dirty="0">
                <a:solidFill>
                  <a:schemeClr val="tx2"/>
                </a:solidFill>
                <a:latin typeface="+mj-lt" pitchFamily="34" charset="0"/>
                <a:ea typeface="+mj-lt" pitchFamily="34" charset="-122"/>
                <a:cs typeface="+mj-lt" pitchFamily="34" charset="-120"/>
              </a:rPr>
              <a:t>Evolving a population of complete prompts — instead of building one prompt token by token — makes differentially private prompt optimization markedly more robust at ε ≤ 1.</a:t>
            </a:r>
            <a:endParaRPr lang="en-US" sz="2000" dirty="0"/>
          </a:p>
        </p:txBody>
      </p:sp>
      <p:sp>
        <p:nvSpPr>
          <p:cNvPr id="22" name="Text 20"/>
          <p:cNvSpPr txBox="1"/>
          <p:nvPr/>
        </p:nvSpPr>
        <p:spPr>
          <a:xfrm>
            <a:off x="7726680" y="4709160"/>
            <a:ext cx="1188720" cy="457200"/>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88.1%</a:t>
            </a:r>
            <a:endParaRPr lang="en-US" sz="2400" dirty="0"/>
          </a:p>
        </p:txBody>
      </p:sp>
      <p:sp>
        <p:nvSpPr>
          <p:cNvPr id="23" name="Text 21"/>
          <p:cNvSpPr txBox="1"/>
          <p:nvPr/>
        </p:nvSpPr>
        <p:spPr>
          <a:xfrm>
            <a:off x="7726680" y="5193792"/>
            <a:ext cx="1188720" cy="274320"/>
          </a:xfrm>
          <a:prstGeom prst="rect">
            <a:avLst/>
          </a:prstGeom>
          <a:noFill/>
          <a:ln/>
        </p:spPr>
        <p:txBody>
          <a:bodyPr wrap="square" lIns="0" tIns="0" rIns="0" bIns="0" rtlCol="0" anchor="t"/>
          <a:lstStyle/>
          <a:p>
            <a:pPr indent="0" marL="0">
              <a:buNone/>
            </a:pPr>
            <a:r>
              <a:rPr lang="en-US" sz="1200" dirty="0">
                <a:solidFill>
                  <a:schemeClr val="accent3"/>
                </a:solidFill>
              </a:rPr>
              <a:t>GSM8K</a:t>
            </a:r>
            <a:endParaRPr lang="en-US" sz="1200" dirty="0"/>
          </a:p>
        </p:txBody>
      </p:sp>
      <p:sp>
        <p:nvSpPr>
          <p:cNvPr id="24" name="Text 22"/>
          <p:cNvSpPr txBox="1"/>
          <p:nvPr/>
        </p:nvSpPr>
        <p:spPr>
          <a:xfrm>
            <a:off x="8961120" y="4709160"/>
            <a:ext cx="1188720" cy="457200"/>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~9×</a:t>
            </a:r>
            <a:endParaRPr lang="en-US" sz="2400" dirty="0"/>
          </a:p>
        </p:txBody>
      </p:sp>
      <p:sp>
        <p:nvSpPr>
          <p:cNvPr id="25" name="Text 23"/>
          <p:cNvSpPr txBox="1"/>
          <p:nvPr/>
        </p:nvSpPr>
        <p:spPr>
          <a:xfrm>
            <a:off x="8961120" y="5193792"/>
            <a:ext cx="1188720" cy="274320"/>
          </a:xfrm>
          <a:prstGeom prst="rect">
            <a:avLst/>
          </a:prstGeom>
          <a:noFill/>
          <a:ln/>
        </p:spPr>
        <p:txBody>
          <a:bodyPr wrap="square" lIns="0" tIns="0" rIns="0" bIns="0" rtlCol="0" anchor="t"/>
          <a:lstStyle/>
          <a:p>
            <a:pPr indent="0" marL="0">
              <a:buNone/>
            </a:pPr>
            <a:r>
              <a:rPr lang="en-US" sz="1200" dirty="0">
                <a:solidFill>
                  <a:schemeClr val="accent3"/>
                </a:solidFill>
              </a:rPr>
              <a:t>lower std</a:t>
            </a:r>
            <a:endParaRPr lang="en-US" sz="1200" dirty="0"/>
          </a:p>
        </p:txBody>
      </p:sp>
      <p:sp>
        <p:nvSpPr>
          <p:cNvPr id="26" name="Text 24"/>
          <p:cNvSpPr txBox="1"/>
          <p:nvPr/>
        </p:nvSpPr>
        <p:spPr>
          <a:xfrm>
            <a:off x="10195560" y="4709160"/>
            <a:ext cx="1188720" cy="457200"/>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2.5×</a:t>
            </a:r>
            <a:endParaRPr lang="en-US" sz="2400" dirty="0"/>
          </a:p>
        </p:txBody>
      </p:sp>
      <p:sp>
        <p:nvSpPr>
          <p:cNvPr id="27" name="Text 25"/>
          <p:cNvSpPr txBox="1"/>
          <p:nvPr/>
        </p:nvSpPr>
        <p:spPr>
          <a:xfrm>
            <a:off x="10195560" y="5193792"/>
            <a:ext cx="1188720" cy="274320"/>
          </a:xfrm>
          <a:prstGeom prst="rect">
            <a:avLst/>
          </a:prstGeom>
          <a:noFill/>
          <a:ln/>
        </p:spPr>
        <p:txBody>
          <a:bodyPr wrap="square" lIns="0" tIns="0" rIns="0" bIns="0" rtlCol="0" anchor="t"/>
          <a:lstStyle/>
          <a:p>
            <a:pPr indent="0" marL="0">
              <a:buNone/>
            </a:pPr>
            <a:r>
              <a:rPr lang="en-US" sz="1200" dirty="0">
                <a:solidFill>
                  <a:schemeClr val="accent3"/>
                </a:solidFill>
              </a:rPr>
              <a:t>faster</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MOTIVATION</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Prompt optimizers can memorize private data</a:t>
            </a:r>
            <a:endParaRPr lang="en-US" sz="3000" dirty="0"/>
          </a:p>
        </p:txBody>
      </p:sp>
      <p:sp>
        <p:nvSpPr>
          <p:cNvPr id="4" name="Text 2"/>
          <p:cNvSpPr txBox="1"/>
          <p:nvPr/>
        </p:nvSpPr>
        <p:spPr>
          <a:xfrm>
            <a:off x="6156655" y="329184"/>
            <a:ext cx="5486400" cy="292608"/>
          </a:xfrm>
          <a:prstGeom prst="rect">
            <a:avLst/>
          </a:prstGeom>
          <a:noFill/>
          <a:ln/>
        </p:spPr>
        <p:txBody>
          <a:bodyPr wrap="square" lIns="0" tIns="0" rIns="0" bIns="0" rtlCol="0" anchor="t"/>
          <a:lstStyle/>
          <a:p>
            <a:pPr algn="r" indent="0" marL="0">
              <a:buNone/>
            </a:pPr>
            <a:r>
              <a:rPr lang="en-US" sz="1100" b="1" dirty="0">
                <a:solidFill>
                  <a:schemeClr val="accent1"/>
                </a:solidFill>
              </a:rPr>
              <a:t>Motivation</a:t>
            </a:r>
            <a:r>
              <a:rPr lang="en-US" sz="1100" dirty="0">
                <a:solidFill>
                  <a:schemeClr val="accent3"/>
                </a:solidFill>
              </a:rPr>
              <a:t>   ·   </a:t>
            </a:r>
            <a:r>
              <a:rPr lang="en-US" sz="1100" dirty="0">
                <a:solidFill>
                  <a:schemeClr val="accent3"/>
                </a:solidFill>
              </a:rPr>
              <a:t>Diagnosis</a:t>
            </a:r>
            <a:r>
              <a:rPr lang="en-US" sz="1100" dirty="0">
                <a:solidFill>
                  <a:schemeClr val="accent3"/>
                </a:solidFill>
              </a:rPr>
              <a:t>   ·   </a:t>
            </a:r>
            <a:r>
              <a:rPr lang="en-US" sz="1100" dirty="0">
                <a:solidFill>
                  <a:schemeClr val="accent3"/>
                </a:solidFill>
              </a:rPr>
              <a:t>Method</a:t>
            </a:r>
            <a:r>
              <a:rPr lang="en-US" sz="1100" dirty="0">
                <a:solidFill>
                  <a:schemeClr val="accent3"/>
                </a:solidFill>
              </a:rPr>
              <a:t>   ·   </a:t>
            </a:r>
            <a:r>
              <a:rPr lang="en-US" sz="1100" dirty="0">
                <a:solidFill>
                  <a:schemeClr val="accent3"/>
                </a:solidFill>
              </a:rPr>
              <a:t>Results</a:t>
            </a:r>
            <a:r>
              <a:rPr lang="en-US" sz="1100" dirty="0">
                <a:solidFill>
                  <a:schemeClr val="accent3"/>
                </a:solidFill>
              </a:rPr>
              <a:t>   ·   </a:t>
            </a:r>
            <a:r>
              <a:rPr lang="en-US" sz="1100" dirty="0">
                <a:solidFill>
                  <a:schemeClr val="accent3"/>
                </a:solidFill>
              </a:rPr>
              <a:t>Scope</a:t>
            </a:r>
            <a:endParaRPr lang="en-US" sz="1100" dirty="0"/>
          </a:p>
        </p:txBody>
      </p:sp>
      <p:sp>
        <p:nvSpPr>
          <p:cNvPr id="5" name="Shape 3"/>
          <p:cNvSpPr/>
          <p:nvPr/>
        </p:nvSpPr>
        <p:spPr>
          <a:xfrm>
            <a:off x="548640" y="1600200"/>
            <a:ext cx="5029200" cy="3840480"/>
          </a:xfrm>
          <a:prstGeom prst="roundRect">
            <a:avLst>
              <a:gd name="adj" fmla="val 1905"/>
            </a:avLst>
          </a:prstGeom>
          <a:solidFill>
            <a:schemeClr val="accent2">
              <a:alpha val="8000"/>
            </a:schemeClr>
          </a:solidFill>
          <a:ln/>
        </p:spPr>
      </p:sp>
      <p:sp>
        <p:nvSpPr>
          <p:cNvPr id="6" name="Text 4"/>
          <p:cNvSpPr txBox="1"/>
          <p:nvPr/>
        </p:nvSpPr>
        <p:spPr>
          <a:xfrm>
            <a:off x="914400" y="1874520"/>
            <a:ext cx="438912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WHAT A NAIVE OPTIMIZER CAN OUTPUT</a:t>
            </a:r>
            <a:endParaRPr lang="en-US" sz="1200" dirty="0"/>
          </a:p>
        </p:txBody>
      </p:sp>
      <p:sp>
        <p:nvSpPr>
          <p:cNvPr id="7" name="Text 5"/>
          <p:cNvSpPr txBox="1"/>
          <p:nvPr/>
        </p:nvSpPr>
        <p:spPr>
          <a:xfrm>
            <a:off x="914400" y="2377440"/>
            <a:ext cx="4297680" cy="1463040"/>
          </a:xfrm>
          <a:prstGeom prst="rect">
            <a:avLst/>
          </a:prstGeom>
          <a:noFill/>
          <a:ln/>
        </p:spPr>
        <p:txBody>
          <a:bodyPr wrap="square" lIns="0" tIns="0" rIns="0" bIns="0" rtlCol="0" anchor="t"/>
          <a:lstStyle/>
          <a:p>
            <a:pPr indent="0" marL="0">
              <a:buNone/>
            </a:pPr>
            <a:r>
              <a:rPr lang="en-US" sz="2600" i="1" dirty="0">
                <a:solidFill>
                  <a:schemeClr val="tx2"/>
                </a:solidFill>
                <a:latin typeface="+mj-lt" pitchFamily="34" charset="0"/>
                <a:ea typeface="+mj-lt" pitchFamily="34" charset="-122"/>
                <a:cs typeface="+mj-lt" pitchFamily="34" charset="-120"/>
              </a:rPr>
              <a:t>“Remember how patient #12847 had atrial fibrillation …”</a:t>
            </a:r>
            <a:endParaRPr lang="en-US" sz="2600" dirty="0"/>
          </a:p>
        </p:txBody>
      </p:sp>
      <p:sp>
        <p:nvSpPr>
          <p:cNvPr id="8" name="Text 6"/>
          <p:cNvSpPr txBox="1"/>
          <p:nvPr/>
        </p:nvSpPr>
        <p:spPr>
          <a:xfrm>
            <a:off x="914400" y="3520440"/>
            <a:ext cx="4297680" cy="731520"/>
          </a:xfrm>
          <a:prstGeom prst="rect">
            <a:avLst/>
          </a:prstGeom>
          <a:noFill/>
          <a:ln/>
        </p:spPr>
        <p:txBody>
          <a:bodyPr wrap="square" lIns="0" tIns="0" rIns="0" bIns="0" rtlCol="0" anchor="t"/>
          <a:lstStyle/>
          <a:p>
            <a:pPr indent="0" marL="0">
              <a:buNone/>
            </a:pPr>
            <a:r>
              <a:rPr lang="en-US" sz="1500" dirty="0">
                <a:solidFill>
                  <a:schemeClr val="tx1"/>
                </a:solidFill>
              </a:rPr>
              <a:t>An illustrative optimized prompt that copies a record from the optimization set.</a:t>
            </a:r>
            <a:endParaRPr lang="en-US" sz="1500" dirty="0"/>
          </a:p>
        </p:txBody>
      </p:sp>
      <p:pic>
        <p:nvPicPr>
          <p:cNvPr id="9" name="Image 0" descr="UserSecret icon">    </p:cNvPr>
          <p:cNvPicPr>
            <a:picLocks noChangeAspect="1"/>
          </p:cNvPicPr>
          <p:nvPr/>
        </p:nvPicPr>
        <p:blipFill>
          <a:blip r:embed="rId1"/>
          <a:stretch>
            <a:fillRect/>
          </a:stretch>
        </p:blipFill>
        <p:spPr>
          <a:xfrm>
            <a:off x="914400" y="4453128"/>
            <a:ext cx="310896" cy="310896"/>
          </a:xfrm>
          <a:prstGeom prst="rect">
            <a:avLst/>
          </a:prstGeom>
        </p:spPr>
      </p:pic>
      <p:sp>
        <p:nvSpPr>
          <p:cNvPr id="10" name="Text 7"/>
          <p:cNvSpPr txBox="1"/>
          <p:nvPr/>
        </p:nvSpPr>
        <p:spPr>
          <a:xfrm>
            <a:off x="1417320" y="4389120"/>
            <a:ext cx="3840480" cy="914400"/>
          </a:xfrm>
          <a:prstGeom prst="rect">
            <a:avLst/>
          </a:prstGeom>
          <a:noFill/>
          <a:ln/>
        </p:spPr>
        <p:txBody>
          <a:bodyPr wrap="square" lIns="0" tIns="0" rIns="0" bIns="0" rtlCol="0" anchor="t"/>
          <a:lstStyle/>
          <a:p>
            <a:pPr indent="0" marL="0">
              <a:buNone/>
            </a:pPr>
            <a:r>
              <a:rPr lang="en-US" sz="1300" dirty="0">
                <a:solidFill>
                  <a:schemeClr val="accent3"/>
                </a:solidFill>
              </a:rPr>
              <a:t>Membership-inference and extraction attacks on LLMs make this a practical risk (Wang et al., 2023; Fu et al., 2023; Shanmugarasa et al., 2025).</a:t>
            </a:r>
            <a:endParaRPr lang="en-US" sz="1300" dirty="0"/>
          </a:p>
        </p:txBody>
      </p:sp>
      <p:sp>
        <p:nvSpPr>
          <p:cNvPr id="11" name="Shape 8"/>
          <p:cNvSpPr/>
          <p:nvPr/>
        </p:nvSpPr>
        <p:spPr>
          <a:xfrm>
            <a:off x="6126480" y="1645920"/>
            <a:ext cx="640080" cy="640080"/>
          </a:xfrm>
          <a:prstGeom prst="ellipse">
            <a:avLst/>
          </a:prstGeom>
          <a:solidFill>
            <a:srgbClr val="173A2C"/>
          </a:solidFill>
          <a:ln/>
        </p:spPr>
      </p:sp>
      <p:pic>
        <p:nvPicPr>
          <p:cNvPr id="12" name="Image 1" descr="NotesMedical icon">    </p:cNvPr>
          <p:cNvPicPr>
            <a:picLocks noChangeAspect="1"/>
          </p:cNvPicPr>
          <p:nvPr/>
        </p:nvPicPr>
        <p:blipFill>
          <a:blip r:embed="rId2"/>
          <a:stretch>
            <a:fillRect/>
          </a:stretch>
        </p:blipFill>
        <p:spPr>
          <a:xfrm>
            <a:off x="6286500" y="1805940"/>
            <a:ext cx="320040" cy="320040"/>
          </a:xfrm>
          <a:prstGeom prst="rect">
            <a:avLst/>
          </a:prstGeom>
        </p:spPr>
      </p:pic>
      <p:sp>
        <p:nvSpPr>
          <p:cNvPr id="13" name="Text 9"/>
          <p:cNvSpPr txBox="1"/>
          <p:nvPr/>
        </p:nvSpPr>
        <p:spPr>
          <a:xfrm>
            <a:off x="6995160" y="1627632"/>
            <a:ext cx="4645152" cy="365760"/>
          </a:xfrm>
          <a:prstGeom prst="rect">
            <a:avLst/>
          </a:prstGeom>
          <a:noFill/>
          <a:ln/>
        </p:spPr>
        <p:txBody>
          <a:bodyPr wrap="square" lIns="0" tIns="0" rIns="0" bIns="0" rtlCol="0" anchor="t"/>
          <a:lstStyle/>
          <a:p>
            <a:pPr indent="0" marL="0">
              <a:buNone/>
            </a:pPr>
            <a:r>
              <a:rPr lang="en-US" sz="1900" b="1" dirty="0">
                <a:solidFill>
                  <a:schemeClr val="tx2"/>
                </a:solidFill>
                <a:latin typeface="+mj-lt" pitchFamily="34" charset="0"/>
                <a:ea typeface="+mj-lt" pitchFamily="34" charset="-122"/>
                <a:cs typeface="+mj-lt" pitchFamily="34" charset="-120"/>
              </a:rPr>
              <a:t>Sensitive optimization data</a:t>
            </a:r>
            <a:endParaRPr lang="en-US" sz="1900" dirty="0"/>
          </a:p>
        </p:txBody>
      </p:sp>
      <p:sp>
        <p:nvSpPr>
          <p:cNvPr id="14" name="Text 10"/>
          <p:cNvSpPr txBox="1"/>
          <p:nvPr/>
        </p:nvSpPr>
        <p:spPr>
          <a:xfrm>
            <a:off x="6995160" y="2011680"/>
            <a:ext cx="4645152" cy="914400"/>
          </a:xfrm>
          <a:prstGeom prst="rect">
            <a:avLst/>
          </a:prstGeom>
          <a:noFill/>
          <a:ln/>
        </p:spPr>
        <p:txBody>
          <a:bodyPr wrap="square" lIns="0" tIns="0" rIns="0" bIns="0" rtlCol="0" anchor="t"/>
          <a:lstStyle/>
          <a:p>
            <a:pPr indent="0" marL="0">
              <a:buNone/>
            </a:pPr>
            <a:r>
              <a:rPr lang="en-US" sz="1500" dirty="0">
                <a:solidFill>
                  <a:schemeClr val="tx1"/>
                </a:solidFill>
              </a:rPr>
              <a:t>Optimizers such as APE, OPRO and TextGrad tune prompts on task data — e.g., patient records or financial logs — with no privacy guarantee.</a:t>
            </a:r>
            <a:endParaRPr lang="en-US" sz="1500" dirty="0"/>
          </a:p>
        </p:txBody>
      </p:sp>
      <p:sp>
        <p:nvSpPr>
          <p:cNvPr id="15" name="Shape 11"/>
          <p:cNvSpPr/>
          <p:nvPr/>
        </p:nvSpPr>
        <p:spPr>
          <a:xfrm>
            <a:off x="6126480" y="2971800"/>
            <a:ext cx="640080" cy="640080"/>
          </a:xfrm>
          <a:prstGeom prst="ellipse">
            <a:avLst/>
          </a:prstGeom>
          <a:solidFill>
            <a:srgbClr val="173A2C"/>
          </a:solidFill>
          <a:ln/>
        </p:spPr>
      </p:sp>
      <p:pic>
        <p:nvPicPr>
          <p:cNvPr id="16" name="Image 2" descr="Cloud icon">    </p:cNvPr>
          <p:cNvPicPr>
            <a:picLocks noChangeAspect="1"/>
          </p:cNvPicPr>
          <p:nvPr/>
        </p:nvPicPr>
        <p:blipFill>
          <a:blip r:embed="rId3"/>
          <a:stretch>
            <a:fillRect/>
          </a:stretch>
        </p:blipFill>
        <p:spPr>
          <a:xfrm>
            <a:off x="6286500" y="3131820"/>
            <a:ext cx="320040" cy="320040"/>
          </a:xfrm>
          <a:prstGeom prst="rect">
            <a:avLst/>
          </a:prstGeom>
        </p:spPr>
      </p:pic>
      <p:sp>
        <p:nvSpPr>
          <p:cNvPr id="17" name="Text 12"/>
          <p:cNvSpPr txBox="1"/>
          <p:nvPr/>
        </p:nvSpPr>
        <p:spPr>
          <a:xfrm>
            <a:off x="6995160" y="2953512"/>
            <a:ext cx="4645152" cy="365760"/>
          </a:xfrm>
          <a:prstGeom prst="rect">
            <a:avLst/>
          </a:prstGeom>
          <a:noFill/>
          <a:ln/>
        </p:spPr>
        <p:txBody>
          <a:bodyPr wrap="square" lIns="0" tIns="0" rIns="0" bIns="0" rtlCol="0" anchor="t"/>
          <a:lstStyle/>
          <a:p>
            <a:pPr indent="0" marL="0">
              <a:buNone/>
            </a:pPr>
            <a:r>
              <a:rPr lang="en-US" sz="1900" b="1" dirty="0">
                <a:solidFill>
                  <a:schemeClr val="tx2"/>
                </a:solidFill>
                <a:latin typeface="+mj-lt" pitchFamily="34" charset="0"/>
                <a:ea typeface="+mj-lt" pitchFamily="34" charset="-122"/>
                <a:cs typeface="+mj-lt" pitchFamily="34" charset="-120"/>
              </a:rPr>
              <a:t>Black-box LLM APIs</a:t>
            </a:r>
            <a:endParaRPr lang="en-US" sz="1900" dirty="0"/>
          </a:p>
        </p:txBody>
      </p:sp>
      <p:sp>
        <p:nvSpPr>
          <p:cNvPr id="18" name="Text 13"/>
          <p:cNvSpPr txBox="1"/>
          <p:nvPr/>
        </p:nvSpPr>
        <p:spPr>
          <a:xfrm>
            <a:off x="6995160" y="3337560"/>
            <a:ext cx="4645152" cy="914400"/>
          </a:xfrm>
          <a:prstGeom prst="rect">
            <a:avLst/>
          </a:prstGeom>
          <a:noFill/>
          <a:ln/>
        </p:spPr>
        <p:txBody>
          <a:bodyPr wrap="square" lIns="0" tIns="0" rIns="0" bIns="0" rtlCol="0" anchor="t"/>
          <a:lstStyle/>
          <a:p>
            <a:pPr indent="0" marL="0">
              <a:buNone/>
            </a:pPr>
            <a:r>
              <a:rPr lang="en-US" sz="1500" dirty="0">
                <a:solidFill>
                  <a:schemeClr val="tx1"/>
                </a:solidFill>
              </a:rPr>
              <a:t>Frontier models are API-only, so weight-based private training (DP-SGD, DP-LoRA) does not apply.</a:t>
            </a:r>
            <a:endParaRPr lang="en-US" sz="1500" dirty="0"/>
          </a:p>
        </p:txBody>
      </p:sp>
      <p:sp>
        <p:nvSpPr>
          <p:cNvPr id="19" name="Shape 14"/>
          <p:cNvSpPr/>
          <p:nvPr/>
        </p:nvSpPr>
        <p:spPr>
          <a:xfrm>
            <a:off x="6126480" y="4297680"/>
            <a:ext cx="640080" cy="640080"/>
          </a:xfrm>
          <a:prstGeom prst="ellipse">
            <a:avLst/>
          </a:prstGeom>
          <a:solidFill>
            <a:srgbClr val="2E6B4F"/>
          </a:solidFill>
          <a:ln/>
        </p:spPr>
      </p:sp>
      <p:pic>
        <p:nvPicPr>
          <p:cNvPr id="20" name="Image 3" descr="ShieldAlt icon">    </p:cNvPr>
          <p:cNvPicPr>
            <a:picLocks noChangeAspect="1"/>
          </p:cNvPicPr>
          <p:nvPr/>
        </p:nvPicPr>
        <p:blipFill>
          <a:blip r:embed="rId4"/>
          <a:stretch>
            <a:fillRect/>
          </a:stretch>
        </p:blipFill>
        <p:spPr>
          <a:xfrm>
            <a:off x="6286500" y="4457700"/>
            <a:ext cx="320040" cy="320040"/>
          </a:xfrm>
          <a:prstGeom prst="rect">
            <a:avLst/>
          </a:prstGeom>
        </p:spPr>
      </p:pic>
      <p:sp>
        <p:nvSpPr>
          <p:cNvPr id="21" name="Text 15"/>
          <p:cNvSpPr txBox="1"/>
          <p:nvPr/>
        </p:nvSpPr>
        <p:spPr>
          <a:xfrm>
            <a:off x="6995160" y="4279392"/>
            <a:ext cx="4645152" cy="365760"/>
          </a:xfrm>
          <a:prstGeom prst="rect">
            <a:avLst/>
          </a:prstGeom>
          <a:noFill/>
          <a:ln/>
        </p:spPr>
        <p:txBody>
          <a:bodyPr wrap="square" lIns="0" tIns="0" rIns="0" bIns="0" rtlCol="0" anchor="t"/>
          <a:lstStyle/>
          <a:p>
            <a:pPr indent="0" marL="0">
              <a:buNone/>
            </a:pPr>
            <a:r>
              <a:rPr lang="en-US" sz="1900" b="1" dirty="0">
                <a:solidFill>
                  <a:schemeClr val="tx2"/>
                </a:solidFill>
                <a:latin typeface="+mj-lt" pitchFamily="34" charset="0"/>
                <a:ea typeface="+mj-lt" pitchFamily="34" charset="-122"/>
                <a:cs typeface="+mj-lt" pitchFamily="34" charset="-120"/>
              </a:rPr>
              <a:t>What we need</a:t>
            </a:r>
            <a:endParaRPr lang="en-US" sz="1900" dirty="0"/>
          </a:p>
        </p:txBody>
      </p:sp>
      <p:sp>
        <p:nvSpPr>
          <p:cNvPr id="22" name="Text 16"/>
          <p:cNvSpPr txBox="1"/>
          <p:nvPr/>
        </p:nvSpPr>
        <p:spPr>
          <a:xfrm>
            <a:off x="6995160" y="4663440"/>
            <a:ext cx="4645152" cy="914400"/>
          </a:xfrm>
          <a:prstGeom prst="rect">
            <a:avLst/>
          </a:prstGeom>
          <a:noFill/>
          <a:ln/>
        </p:spPr>
        <p:txBody>
          <a:bodyPr wrap="square" lIns="0" tIns="0" rIns="0" bIns="0" rtlCol="0" anchor="t"/>
          <a:lstStyle/>
          <a:p>
            <a:pPr indent="0" marL="0">
              <a:buNone/>
            </a:pPr>
            <a:r>
              <a:rPr lang="en-US" sz="1500" dirty="0">
                <a:solidFill>
                  <a:schemeClr val="tx1"/>
                </a:solidFill>
              </a:rPr>
              <a:t>Formal record-level (ε, δ)-DP for the released prompt — and an optimizer that stays robust under DP noise.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PROBLEM SETTING</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Goal: optimize a discrete prompt under DP</a:t>
            </a:r>
            <a:endParaRPr lang="en-US" sz="3000" dirty="0"/>
          </a:p>
        </p:txBody>
      </p:sp>
      <p:sp>
        <p:nvSpPr>
          <p:cNvPr id="4" name="Text 2"/>
          <p:cNvSpPr txBox="1"/>
          <p:nvPr/>
        </p:nvSpPr>
        <p:spPr>
          <a:xfrm>
            <a:off x="6156655" y="329184"/>
            <a:ext cx="5486400" cy="292608"/>
          </a:xfrm>
          <a:prstGeom prst="rect">
            <a:avLst/>
          </a:prstGeom>
          <a:noFill/>
          <a:ln/>
        </p:spPr>
        <p:txBody>
          <a:bodyPr wrap="square" lIns="0" tIns="0" rIns="0" bIns="0" rtlCol="0" anchor="t"/>
          <a:lstStyle/>
          <a:p>
            <a:pPr algn="r" indent="0" marL="0">
              <a:buNone/>
            </a:pPr>
            <a:r>
              <a:rPr lang="en-US" sz="1100" b="1" dirty="0">
                <a:solidFill>
                  <a:schemeClr val="accent1"/>
                </a:solidFill>
              </a:rPr>
              <a:t>Motivation</a:t>
            </a:r>
            <a:r>
              <a:rPr lang="en-US" sz="1100" dirty="0">
                <a:solidFill>
                  <a:schemeClr val="accent3"/>
                </a:solidFill>
              </a:rPr>
              <a:t>   ·   </a:t>
            </a:r>
            <a:r>
              <a:rPr lang="en-US" sz="1100" dirty="0">
                <a:solidFill>
                  <a:schemeClr val="accent3"/>
                </a:solidFill>
              </a:rPr>
              <a:t>Diagnosis</a:t>
            </a:r>
            <a:r>
              <a:rPr lang="en-US" sz="1100" dirty="0">
                <a:solidFill>
                  <a:schemeClr val="accent3"/>
                </a:solidFill>
              </a:rPr>
              <a:t>   ·   </a:t>
            </a:r>
            <a:r>
              <a:rPr lang="en-US" sz="1100" dirty="0">
                <a:solidFill>
                  <a:schemeClr val="accent3"/>
                </a:solidFill>
              </a:rPr>
              <a:t>Method</a:t>
            </a:r>
            <a:r>
              <a:rPr lang="en-US" sz="1100" dirty="0">
                <a:solidFill>
                  <a:schemeClr val="accent3"/>
                </a:solidFill>
              </a:rPr>
              <a:t>   ·   </a:t>
            </a:r>
            <a:r>
              <a:rPr lang="en-US" sz="1100" dirty="0">
                <a:solidFill>
                  <a:schemeClr val="accent3"/>
                </a:solidFill>
              </a:rPr>
              <a:t>Results</a:t>
            </a:r>
            <a:r>
              <a:rPr lang="en-US" sz="1100" dirty="0">
                <a:solidFill>
                  <a:schemeClr val="accent3"/>
                </a:solidFill>
              </a:rPr>
              <a:t>   ·   </a:t>
            </a:r>
            <a:r>
              <a:rPr lang="en-US" sz="1100" dirty="0">
                <a:solidFill>
                  <a:schemeClr val="accent3"/>
                </a:solidFill>
              </a:rPr>
              <a:t>Scope</a:t>
            </a:r>
            <a:endParaRPr lang="en-US" sz="1100" dirty="0"/>
          </a:p>
        </p:txBody>
      </p:sp>
      <p:sp>
        <p:nvSpPr>
          <p:cNvPr id="5" name="Shape 3"/>
          <p:cNvSpPr/>
          <p:nvPr/>
        </p:nvSpPr>
        <p:spPr>
          <a:xfrm>
            <a:off x="548640" y="1600200"/>
            <a:ext cx="5212080" cy="4023360"/>
          </a:xfrm>
          <a:prstGeom prst="roundRect">
            <a:avLst>
              <a:gd name="adj" fmla="val 1818"/>
            </a:avLst>
          </a:prstGeom>
          <a:solidFill>
            <a:schemeClr val="bg2"/>
          </a:solidFill>
          <a:ln/>
        </p:spPr>
      </p:sp>
      <p:sp>
        <p:nvSpPr>
          <p:cNvPr id="6" name="Text 4"/>
          <p:cNvSpPr txBox="1"/>
          <p:nvPr/>
        </p:nvSpPr>
        <p:spPr>
          <a:xfrm>
            <a:off x="868680" y="1828800"/>
            <a:ext cx="4572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OBJECTIVE</a:t>
            </a:r>
            <a:endParaRPr lang="en-US" sz="1200" dirty="0"/>
          </a:p>
        </p:txBody>
      </p:sp>
      <p:sp>
        <p:nvSpPr>
          <p:cNvPr id="7" name="Text 5"/>
          <p:cNvSpPr txBox="1"/>
          <p:nvPr/>
        </p:nvSpPr>
        <p:spPr>
          <a:xfrm>
            <a:off x="868680" y="2148840"/>
            <a:ext cx="4572000" cy="320040"/>
          </a:xfrm>
          <a:prstGeom prst="rect">
            <a:avLst/>
          </a:prstGeom>
          <a:noFill/>
          <a:ln/>
        </p:spPr>
        <p:txBody>
          <a:bodyPr wrap="square" lIns="0" tIns="0" rIns="0" bIns="0" rtlCol="0" anchor="t"/>
          <a:lstStyle/>
          <a:p>
            <a:pPr indent="0" marL="0">
              <a:buNone/>
            </a:pPr>
            <a:r>
              <a:rPr lang="en-US" sz="1500" dirty="0">
                <a:solidFill>
                  <a:schemeClr val="tx1"/>
                </a:solidFill>
              </a:rPr>
              <a:t>Private dataset </a:t>
            </a:r>
            <a:r>
              <a:rPr lang="en-US" sz="1500" i="1" dirty="0">
                <a:solidFill>
                  <a:schemeClr val="tx1"/>
                </a:solidFill>
              </a:rPr>
              <a:t>D</a:t>
            </a:r>
            <a:r>
              <a:rPr lang="en-US" sz="1500" dirty="0">
                <a:solidFill>
                  <a:schemeClr val="tx1"/>
                </a:solidFill>
              </a:rPr>
              <a:t> = {(</a:t>
            </a:r>
            <a:r>
              <a:rPr lang="en-US" sz="1500" i="1" dirty="0">
                <a:solidFill>
                  <a:schemeClr val="tx1"/>
                </a:solidFill>
              </a:rPr>
              <a:t>x</a:t>
            </a:r>
            <a:r>
              <a:rPr lang="en-US" sz="1500" baseline="-40000" dirty="0">
                <a:solidFill>
                  <a:schemeClr val="tx1"/>
                </a:solidFill>
              </a:rPr>
              <a:t>i</a:t>
            </a:r>
            <a:r>
              <a:rPr lang="en-US" sz="1500" dirty="0">
                <a:solidFill>
                  <a:schemeClr val="tx1"/>
                </a:solidFill>
              </a:rPr>
              <a:t>, </a:t>
            </a:r>
            <a:r>
              <a:rPr lang="en-US" sz="1500" i="1" dirty="0">
                <a:solidFill>
                  <a:schemeClr val="tx1"/>
                </a:solidFill>
              </a:rPr>
              <a:t>y</a:t>
            </a:r>
            <a:r>
              <a:rPr lang="en-US" sz="1500" baseline="-40000" dirty="0">
                <a:solidFill>
                  <a:schemeClr val="tx1"/>
                </a:solidFill>
              </a:rPr>
              <a:t>i</a:t>
            </a:r>
            <a:r>
              <a:rPr lang="en-US" sz="1500" dirty="0">
                <a:solidFill>
                  <a:schemeClr val="tx1"/>
                </a:solidFill>
              </a:rPr>
              <a:t>)}</a:t>
            </a:r>
            <a:r>
              <a:rPr lang="en-US" sz="1500" baseline="-40000" dirty="0">
                <a:solidFill>
                  <a:schemeClr val="tx1"/>
                </a:solidFill>
              </a:rPr>
              <a:t>i=1</a:t>
            </a:r>
            <a:r>
              <a:rPr lang="en-US" sz="1500" baseline="30000" dirty="0">
                <a:solidFill>
                  <a:schemeClr val="tx1"/>
                </a:solidFill>
              </a:rPr>
              <a:t>n</a:t>
            </a:r>
            <a:r>
              <a:rPr lang="en-US" sz="1500" dirty="0">
                <a:solidFill>
                  <a:schemeClr val="tx1"/>
                </a:solidFill>
              </a:rPr>
              <a:t>, prompt space </a:t>
            </a:r>
            <a:r>
              <a:rPr lang="en-US" sz="1500" i="1" dirty="0">
                <a:solidFill>
                  <a:schemeClr val="tx1"/>
                </a:solidFill>
              </a:rPr>
              <a:t>P</a:t>
            </a:r>
            <a:r>
              <a:rPr lang="en-US" sz="1500" dirty="0">
                <a:solidFill>
                  <a:schemeClr val="tx1"/>
                </a:solidFill>
              </a:rPr>
              <a:t>:</a:t>
            </a:r>
            <a:endParaRPr lang="en-US" sz="1500" dirty="0"/>
          </a:p>
        </p:txBody>
      </p:sp>
      <p:sp>
        <p:nvSpPr>
          <p:cNvPr id="8" name="Text 6"/>
          <p:cNvSpPr txBox="1"/>
          <p:nvPr/>
        </p:nvSpPr>
        <p:spPr>
          <a:xfrm>
            <a:off x="868680" y="2560320"/>
            <a:ext cx="4572000" cy="457200"/>
          </a:xfrm>
          <a:prstGeom prst="rect">
            <a:avLst/>
          </a:prstGeom>
          <a:noFill/>
          <a:ln/>
        </p:spPr>
        <p:txBody>
          <a:bodyPr wrap="square" lIns="0" tIns="0" rIns="0" bIns="0" rtlCol="0" anchor="t"/>
          <a:lstStyle/>
          <a:p>
            <a:pPr algn="ctr" indent="0" marL="0">
              <a:buNone/>
            </a:pPr>
            <a:r>
              <a:rPr lang="en-US" sz="2200" i="1" dirty="0">
                <a:solidFill>
                  <a:schemeClr val="tx2"/>
                </a:solidFill>
                <a:latin typeface="+mj-lt" pitchFamily="34" charset="0"/>
                <a:ea typeface="+mj-lt" pitchFamily="34" charset="-122"/>
                <a:cs typeface="+mj-lt" pitchFamily="34" charset="-120"/>
              </a:rPr>
              <a:t>p</a:t>
            </a:r>
            <a:r>
              <a:rPr lang="en-US" sz="2200" baseline="30000" dirty="0">
                <a:solidFill>
                  <a:schemeClr val="tx2"/>
                </a:solidFill>
                <a:latin typeface="+mj-lt" pitchFamily="34" charset="0"/>
                <a:ea typeface="+mj-lt" pitchFamily="34" charset="-122"/>
                <a:cs typeface="+mj-lt" pitchFamily="34" charset="-120"/>
              </a:rPr>
              <a:t>*</a:t>
            </a:r>
            <a:r>
              <a:rPr lang="en-US" sz="2200" dirty="0">
                <a:solidFill>
                  <a:schemeClr val="tx2"/>
                </a:solidFill>
                <a:latin typeface="+mj-lt" pitchFamily="34" charset="0"/>
                <a:ea typeface="+mj-lt" pitchFamily="34" charset="-122"/>
                <a:cs typeface="+mj-lt" pitchFamily="34" charset="-120"/>
              </a:rPr>
              <a:t> = arg max</a:t>
            </a:r>
            <a:r>
              <a:rPr lang="en-US" sz="2200" baseline="-40000" dirty="0">
                <a:solidFill>
                  <a:schemeClr val="tx2"/>
                </a:solidFill>
                <a:latin typeface="+mj-lt" pitchFamily="34" charset="0"/>
                <a:ea typeface="+mj-lt" pitchFamily="34" charset="-122"/>
                <a:cs typeface="+mj-lt" pitchFamily="34" charset="-120"/>
              </a:rPr>
              <a:t>p ∈ P</a:t>
            </a:r>
            <a:r>
              <a:rPr lang="en-US" sz="2200" dirty="0">
                <a:solidFill>
                  <a:schemeClr val="tx2"/>
                </a:solidFill>
                <a:latin typeface="+mj-lt" pitchFamily="34" charset="0"/>
                <a:ea typeface="+mj-lt" pitchFamily="34" charset="-122"/>
                <a:cs typeface="+mj-lt" pitchFamily="34" charset="-120"/>
              </a:rPr>
              <a:t> </a:t>
            </a:r>
            <a:r>
              <a:rPr lang="en-US" sz="2200" i="1" dirty="0">
                <a:solidFill>
                  <a:schemeClr val="tx2"/>
                </a:solidFill>
                <a:latin typeface="+mj-lt" pitchFamily="34" charset="0"/>
                <a:ea typeface="+mj-lt" pitchFamily="34" charset="-122"/>
                <a:cs typeface="+mj-lt" pitchFamily="34" charset="-120"/>
              </a:rPr>
              <a:t>f</a:t>
            </a:r>
            <a:r>
              <a:rPr lang="en-US" sz="2200" dirty="0">
                <a:solidFill>
                  <a:schemeClr val="tx2"/>
                </a:solidFill>
                <a:latin typeface="+mj-lt" pitchFamily="34" charset="0"/>
                <a:ea typeface="+mj-lt" pitchFamily="34" charset="-122"/>
                <a:cs typeface="+mj-lt" pitchFamily="34" charset="-120"/>
              </a:rPr>
              <a:t>(</a:t>
            </a:r>
            <a:r>
              <a:rPr lang="en-US" sz="2200" i="1" dirty="0">
                <a:solidFill>
                  <a:schemeClr val="tx2"/>
                </a:solidFill>
                <a:latin typeface="+mj-lt" pitchFamily="34" charset="0"/>
                <a:ea typeface="+mj-lt" pitchFamily="34" charset="-122"/>
                <a:cs typeface="+mj-lt" pitchFamily="34" charset="-120"/>
              </a:rPr>
              <a:t>p</a:t>
            </a:r>
            <a:r>
              <a:rPr lang="en-US" sz="2200" dirty="0">
                <a:solidFill>
                  <a:schemeClr val="tx2"/>
                </a:solidFill>
                <a:latin typeface="+mj-lt" pitchFamily="34" charset="0"/>
                <a:ea typeface="+mj-lt" pitchFamily="34" charset="-122"/>
                <a:cs typeface="+mj-lt" pitchFamily="34" charset="-120"/>
              </a:rPr>
              <a:t>, </a:t>
            </a:r>
            <a:r>
              <a:rPr lang="en-US" sz="2200" i="1" dirty="0">
                <a:solidFill>
                  <a:schemeClr val="tx2"/>
                </a:solidFill>
                <a:latin typeface="+mj-lt" pitchFamily="34" charset="0"/>
                <a:ea typeface="+mj-lt" pitchFamily="34" charset="-122"/>
                <a:cs typeface="+mj-lt" pitchFamily="34" charset="-120"/>
              </a:rPr>
              <a:t>D</a:t>
            </a:r>
            <a:r>
              <a:rPr lang="en-US" sz="2200" dirty="0">
                <a:solidFill>
                  <a:schemeClr val="tx2"/>
                </a:solidFill>
                <a:latin typeface="+mj-lt" pitchFamily="34" charset="0"/>
                <a:ea typeface="+mj-lt" pitchFamily="34" charset="-122"/>
                <a:cs typeface="+mj-lt" pitchFamily="34" charset="-120"/>
              </a:rPr>
              <a:t>)</a:t>
            </a:r>
            <a:endParaRPr lang="en-US" sz="2200" dirty="0"/>
          </a:p>
        </p:txBody>
      </p:sp>
      <p:sp>
        <p:nvSpPr>
          <p:cNvPr id="9" name="Text 7"/>
          <p:cNvSpPr txBox="1"/>
          <p:nvPr/>
        </p:nvSpPr>
        <p:spPr>
          <a:xfrm>
            <a:off x="868680" y="3246120"/>
            <a:ext cx="4572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PRIVACY REQUIREMENT</a:t>
            </a:r>
            <a:endParaRPr lang="en-US" sz="1200" dirty="0"/>
          </a:p>
        </p:txBody>
      </p:sp>
      <p:sp>
        <p:nvSpPr>
          <p:cNvPr id="10" name="Text 8"/>
          <p:cNvSpPr txBox="1"/>
          <p:nvPr/>
        </p:nvSpPr>
        <p:spPr>
          <a:xfrm>
            <a:off x="868680" y="3566160"/>
            <a:ext cx="4572000" cy="548640"/>
          </a:xfrm>
          <a:prstGeom prst="rect">
            <a:avLst/>
          </a:prstGeom>
          <a:noFill/>
          <a:ln/>
        </p:spPr>
        <p:txBody>
          <a:bodyPr wrap="square" lIns="0" tIns="0" rIns="0" bIns="0" rtlCol="0" anchor="t"/>
          <a:lstStyle/>
          <a:p>
            <a:pPr indent="0" marL="0">
              <a:buNone/>
            </a:pPr>
            <a:r>
              <a:rPr lang="en-US" sz="1500" dirty="0">
                <a:solidFill>
                  <a:schemeClr val="tx1"/>
                </a:solidFill>
              </a:rPr>
              <a:t>The optimizer </a:t>
            </a:r>
            <a:r>
              <a:rPr lang="en-US" sz="1500" i="1" dirty="0">
                <a:solidFill>
                  <a:schemeClr val="tx1"/>
                </a:solidFill>
              </a:rPr>
              <a:t>M</a:t>
            </a:r>
            <a:r>
              <a:rPr lang="en-US" sz="1500" dirty="0">
                <a:solidFill>
                  <a:schemeClr val="tx1"/>
                </a:solidFill>
              </a:rPr>
              <a:t> is (ε, δ)-DP if, for all neighbouring datasets </a:t>
            </a:r>
            <a:r>
              <a:rPr lang="en-US" sz="1500" i="1" dirty="0">
                <a:solidFill>
                  <a:schemeClr val="tx1"/>
                </a:solidFill>
              </a:rPr>
              <a:t>D</a:t>
            </a:r>
            <a:r>
              <a:rPr lang="en-US" sz="1500" dirty="0">
                <a:solidFill>
                  <a:schemeClr val="tx1"/>
                </a:solidFill>
              </a:rPr>
              <a:t> ~ </a:t>
            </a:r>
            <a:r>
              <a:rPr lang="en-US" sz="1500" i="1" dirty="0">
                <a:solidFill>
                  <a:schemeClr val="tx1"/>
                </a:solidFill>
              </a:rPr>
              <a:t>D</a:t>
            </a:r>
            <a:r>
              <a:rPr lang="en-US" sz="1500" dirty="0">
                <a:solidFill>
                  <a:schemeClr val="tx1"/>
                </a:solidFill>
              </a:rPr>
              <a:t>′ and all sets </a:t>
            </a:r>
            <a:r>
              <a:rPr lang="en-US" sz="1500" i="1" dirty="0">
                <a:solidFill>
                  <a:schemeClr val="tx1"/>
                </a:solidFill>
              </a:rPr>
              <a:t>S</a:t>
            </a:r>
            <a:r>
              <a:rPr lang="en-US" sz="1500" dirty="0">
                <a:solidFill>
                  <a:schemeClr val="tx1"/>
                </a:solidFill>
              </a:rPr>
              <a:t>,</a:t>
            </a:r>
            <a:endParaRPr lang="en-US" sz="1500" dirty="0"/>
          </a:p>
        </p:txBody>
      </p:sp>
      <p:sp>
        <p:nvSpPr>
          <p:cNvPr id="11" name="Text 9"/>
          <p:cNvSpPr txBox="1"/>
          <p:nvPr/>
        </p:nvSpPr>
        <p:spPr>
          <a:xfrm>
            <a:off x="868680" y="4206240"/>
            <a:ext cx="4572000" cy="457200"/>
          </a:xfrm>
          <a:prstGeom prst="rect">
            <a:avLst/>
          </a:prstGeom>
          <a:noFill/>
          <a:ln/>
        </p:spPr>
        <p:txBody>
          <a:bodyPr wrap="square" lIns="0" tIns="0" rIns="0" bIns="0" rtlCol="0" anchor="t"/>
          <a:lstStyle/>
          <a:p>
            <a:pPr algn="ctr" indent="0" marL="0">
              <a:buNone/>
            </a:pPr>
            <a:r>
              <a:rPr lang="en-US" sz="2100" dirty="0">
                <a:solidFill>
                  <a:schemeClr val="tx2"/>
                </a:solidFill>
                <a:latin typeface="+mj-lt" pitchFamily="34" charset="0"/>
                <a:ea typeface="+mj-lt" pitchFamily="34" charset="-122"/>
                <a:cs typeface="+mj-lt" pitchFamily="34" charset="-120"/>
              </a:rPr>
              <a:t>Pr[</a:t>
            </a:r>
            <a:r>
              <a:rPr lang="en-US" sz="2100" i="1" dirty="0">
                <a:solidFill>
                  <a:schemeClr val="tx2"/>
                </a:solidFill>
                <a:latin typeface="+mj-lt" pitchFamily="34" charset="0"/>
                <a:ea typeface="+mj-lt" pitchFamily="34" charset="-122"/>
                <a:cs typeface="+mj-lt" pitchFamily="34" charset="-120"/>
              </a:rPr>
              <a:t>M</a:t>
            </a:r>
            <a:r>
              <a:rPr lang="en-US" sz="2100" dirty="0">
                <a:solidFill>
                  <a:schemeClr val="tx2"/>
                </a:solidFill>
                <a:latin typeface="+mj-lt" pitchFamily="34" charset="0"/>
                <a:ea typeface="+mj-lt" pitchFamily="34" charset="-122"/>
                <a:cs typeface="+mj-lt" pitchFamily="34" charset="-120"/>
              </a:rPr>
              <a:t>(</a:t>
            </a:r>
            <a:r>
              <a:rPr lang="en-US" sz="2100" i="1" dirty="0">
                <a:solidFill>
                  <a:schemeClr val="tx2"/>
                </a:solidFill>
                <a:latin typeface="+mj-lt" pitchFamily="34" charset="0"/>
                <a:ea typeface="+mj-lt" pitchFamily="34" charset="-122"/>
                <a:cs typeface="+mj-lt" pitchFamily="34" charset="-120"/>
              </a:rPr>
              <a:t>D</a:t>
            </a:r>
            <a:r>
              <a:rPr lang="en-US" sz="2100" dirty="0">
                <a:solidFill>
                  <a:schemeClr val="tx2"/>
                </a:solidFill>
                <a:latin typeface="+mj-lt" pitchFamily="34" charset="0"/>
                <a:ea typeface="+mj-lt" pitchFamily="34" charset="-122"/>
                <a:cs typeface="+mj-lt" pitchFamily="34" charset="-120"/>
              </a:rPr>
              <a:t>) ∈ </a:t>
            </a:r>
            <a:r>
              <a:rPr lang="en-US" sz="2100" i="1" dirty="0">
                <a:solidFill>
                  <a:schemeClr val="tx2"/>
                </a:solidFill>
                <a:latin typeface="+mj-lt" pitchFamily="34" charset="0"/>
                <a:ea typeface="+mj-lt" pitchFamily="34" charset="-122"/>
                <a:cs typeface="+mj-lt" pitchFamily="34" charset="-120"/>
              </a:rPr>
              <a:t>S</a:t>
            </a:r>
            <a:r>
              <a:rPr lang="en-US" sz="2100" dirty="0">
                <a:solidFill>
                  <a:schemeClr val="tx2"/>
                </a:solidFill>
                <a:latin typeface="+mj-lt" pitchFamily="34" charset="0"/>
                <a:ea typeface="+mj-lt" pitchFamily="34" charset="-122"/>
                <a:cs typeface="+mj-lt" pitchFamily="34" charset="-120"/>
              </a:rPr>
              <a:t>] ≤ </a:t>
            </a:r>
            <a:r>
              <a:rPr lang="en-US" sz="2100" i="1" dirty="0">
                <a:solidFill>
                  <a:schemeClr val="tx2"/>
                </a:solidFill>
                <a:latin typeface="+mj-lt" pitchFamily="34" charset="0"/>
                <a:ea typeface="+mj-lt" pitchFamily="34" charset="-122"/>
                <a:cs typeface="+mj-lt" pitchFamily="34" charset="-120"/>
              </a:rPr>
              <a:t>e</a:t>
            </a:r>
            <a:r>
              <a:rPr lang="en-US" sz="2100" baseline="30000" dirty="0">
                <a:solidFill>
                  <a:schemeClr val="tx2"/>
                </a:solidFill>
                <a:latin typeface="+mj-lt" pitchFamily="34" charset="0"/>
                <a:ea typeface="+mj-lt" pitchFamily="34" charset="-122"/>
                <a:cs typeface="+mj-lt" pitchFamily="34" charset="-120"/>
              </a:rPr>
              <a:t>ε</a:t>
            </a:r>
            <a:r>
              <a:rPr lang="en-US" sz="2100" dirty="0">
                <a:solidFill>
                  <a:schemeClr val="tx2"/>
                </a:solidFill>
                <a:latin typeface="+mj-lt" pitchFamily="34" charset="0"/>
                <a:ea typeface="+mj-lt" pitchFamily="34" charset="-122"/>
                <a:cs typeface="+mj-lt" pitchFamily="34" charset="-120"/>
              </a:rPr>
              <a:t> · Pr[</a:t>
            </a:r>
            <a:r>
              <a:rPr lang="en-US" sz="2100" i="1" dirty="0">
                <a:solidFill>
                  <a:schemeClr val="tx2"/>
                </a:solidFill>
                <a:latin typeface="+mj-lt" pitchFamily="34" charset="0"/>
                <a:ea typeface="+mj-lt" pitchFamily="34" charset="-122"/>
                <a:cs typeface="+mj-lt" pitchFamily="34" charset="-120"/>
              </a:rPr>
              <a:t>M</a:t>
            </a:r>
            <a:r>
              <a:rPr lang="en-US" sz="2100" dirty="0">
                <a:solidFill>
                  <a:schemeClr val="tx2"/>
                </a:solidFill>
                <a:latin typeface="+mj-lt" pitchFamily="34" charset="0"/>
                <a:ea typeface="+mj-lt" pitchFamily="34" charset="-122"/>
                <a:cs typeface="+mj-lt" pitchFamily="34" charset="-120"/>
              </a:rPr>
              <a:t>(</a:t>
            </a:r>
            <a:r>
              <a:rPr lang="en-US" sz="2100" i="1" dirty="0">
                <a:solidFill>
                  <a:schemeClr val="tx2"/>
                </a:solidFill>
                <a:latin typeface="+mj-lt" pitchFamily="34" charset="0"/>
                <a:ea typeface="+mj-lt" pitchFamily="34" charset="-122"/>
                <a:cs typeface="+mj-lt" pitchFamily="34" charset="-120"/>
              </a:rPr>
              <a:t>D</a:t>
            </a:r>
            <a:r>
              <a:rPr lang="en-US" sz="2100" dirty="0">
                <a:solidFill>
                  <a:schemeClr val="tx2"/>
                </a:solidFill>
                <a:latin typeface="+mj-lt" pitchFamily="34" charset="0"/>
                <a:ea typeface="+mj-lt" pitchFamily="34" charset="-122"/>
                <a:cs typeface="+mj-lt" pitchFamily="34" charset="-120"/>
              </a:rPr>
              <a:t>′) ∈ </a:t>
            </a:r>
            <a:r>
              <a:rPr lang="en-US" sz="2100" i="1" dirty="0">
                <a:solidFill>
                  <a:schemeClr val="tx2"/>
                </a:solidFill>
                <a:latin typeface="+mj-lt" pitchFamily="34" charset="0"/>
                <a:ea typeface="+mj-lt" pitchFamily="34" charset="-122"/>
                <a:cs typeface="+mj-lt" pitchFamily="34" charset="-120"/>
              </a:rPr>
              <a:t>S</a:t>
            </a:r>
            <a:r>
              <a:rPr lang="en-US" sz="2100" dirty="0">
                <a:solidFill>
                  <a:schemeClr val="tx2"/>
                </a:solidFill>
                <a:latin typeface="+mj-lt" pitchFamily="34" charset="0"/>
                <a:ea typeface="+mj-lt" pitchFamily="34" charset="-122"/>
                <a:cs typeface="+mj-lt" pitchFamily="34" charset="-120"/>
              </a:rPr>
              <a:t>] + δ</a:t>
            </a:r>
            <a:endParaRPr lang="en-US" sz="2100" dirty="0"/>
          </a:p>
        </p:txBody>
      </p:sp>
      <p:sp>
        <p:nvSpPr>
          <p:cNvPr id="12" name="Text 10"/>
          <p:cNvSpPr txBox="1"/>
          <p:nvPr/>
        </p:nvSpPr>
        <p:spPr>
          <a:xfrm>
            <a:off x="868680" y="4846320"/>
            <a:ext cx="4572000" cy="685800"/>
          </a:xfrm>
          <a:prstGeom prst="rect">
            <a:avLst/>
          </a:prstGeom>
          <a:noFill/>
          <a:ln/>
        </p:spPr>
        <p:txBody>
          <a:bodyPr wrap="square" lIns="0" tIns="0" rIns="0" bIns="0" rtlCol="0" anchor="t"/>
          <a:lstStyle/>
          <a:p>
            <a:pPr indent="0" marL="0">
              <a:buNone/>
            </a:pPr>
            <a:r>
              <a:rPr lang="en-US" sz="1500" dirty="0">
                <a:solidFill>
                  <a:schemeClr val="tx1"/>
                </a:solidFill>
              </a:rPr>
              <a:t>Privacy unit: one record (</a:t>
            </a:r>
            <a:r>
              <a:rPr lang="en-US" sz="1500" i="1" dirty="0">
                <a:solidFill>
                  <a:schemeClr val="tx1"/>
                </a:solidFill>
              </a:rPr>
              <a:t>x</a:t>
            </a:r>
            <a:r>
              <a:rPr lang="en-US" sz="1500" baseline="-40000" dirty="0">
                <a:solidFill>
                  <a:schemeClr val="tx1"/>
                </a:solidFill>
              </a:rPr>
              <a:t>i</a:t>
            </a:r>
            <a:r>
              <a:rPr lang="en-US" sz="1500" dirty="0">
                <a:solidFill>
                  <a:schemeClr val="tx1"/>
                </a:solidFill>
              </a:rPr>
              <a:t>, </a:t>
            </a:r>
            <a:r>
              <a:rPr lang="en-US" sz="1500" i="1" dirty="0">
                <a:solidFill>
                  <a:schemeClr val="tx1"/>
                </a:solidFill>
              </a:rPr>
              <a:t>y</a:t>
            </a:r>
            <a:r>
              <a:rPr lang="en-US" sz="1500" baseline="-40000" dirty="0">
                <a:solidFill>
                  <a:schemeClr val="tx1"/>
                </a:solidFill>
              </a:rPr>
              <a:t>i</a:t>
            </a:r>
            <a:r>
              <a:rPr lang="en-US" sz="1500" dirty="0">
                <a:solidFill>
                  <a:schemeClr val="tx1"/>
                </a:solidFill>
              </a:rPr>
              <a:t>). Released object: the final prompt. The LLM is a black box reached through an API.</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172200" y="1600200"/>
          <a:ext cx="5470855" cy="914400"/>
        </p:xfrm>
        <a:graphic>
          <a:graphicData uri="http://schemas.openxmlformats.org/drawingml/2006/table">
            <a:tbl>
              <a:tblPr/>
              <a:tblGrid>
                <a:gridCol w="1508760"/>
                <a:gridCol w="1005840"/>
                <a:gridCol w="868680"/>
                <a:gridCol w="2087575"/>
              </a:tblGrid>
              <a:tr h="420624">
                <a:tc>
                  <a:txBody>
                    <a:bodyPr/>
                    <a:lstStyle/>
                    <a:p>
                      <a:pPr algn="l" indent="0" marL="0">
                        <a:buNone/>
                      </a:pPr>
                      <a:r>
                        <a:rPr lang="en-US" sz="1400" b="1" dirty="0">
                          <a:solidFill>
                            <a:schemeClr val="bg1"/>
                          </a:solidFill>
                        </a:rPr>
                        <a:t>Method</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Formal DP</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Discrete</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Mechanism</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tx2"/>
                    </a:solidFill>
                  </a:tcPr>
                </a:tc>
              </a:tr>
              <a:tr h="420624">
                <a:tc>
                  <a:txBody>
                    <a:bodyPr/>
                    <a:lstStyle/>
                    <a:p>
                      <a:pPr indent="0" marL="0">
                        <a:buNone/>
                      </a:pPr>
                      <a:r>
                        <a:rPr lang="en-US" sz="1400" dirty="0">
                          <a:solidFill>
                            <a:schemeClr val="tx1"/>
                          </a:solidFill>
                        </a:rPr>
                        <a:t>TextGrad</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accent2"/>
                          </a:solidFill>
                        </a:rPr>
                        <a:t>✗</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indent="0" marL="0">
                        <a:buNone/>
                      </a:pPr>
                      <a:r>
                        <a:rPr lang="en-US" sz="1400" dirty="0">
                          <a:solidFill>
                            <a:schemeClr val="tx1"/>
                          </a:solidFill>
                        </a:rPr>
                        <a:t>LLM “gradients”</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r>
              <a:tr h="420624">
                <a:tc>
                  <a:txBody>
                    <a:bodyPr/>
                    <a:lstStyle/>
                    <a:p>
                      <a:pPr indent="0" marL="0">
                        <a:buNone/>
                      </a:pPr>
                      <a:r>
                        <a:rPr lang="en-US" sz="1400" dirty="0">
                          <a:solidFill>
                            <a:schemeClr val="tx1"/>
                          </a:solidFill>
                        </a:rPr>
                        <a:t>OPRO</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accent2"/>
                          </a:solidFill>
                        </a:rPr>
                        <a:t>✗</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indent="0" marL="0">
                        <a:buNone/>
                      </a:pPr>
                      <a:r>
                        <a:rPr lang="en-US" sz="1400" dirty="0">
                          <a:solidFill>
                            <a:schemeClr val="tx1"/>
                          </a:solidFill>
                        </a:rPr>
                        <a:t>LLM scoring</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r>
              <a:tr h="420624">
                <a:tc>
                  <a:txBody>
                    <a:bodyPr/>
                    <a:lstStyle/>
                    <a:p>
                      <a:pPr indent="0" marL="0">
                        <a:buNone/>
                      </a:pPr>
                      <a:r>
                        <a:rPr lang="en-US" sz="1400" dirty="0">
                          <a:solidFill>
                            <a:schemeClr val="tx1"/>
                          </a:solidFill>
                        </a:rPr>
                        <a:t>EvoPrompt</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accent2"/>
                          </a:solidFill>
                        </a:rPr>
                        <a:t>✗</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indent="0" marL="0">
                        <a:buNone/>
                      </a:pPr>
                      <a:r>
                        <a:rPr lang="en-US" sz="1400" dirty="0">
                          <a:solidFill>
                            <a:schemeClr val="tx1"/>
                          </a:solidFill>
                        </a:rPr>
                        <a:t>Evolutionary search</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r>
              <a:tr h="420624">
                <a:tc>
                  <a:txBody>
                    <a:bodyPr/>
                    <a:lstStyle/>
                    <a:p>
                      <a:pPr indent="0" marL="0">
                        <a:buNone/>
                      </a:pPr>
                      <a:r>
                        <a:rPr lang="en-US" sz="1400" dirty="0">
                          <a:solidFill>
                            <a:schemeClr val="tx1"/>
                          </a:solidFill>
                        </a:rPr>
                        <a:t>PromptBreeder</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accent2"/>
                          </a:solidFill>
                        </a:rPr>
                        <a:t>✗</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indent="0" marL="0">
                        <a:buNone/>
                      </a:pPr>
                      <a:r>
                        <a:rPr lang="en-US" sz="1400" dirty="0">
                          <a:solidFill>
                            <a:schemeClr val="tx1"/>
                          </a:solidFill>
                        </a:rPr>
                        <a:t>Evolutionary search</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r>
              <a:tr h="420624">
                <a:tc>
                  <a:txBody>
                    <a:bodyPr/>
                    <a:lstStyle/>
                    <a:p>
                      <a:pPr indent="0" marL="0">
                        <a:buNone/>
                      </a:pPr>
                      <a:r>
                        <a:rPr lang="en-US" sz="1400" dirty="0">
                          <a:solidFill>
                            <a:schemeClr val="tx1"/>
                          </a:solidFill>
                        </a:rPr>
                        <a:t>DP-SGD</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accent2"/>
                          </a:solidFill>
                        </a:rPr>
                        <a:t>✗</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indent="0" marL="0">
                        <a:buNone/>
                      </a:pPr>
                      <a:r>
                        <a:rPr lang="en-US" sz="1400" dirty="0">
                          <a:solidFill>
                            <a:schemeClr val="tx1"/>
                          </a:solidFill>
                        </a:rPr>
                        <a:t>Gaussian noise</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r>
              <a:tr h="420624">
                <a:tc>
                  <a:txBody>
                    <a:bodyPr/>
                    <a:lstStyle/>
                    <a:p>
                      <a:pPr indent="0" marL="0">
                        <a:buNone/>
                      </a:pPr>
                      <a:r>
                        <a:rPr lang="en-US" sz="1400" dirty="0">
                          <a:solidFill>
                            <a:schemeClr val="tx1"/>
                          </a:solidFill>
                        </a:rPr>
                        <a:t>DP-OPT</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indent="0" marL="0">
                        <a:buNone/>
                      </a:pPr>
                      <a:r>
                        <a:rPr lang="en-US" sz="1400" dirty="0">
                          <a:solidFill>
                            <a:schemeClr val="tx1"/>
                          </a:solidFill>
                        </a:rPr>
                        <a:t>Histogram + exp. mech.</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r>
              <a:tr h="420624">
                <a:tc>
                  <a:txBody>
                    <a:bodyPr/>
                    <a:lstStyle/>
                    <a:p>
                      <a:pPr indent="0" marL="0">
                        <a:buNone/>
                      </a:pPr>
                      <a:r>
                        <a:rPr lang="en-US" sz="1400" b="1" dirty="0">
                          <a:solidFill>
                            <a:schemeClr val="accent1"/>
                          </a:solidFill>
                        </a:rPr>
                        <a:t>DP-ES (ours)</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Evolution + Gaussian</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2"/>
                    </a:solidFill>
                  </a:tcPr>
                </a:tc>
              </a:tr>
            </a:tbl>
          </a:graphicData>
        </a:graphic>
      </p:graphicFrame>
      <p:sp>
        <p:nvSpPr>
          <p:cNvPr id="14" name="Text 11"/>
          <p:cNvSpPr txBox="1"/>
          <p:nvPr/>
        </p:nvSpPr>
        <p:spPr>
          <a:xfrm>
            <a:off x="6172200" y="5120640"/>
            <a:ext cx="5470855" cy="548640"/>
          </a:xfrm>
          <a:prstGeom prst="rect">
            <a:avLst/>
          </a:prstGeom>
          <a:noFill/>
          <a:ln/>
        </p:spPr>
        <p:txBody>
          <a:bodyPr wrap="square" lIns="0" tIns="0" rIns="0" bIns="0" rtlCol="0" anchor="t"/>
          <a:lstStyle/>
          <a:p>
            <a:pPr indent="0" marL="0">
              <a:buNone/>
            </a:pPr>
            <a:r>
              <a:rPr lang="en-US" sz="1200" i="1" dirty="0">
                <a:solidFill>
                  <a:schemeClr val="accent3"/>
                </a:solidFill>
              </a:rPr>
              <a:t>DP-ES adds formal record-level DP to evolutionary optimization over discrete prompts.</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DIAGNOSIS</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DP-OPT is unstable on multi-step reasoning</a:t>
            </a:r>
            <a:endParaRPr lang="en-US" sz="3000" dirty="0"/>
          </a:p>
        </p:txBody>
      </p:sp>
      <p:sp>
        <p:nvSpPr>
          <p:cNvPr id="4" name="Text 2"/>
          <p:cNvSpPr txBox="1"/>
          <p:nvPr/>
        </p:nvSpPr>
        <p:spPr>
          <a:xfrm>
            <a:off x="6156655" y="329184"/>
            <a:ext cx="5486400" cy="292608"/>
          </a:xfrm>
          <a:prstGeom prst="rect">
            <a:avLst/>
          </a:prstGeom>
          <a:noFill/>
          <a:ln/>
        </p:spPr>
        <p:txBody>
          <a:bodyPr wrap="square" lIns="0" tIns="0" rIns="0" bIns="0" rtlCol="0" anchor="t"/>
          <a:lstStyle/>
          <a:p>
            <a:pPr algn="r" indent="0" marL="0">
              <a:buNone/>
            </a:pPr>
            <a:r>
              <a:rPr lang="en-US" sz="1100" dirty="0">
                <a:solidFill>
                  <a:schemeClr val="accent3"/>
                </a:solidFill>
              </a:rPr>
              <a:t>Motivation</a:t>
            </a:r>
            <a:r>
              <a:rPr lang="en-US" sz="1100" dirty="0">
                <a:solidFill>
                  <a:schemeClr val="accent3"/>
                </a:solidFill>
              </a:rPr>
              <a:t>   ·   </a:t>
            </a:r>
            <a:r>
              <a:rPr lang="en-US" sz="1100" b="1" dirty="0">
                <a:solidFill>
                  <a:schemeClr val="accent1"/>
                </a:solidFill>
              </a:rPr>
              <a:t>Diagnosis</a:t>
            </a:r>
            <a:r>
              <a:rPr lang="en-US" sz="1100" dirty="0">
                <a:solidFill>
                  <a:schemeClr val="accent3"/>
                </a:solidFill>
              </a:rPr>
              <a:t>   ·   </a:t>
            </a:r>
            <a:r>
              <a:rPr lang="en-US" sz="1100" dirty="0">
                <a:solidFill>
                  <a:schemeClr val="accent3"/>
                </a:solidFill>
              </a:rPr>
              <a:t>Method</a:t>
            </a:r>
            <a:r>
              <a:rPr lang="en-US" sz="1100" dirty="0">
                <a:solidFill>
                  <a:schemeClr val="accent3"/>
                </a:solidFill>
              </a:rPr>
              <a:t>   ·   </a:t>
            </a:r>
            <a:r>
              <a:rPr lang="en-US" sz="1100" dirty="0">
                <a:solidFill>
                  <a:schemeClr val="accent3"/>
                </a:solidFill>
              </a:rPr>
              <a:t>Results</a:t>
            </a:r>
            <a:r>
              <a:rPr lang="en-US" sz="1100" dirty="0">
                <a:solidFill>
                  <a:schemeClr val="accent3"/>
                </a:solidFill>
              </a:rPr>
              <a:t>   ·   </a:t>
            </a:r>
            <a:r>
              <a:rPr lang="en-US" sz="1100" dirty="0">
                <a:solidFill>
                  <a:schemeClr val="accent3"/>
                </a:solidFill>
              </a:rPr>
              <a:t>Scope</a:t>
            </a:r>
            <a:endParaRPr lang="en-US" sz="1100" dirty="0"/>
          </a:p>
        </p:txBody>
      </p:sp>
      <p:sp>
        <p:nvSpPr>
          <p:cNvPr id="5" name="Shape 3"/>
          <p:cNvSpPr/>
          <p:nvPr/>
        </p:nvSpPr>
        <p:spPr>
          <a:xfrm>
            <a:off x="2514600" y="1783080"/>
            <a:ext cx="0" cy="3291840"/>
          </a:xfrm>
          <a:prstGeom prst="line">
            <a:avLst/>
          </a:prstGeom>
          <a:noFill/>
          <a:ln w="9525">
            <a:solidFill>
              <a:srgbClr val="D9DEDB"/>
            </a:solidFill>
            <a:prstDash val="solid"/>
          </a:ln>
        </p:spPr>
      </p:sp>
      <p:sp>
        <p:nvSpPr>
          <p:cNvPr id="6" name="Text 4"/>
          <p:cNvSpPr txBox="1"/>
          <p:nvPr/>
        </p:nvSpPr>
        <p:spPr>
          <a:xfrm>
            <a:off x="2148840" y="5148072"/>
            <a:ext cx="731520" cy="274320"/>
          </a:xfrm>
          <a:prstGeom prst="rect">
            <a:avLst/>
          </a:prstGeom>
          <a:noFill/>
          <a:ln/>
        </p:spPr>
        <p:txBody>
          <a:bodyPr wrap="square" lIns="0" tIns="0" rIns="0" bIns="0" rtlCol="0" anchor="t"/>
          <a:lstStyle/>
          <a:p>
            <a:pPr algn="ctr" indent="0" marL="0">
              <a:buNone/>
            </a:pPr>
            <a:r>
              <a:rPr lang="en-US" sz="1200" dirty="0">
                <a:solidFill>
                  <a:schemeClr val="accent3"/>
                </a:solidFill>
              </a:rPr>
              <a:t>0</a:t>
            </a:r>
            <a:endParaRPr lang="en-US" sz="1200" dirty="0"/>
          </a:p>
        </p:txBody>
      </p:sp>
      <p:sp>
        <p:nvSpPr>
          <p:cNvPr id="7" name="Shape 5"/>
          <p:cNvSpPr/>
          <p:nvPr/>
        </p:nvSpPr>
        <p:spPr>
          <a:xfrm>
            <a:off x="3502152" y="1783080"/>
            <a:ext cx="0" cy="3291840"/>
          </a:xfrm>
          <a:prstGeom prst="line">
            <a:avLst/>
          </a:prstGeom>
          <a:noFill/>
          <a:ln w="9525">
            <a:solidFill>
              <a:srgbClr val="D9DEDB"/>
            </a:solidFill>
            <a:prstDash val="solid"/>
          </a:ln>
        </p:spPr>
      </p:sp>
      <p:sp>
        <p:nvSpPr>
          <p:cNvPr id="8" name="Text 6"/>
          <p:cNvSpPr txBox="1"/>
          <p:nvPr/>
        </p:nvSpPr>
        <p:spPr>
          <a:xfrm>
            <a:off x="3136392" y="5148072"/>
            <a:ext cx="731520" cy="274320"/>
          </a:xfrm>
          <a:prstGeom prst="rect">
            <a:avLst/>
          </a:prstGeom>
          <a:noFill/>
          <a:ln/>
        </p:spPr>
        <p:txBody>
          <a:bodyPr wrap="square" lIns="0" tIns="0" rIns="0" bIns="0" rtlCol="0" anchor="t"/>
          <a:lstStyle/>
          <a:p>
            <a:pPr algn="ctr" indent="0" marL="0">
              <a:buNone/>
            </a:pPr>
            <a:r>
              <a:rPr lang="en-US" sz="1200" dirty="0">
                <a:solidFill>
                  <a:schemeClr val="accent3"/>
                </a:solidFill>
              </a:rPr>
              <a:t>20</a:t>
            </a:r>
            <a:endParaRPr lang="en-US" sz="1200" dirty="0"/>
          </a:p>
        </p:txBody>
      </p:sp>
      <p:sp>
        <p:nvSpPr>
          <p:cNvPr id="9" name="Shape 7"/>
          <p:cNvSpPr/>
          <p:nvPr/>
        </p:nvSpPr>
        <p:spPr>
          <a:xfrm>
            <a:off x="4489704" y="1783080"/>
            <a:ext cx="0" cy="3291840"/>
          </a:xfrm>
          <a:prstGeom prst="line">
            <a:avLst/>
          </a:prstGeom>
          <a:noFill/>
          <a:ln w="9525">
            <a:solidFill>
              <a:srgbClr val="D9DEDB"/>
            </a:solidFill>
            <a:prstDash val="solid"/>
          </a:ln>
        </p:spPr>
      </p:sp>
      <p:sp>
        <p:nvSpPr>
          <p:cNvPr id="10" name="Text 8"/>
          <p:cNvSpPr txBox="1"/>
          <p:nvPr/>
        </p:nvSpPr>
        <p:spPr>
          <a:xfrm>
            <a:off x="4123944" y="5148072"/>
            <a:ext cx="731520" cy="274320"/>
          </a:xfrm>
          <a:prstGeom prst="rect">
            <a:avLst/>
          </a:prstGeom>
          <a:noFill/>
          <a:ln/>
        </p:spPr>
        <p:txBody>
          <a:bodyPr wrap="square" lIns="0" tIns="0" rIns="0" bIns="0" rtlCol="0" anchor="t"/>
          <a:lstStyle/>
          <a:p>
            <a:pPr algn="ctr" indent="0" marL="0">
              <a:buNone/>
            </a:pPr>
            <a:r>
              <a:rPr lang="en-US" sz="1200" dirty="0">
                <a:solidFill>
                  <a:schemeClr val="accent3"/>
                </a:solidFill>
              </a:rPr>
              <a:t>40</a:t>
            </a:r>
            <a:endParaRPr lang="en-US" sz="1200" dirty="0"/>
          </a:p>
        </p:txBody>
      </p:sp>
      <p:sp>
        <p:nvSpPr>
          <p:cNvPr id="11" name="Shape 9"/>
          <p:cNvSpPr/>
          <p:nvPr/>
        </p:nvSpPr>
        <p:spPr>
          <a:xfrm>
            <a:off x="5477256" y="1783080"/>
            <a:ext cx="0" cy="3291840"/>
          </a:xfrm>
          <a:prstGeom prst="line">
            <a:avLst/>
          </a:prstGeom>
          <a:noFill/>
          <a:ln w="9525">
            <a:solidFill>
              <a:srgbClr val="D9DEDB"/>
            </a:solidFill>
            <a:prstDash val="solid"/>
          </a:ln>
        </p:spPr>
      </p:sp>
      <p:sp>
        <p:nvSpPr>
          <p:cNvPr id="12" name="Text 10"/>
          <p:cNvSpPr txBox="1"/>
          <p:nvPr/>
        </p:nvSpPr>
        <p:spPr>
          <a:xfrm>
            <a:off x="5111496" y="5148072"/>
            <a:ext cx="731520" cy="274320"/>
          </a:xfrm>
          <a:prstGeom prst="rect">
            <a:avLst/>
          </a:prstGeom>
          <a:noFill/>
          <a:ln/>
        </p:spPr>
        <p:txBody>
          <a:bodyPr wrap="square" lIns="0" tIns="0" rIns="0" bIns="0" rtlCol="0" anchor="t"/>
          <a:lstStyle/>
          <a:p>
            <a:pPr algn="ctr" indent="0" marL="0">
              <a:buNone/>
            </a:pPr>
            <a:r>
              <a:rPr lang="en-US" sz="1200" dirty="0">
                <a:solidFill>
                  <a:schemeClr val="accent3"/>
                </a:solidFill>
              </a:rPr>
              <a:t>60</a:t>
            </a:r>
            <a:endParaRPr lang="en-US" sz="1200" dirty="0"/>
          </a:p>
        </p:txBody>
      </p:sp>
      <p:sp>
        <p:nvSpPr>
          <p:cNvPr id="13" name="Shape 11"/>
          <p:cNvSpPr/>
          <p:nvPr/>
        </p:nvSpPr>
        <p:spPr>
          <a:xfrm>
            <a:off x="6464808" y="1783080"/>
            <a:ext cx="0" cy="3291840"/>
          </a:xfrm>
          <a:prstGeom prst="line">
            <a:avLst/>
          </a:prstGeom>
          <a:noFill/>
          <a:ln w="9525">
            <a:solidFill>
              <a:srgbClr val="D9DEDB"/>
            </a:solidFill>
            <a:prstDash val="solid"/>
          </a:ln>
        </p:spPr>
      </p:sp>
      <p:sp>
        <p:nvSpPr>
          <p:cNvPr id="14" name="Text 12"/>
          <p:cNvSpPr txBox="1"/>
          <p:nvPr/>
        </p:nvSpPr>
        <p:spPr>
          <a:xfrm>
            <a:off x="6099048" y="5148072"/>
            <a:ext cx="731520" cy="274320"/>
          </a:xfrm>
          <a:prstGeom prst="rect">
            <a:avLst/>
          </a:prstGeom>
          <a:noFill/>
          <a:ln/>
        </p:spPr>
        <p:txBody>
          <a:bodyPr wrap="square" lIns="0" tIns="0" rIns="0" bIns="0" rtlCol="0" anchor="t"/>
          <a:lstStyle/>
          <a:p>
            <a:pPr algn="ctr" indent="0" marL="0">
              <a:buNone/>
            </a:pPr>
            <a:r>
              <a:rPr lang="en-US" sz="1200" dirty="0">
                <a:solidFill>
                  <a:schemeClr val="accent3"/>
                </a:solidFill>
              </a:rPr>
              <a:t>80</a:t>
            </a:r>
            <a:endParaRPr lang="en-US" sz="1200" dirty="0"/>
          </a:p>
        </p:txBody>
      </p:sp>
      <p:sp>
        <p:nvSpPr>
          <p:cNvPr id="15" name="Shape 13"/>
          <p:cNvSpPr/>
          <p:nvPr/>
        </p:nvSpPr>
        <p:spPr>
          <a:xfrm>
            <a:off x="7452360" y="1783080"/>
            <a:ext cx="0" cy="3291840"/>
          </a:xfrm>
          <a:prstGeom prst="line">
            <a:avLst/>
          </a:prstGeom>
          <a:noFill/>
          <a:ln w="9525">
            <a:solidFill>
              <a:srgbClr val="D9DEDB"/>
            </a:solidFill>
            <a:prstDash val="solid"/>
          </a:ln>
        </p:spPr>
      </p:sp>
      <p:sp>
        <p:nvSpPr>
          <p:cNvPr id="16" name="Text 14"/>
          <p:cNvSpPr txBox="1"/>
          <p:nvPr/>
        </p:nvSpPr>
        <p:spPr>
          <a:xfrm>
            <a:off x="7086600" y="5148072"/>
            <a:ext cx="731520" cy="274320"/>
          </a:xfrm>
          <a:prstGeom prst="rect">
            <a:avLst/>
          </a:prstGeom>
          <a:noFill/>
          <a:ln/>
        </p:spPr>
        <p:txBody>
          <a:bodyPr wrap="square" lIns="0" tIns="0" rIns="0" bIns="0" rtlCol="0" anchor="t"/>
          <a:lstStyle/>
          <a:p>
            <a:pPr algn="ctr" indent="0" marL="0">
              <a:buNone/>
            </a:pPr>
            <a:r>
              <a:rPr lang="en-US" sz="1200" dirty="0">
                <a:solidFill>
                  <a:schemeClr val="accent3"/>
                </a:solidFill>
              </a:rPr>
              <a:t>100</a:t>
            </a:r>
            <a:endParaRPr lang="en-US" sz="1200" dirty="0"/>
          </a:p>
        </p:txBody>
      </p:sp>
      <p:sp>
        <p:nvSpPr>
          <p:cNvPr id="17" name="Text 15"/>
          <p:cNvSpPr txBox="1"/>
          <p:nvPr/>
        </p:nvSpPr>
        <p:spPr>
          <a:xfrm>
            <a:off x="2514600" y="5486400"/>
            <a:ext cx="4937760" cy="274320"/>
          </a:xfrm>
          <a:prstGeom prst="rect">
            <a:avLst/>
          </a:prstGeom>
          <a:noFill/>
          <a:ln/>
        </p:spPr>
        <p:txBody>
          <a:bodyPr wrap="square" lIns="0" tIns="0" rIns="0" bIns="0" rtlCol="0" anchor="t"/>
          <a:lstStyle/>
          <a:p>
            <a:pPr algn="ctr" indent="0" marL="0">
              <a:buNone/>
            </a:pPr>
            <a:r>
              <a:rPr lang="en-US" sz="1200" dirty="0">
                <a:solidFill>
                  <a:schemeClr val="accent3"/>
                </a:solidFill>
              </a:rPr>
              <a:t>GSM8K accuracy (%), mean ± 1 std over 30 runs</a:t>
            </a:r>
            <a:endParaRPr lang="en-US" sz="1200" dirty="0"/>
          </a:p>
        </p:txBody>
      </p:sp>
      <p:sp>
        <p:nvSpPr>
          <p:cNvPr id="18" name="Text 16"/>
          <p:cNvSpPr txBox="1"/>
          <p:nvPr/>
        </p:nvSpPr>
        <p:spPr>
          <a:xfrm>
            <a:off x="548640" y="2240280"/>
            <a:ext cx="1783080" cy="320040"/>
          </a:xfrm>
          <a:prstGeom prst="rect">
            <a:avLst/>
          </a:prstGeom>
          <a:noFill/>
          <a:ln/>
        </p:spPr>
        <p:txBody>
          <a:bodyPr wrap="square" lIns="0" tIns="0" rIns="0" bIns="0" rtlCol="0" anchor="t"/>
          <a:lstStyle/>
          <a:p>
            <a:pPr algn="r" indent="0" marL="0">
              <a:buNone/>
            </a:pPr>
            <a:r>
              <a:rPr lang="en-US" sz="1700" b="1" dirty="0">
                <a:solidFill>
                  <a:schemeClr val="accent2"/>
                </a:solidFill>
              </a:rPr>
              <a:t>DP-OPT</a:t>
            </a:r>
            <a:endParaRPr lang="en-US" sz="1700" dirty="0"/>
          </a:p>
        </p:txBody>
      </p:sp>
      <p:sp>
        <p:nvSpPr>
          <p:cNvPr id="19" name="Text 17"/>
          <p:cNvSpPr txBox="1"/>
          <p:nvPr/>
        </p:nvSpPr>
        <p:spPr>
          <a:xfrm>
            <a:off x="548640" y="2551176"/>
            <a:ext cx="1783080" cy="274320"/>
          </a:xfrm>
          <a:prstGeom prst="rect">
            <a:avLst/>
          </a:prstGeom>
          <a:noFill/>
          <a:ln/>
        </p:spPr>
        <p:txBody>
          <a:bodyPr wrap="square" lIns="0" tIns="0" rIns="0" bIns="0" rtlCol="0" anchor="t"/>
          <a:lstStyle/>
          <a:p>
            <a:pPr algn="r" indent="0" marL="0">
              <a:buNone/>
            </a:pPr>
            <a:r>
              <a:rPr lang="en-US" sz="1200" dirty="0">
                <a:solidFill>
                  <a:schemeClr val="accent3"/>
                </a:solidFill>
              </a:rPr>
              <a:t>ε = 1</a:t>
            </a:r>
            <a:endParaRPr lang="en-US" sz="1200" dirty="0"/>
          </a:p>
        </p:txBody>
      </p:sp>
      <p:sp>
        <p:nvSpPr>
          <p:cNvPr id="20" name="Shape 18"/>
          <p:cNvSpPr/>
          <p:nvPr/>
        </p:nvSpPr>
        <p:spPr>
          <a:xfrm>
            <a:off x="3551530" y="2395728"/>
            <a:ext cx="2814523" cy="237744"/>
          </a:xfrm>
          <a:prstGeom prst="roundRect">
            <a:avLst>
              <a:gd name="adj" fmla="val 46154"/>
            </a:avLst>
          </a:prstGeom>
          <a:solidFill>
            <a:schemeClr val="accent2">
              <a:alpha val="35000"/>
            </a:schemeClr>
          </a:solidFill>
          <a:ln/>
        </p:spPr>
      </p:sp>
      <p:sp>
        <p:nvSpPr>
          <p:cNvPr id="21" name="Shape 19"/>
          <p:cNvSpPr/>
          <p:nvPr/>
        </p:nvSpPr>
        <p:spPr>
          <a:xfrm>
            <a:off x="4839919" y="2395728"/>
            <a:ext cx="237744" cy="237744"/>
          </a:xfrm>
          <a:prstGeom prst="ellipse">
            <a:avLst/>
          </a:prstGeom>
          <a:solidFill>
            <a:schemeClr val="accent2"/>
          </a:solidFill>
          <a:ln w="19050">
            <a:solidFill>
              <a:schemeClr val="bg1"/>
            </a:solidFill>
            <a:prstDash val="solid"/>
          </a:ln>
        </p:spPr>
      </p:sp>
      <p:sp>
        <p:nvSpPr>
          <p:cNvPr id="22" name="Text 20"/>
          <p:cNvSpPr txBox="1"/>
          <p:nvPr/>
        </p:nvSpPr>
        <p:spPr>
          <a:xfrm>
            <a:off x="4227271" y="2011680"/>
            <a:ext cx="1463040" cy="292608"/>
          </a:xfrm>
          <a:prstGeom prst="rect">
            <a:avLst/>
          </a:prstGeom>
          <a:noFill/>
          <a:ln/>
        </p:spPr>
        <p:txBody>
          <a:bodyPr wrap="square" lIns="0" tIns="0" rIns="0" bIns="0" rtlCol="0" anchor="t"/>
          <a:lstStyle/>
          <a:p>
            <a:pPr algn="ctr" indent="0" marL="0">
              <a:buNone/>
            </a:pPr>
            <a:r>
              <a:rPr lang="en-US" sz="1500" b="1" dirty="0">
                <a:solidFill>
                  <a:schemeClr val="accent2"/>
                </a:solidFill>
              </a:rPr>
              <a:t>49.5 ± 28.5</a:t>
            </a:r>
            <a:endParaRPr lang="en-US" sz="1500" dirty="0"/>
          </a:p>
        </p:txBody>
      </p:sp>
      <p:sp>
        <p:nvSpPr>
          <p:cNvPr id="23" name="Text 21"/>
          <p:cNvSpPr txBox="1"/>
          <p:nvPr/>
        </p:nvSpPr>
        <p:spPr>
          <a:xfrm>
            <a:off x="548640" y="3291840"/>
            <a:ext cx="1783080" cy="320040"/>
          </a:xfrm>
          <a:prstGeom prst="rect">
            <a:avLst/>
          </a:prstGeom>
          <a:noFill/>
          <a:ln/>
        </p:spPr>
        <p:txBody>
          <a:bodyPr wrap="square" lIns="0" tIns="0" rIns="0" bIns="0" rtlCol="0" anchor="t"/>
          <a:lstStyle/>
          <a:p>
            <a:pPr algn="r" indent="0" marL="0">
              <a:buNone/>
            </a:pPr>
            <a:r>
              <a:rPr lang="en-US" sz="1700" b="1" dirty="0">
                <a:solidFill>
                  <a:schemeClr val="accent1"/>
                </a:solidFill>
              </a:rPr>
              <a:t>DP-ES (ours)</a:t>
            </a:r>
            <a:endParaRPr lang="en-US" sz="1700" dirty="0"/>
          </a:p>
        </p:txBody>
      </p:sp>
      <p:sp>
        <p:nvSpPr>
          <p:cNvPr id="24" name="Text 22"/>
          <p:cNvSpPr txBox="1"/>
          <p:nvPr/>
        </p:nvSpPr>
        <p:spPr>
          <a:xfrm>
            <a:off x="548640" y="3602736"/>
            <a:ext cx="1783080" cy="274320"/>
          </a:xfrm>
          <a:prstGeom prst="rect">
            <a:avLst/>
          </a:prstGeom>
          <a:noFill/>
          <a:ln/>
        </p:spPr>
        <p:txBody>
          <a:bodyPr wrap="square" lIns="0" tIns="0" rIns="0" bIns="0" rtlCol="0" anchor="t"/>
          <a:lstStyle/>
          <a:p>
            <a:pPr algn="r" indent="0" marL="0">
              <a:buNone/>
            </a:pPr>
            <a:r>
              <a:rPr lang="en-US" sz="1200" dirty="0">
                <a:solidFill>
                  <a:schemeClr val="accent3"/>
                </a:solidFill>
              </a:rPr>
              <a:t>ε ≤ 0.71</a:t>
            </a:r>
            <a:endParaRPr lang="en-US" sz="1200" dirty="0"/>
          </a:p>
        </p:txBody>
      </p:sp>
      <p:sp>
        <p:nvSpPr>
          <p:cNvPr id="25" name="Shape 23"/>
          <p:cNvSpPr/>
          <p:nvPr/>
        </p:nvSpPr>
        <p:spPr>
          <a:xfrm>
            <a:off x="6706758" y="3447288"/>
            <a:ext cx="316017" cy="237744"/>
          </a:xfrm>
          <a:prstGeom prst="roundRect">
            <a:avLst>
              <a:gd name="adj" fmla="val 46154"/>
            </a:avLst>
          </a:prstGeom>
          <a:solidFill>
            <a:schemeClr val="accent1">
              <a:alpha val="35000"/>
            </a:schemeClr>
          </a:solidFill>
          <a:ln/>
        </p:spPr>
      </p:sp>
      <p:sp>
        <p:nvSpPr>
          <p:cNvPr id="26" name="Shape 24"/>
          <p:cNvSpPr/>
          <p:nvPr/>
        </p:nvSpPr>
        <p:spPr>
          <a:xfrm>
            <a:off x="6745895" y="3447288"/>
            <a:ext cx="237744" cy="237744"/>
          </a:xfrm>
          <a:prstGeom prst="ellipse">
            <a:avLst/>
          </a:prstGeom>
          <a:solidFill>
            <a:schemeClr val="accent1"/>
          </a:solidFill>
          <a:ln w="19050">
            <a:solidFill>
              <a:schemeClr val="bg1"/>
            </a:solidFill>
            <a:prstDash val="solid"/>
          </a:ln>
        </p:spPr>
      </p:sp>
      <p:sp>
        <p:nvSpPr>
          <p:cNvPr id="27" name="Text 25"/>
          <p:cNvSpPr txBox="1"/>
          <p:nvPr/>
        </p:nvSpPr>
        <p:spPr>
          <a:xfrm>
            <a:off x="6133247" y="3063240"/>
            <a:ext cx="1463040" cy="292608"/>
          </a:xfrm>
          <a:prstGeom prst="rect">
            <a:avLst/>
          </a:prstGeom>
          <a:noFill/>
          <a:ln/>
        </p:spPr>
        <p:txBody>
          <a:bodyPr wrap="square" lIns="0" tIns="0" rIns="0" bIns="0" rtlCol="0" anchor="t"/>
          <a:lstStyle/>
          <a:p>
            <a:pPr algn="ctr" indent="0" marL="0">
              <a:buNone/>
            </a:pPr>
            <a:r>
              <a:rPr lang="en-US" sz="1500" b="1" dirty="0">
                <a:solidFill>
                  <a:schemeClr val="accent1"/>
                </a:solidFill>
              </a:rPr>
              <a:t>88.1 ± 3.2</a:t>
            </a:r>
            <a:endParaRPr lang="en-US" sz="1500" dirty="0"/>
          </a:p>
        </p:txBody>
      </p:sp>
      <p:sp>
        <p:nvSpPr>
          <p:cNvPr id="28" name="Text 26"/>
          <p:cNvSpPr txBox="1"/>
          <p:nvPr/>
        </p:nvSpPr>
        <p:spPr>
          <a:xfrm>
            <a:off x="548640" y="4343400"/>
            <a:ext cx="1783080" cy="320040"/>
          </a:xfrm>
          <a:prstGeom prst="rect">
            <a:avLst/>
          </a:prstGeom>
          <a:noFill/>
          <a:ln/>
        </p:spPr>
        <p:txBody>
          <a:bodyPr wrap="square" lIns="0" tIns="0" rIns="0" bIns="0" rtlCol="0" anchor="t"/>
          <a:lstStyle/>
          <a:p>
            <a:pPr algn="r" indent="0" marL="0">
              <a:buNone/>
            </a:pPr>
            <a:r>
              <a:rPr lang="en-US" sz="1700" b="1" dirty="0">
                <a:solidFill>
                  <a:schemeClr val="accent3"/>
                </a:solidFill>
              </a:rPr>
              <a:t>Non-DP</a:t>
            </a:r>
            <a:endParaRPr lang="en-US" sz="1700" dirty="0"/>
          </a:p>
        </p:txBody>
      </p:sp>
      <p:sp>
        <p:nvSpPr>
          <p:cNvPr id="29" name="Text 27"/>
          <p:cNvSpPr txBox="1"/>
          <p:nvPr/>
        </p:nvSpPr>
        <p:spPr>
          <a:xfrm>
            <a:off x="548640" y="4654296"/>
            <a:ext cx="1783080" cy="274320"/>
          </a:xfrm>
          <a:prstGeom prst="rect">
            <a:avLst/>
          </a:prstGeom>
          <a:noFill/>
          <a:ln/>
        </p:spPr>
        <p:txBody>
          <a:bodyPr wrap="square" lIns="0" tIns="0" rIns="0" bIns="0" rtlCol="0" anchor="t"/>
          <a:lstStyle/>
          <a:p>
            <a:pPr algn="r" indent="0" marL="0">
              <a:buNone/>
            </a:pPr>
            <a:r>
              <a:rPr lang="en-US" sz="1200" dirty="0">
                <a:solidFill>
                  <a:schemeClr val="accent3"/>
                </a:solidFill>
              </a:rPr>
              <a:t>TextGrad</a:t>
            </a:r>
            <a:endParaRPr lang="en-US" sz="1200" dirty="0"/>
          </a:p>
        </p:txBody>
      </p:sp>
      <p:sp>
        <p:nvSpPr>
          <p:cNvPr id="30" name="Shape 28"/>
          <p:cNvSpPr/>
          <p:nvPr/>
        </p:nvSpPr>
        <p:spPr>
          <a:xfrm>
            <a:off x="7161032" y="4498848"/>
            <a:ext cx="88880" cy="237744"/>
          </a:xfrm>
          <a:prstGeom prst="roundRect">
            <a:avLst>
              <a:gd name="adj" fmla="val 123456"/>
            </a:avLst>
          </a:prstGeom>
          <a:solidFill>
            <a:schemeClr val="accent3">
              <a:alpha val="35000"/>
            </a:schemeClr>
          </a:solidFill>
          <a:ln/>
        </p:spPr>
      </p:sp>
      <p:sp>
        <p:nvSpPr>
          <p:cNvPr id="31" name="Shape 29"/>
          <p:cNvSpPr/>
          <p:nvPr/>
        </p:nvSpPr>
        <p:spPr>
          <a:xfrm>
            <a:off x="7086600" y="4498848"/>
            <a:ext cx="237744" cy="237744"/>
          </a:xfrm>
          <a:prstGeom prst="ellipse">
            <a:avLst/>
          </a:prstGeom>
          <a:solidFill>
            <a:schemeClr val="accent3"/>
          </a:solidFill>
          <a:ln w="19050">
            <a:solidFill>
              <a:schemeClr val="bg1"/>
            </a:solidFill>
            <a:prstDash val="solid"/>
          </a:ln>
        </p:spPr>
      </p:sp>
      <p:sp>
        <p:nvSpPr>
          <p:cNvPr id="32" name="Text 30"/>
          <p:cNvSpPr txBox="1"/>
          <p:nvPr/>
        </p:nvSpPr>
        <p:spPr>
          <a:xfrm>
            <a:off x="6473952" y="4114800"/>
            <a:ext cx="1463040" cy="292608"/>
          </a:xfrm>
          <a:prstGeom prst="rect">
            <a:avLst/>
          </a:prstGeom>
          <a:noFill/>
          <a:ln/>
        </p:spPr>
        <p:txBody>
          <a:bodyPr wrap="square" lIns="0" tIns="0" rIns="0" bIns="0" rtlCol="0" anchor="t"/>
          <a:lstStyle/>
          <a:p>
            <a:pPr algn="ctr" indent="0" marL="0">
              <a:buNone/>
            </a:pPr>
            <a:r>
              <a:rPr lang="en-US" sz="1500" b="1" dirty="0">
                <a:solidFill>
                  <a:schemeClr val="accent3"/>
                </a:solidFill>
              </a:rPr>
              <a:t>95.0 ± 0.9</a:t>
            </a:r>
            <a:endParaRPr lang="en-US" sz="1500" dirty="0"/>
          </a:p>
        </p:txBody>
      </p:sp>
      <p:sp>
        <p:nvSpPr>
          <p:cNvPr id="33" name="Shape 31"/>
          <p:cNvSpPr/>
          <p:nvPr/>
        </p:nvSpPr>
        <p:spPr>
          <a:xfrm>
            <a:off x="8183880" y="1600200"/>
            <a:ext cx="3459175" cy="4343400"/>
          </a:xfrm>
          <a:prstGeom prst="roundRect">
            <a:avLst>
              <a:gd name="adj" fmla="val 2115"/>
            </a:avLst>
          </a:prstGeom>
          <a:solidFill>
            <a:schemeClr val="bg2"/>
          </a:solidFill>
          <a:ln/>
        </p:spPr>
      </p:sp>
      <p:sp>
        <p:nvSpPr>
          <p:cNvPr id="34" name="Text 32"/>
          <p:cNvSpPr txBox="1"/>
          <p:nvPr/>
        </p:nvSpPr>
        <p:spPr>
          <a:xfrm>
            <a:off x="8503920" y="1828800"/>
            <a:ext cx="2819095" cy="777240"/>
          </a:xfrm>
          <a:prstGeom prst="rect">
            <a:avLst/>
          </a:prstGeom>
          <a:noFill/>
          <a:ln/>
        </p:spPr>
        <p:txBody>
          <a:bodyPr wrap="square" lIns="0" tIns="0" rIns="0" bIns="0" rtlCol="0" anchor="t"/>
          <a:lstStyle/>
          <a:p>
            <a:pPr indent="0" marL="0">
              <a:buNone/>
            </a:pPr>
            <a:r>
              <a:rPr lang="en-US" sz="4800" b="1" dirty="0">
                <a:solidFill>
                  <a:schemeClr val="accent2"/>
                </a:solidFill>
                <a:latin typeface="+mj-lt" pitchFamily="34" charset="0"/>
                <a:ea typeface="+mj-lt" pitchFamily="34" charset="-122"/>
                <a:cs typeface="+mj-lt" pitchFamily="34" charset="-120"/>
              </a:rPr>
              <a:t>±28.5 pp</a:t>
            </a:r>
            <a:endParaRPr lang="en-US" sz="4800" dirty="0"/>
          </a:p>
        </p:txBody>
      </p:sp>
      <p:sp>
        <p:nvSpPr>
          <p:cNvPr id="35" name="Text 33"/>
          <p:cNvSpPr txBox="1"/>
          <p:nvPr/>
        </p:nvSpPr>
        <p:spPr>
          <a:xfrm>
            <a:off x="8503920" y="2651760"/>
            <a:ext cx="2819095" cy="868680"/>
          </a:xfrm>
          <a:prstGeom prst="rect">
            <a:avLst/>
          </a:prstGeom>
          <a:noFill/>
          <a:ln/>
        </p:spPr>
        <p:txBody>
          <a:bodyPr wrap="square" lIns="0" tIns="0" rIns="0" bIns="0" rtlCol="0" anchor="t"/>
          <a:lstStyle/>
          <a:p>
            <a:pPr indent="0" marL="0">
              <a:buNone/>
            </a:pPr>
            <a:r>
              <a:rPr lang="en-US" sz="1500" dirty="0">
                <a:solidFill>
                  <a:schemeClr val="tx1"/>
                </a:solidFill>
              </a:rPr>
              <a:t>run-to-run standard deviation of DP-OPT on GSM8K: one run may succeed, the next may collapse.</a:t>
            </a:r>
            <a:endParaRPr lang="en-US" sz="1500" dirty="0"/>
          </a:p>
        </p:txBody>
      </p:sp>
      <p:sp>
        <p:nvSpPr>
          <p:cNvPr id="36" name="Text 34"/>
          <p:cNvSpPr txBox="1"/>
          <p:nvPr/>
        </p:nvSpPr>
        <p:spPr>
          <a:xfrm>
            <a:off x="8503920" y="3657600"/>
            <a:ext cx="2819095" cy="731520"/>
          </a:xfrm>
          <a:prstGeom prst="rect">
            <a:avLst/>
          </a:prstGeom>
          <a:noFill/>
          <a:ln/>
        </p:spPr>
        <p:txBody>
          <a:bodyPr wrap="square" lIns="0" tIns="0" rIns="0" bIns="0" rtlCol="0" anchor="t"/>
          <a:lstStyle/>
          <a:p>
            <a:pPr indent="0" marL="0">
              <a:buNone/>
            </a:pPr>
            <a:r>
              <a:rPr lang="en-US" sz="4400" b="1" dirty="0">
                <a:solidFill>
                  <a:schemeClr val="accent1"/>
                </a:solidFill>
                <a:latin typeface="+mj-lt" pitchFamily="34" charset="0"/>
                <a:ea typeface="+mj-lt" pitchFamily="34" charset="-122"/>
                <a:cs typeface="+mj-lt" pitchFamily="34" charset="-120"/>
              </a:rPr>
              <a:t>~9×</a:t>
            </a:r>
            <a:endParaRPr lang="en-US" sz="4400" dirty="0"/>
          </a:p>
        </p:txBody>
      </p:sp>
      <p:sp>
        <p:nvSpPr>
          <p:cNvPr id="37" name="Text 35"/>
          <p:cNvSpPr txBox="1"/>
          <p:nvPr/>
        </p:nvSpPr>
        <p:spPr>
          <a:xfrm>
            <a:off x="8503920" y="4434840"/>
            <a:ext cx="2819095" cy="731520"/>
          </a:xfrm>
          <a:prstGeom prst="rect">
            <a:avLst/>
          </a:prstGeom>
          <a:noFill/>
          <a:ln/>
        </p:spPr>
        <p:txBody>
          <a:bodyPr wrap="square" lIns="0" tIns="0" rIns="0" bIns="0" rtlCol="0" anchor="t"/>
          <a:lstStyle/>
          <a:p>
            <a:pPr indent="0" marL="0">
              <a:buNone/>
            </a:pPr>
            <a:r>
              <a:rPr lang="en-US" sz="1500" dirty="0">
                <a:solidFill>
                  <a:schemeClr val="tx1"/>
                </a:solidFill>
              </a:rPr>
              <a:t>lower standard deviation with DP-ES (3.2 pp), at a tighter privacy bound.</a:t>
            </a:r>
            <a:endParaRPr lang="en-US" sz="1500" dirty="0"/>
          </a:p>
        </p:txBody>
      </p:sp>
      <p:sp>
        <p:nvSpPr>
          <p:cNvPr id="38" name="Text 36"/>
          <p:cNvSpPr txBox="1"/>
          <p:nvPr/>
        </p:nvSpPr>
        <p:spPr>
          <a:xfrm>
            <a:off x="8503920" y="5303520"/>
            <a:ext cx="2819095" cy="457200"/>
          </a:xfrm>
          <a:prstGeom prst="rect">
            <a:avLst/>
          </a:prstGeom>
          <a:noFill/>
          <a:ln/>
        </p:spPr>
        <p:txBody>
          <a:bodyPr wrap="square" lIns="0" tIns="0" rIns="0" bIns="0" rtlCol="0" anchor="t"/>
          <a:lstStyle/>
          <a:p>
            <a:pPr indent="0" marL="0">
              <a:buNone/>
            </a:pPr>
            <a:r>
              <a:rPr lang="en-US" sz="1100" i="1" dirty="0">
                <a:solidFill>
                  <a:schemeClr val="accent3"/>
                </a:solidFill>
              </a:rPr>
              <a:t>DP-OPT: black-box adaptation of Hong et al. (ICLR 2024); LLM: DeepSeek-V3.2.</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DIAGNOSIS</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A logged DP-OPT run drifts from its template</a:t>
            </a:r>
            <a:endParaRPr lang="en-US" sz="3000" dirty="0"/>
          </a:p>
        </p:txBody>
      </p:sp>
      <p:sp>
        <p:nvSpPr>
          <p:cNvPr id="4" name="Text 2"/>
          <p:cNvSpPr txBox="1"/>
          <p:nvPr/>
        </p:nvSpPr>
        <p:spPr>
          <a:xfrm>
            <a:off x="6156655" y="329184"/>
            <a:ext cx="5486400" cy="292608"/>
          </a:xfrm>
          <a:prstGeom prst="rect">
            <a:avLst/>
          </a:prstGeom>
          <a:noFill/>
          <a:ln/>
        </p:spPr>
        <p:txBody>
          <a:bodyPr wrap="square" lIns="0" tIns="0" rIns="0" bIns="0" rtlCol="0" anchor="t"/>
          <a:lstStyle/>
          <a:p>
            <a:pPr algn="r" indent="0" marL="0">
              <a:buNone/>
            </a:pPr>
            <a:r>
              <a:rPr lang="en-US" sz="1100" dirty="0">
                <a:solidFill>
                  <a:schemeClr val="accent3"/>
                </a:solidFill>
              </a:rPr>
              <a:t>Motivation</a:t>
            </a:r>
            <a:r>
              <a:rPr lang="en-US" sz="1100" dirty="0">
                <a:solidFill>
                  <a:schemeClr val="accent3"/>
                </a:solidFill>
              </a:rPr>
              <a:t>   ·   </a:t>
            </a:r>
            <a:r>
              <a:rPr lang="en-US" sz="1100" b="1" dirty="0">
                <a:solidFill>
                  <a:schemeClr val="accent1"/>
                </a:solidFill>
              </a:rPr>
              <a:t>Diagnosis</a:t>
            </a:r>
            <a:r>
              <a:rPr lang="en-US" sz="1100" dirty="0">
                <a:solidFill>
                  <a:schemeClr val="accent3"/>
                </a:solidFill>
              </a:rPr>
              <a:t>   ·   </a:t>
            </a:r>
            <a:r>
              <a:rPr lang="en-US" sz="1100" dirty="0">
                <a:solidFill>
                  <a:schemeClr val="accent3"/>
                </a:solidFill>
              </a:rPr>
              <a:t>Method</a:t>
            </a:r>
            <a:r>
              <a:rPr lang="en-US" sz="1100" dirty="0">
                <a:solidFill>
                  <a:schemeClr val="accent3"/>
                </a:solidFill>
              </a:rPr>
              <a:t>   ·   </a:t>
            </a:r>
            <a:r>
              <a:rPr lang="en-US" sz="1100" dirty="0">
                <a:solidFill>
                  <a:schemeClr val="accent3"/>
                </a:solidFill>
              </a:rPr>
              <a:t>Results</a:t>
            </a:r>
            <a:r>
              <a:rPr lang="en-US" sz="1100" dirty="0">
                <a:solidFill>
                  <a:schemeClr val="accent3"/>
                </a:solidFill>
              </a:rPr>
              <a:t>   ·   </a:t>
            </a:r>
            <a:r>
              <a:rPr lang="en-US" sz="1100" dirty="0">
                <a:solidFill>
                  <a:schemeClr val="accent3"/>
                </a:solidFill>
              </a:rPr>
              <a:t>Scope</a:t>
            </a:r>
            <a:endParaRPr lang="en-US" sz="1100" dirty="0"/>
          </a:p>
        </p:txBody>
      </p:sp>
      <p:sp>
        <p:nvSpPr>
          <p:cNvPr id="5" name="Shape 3"/>
          <p:cNvSpPr/>
          <p:nvPr/>
        </p:nvSpPr>
        <p:spPr>
          <a:xfrm>
            <a:off x="548640" y="1600200"/>
            <a:ext cx="6949440" cy="1188720"/>
          </a:xfrm>
          <a:prstGeom prst="roundRect">
            <a:avLst>
              <a:gd name="adj" fmla="val 6154"/>
            </a:avLst>
          </a:prstGeom>
          <a:solidFill>
            <a:schemeClr val="accent1">
              <a:alpha val="8000"/>
            </a:schemeClr>
          </a:solidFill>
          <a:ln/>
        </p:spPr>
      </p:sp>
      <p:sp>
        <p:nvSpPr>
          <p:cNvPr id="6" name="Text 4"/>
          <p:cNvSpPr txBox="1"/>
          <p:nvPr/>
        </p:nvSpPr>
        <p:spPr>
          <a:xfrm>
            <a:off x="822960" y="1737360"/>
            <a:ext cx="4114800" cy="274320"/>
          </a:xfrm>
          <a:prstGeom prst="rect">
            <a:avLst/>
          </a:prstGeom>
          <a:noFill/>
          <a:ln/>
        </p:spPr>
        <p:txBody>
          <a:bodyPr wrap="square" lIns="0" tIns="0" rIns="0" bIns="0" rtlCol="0" anchor="t"/>
          <a:lstStyle/>
          <a:p>
            <a:pPr indent="0" marL="0">
              <a:buNone/>
            </a:pPr>
            <a:r>
              <a:rPr lang="en-US" sz="1300" b="1" dirty="0">
                <a:solidFill>
                  <a:schemeClr val="tx2"/>
                </a:solidFill>
              </a:rPr>
              <a:t>Iteration 0  ·  selected</a:t>
            </a:r>
            <a:endParaRPr lang="en-US" sz="1300" dirty="0"/>
          </a:p>
        </p:txBody>
      </p:sp>
      <p:sp>
        <p:nvSpPr>
          <p:cNvPr id="7" name="Text 5"/>
          <p:cNvSpPr txBox="1"/>
          <p:nvPr/>
        </p:nvSpPr>
        <p:spPr>
          <a:xfrm>
            <a:off x="5623560" y="1719072"/>
            <a:ext cx="1645920" cy="292608"/>
          </a:xfrm>
          <a:prstGeom prst="roundRect">
            <a:avLst>
              <a:gd name="adj" fmla="val 43750"/>
            </a:avLst>
          </a:prstGeom>
          <a:solidFill>
            <a:schemeClr val="accent1"/>
          </a:solidFill>
          <a:ln/>
        </p:spPr>
        <p:txBody>
          <a:bodyPr wrap="square" lIns="0" tIns="0" rIns="0" bIns="0" rtlCol="0" anchor="ctr"/>
          <a:lstStyle/>
          <a:p>
            <a:pPr algn="ctr" indent="0" marL="0">
              <a:buNone/>
            </a:pPr>
            <a:r>
              <a:rPr lang="en-US" sz="1200" b="1" dirty="0">
                <a:solidFill>
                  <a:schemeClr val="bg1"/>
                </a:solidFill>
              </a:rPr>
              <a:t>{question} kept</a:t>
            </a:r>
            <a:endParaRPr lang="en-US" sz="1200" dirty="0"/>
          </a:p>
        </p:txBody>
      </p:sp>
      <p:sp>
        <p:nvSpPr>
          <p:cNvPr id="8" name="Text 6"/>
          <p:cNvSpPr txBox="1"/>
          <p:nvPr/>
        </p:nvSpPr>
        <p:spPr>
          <a:xfrm>
            <a:off x="822960" y="2075688"/>
            <a:ext cx="6400800" cy="640080"/>
          </a:xfrm>
          <a:prstGeom prst="rect">
            <a:avLst/>
          </a:prstGeom>
          <a:noFill/>
          <a:ln/>
        </p:spPr>
        <p:txBody>
          <a:bodyPr wrap="square" lIns="0" tIns="0" rIns="0" bIns="0" rtlCol="0" anchor="t"/>
          <a:lstStyle/>
          <a:p>
            <a:pPr indent="0" marL="0">
              <a:buNone/>
            </a:pPr>
            <a:r>
              <a:rPr lang="en-US" sz="1500" i="1" dirty="0">
                <a:solidFill>
                  <a:schemeClr val="tx1"/>
                </a:solidFill>
              </a:rPr>
              <a:t>Carefully solve the following math question and provide a clear explanation of your reasoning: </a:t>
            </a:r>
            <a:r>
              <a:rPr lang="en-US" sz="1500" b="1" i="1" dirty="0">
                <a:solidFill>
                  <a:schemeClr val="accent1"/>
                </a:solidFill>
              </a:rPr>
              <a:t>{question}</a:t>
            </a:r>
            <a:endParaRPr lang="en-US" sz="1500" dirty="0"/>
          </a:p>
        </p:txBody>
      </p:sp>
      <p:sp>
        <p:nvSpPr>
          <p:cNvPr id="9" name="Shape 7"/>
          <p:cNvSpPr/>
          <p:nvPr/>
        </p:nvSpPr>
        <p:spPr>
          <a:xfrm>
            <a:off x="1097280" y="2807208"/>
            <a:ext cx="0" cy="237744"/>
          </a:xfrm>
          <a:prstGeom prst="line">
            <a:avLst/>
          </a:prstGeom>
          <a:noFill/>
          <a:ln w="19050">
            <a:solidFill>
              <a:srgbClr val="6E747C"/>
            </a:solidFill>
            <a:prstDash val="solid"/>
            <a:tailEnd type="triangle"/>
          </a:ln>
        </p:spPr>
      </p:sp>
      <p:sp>
        <p:nvSpPr>
          <p:cNvPr id="10" name="Shape 8"/>
          <p:cNvSpPr/>
          <p:nvPr/>
        </p:nvSpPr>
        <p:spPr>
          <a:xfrm>
            <a:off x="548640" y="3063240"/>
            <a:ext cx="6949440" cy="1188720"/>
          </a:xfrm>
          <a:prstGeom prst="roundRect">
            <a:avLst>
              <a:gd name="adj" fmla="val 6154"/>
            </a:avLst>
          </a:prstGeom>
          <a:solidFill>
            <a:schemeClr val="accent2">
              <a:alpha val="8000"/>
            </a:schemeClr>
          </a:solidFill>
          <a:ln/>
        </p:spPr>
      </p:sp>
      <p:sp>
        <p:nvSpPr>
          <p:cNvPr id="11" name="Text 9"/>
          <p:cNvSpPr txBox="1"/>
          <p:nvPr/>
        </p:nvSpPr>
        <p:spPr>
          <a:xfrm>
            <a:off x="822960" y="3200400"/>
            <a:ext cx="4114800" cy="274320"/>
          </a:xfrm>
          <a:prstGeom prst="rect">
            <a:avLst/>
          </a:prstGeom>
          <a:noFill/>
          <a:ln/>
        </p:spPr>
        <p:txBody>
          <a:bodyPr wrap="square" lIns="0" tIns="0" rIns="0" bIns="0" rtlCol="0" anchor="t"/>
          <a:lstStyle/>
          <a:p>
            <a:pPr indent="0" marL="0">
              <a:buNone/>
            </a:pPr>
            <a:r>
              <a:rPr lang="en-US" sz="1300" b="1" dirty="0">
                <a:solidFill>
                  <a:schemeClr val="tx2"/>
                </a:solidFill>
              </a:rPr>
              <a:t>Iteration 1  ·  selected</a:t>
            </a:r>
            <a:endParaRPr lang="en-US" sz="1300" dirty="0"/>
          </a:p>
        </p:txBody>
      </p:sp>
      <p:sp>
        <p:nvSpPr>
          <p:cNvPr id="12" name="Text 10"/>
          <p:cNvSpPr txBox="1"/>
          <p:nvPr/>
        </p:nvSpPr>
        <p:spPr>
          <a:xfrm>
            <a:off x="5623560" y="3182112"/>
            <a:ext cx="1645920" cy="292608"/>
          </a:xfrm>
          <a:prstGeom prst="roundRect">
            <a:avLst>
              <a:gd name="adj" fmla="val 43750"/>
            </a:avLst>
          </a:prstGeom>
          <a:solidFill>
            <a:schemeClr val="accent2"/>
          </a:solidFill>
          <a:ln/>
        </p:spPr>
        <p:txBody>
          <a:bodyPr wrap="square" lIns="0" tIns="0" rIns="0" bIns="0" rtlCol="0" anchor="ctr"/>
          <a:lstStyle/>
          <a:p>
            <a:pPr algn="ctr" indent="0" marL="0">
              <a:buNone/>
            </a:pPr>
            <a:r>
              <a:rPr lang="en-US" sz="1200" b="1" dirty="0">
                <a:solidFill>
                  <a:schemeClr val="bg1"/>
                </a:solidFill>
              </a:rPr>
              <a:t>{question} lost</a:t>
            </a:r>
            <a:endParaRPr lang="en-US" sz="1200" dirty="0"/>
          </a:p>
        </p:txBody>
      </p:sp>
      <p:sp>
        <p:nvSpPr>
          <p:cNvPr id="13" name="Text 11"/>
          <p:cNvSpPr txBox="1"/>
          <p:nvPr/>
        </p:nvSpPr>
        <p:spPr>
          <a:xfrm>
            <a:off x="822960" y="3538728"/>
            <a:ext cx="6400800" cy="640080"/>
          </a:xfrm>
          <a:prstGeom prst="rect">
            <a:avLst/>
          </a:prstGeom>
          <a:noFill/>
          <a:ln/>
        </p:spPr>
        <p:txBody>
          <a:bodyPr wrap="square" lIns="0" tIns="0" rIns="0" bIns="0" rtlCol="0" anchor="t"/>
          <a:lstStyle/>
          <a:p>
            <a:pPr indent="0" marL="0">
              <a:buNone/>
            </a:pPr>
            <a:r>
              <a:rPr lang="en-US" sz="1500" i="1" dirty="0">
                <a:solidFill>
                  <a:schemeClr val="tx1"/>
                </a:solidFill>
              </a:rPr>
              <a:t>Solve the math problem step-by-step, ensuring each step is clearly explained and justified before proceeding to the next.</a:t>
            </a:r>
            <a:endParaRPr lang="en-US" sz="1500" dirty="0"/>
          </a:p>
        </p:txBody>
      </p:sp>
      <p:sp>
        <p:nvSpPr>
          <p:cNvPr id="14" name="Shape 12"/>
          <p:cNvSpPr/>
          <p:nvPr/>
        </p:nvSpPr>
        <p:spPr>
          <a:xfrm>
            <a:off x="1097280" y="4270248"/>
            <a:ext cx="0" cy="237744"/>
          </a:xfrm>
          <a:prstGeom prst="line">
            <a:avLst/>
          </a:prstGeom>
          <a:noFill/>
          <a:ln w="19050">
            <a:solidFill>
              <a:srgbClr val="6E747C"/>
            </a:solidFill>
            <a:prstDash val="solid"/>
            <a:tailEnd type="triangle"/>
          </a:ln>
        </p:spPr>
      </p:sp>
      <p:sp>
        <p:nvSpPr>
          <p:cNvPr id="15" name="Shape 13"/>
          <p:cNvSpPr/>
          <p:nvPr/>
        </p:nvSpPr>
        <p:spPr>
          <a:xfrm>
            <a:off x="548640" y="4526280"/>
            <a:ext cx="6949440" cy="1188720"/>
          </a:xfrm>
          <a:prstGeom prst="roundRect">
            <a:avLst>
              <a:gd name="adj" fmla="val 6154"/>
            </a:avLst>
          </a:prstGeom>
          <a:solidFill>
            <a:schemeClr val="accent2">
              <a:alpha val="8000"/>
            </a:schemeClr>
          </a:solidFill>
          <a:ln/>
        </p:spPr>
      </p:sp>
      <p:sp>
        <p:nvSpPr>
          <p:cNvPr id="16" name="Text 14"/>
          <p:cNvSpPr txBox="1"/>
          <p:nvPr/>
        </p:nvSpPr>
        <p:spPr>
          <a:xfrm>
            <a:off x="822960" y="4663440"/>
            <a:ext cx="4114800" cy="274320"/>
          </a:xfrm>
          <a:prstGeom prst="rect">
            <a:avLst/>
          </a:prstGeom>
          <a:noFill/>
          <a:ln/>
        </p:spPr>
        <p:txBody>
          <a:bodyPr wrap="square" lIns="0" tIns="0" rIns="0" bIns="0" rtlCol="0" anchor="t"/>
          <a:lstStyle/>
          <a:p>
            <a:pPr indent="0" marL="0">
              <a:buNone/>
            </a:pPr>
            <a:r>
              <a:rPr lang="en-US" sz="1300" b="1" dirty="0">
                <a:solidFill>
                  <a:schemeClr val="tx2"/>
                </a:solidFill>
              </a:rPr>
              <a:t>Iteration 2  ·  selected (final)</a:t>
            </a:r>
            <a:endParaRPr lang="en-US" sz="1300" dirty="0"/>
          </a:p>
        </p:txBody>
      </p:sp>
      <p:sp>
        <p:nvSpPr>
          <p:cNvPr id="17" name="Text 15"/>
          <p:cNvSpPr txBox="1"/>
          <p:nvPr/>
        </p:nvSpPr>
        <p:spPr>
          <a:xfrm>
            <a:off x="5623560" y="4645152"/>
            <a:ext cx="1645920" cy="292608"/>
          </a:xfrm>
          <a:prstGeom prst="roundRect">
            <a:avLst>
              <a:gd name="adj" fmla="val 43750"/>
            </a:avLst>
          </a:prstGeom>
          <a:solidFill>
            <a:schemeClr val="accent2"/>
          </a:solidFill>
          <a:ln/>
        </p:spPr>
        <p:txBody>
          <a:bodyPr wrap="square" lIns="0" tIns="0" rIns="0" bIns="0" rtlCol="0" anchor="ctr"/>
          <a:lstStyle/>
          <a:p>
            <a:pPr algn="ctr" indent="0" marL="0">
              <a:buNone/>
            </a:pPr>
            <a:r>
              <a:rPr lang="en-US" sz="1200" b="1" dirty="0">
                <a:solidFill>
                  <a:schemeClr val="bg1"/>
                </a:solidFill>
              </a:rPr>
              <a:t>{question} lost</a:t>
            </a:r>
            <a:endParaRPr lang="en-US" sz="1200" dirty="0"/>
          </a:p>
        </p:txBody>
      </p:sp>
      <p:sp>
        <p:nvSpPr>
          <p:cNvPr id="18" name="Text 16"/>
          <p:cNvSpPr txBox="1"/>
          <p:nvPr/>
        </p:nvSpPr>
        <p:spPr>
          <a:xfrm>
            <a:off x="822960" y="5001768"/>
            <a:ext cx="6400800" cy="640080"/>
          </a:xfrm>
          <a:prstGeom prst="rect">
            <a:avLst/>
          </a:prstGeom>
          <a:noFill/>
          <a:ln/>
        </p:spPr>
        <p:txBody>
          <a:bodyPr wrap="square" lIns="0" tIns="0" rIns="0" bIns="0" rtlCol="0" anchor="t"/>
          <a:lstStyle/>
          <a:p>
            <a:pPr indent="0" marL="0">
              <a:buNone/>
            </a:pPr>
            <a:r>
              <a:rPr lang="en-US" sz="1500" i="1" dirty="0">
                <a:solidFill>
                  <a:schemeClr val="tx1"/>
                </a:solidFill>
              </a:rPr>
              <a:t>Present a structured solution by enumerating each step, explaining the purpose of that step, and confirming its correctness before continuing.</a:t>
            </a:r>
            <a:endParaRPr lang="en-US" sz="1500" dirty="0"/>
          </a:p>
        </p:txBody>
      </p:sp>
      <p:sp>
        <p:nvSpPr>
          <p:cNvPr id="19" name="Text 17"/>
          <p:cNvSpPr txBox="1"/>
          <p:nvPr/>
        </p:nvSpPr>
        <p:spPr>
          <a:xfrm>
            <a:off x="8001000" y="1554480"/>
            <a:ext cx="3642055" cy="731520"/>
          </a:xfrm>
          <a:prstGeom prst="rect">
            <a:avLst/>
          </a:prstGeom>
          <a:noFill/>
          <a:ln/>
        </p:spPr>
        <p:txBody>
          <a:bodyPr wrap="square" lIns="0" tIns="0" rIns="0" bIns="0" rtlCol="0" anchor="t"/>
          <a:lstStyle/>
          <a:p>
            <a:pPr indent="0" marL="0">
              <a:buNone/>
            </a:pPr>
            <a:r>
              <a:rPr lang="en-US" sz="4400" b="1" dirty="0">
                <a:solidFill>
                  <a:schemeClr val="accent2"/>
                </a:solidFill>
                <a:latin typeface="+mj-lt" pitchFamily="34" charset="0"/>
                <a:ea typeface="+mj-lt" pitchFamily="34" charset="-122"/>
                <a:cs typeface="+mj-lt" pitchFamily="34" charset="-120"/>
              </a:rPr>
              <a:t>21 / 33</a:t>
            </a:r>
            <a:endParaRPr lang="en-US" sz="4400" dirty="0"/>
          </a:p>
        </p:txBody>
      </p:sp>
      <p:sp>
        <p:nvSpPr>
          <p:cNvPr id="20" name="Text 18"/>
          <p:cNvSpPr txBox="1"/>
          <p:nvPr/>
        </p:nvSpPr>
        <p:spPr>
          <a:xfrm>
            <a:off x="8001000" y="2286000"/>
            <a:ext cx="3642055" cy="640080"/>
          </a:xfrm>
          <a:prstGeom prst="rect">
            <a:avLst/>
          </a:prstGeom>
          <a:noFill/>
          <a:ln/>
        </p:spPr>
        <p:txBody>
          <a:bodyPr wrap="square" lIns="0" tIns="0" rIns="0" bIns="0" rtlCol="0" anchor="t"/>
          <a:lstStyle/>
          <a:p>
            <a:pPr indent="0" marL="0">
              <a:buNone/>
            </a:pPr>
            <a:r>
              <a:rPr lang="en-US" sz="1500" dirty="0">
                <a:solidFill>
                  <a:schemeClr val="tx1"/>
                </a:solidFill>
              </a:rPr>
              <a:t>candidate prompts (64%) omit the </a:t>
            </a:r>
            <a:r>
              <a:rPr lang="en-US" sz="1500" b="1" dirty="0">
                <a:solidFill>
                  <a:schemeClr val="tx1"/>
                </a:solidFill>
              </a:rPr>
              <a:t>{question</a:t>
            </a:r>
            <a:r>
              <a:rPr lang="en-US" sz="1500" dirty="0">
                <a:solidFill>
                  <a:schemeClr val="tx1"/>
                </a:solidFill>
              </a:rPr>
              <a:t>} placeholder during search</a:t>
            </a:r>
            <a:endParaRPr lang="en-US" sz="1500" dirty="0"/>
          </a:p>
        </p:txBody>
      </p:sp>
      <p:sp>
        <p:nvSpPr>
          <p:cNvPr id="21" name="Text 19"/>
          <p:cNvSpPr txBox="1"/>
          <p:nvPr/>
        </p:nvSpPr>
        <p:spPr>
          <a:xfrm>
            <a:off x="8001000" y="3017520"/>
            <a:ext cx="3642055" cy="731520"/>
          </a:xfrm>
          <a:prstGeom prst="rect">
            <a:avLst/>
          </a:prstGeom>
          <a:noFill/>
          <a:ln/>
        </p:spPr>
        <p:txBody>
          <a:bodyPr wrap="square" lIns="0" tIns="0" rIns="0" bIns="0" rtlCol="0" anchor="t"/>
          <a:lstStyle/>
          <a:p>
            <a:pPr indent="0" marL="0">
              <a:buNone/>
            </a:pPr>
            <a:r>
              <a:rPr lang="en-US" sz="4400" b="1" dirty="0">
                <a:solidFill>
                  <a:schemeClr val="accent2"/>
                </a:solidFill>
                <a:latin typeface="+mj-lt" pitchFamily="34" charset="0"/>
                <a:ea typeface="+mj-lt" pitchFamily="34" charset="-122"/>
                <a:cs typeface="+mj-lt" pitchFamily="34" charset="-120"/>
              </a:rPr>
              <a:t>2 / 3</a:t>
            </a:r>
            <a:endParaRPr lang="en-US" sz="4400" dirty="0"/>
          </a:p>
        </p:txBody>
      </p:sp>
      <p:sp>
        <p:nvSpPr>
          <p:cNvPr id="22" name="Text 20"/>
          <p:cNvSpPr txBox="1"/>
          <p:nvPr/>
        </p:nvSpPr>
        <p:spPr>
          <a:xfrm>
            <a:off x="8001000" y="3749040"/>
            <a:ext cx="3642055" cy="365760"/>
          </a:xfrm>
          <a:prstGeom prst="rect">
            <a:avLst/>
          </a:prstGeom>
          <a:noFill/>
          <a:ln/>
        </p:spPr>
        <p:txBody>
          <a:bodyPr wrap="square" lIns="0" tIns="0" rIns="0" bIns="0" rtlCol="0" anchor="t"/>
          <a:lstStyle/>
          <a:p>
            <a:pPr indent="0" marL="0">
              <a:buNone/>
            </a:pPr>
            <a:r>
              <a:rPr lang="en-US" sz="1500" dirty="0">
                <a:solidFill>
                  <a:schemeClr val="tx1"/>
                </a:solidFill>
              </a:rPr>
              <a:t>selected prompts omit it in this run</a:t>
            </a:r>
            <a:endParaRPr lang="en-US" sz="1500" dirty="0"/>
          </a:p>
        </p:txBody>
      </p:sp>
      <p:sp>
        <p:nvSpPr>
          <p:cNvPr id="23" name="Shape 21"/>
          <p:cNvSpPr/>
          <p:nvPr/>
        </p:nvSpPr>
        <p:spPr>
          <a:xfrm>
            <a:off x="8001000" y="4343400"/>
            <a:ext cx="3642055" cy="1600200"/>
          </a:xfrm>
          <a:prstGeom prst="roundRect">
            <a:avLst>
              <a:gd name="adj" fmla="val 4571"/>
            </a:avLst>
          </a:prstGeom>
          <a:solidFill>
            <a:schemeClr val="bg2"/>
          </a:solidFill>
          <a:ln/>
        </p:spPr>
      </p:sp>
      <p:pic>
        <p:nvPicPr>
          <p:cNvPr id="24" name="Image 0" descr="InfoCircle icon">    </p:cNvPr>
          <p:cNvPicPr>
            <a:picLocks noChangeAspect="1"/>
          </p:cNvPicPr>
          <p:nvPr/>
        </p:nvPicPr>
        <p:blipFill>
          <a:blip r:embed="rId1"/>
          <a:stretch>
            <a:fillRect/>
          </a:stretch>
        </p:blipFill>
        <p:spPr>
          <a:xfrm>
            <a:off x="8229600" y="4526280"/>
            <a:ext cx="274320" cy="274320"/>
          </a:xfrm>
          <a:prstGeom prst="rect">
            <a:avLst/>
          </a:prstGeom>
        </p:spPr>
      </p:pic>
      <p:sp>
        <p:nvSpPr>
          <p:cNvPr id="25" name="Text 22"/>
          <p:cNvSpPr txBox="1"/>
          <p:nvPr/>
        </p:nvSpPr>
        <p:spPr>
          <a:xfrm>
            <a:off x="8641080" y="4498848"/>
            <a:ext cx="2773375" cy="1325880"/>
          </a:xfrm>
          <a:prstGeom prst="rect">
            <a:avLst/>
          </a:prstGeom>
          <a:noFill/>
          <a:ln/>
        </p:spPr>
        <p:txBody>
          <a:bodyPr wrap="square" lIns="0" tIns="0" rIns="0" bIns="0" rtlCol="0" anchor="t"/>
          <a:lstStyle/>
          <a:p>
            <a:pPr indent="0" marL="0">
              <a:buNone/>
            </a:pPr>
            <a:r>
              <a:rPr lang="en-US" sz="1400" b="1" dirty="0">
                <a:solidFill>
                  <a:schemeClr val="tx1"/>
                </a:solidFill>
              </a:rPr>
              <a:t>Caveat.</a:t>
            </a:r>
            <a:r>
              <a:rPr lang="en-US" sz="1400" dirty="0">
                <a:solidFill>
                  <a:schemeClr val="tx1"/>
                </a:solidFill>
              </a:rPr>
              <a:t> This seed still scores 91%: the harness appends the question when the placeholder is missing. We read omission as structural drift, not as a failure label.</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DIAGNOSIS</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Three structural sources of instability</a:t>
            </a:r>
            <a:endParaRPr lang="en-US" sz="3000" dirty="0"/>
          </a:p>
        </p:txBody>
      </p:sp>
      <p:sp>
        <p:nvSpPr>
          <p:cNvPr id="4" name="Text 2"/>
          <p:cNvSpPr txBox="1"/>
          <p:nvPr/>
        </p:nvSpPr>
        <p:spPr>
          <a:xfrm>
            <a:off x="6156655" y="329184"/>
            <a:ext cx="5486400" cy="292608"/>
          </a:xfrm>
          <a:prstGeom prst="rect">
            <a:avLst/>
          </a:prstGeom>
          <a:noFill/>
          <a:ln/>
        </p:spPr>
        <p:txBody>
          <a:bodyPr wrap="square" lIns="0" tIns="0" rIns="0" bIns="0" rtlCol="0" anchor="t"/>
          <a:lstStyle/>
          <a:p>
            <a:pPr algn="r" indent="0" marL="0">
              <a:buNone/>
            </a:pPr>
            <a:r>
              <a:rPr lang="en-US" sz="1100" dirty="0">
                <a:solidFill>
                  <a:schemeClr val="accent3"/>
                </a:solidFill>
              </a:rPr>
              <a:t>Motivation</a:t>
            </a:r>
            <a:r>
              <a:rPr lang="en-US" sz="1100" dirty="0">
                <a:solidFill>
                  <a:schemeClr val="accent3"/>
                </a:solidFill>
              </a:rPr>
              <a:t>   ·   </a:t>
            </a:r>
            <a:r>
              <a:rPr lang="en-US" sz="1100" b="1" dirty="0">
                <a:solidFill>
                  <a:schemeClr val="accent1"/>
                </a:solidFill>
              </a:rPr>
              <a:t>Diagnosis</a:t>
            </a:r>
            <a:r>
              <a:rPr lang="en-US" sz="1100" dirty="0">
                <a:solidFill>
                  <a:schemeClr val="accent3"/>
                </a:solidFill>
              </a:rPr>
              <a:t>   ·   </a:t>
            </a:r>
            <a:r>
              <a:rPr lang="en-US" sz="1100" dirty="0">
                <a:solidFill>
                  <a:schemeClr val="accent3"/>
                </a:solidFill>
              </a:rPr>
              <a:t>Method</a:t>
            </a:r>
            <a:r>
              <a:rPr lang="en-US" sz="1100" dirty="0">
                <a:solidFill>
                  <a:schemeClr val="accent3"/>
                </a:solidFill>
              </a:rPr>
              <a:t>   ·   </a:t>
            </a:r>
            <a:r>
              <a:rPr lang="en-US" sz="1100" dirty="0">
                <a:solidFill>
                  <a:schemeClr val="accent3"/>
                </a:solidFill>
              </a:rPr>
              <a:t>Results</a:t>
            </a:r>
            <a:r>
              <a:rPr lang="en-US" sz="1100" dirty="0">
                <a:solidFill>
                  <a:schemeClr val="accent3"/>
                </a:solidFill>
              </a:rPr>
              <a:t>   ·   </a:t>
            </a:r>
            <a:r>
              <a:rPr lang="en-US" sz="1100" dirty="0">
                <a:solidFill>
                  <a:schemeClr val="accent3"/>
                </a:solidFill>
              </a:rPr>
              <a:t>Scope</a:t>
            </a:r>
            <a:endParaRPr lang="en-US" sz="1100" dirty="0"/>
          </a:p>
        </p:txBody>
      </p:sp>
      <p:sp>
        <p:nvSpPr>
          <p:cNvPr id="5" name="Shape 3"/>
          <p:cNvSpPr/>
          <p:nvPr/>
        </p:nvSpPr>
        <p:spPr>
          <a:xfrm>
            <a:off x="548640" y="1600200"/>
            <a:ext cx="3454298" cy="3246120"/>
          </a:xfrm>
          <a:prstGeom prst="roundRect">
            <a:avLst>
              <a:gd name="adj" fmla="val 2254"/>
            </a:avLst>
          </a:prstGeom>
          <a:solidFill>
            <a:schemeClr val="bg2"/>
          </a:solidFill>
          <a:ln/>
        </p:spPr>
      </p:sp>
      <p:sp>
        <p:nvSpPr>
          <p:cNvPr id="6" name="Shape 4"/>
          <p:cNvSpPr/>
          <p:nvPr/>
        </p:nvSpPr>
        <p:spPr>
          <a:xfrm>
            <a:off x="868680" y="1874520"/>
            <a:ext cx="685800" cy="685800"/>
          </a:xfrm>
          <a:prstGeom prst="ellipse">
            <a:avLst/>
          </a:prstGeom>
          <a:solidFill>
            <a:srgbClr val="A6192E"/>
          </a:solidFill>
          <a:ln/>
        </p:spPr>
      </p:sp>
      <p:pic>
        <p:nvPicPr>
          <p:cNvPr id="7" name="Image 0" descr="LowVision icon">    </p:cNvPr>
          <p:cNvPicPr>
            <a:picLocks noChangeAspect="1"/>
          </p:cNvPicPr>
          <p:nvPr/>
        </p:nvPicPr>
        <p:blipFill>
          <a:blip r:embed="rId1"/>
          <a:stretch>
            <a:fillRect/>
          </a:stretch>
        </p:blipFill>
        <p:spPr>
          <a:xfrm>
            <a:off x="1040130" y="2045970"/>
            <a:ext cx="342900" cy="342900"/>
          </a:xfrm>
          <a:prstGeom prst="rect">
            <a:avLst/>
          </a:prstGeom>
        </p:spPr>
      </p:pic>
      <p:sp>
        <p:nvSpPr>
          <p:cNvPr id="8" name="Text 5"/>
          <p:cNvSpPr txBox="1"/>
          <p:nvPr/>
        </p:nvSpPr>
        <p:spPr>
          <a:xfrm>
            <a:off x="868680" y="2724912"/>
            <a:ext cx="2814218" cy="36576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Token-level myopia</a:t>
            </a:r>
            <a:endParaRPr lang="en-US" sz="2000" dirty="0"/>
          </a:p>
        </p:txBody>
      </p:sp>
      <p:sp>
        <p:nvSpPr>
          <p:cNvPr id="9" name="Text 6"/>
          <p:cNvSpPr txBox="1"/>
          <p:nvPr/>
        </p:nvSpPr>
        <p:spPr>
          <a:xfrm>
            <a:off x="868680" y="3154680"/>
            <a:ext cx="2814218" cy="1600200"/>
          </a:xfrm>
          <a:prstGeom prst="rect">
            <a:avLst/>
          </a:prstGeom>
          <a:noFill/>
          <a:ln/>
        </p:spPr>
        <p:txBody>
          <a:bodyPr wrap="square" lIns="0" tIns="0" rIns="0" bIns="0" rtlCol="0" anchor="t"/>
          <a:lstStyle/>
          <a:p>
            <a:pPr indent="0" marL="0">
              <a:buNone/>
            </a:pPr>
            <a:r>
              <a:rPr lang="en-US" sz="1500" dirty="0">
                <a:solidFill>
                  <a:schemeClr val="tx1"/>
                </a:solidFill>
              </a:rPr>
              <a:t>Prompts are built greedily, one token at a time, by voting over private histograms. Nothing checks global coherence, so placeholders can be dropped and text drifts toward generic instructions.</a:t>
            </a:r>
            <a:endParaRPr lang="en-US" sz="1500" dirty="0"/>
          </a:p>
        </p:txBody>
      </p:sp>
      <p:sp>
        <p:nvSpPr>
          <p:cNvPr id="10" name="Shape 7"/>
          <p:cNvSpPr/>
          <p:nvPr/>
        </p:nvSpPr>
        <p:spPr>
          <a:xfrm>
            <a:off x="4368698" y="1600200"/>
            <a:ext cx="3454298" cy="3246120"/>
          </a:xfrm>
          <a:prstGeom prst="roundRect">
            <a:avLst>
              <a:gd name="adj" fmla="val 2254"/>
            </a:avLst>
          </a:prstGeom>
          <a:solidFill>
            <a:schemeClr val="bg2"/>
          </a:solidFill>
          <a:ln/>
        </p:spPr>
      </p:sp>
      <p:sp>
        <p:nvSpPr>
          <p:cNvPr id="11" name="Shape 8"/>
          <p:cNvSpPr/>
          <p:nvPr/>
        </p:nvSpPr>
        <p:spPr>
          <a:xfrm>
            <a:off x="4688738" y="1874520"/>
            <a:ext cx="685800" cy="685800"/>
          </a:xfrm>
          <a:prstGeom prst="ellipse">
            <a:avLst/>
          </a:prstGeom>
          <a:solidFill>
            <a:srgbClr val="A6192E"/>
          </a:solidFill>
          <a:ln/>
        </p:spPr>
      </p:sp>
      <p:pic>
        <p:nvPicPr>
          <p:cNvPr id="12" name="Image 1" descr="UndoAlt icon">    </p:cNvPr>
          <p:cNvPicPr>
            <a:picLocks noChangeAspect="1"/>
          </p:cNvPicPr>
          <p:nvPr/>
        </p:nvPicPr>
        <p:blipFill>
          <a:blip r:embed="rId2"/>
          <a:stretch>
            <a:fillRect/>
          </a:stretch>
        </p:blipFill>
        <p:spPr>
          <a:xfrm>
            <a:off x="4860188" y="2045970"/>
            <a:ext cx="342900" cy="342900"/>
          </a:xfrm>
          <a:prstGeom prst="rect">
            <a:avLst/>
          </a:prstGeom>
        </p:spPr>
      </p:pic>
      <p:sp>
        <p:nvSpPr>
          <p:cNvPr id="13" name="Text 9"/>
          <p:cNvSpPr txBox="1"/>
          <p:nvPr/>
        </p:nvSpPr>
        <p:spPr>
          <a:xfrm>
            <a:off x="4688738" y="2724912"/>
            <a:ext cx="2814218" cy="36576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No backtracking</a:t>
            </a:r>
            <a:endParaRPr lang="en-US" sz="2000" dirty="0"/>
          </a:p>
        </p:txBody>
      </p:sp>
      <p:sp>
        <p:nvSpPr>
          <p:cNvPr id="14" name="Text 10"/>
          <p:cNvSpPr txBox="1"/>
          <p:nvPr/>
        </p:nvSpPr>
        <p:spPr>
          <a:xfrm>
            <a:off x="4688738" y="3154680"/>
            <a:ext cx="2814218" cy="1600200"/>
          </a:xfrm>
          <a:prstGeom prst="rect">
            <a:avLst/>
          </a:prstGeom>
          <a:noFill/>
          <a:ln/>
        </p:spPr>
        <p:txBody>
          <a:bodyPr wrap="square" lIns="0" tIns="0" rIns="0" bIns="0" rtlCol="0" anchor="t"/>
          <a:lstStyle/>
          <a:p>
            <a:pPr indent="0" marL="0">
              <a:buNone/>
            </a:pPr>
            <a:r>
              <a:rPr lang="en-US" sz="1500" dirty="0">
                <a:solidFill>
                  <a:schemeClr val="tx1"/>
                </a:solidFill>
              </a:rPr>
              <a:t>Once a token is released it cannot be revised. An early poor choice is locked in for the rest of construction.</a:t>
            </a:r>
            <a:endParaRPr lang="en-US" sz="1500" dirty="0"/>
          </a:p>
        </p:txBody>
      </p:sp>
      <p:sp>
        <p:nvSpPr>
          <p:cNvPr id="15" name="Shape 11"/>
          <p:cNvSpPr/>
          <p:nvPr/>
        </p:nvSpPr>
        <p:spPr>
          <a:xfrm>
            <a:off x="8188757" y="1600200"/>
            <a:ext cx="3454298" cy="3246120"/>
          </a:xfrm>
          <a:prstGeom prst="roundRect">
            <a:avLst>
              <a:gd name="adj" fmla="val 2254"/>
            </a:avLst>
          </a:prstGeom>
          <a:solidFill>
            <a:schemeClr val="bg2"/>
          </a:solidFill>
          <a:ln/>
        </p:spPr>
      </p:sp>
      <p:sp>
        <p:nvSpPr>
          <p:cNvPr id="16" name="Shape 12"/>
          <p:cNvSpPr/>
          <p:nvPr/>
        </p:nvSpPr>
        <p:spPr>
          <a:xfrm>
            <a:off x="8508797" y="1874520"/>
            <a:ext cx="685800" cy="685800"/>
          </a:xfrm>
          <a:prstGeom prst="ellipse">
            <a:avLst/>
          </a:prstGeom>
          <a:solidFill>
            <a:srgbClr val="A6192E"/>
          </a:solidFill>
          <a:ln/>
        </p:spPr>
      </p:sp>
      <p:pic>
        <p:nvPicPr>
          <p:cNvPr id="17" name="Image 2" descr="Random icon">    </p:cNvPr>
          <p:cNvPicPr>
            <a:picLocks noChangeAspect="1"/>
          </p:cNvPicPr>
          <p:nvPr/>
        </p:nvPicPr>
        <p:blipFill>
          <a:blip r:embed="rId3"/>
          <a:stretch>
            <a:fillRect/>
          </a:stretch>
        </p:blipFill>
        <p:spPr>
          <a:xfrm>
            <a:off x="8680247" y="2045970"/>
            <a:ext cx="342900" cy="342900"/>
          </a:xfrm>
          <a:prstGeom prst="rect">
            <a:avLst/>
          </a:prstGeom>
        </p:spPr>
      </p:pic>
      <p:sp>
        <p:nvSpPr>
          <p:cNvPr id="18" name="Text 13"/>
          <p:cNvSpPr txBox="1"/>
          <p:nvPr/>
        </p:nvSpPr>
        <p:spPr>
          <a:xfrm>
            <a:off x="8508797" y="2724912"/>
            <a:ext cx="2814218" cy="36576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Noise-sensitive selection</a:t>
            </a:r>
            <a:endParaRPr lang="en-US" sz="2000" dirty="0"/>
          </a:p>
        </p:txBody>
      </p:sp>
      <p:sp>
        <p:nvSpPr>
          <p:cNvPr id="19" name="Text 14"/>
          <p:cNvSpPr txBox="1"/>
          <p:nvPr/>
        </p:nvSpPr>
        <p:spPr>
          <a:xfrm>
            <a:off x="8508797" y="3154680"/>
            <a:ext cx="2814218" cy="1600200"/>
          </a:xfrm>
          <a:prstGeom prst="rect">
            <a:avLst/>
          </a:prstGeom>
          <a:noFill/>
          <a:ln/>
        </p:spPr>
        <p:txBody>
          <a:bodyPr wrap="square" lIns="0" tIns="0" rIns="0" bIns="0" rtlCol="0" anchor="t"/>
          <a:lstStyle/>
          <a:p>
            <a:pPr indent="0" marL="0">
              <a:buNone/>
            </a:pPr>
            <a:r>
              <a:rPr lang="en-US" sz="1500" dirty="0">
                <a:solidFill>
                  <a:schemeClr val="tx1"/>
                </a:solidFill>
              </a:rPr>
              <a:t>DP noise can reverse the ranking of candidates with similar utility, and small evaluation samples (10–20 examples) add variance. With no recovery path, one inversion can redirect the search.</a:t>
            </a:r>
            <a:endParaRPr lang="en-US" sz="1500" dirty="0"/>
          </a:p>
        </p:txBody>
      </p:sp>
      <p:sp>
        <p:nvSpPr>
          <p:cNvPr id="20" name="Shape 15"/>
          <p:cNvSpPr/>
          <p:nvPr/>
        </p:nvSpPr>
        <p:spPr>
          <a:xfrm>
            <a:off x="548640" y="5120640"/>
            <a:ext cx="11094415" cy="822960"/>
          </a:xfrm>
          <a:prstGeom prst="roundRect">
            <a:avLst>
              <a:gd name="adj" fmla="val 8889"/>
            </a:avLst>
          </a:prstGeom>
          <a:solidFill>
            <a:schemeClr val="accent1">
              <a:alpha val="12000"/>
            </a:schemeClr>
          </a:solidFill>
          <a:ln/>
        </p:spPr>
      </p:sp>
      <p:pic>
        <p:nvPicPr>
          <p:cNvPr id="21" name="Image 3" descr="Lightbulb icon">    </p:cNvPr>
          <p:cNvPicPr>
            <a:picLocks noChangeAspect="1"/>
          </p:cNvPicPr>
          <p:nvPr/>
        </p:nvPicPr>
        <p:blipFill>
          <a:blip r:embed="rId4"/>
          <a:stretch>
            <a:fillRect/>
          </a:stretch>
        </p:blipFill>
        <p:spPr>
          <a:xfrm>
            <a:off x="822960" y="5321808"/>
            <a:ext cx="384048" cy="384048"/>
          </a:xfrm>
          <a:prstGeom prst="rect">
            <a:avLst/>
          </a:prstGeom>
        </p:spPr>
      </p:pic>
      <p:sp>
        <p:nvSpPr>
          <p:cNvPr id="22" name="Text 16"/>
          <p:cNvSpPr txBox="1"/>
          <p:nvPr/>
        </p:nvSpPr>
        <p:spPr>
          <a:xfrm>
            <a:off x="1417320" y="5230368"/>
            <a:ext cx="9997135" cy="640080"/>
          </a:xfrm>
          <a:prstGeom prst="rect">
            <a:avLst/>
          </a:prstGeom>
          <a:noFill/>
          <a:ln/>
        </p:spPr>
        <p:txBody>
          <a:bodyPr wrap="square" lIns="0" tIns="0" rIns="0" bIns="0" rtlCol="0" anchor="ctr"/>
          <a:lstStyle/>
          <a:p>
            <a:pPr indent="0" marL="0">
              <a:buNone/>
            </a:pPr>
            <a:r>
              <a:rPr lang="en-US" sz="1500" b="1" dirty="0">
                <a:solidFill>
                  <a:schemeClr val="tx1"/>
                </a:solidFill>
              </a:rPr>
              <a:t>Implication:</a:t>
            </a:r>
            <a:r>
              <a:rPr lang="en-US" sz="1500" dirty="0">
                <a:solidFill>
                  <a:schemeClr val="tx1"/>
                </a:solidFill>
              </a:rPr>
              <a:t> change the search unit. Evolve </a:t>
            </a:r>
            <a:r>
              <a:rPr lang="en-US" sz="1500" i="1" dirty="0">
                <a:solidFill>
                  <a:schemeClr val="tx1"/>
                </a:solidFill>
              </a:rPr>
              <a:t>complete</a:t>
            </a:r>
            <a:r>
              <a:rPr lang="en-US" sz="1500" dirty="0">
                <a:solidFill>
                  <a:schemeClr val="tx1"/>
                </a:solidFill>
              </a:rPr>
              <a:t> prompts in a population that can recover, and spend privacy only on scoring — the Private Evolution principle (Lin et al., 2024; Xie et al., 2024).</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METHOD</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DP-ES: only scoring touches private data</a:t>
            </a:r>
            <a:endParaRPr lang="en-US" sz="3000" dirty="0"/>
          </a:p>
        </p:txBody>
      </p:sp>
      <p:sp>
        <p:nvSpPr>
          <p:cNvPr id="4" name="Text 2"/>
          <p:cNvSpPr txBox="1"/>
          <p:nvPr/>
        </p:nvSpPr>
        <p:spPr>
          <a:xfrm>
            <a:off x="6156655" y="329184"/>
            <a:ext cx="5486400" cy="292608"/>
          </a:xfrm>
          <a:prstGeom prst="rect">
            <a:avLst/>
          </a:prstGeom>
          <a:noFill/>
          <a:ln/>
        </p:spPr>
        <p:txBody>
          <a:bodyPr wrap="square" lIns="0" tIns="0" rIns="0" bIns="0" rtlCol="0" anchor="t"/>
          <a:lstStyle/>
          <a:p>
            <a:pPr algn="r" indent="0" marL="0">
              <a:buNone/>
            </a:pPr>
            <a:r>
              <a:rPr lang="en-US" sz="1100" dirty="0">
                <a:solidFill>
                  <a:schemeClr val="accent3"/>
                </a:solidFill>
              </a:rPr>
              <a:t>Motivation</a:t>
            </a:r>
            <a:r>
              <a:rPr lang="en-US" sz="1100" dirty="0">
                <a:solidFill>
                  <a:schemeClr val="accent3"/>
                </a:solidFill>
              </a:rPr>
              <a:t>   ·   </a:t>
            </a:r>
            <a:r>
              <a:rPr lang="en-US" sz="1100" dirty="0">
                <a:solidFill>
                  <a:schemeClr val="accent3"/>
                </a:solidFill>
              </a:rPr>
              <a:t>Diagnosis</a:t>
            </a:r>
            <a:r>
              <a:rPr lang="en-US" sz="1100" dirty="0">
                <a:solidFill>
                  <a:schemeClr val="accent3"/>
                </a:solidFill>
              </a:rPr>
              <a:t>   ·   </a:t>
            </a:r>
            <a:r>
              <a:rPr lang="en-US" sz="1100" b="1" dirty="0">
                <a:solidFill>
                  <a:schemeClr val="accent1"/>
                </a:solidFill>
              </a:rPr>
              <a:t>Method</a:t>
            </a:r>
            <a:r>
              <a:rPr lang="en-US" sz="1100" dirty="0">
                <a:solidFill>
                  <a:schemeClr val="accent3"/>
                </a:solidFill>
              </a:rPr>
              <a:t>   ·   </a:t>
            </a:r>
            <a:r>
              <a:rPr lang="en-US" sz="1100" dirty="0">
                <a:solidFill>
                  <a:schemeClr val="accent3"/>
                </a:solidFill>
              </a:rPr>
              <a:t>Results</a:t>
            </a:r>
            <a:r>
              <a:rPr lang="en-US" sz="1100" dirty="0">
                <a:solidFill>
                  <a:schemeClr val="accent3"/>
                </a:solidFill>
              </a:rPr>
              <a:t>   ·   </a:t>
            </a:r>
            <a:r>
              <a:rPr lang="en-US" sz="1100" dirty="0">
                <a:solidFill>
                  <a:schemeClr val="accent3"/>
                </a:solidFill>
              </a:rPr>
              <a:t>Scope</a:t>
            </a:r>
            <a:endParaRPr lang="en-US" sz="1100" dirty="0"/>
          </a:p>
        </p:txBody>
      </p:sp>
      <p:sp>
        <p:nvSpPr>
          <p:cNvPr id="5" name="Shape 3"/>
          <p:cNvSpPr/>
          <p:nvPr/>
        </p:nvSpPr>
        <p:spPr>
          <a:xfrm>
            <a:off x="548640" y="2103120"/>
            <a:ext cx="3454298" cy="2697480"/>
          </a:xfrm>
          <a:prstGeom prst="roundRect">
            <a:avLst>
              <a:gd name="adj" fmla="val 2712"/>
            </a:avLst>
          </a:prstGeom>
          <a:solidFill>
            <a:schemeClr val="accent1">
              <a:alpha val="10000"/>
            </a:schemeClr>
          </a:solidFill>
          <a:ln/>
        </p:spPr>
      </p:sp>
      <p:sp>
        <p:nvSpPr>
          <p:cNvPr id="6" name="Text 4"/>
          <p:cNvSpPr txBox="1"/>
          <p:nvPr/>
        </p:nvSpPr>
        <p:spPr>
          <a:xfrm>
            <a:off x="777240" y="2240280"/>
            <a:ext cx="2997098" cy="274320"/>
          </a:xfrm>
          <a:prstGeom prst="rect">
            <a:avLst/>
          </a:prstGeom>
          <a:noFill/>
          <a:ln/>
        </p:spPr>
        <p:txBody>
          <a:bodyPr wrap="square" lIns="0" tIns="0" rIns="0" bIns="0" rtlCol="0" anchor="t"/>
          <a:lstStyle/>
          <a:p>
            <a:pPr algn="ctr" indent="0" marL="0">
              <a:buNone/>
            </a:pPr>
            <a:r>
              <a:rPr lang="en-US" sz="1200" b="1" spc="150" kern="0" dirty="0">
                <a:solidFill>
                  <a:schemeClr val="accent1"/>
                </a:solidFill>
              </a:rPr>
              <a:t>PRIVACY-FREE</a:t>
            </a:r>
            <a:endParaRPr lang="en-US" sz="1200" dirty="0"/>
          </a:p>
        </p:txBody>
      </p:sp>
      <p:sp>
        <p:nvSpPr>
          <p:cNvPr id="7" name="Shape 5"/>
          <p:cNvSpPr/>
          <p:nvPr/>
        </p:nvSpPr>
        <p:spPr>
          <a:xfrm>
            <a:off x="731520" y="2606040"/>
            <a:ext cx="3088538" cy="2011680"/>
          </a:xfrm>
          <a:prstGeom prst="roundRect">
            <a:avLst>
              <a:gd name="adj" fmla="val 3636"/>
            </a:avLst>
          </a:prstGeom>
          <a:solidFill>
            <a:schemeClr val="bg1"/>
          </a:solidFill>
          <a:ln/>
        </p:spPr>
      </p:sp>
      <p:sp>
        <p:nvSpPr>
          <p:cNvPr id="8" name="Shape 6"/>
          <p:cNvSpPr/>
          <p:nvPr/>
        </p:nvSpPr>
        <p:spPr>
          <a:xfrm>
            <a:off x="914400" y="2788920"/>
            <a:ext cx="548640" cy="548640"/>
          </a:xfrm>
          <a:prstGeom prst="ellipse">
            <a:avLst/>
          </a:prstGeom>
          <a:solidFill>
            <a:srgbClr val="2E6B4F"/>
          </a:solidFill>
          <a:ln/>
        </p:spPr>
      </p:sp>
      <p:pic>
        <p:nvPicPr>
          <p:cNvPr id="9" name="Image 0" descr="Dna icon">    </p:cNvPr>
          <p:cNvPicPr>
            <a:picLocks noChangeAspect="1"/>
          </p:cNvPicPr>
          <p:nvPr/>
        </p:nvPicPr>
        <p:blipFill>
          <a:blip r:embed="rId1"/>
          <a:stretch>
            <a:fillRect/>
          </a:stretch>
        </p:blipFill>
        <p:spPr>
          <a:xfrm>
            <a:off x="1051560" y="2926080"/>
            <a:ext cx="274320" cy="274320"/>
          </a:xfrm>
          <a:prstGeom prst="rect">
            <a:avLst/>
          </a:prstGeom>
        </p:spPr>
      </p:pic>
      <p:sp>
        <p:nvSpPr>
          <p:cNvPr id="10" name="Text 7"/>
          <p:cNvSpPr txBox="1"/>
          <p:nvPr/>
        </p:nvSpPr>
        <p:spPr>
          <a:xfrm>
            <a:off x="1600200" y="2880360"/>
            <a:ext cx="2128418" cy="365760"/>
          </a:xfrm>
          <a:prstGeom prst="rect">
            <a:avLst/>
          </a:prstGeom>
          <a:noFill/>
          <a:ln/>
        </p:spPr>
        <p:txBody>
          <a:bodyPr wrap="square" lIns="0" tIns="0" rIns="0" bIns="0" rtlCol="0" anchor="ctr"/>
          <a:lstStyle/>
          <a:p>
            <a:pPr indent="0" marL="0">
              <a:buNone/>
            </a:pPr>
            <a:r>
              <a:rPr lang="en-US" sz="1700" b="1" dirty="0">
                <a:solidFill>
                  <a:schemeClr val="tx2"/>
                </a:solidFill>
                <a:latin typeface="+mj-lt" pitchFamily="34" charset="0"/>
                <a:ea typeface="+mj-lt" pitchFamily="34" charset="-122"/>
                <a:cs typeface="+mj-lt" pitchFamily="34" charset="-120"/>
              </a:rPr>
              <a:t>Phase 1: Mutate</a:t>
            </a:r>
            <a:endParaRPr lang="en-US" sz="1700" dirty="0"/>
          </a:p>
        </p:txBody>
      </p:sp>
      <p:sp>
        <p:nvSpPr>
          <p:cNvPr id="11" name="Text 8"/>
          <p:cNvSpPr txBox="1"/>
          <p:nvPr/>
        </p:nvSpPr>
        <p:spPr>
          <a:xfrm>
            <a:off x="868680" y="3429000"/>
            <a:ext cx="2814218" cy="320040"/>
          </a:xfrm>
          <a:prstGeom prst="rect">
            <a:avLst/>
          </a:prstGeom>
          <a:noFill/>
          <a:ln/>
        </p:spPr>
        <p:txBody>
          <a:bodyPr wrap="square" lIns="0" tIns="0" rIns="0" bIns="0" rtlCol="0" anchor="t"/>
          <a:lstStyle/>
          <a:p>
            <a:pPr algn="ctr" indent="0" marL="0">
              <a:buNone/>
            </a:pPr>
            <a:r>
              <a:rPr lang="en-US" sz="1500" i="1" dirty="0">
                <a:solidFill>
                  <a:schemeClr val="tx2"/>
                </a:solidFill>
                <a:latin typeface="+mj-lt" pitchFamily="34" charset="0"/>
                <a:ea typeface="+mj-lt" pitchFamily="34" charset="-122"/>
                <a:cs typeface="+mj-lt" pitchFamily="34" charset="-120"/>
              </a:rPr>
              <a:t>P</a:t>
            </a:r>
            <a:r>
              <a:rPr lang="en-US" sz="1500" baseline="-40000" dirty="0">
                <a:solidFill>
                  <a:schemeClr val="tx2"/>
                </a:solidFill>
                <a:latin typeface="+mj-lt" pitchFamily="34" charset="0"/>
                <a:ea typeface="+mj-lt" pitchFamily="34" charset="-122"/>
                <a:cs typeface="+mj-lt" pitchFamily="34" charset="-120"/>
              </a:rPr>
              <a:t>t</a:t>
            </a:r>
            <a:r>
              <a:rPr lang="en-US" sz="1500" dirty="0">
                <a:solidFill>
                  <a:schemeClr val="tx2"/>
                </a:solidFill>
                <a:latin typeface="+mj-lt" pitchFamily="34" charset="0"/>
                <a:ea typeface="+mj-lt" pitchFamily="34" charset="-122"/>
                <a:cs typeface="+mj-lt" pitchFamily="34" charset="-120"/>
              </a:rPr>
              <a:t> ← Mutate-to-</a:t>
            </a:r>
            <a:r>
              <a:rPr lang="en-US" sz="1500" i="1" dirty="0">
                <a:solidFill>
                  <a:schemeClr val="tx2"/>
                </a:solidFill>
                <a:latin typeface="+mj-lt" pitchFamily="34" charset="0"/>
                <a:ea typeface="+mj-lt" pitchFamily="34" charset="-122"/>
                <a:cs typeface="+mj-lt" pitchFamily="34" charset="-120"/>
              </a:rPr>
              <a:t>K</a:t>
            </a:r>
            <a:r>
              <a:rPr lang="en-US" sz="1500" dirty="0">
                <a:solidFill>
                  <a:schemeClr val="tx2"/>
                </a:solidFill>
                <a:latin typeface="+mj-lt" pitchFamily="34" charset="0"/>
                <a:ea typeface="+mj-lt" pitchFamily="34" charset="-122"/>
                <a:cs typeface="+mj-lt" pitchFamily="34" charset="-120"/>
              </a:rPr>
              <a:t>(</a:t>
            </a:r>
            <a:r>
              <a:rPr lang="en-US" sz="1500" i="1" dirty="0">
                <a:solidFill>
                  <a:schemeClr val="tx2"/>
                </a:solidFill>
                <a:latin typeface="+mj-lt" pitchFamily="34" charset="0"/>
                <a:ea typeface="+mj-lt" pitchFamily="34" charset="-122"/>
                <a:cs typeface="+mj-lt" pitchFamily="34" charset="-120"/>
              </a:rPr>
              <a:t>S</a:t>
            </a:r>
            <a:r>
              <a:rPr lang="en-US" sz="1500" baseline="-40000" dirty="0">
                <a:solidFill>
                  <a:schemeClr val="tx2"/>
                </a:solidFill>
                <a:latin typeface="+mj-lt" pitchFamily="34" charset="0"/>
                <a:ea typeface="+mj-lt" pitchFamily="34" charset="-122"/>
                <a:cs typeface="+mj-lt" pitchFamily="34" charset="-120"/>
              </a:rPr>
              <a:t>t−1</a:t>
            </a:r>
            <a:r>
              <a:rPr lang="en-US" sz="1500" dirty="0">
                <a:solidFill>
                  <a:schemeClr val="tx2"/>
                </a:solidFill>
                <a:latin typeface="+mj-lt" pitchFamily="34" charset="0"/>
                <a:ea typeface="+mj-lt" pitchFamily="34" charset="-122"/>
                <a:cs typeface="+mj-lt" pitchFamily="34" charset="-120"/>
              </a:rPr>
              <a:t>)</a:t>
            </a:r>
            <a:endParaRPr lang="en-US" sz="1500" dirty="0"/>
          </a:p>
        </p:txBody>
      </p:sp>
      <p:sp>
        <p:nvSpPr>
          <p:cNvPr id="12" name="Text 9"/>
          <p:cNvSpPr txBox="1"/>
          <p:nvPr/>
        </p:nvSpPr>
        <p:spPr>
          <a:xfrm>
            <a:off x="914400" y="3794760"/>
            <a:ext cx="2722778" cy="566928"/>
          </a:xfrm>
          <a:prstGeom prst="rect">
            <a:avLst/>
          </a:prstGeom>
          <a:noFill/>
          <a:ln/>
        </p:spPr>
        <p:txBody>
          <a:bodyPr wrap="square" lIns="0" tIns="0" rIns="0" bIns="0" rtlCol="0" anchor="t"/>
          <a:lstStyle/>
          <a:p>
            <a:pPr algn="ctr" indent="0" marL="0">
              <a:buNone/>
            </a:pPr>
            <a:r>
              <a:rPr lang="en-US" sz="1400" dirty="0">
                <a:solidFill>
                  <a:schemeClr val="tx1"/>
                </a:solidFill>
              </a:rPr>
              <a:t>An LLM rewrites the parents into </a:t>
            </a:r>
            <a:r>
              <a:rPr lang="en-US" sz="1400" i="1" dirty="0">
                <a:solidFill>
                  <a:schemeClr val="tx1"/>
                </a:solidFill>
              </a:rPr>
              <a:t>K</a:t>
            </a:r>
            <a:r>
              <a:rPr lang="en-US" sz="1400" dirty="0">
                <a:solidFill>
                  <a:schemeClr val="tx1"/>
                </a:solidFill>
              </a:rPr>
              <a:t> complete candidate prompts.</a:t>
            </a:r>
            <a:endParaRPr lang="en-US" sz="1400" dirty="0"/>
          </a:p>
        </p:txBody>
      </p:sp>
      <p:sp>
        <p:nvSpPr>
          <p:cNvPr id="13" name="Text 10"/>
          <p:cNvSpPr txBox="1"/>
          <p:nvPr/>
        </p:nvSpPr>
        <p:spPr>
          <a:xfrm>
            <a:off x="1178509" y="4251960"/>
            <a:ext cx="2194560" cy="292608"/>
          </a:xfrm>
          <a:prstGeom prst="roundRect">
            <a:avLst>
              <a:gd name="adj" fmla="val 43750"/>
            </a:avLst>
          </a:prstGeom>
          <a:solidFill>
            <a:schemeClr val="accent1"/>
          </a:solidFill>
          <a:ln/>
        </p:spPr>
        <p:txBody>
          <a:bodyPr wrap="square" lIns="0" tIns="0" rIns="0" bIns="0" rtlCol="0" anchor="ctr"/>
          <a:lstStyle/>
          <a:p>
            <a:pPr algn="ctr" indent="0" marL="0">
              <a:buNone/>
            </a:pPr>
            <a:r>
              <a:rPr lang="en-US" sz="1200" b="1" dirty="0">
                <a:solidFill>
                  <a:schemeClr val="bg1"/>
                </a:solidFill>
              </a:rPr>
              <a:t>0 privacy loss</a:t>
            </a:r>
            <a:endParaRPr lang="en-US" sz="1200" dirty="0"/>
          </a:p>
        </p:txBody>
      </p:sp>
      <p:sp>
        <p:nvSpPr>
          <p:cNvPr id="14" name="Shape 11"/>
          <p:cNvSpPr/>
          <p:nvPr/>
        </p:nvSpPr>
        <p:spPr>
          <a:xfrm>
            <a:off x="4368698" y="2103120"/>
            <a:ext cx="3454298" cy="2697480"/>
          </a:xfrm>
          <a:prstGeom prst="roundRect">
            <a:avLst>
              <a:gd name="adj" fmla="val 2712"/>
            </a:avLst>
          </a:prstGeom>
          <a:solidFill>
            <a:schemeClr val="accent5">
              <a:alpha val="10000"/>
            </a:schemeClr>
          </a:solidFill>
          <a:ln/>
        </p:spPr>
      </p:sp>
      <p:sp>
        <p:nvSpPr>
          <p:cNvPr id="15" name="Text 12"/>
          <p:cNvSpPr txBox="1"/>
          <p:nvPr/>
        </p:nvSpPr>
        <p:spPr>
          <a:xfrm>
            <a:off x="4597298" y="2240280"/>
            <a:ext cx="2997098" cy="274320"/>
          </a:xfrm>
          <a:prstGeom prst="rect">
            <a:avLst/>
          </a:prstGeom>
          <a:noFill/>
          <a:ln/>
        </p:spPr>
        <p:txBody>
          <a:bodyPr wrap="square" lIns="0" tIns="0" rIns="0" bIns="0" rtlCol="0" anchor="t"/>
          <a:lstStyle/>
          <a:p>
            <a:pPr algn="ctr" indent="0" marL="0">
              <a:buNone/>
            </a:pPr>
            <a:r>
              <a:rPr lang="en-US" sz="1200" b="1" spc="150" kern="0" dirty="0">
                <a:solidFill>
                  <a:schemeClr val="accent5"/>
                </a:solidFill>
              </a:rPr>
              <a:t>PRIVATE-DATA ACCESS</a:t>
            </a:r>
            <a:endParaRPr lang="en-US" sz="1200" dirty="0"/>
          </a:p>
        </p:txBody>
      </p:sp>
      <p:sp>
        <p:nvSpPr>
          <p:cNvPr id="16" name="Shape 13"/>
          <p:cNvSpPr/>
          <p:nvPr/>
        </p:nvSpPr>
        <p:spPr>
          <a:xfrm>
            <a:off x="4551578" y="2606040"/>
            <a:ext cx="3088538" cy="2011680"/>
          </a:xfrm>
          <a:prstGeom prst="roundRect">
            <a:avLst>
              <a:gd name="adj" fmla="val 3636"/>
            </a:avLst>
          </a:prstGeom>
          <a:solidFill>
            <a:schemeClr val="bg1"/>
          </a:solidFill>
          <a:ln/>
        </p:spPr>
      </p:sp>
      <p:sp>
        <p:nvSpPr>
          <p:cNvPr id="17" name="Shape 14"/>
          <p:cNvSpPr/>
          <p:nvPr/>
        </p:nvSpPr>
        <p:spPr>
          <a:xfrm>
            <a:off x="4734458" y="2788920"/>
            <a:ext cx="548640" cy="548640"/>
          </a:xfrm>
          <a:prstGeom prst="ellipse">
            <a:avLst/>
          </a:prstGeom>
          <a:solidFill>
            <a:srgbClr val="35587A"/>
          </a:solidFill>
          <a:ln/>
        </p:spPr>
      </p:sp>
      <p:pic>
        <p:nvPicPr>
          <p:cNvPr id="18" name="Image 1" descr="Lock icon">    </p:cNvPr>
          <p:cNvPicPr>
            <a:picLocks noChangeAspect="1"/>
          </p:cNvPicPr>
          <p:nvPr/>
        </p:nvPicPr>
        <p:blipFill>
          <a:blip r:embed="rId2"/>
          <a:stretch>
            <a:fillRect/>
          </a:stretch>
        </p:blipFill>
        <p:spPr>
          <a:xfrm>
            <a:off x="4871618" y="2926080"/>
            <a:ext cx="274320" cy="274320"/>
          </a:xfrm>
          <a:prstGeom prst="rect">
            <a:avLst/>
          </a:prstGeom>
        </p:spPr>
      </p:pic>
      <p:sp>
        <p:nvSpPr>
          <p:cNvPr id="19" name="Text 15"/>
          <p:cNvSpPr txBox="1"/>
          <p:nvPr/>
        </p:nvSpPr>
        <p:spPr>
          <a:xfrm>
            <a:off x="5420258" y="2880360"/>
            <a:ext cx="2128418" cy="365760"/>
          </a:xfrm>
          <a:prstGeom prst="rect">
            <a:avLst/>
          </a:prstGeom>
          <a:noFill/>
          <a:ln/>
        </p:spPr>
        <p:txBody>
          <a:bodyPr wrap="square" lIns="0" tIns="0" rIns="0" bIns="0" rtlCol="0" anchor="ctr"/>
          <a:lstStyle/>
          <a:p>
            <a:pPr indent="0" marL="0">
              <a:buNone/>
            </a:pPr>
            <a:r>
              <a:rPr lang="en-US" sz="1700" b="1" dirty="0">
                <a:solidFill>
                  <a:schemeClr val="tx2"/>
                </a:solidFill>
                <a:latin typeface="+mj-lt" pitchFamily="34" charset="0"/>
                <a:ea typeface="+mj-lt" pitchFamily="34" charset="-122"/>
                <a:cs typeface="+mj-lt" pitchFamily="34" charset="-120"/>
              </a:rPr>
              <a:t>Phase 2: Score</a:t>
            </a:r>
            <a:endParaRPr lang="en-US" sz="1700" dirty="0"/>
          </a:p>
        </p:txBody>
      </p:sp>
      <p:sp>
        <p:nvSpPr>
          <p:cNvPr id="20" name="Text 16"/>
          <p:cNvSpPr txBox="1"/>
          <p:nvPr/>
        </p:nvSpPr>
        <p:spPr>
          <a:xfrm>
            <a:off x="4688738" y="3429000"/>
            <a:ext cx="2814218" cy="320040"/>
          </a:xfrm>
          <a:prstGeom prst="rect">
            <a:avLst/>
          </a:prstGeom>
          <a:noFill/>
          <a:ln/>
        </p:spPr>
        <p:txBody>
          <a:bodyPr wrap="square" lIns="0" tIns="0" rIns="0" bIns="0" rtlCol="0" anchor="t"/>
          <a:lstStyle/>
          <a:p>
            <a:pPr algn="ctr" indent="0" marL="0">
              <a:buNone/>
            </a:pPr>
            <a:r>
              <a:rPr lang="en-US" sz="1500" i="1" dirty="0">
                <a:solidFill>
                  <a:schemeClr val="tx2"/>
                </a:solidFill>
                <a:latin typeface="+mj-lt" pitchFamily="34" charset="0"/>
                <a:ea typeface="+mj-lt" pitchFamily="34" charset="-122"/>
                <a:cs typeface="+mj-lt" pitchFamily="34" charset="-120"/>
              </a:rPr>
              <a:t>s̃</a:t>
            </a:r>
            <a:r>
              <a:rPr lang="en-US" sz="1500" baseline="-40000" dirty="0">
                <a:solidFill>
                  <a:schemeClr val="tx2"/>
                </a:solidFill>
                <a:latin typeface="+mj-lt" pitchFamily="34" charset="0"/>
                <a:ea typeface="+mj-lt" pitchFamily="34" charset="-122"/>
                <a:cs typeface="+mj-lt" pitchFamily="34" charset="-120"/>
              </a:rPr>
              <a:t>p</a:t>
            </a:r>
            <a:r>
              <a:rPr lang="en-US" sz="1500" dirty="0">
                <a:solidFill>
                  <a:schemeClr val="tx2"/>
                </a:solidFill>
                <a:latin typeface="+mj-lt" pitchFamily="34" charset="0"/>
                <a:ea typeface="+mj-lt" pitchFamily="34" charset="-122"/>
                <a:cs typeface="+mj-lt" pitchFamily="34" charset="-120"/>
              </a:rPr>
              <a:t> = </a:t>
            </a:r>
            <a:r>
              <a:rPr lang="en-US" sz="1500" i="1" dirty="0">
                <a:solidFill>
                  <a:schemeClr val="tx2"/>
                </a:solidFill>
                <a:latin typeface="+mj-lt" pitchFamily="34" charset="0"/>
                <a:ea typeface="+mj-lt" pitchFamily="34" charset="-122"/>
                <a:cs typeface="+mj-lt" pitchFamily="34" charset="-120"/>
              </a:rPr>
              <a:t>s</a:t>
            </a:r>
            <a:r>
              <a:rPr lang="en-US" sz="1500" baseline="-40000" dirty="0">
                <a:solidFill>
                  <a:schemeClr val="tx2"/>
                </a:solidFill>
                <a:latin typeface="+mj-lt" pitchFamily="34" charset="0"/>
                <a:ea typeface="+mj-lt" pitchFamily="34" charset="-122"/>
                <a:cs typeface="+mj-lt" pitchFamily="34" charset="-120"/>
              </a:rPr>
              <a:t>p</a:t>
            </a:r>
            <a:r>
              <a:rPr lang="en-US" sz="1500" dirty="0">
                <a:solidFill>
                  <a:schemeClr val="tx2"/>
                </a:solidFill>
                <a:latin typeface="+mj-lt" pitchFamily="34" charset="0"/>
                <a:ea typeface="+mj-lt" pitchFamily="34" charset="-122"/>
                <a:cs typeface="+mj-lt" pitchFamily="34" charset="-120"/>
              </a:rPr>
              <a:t>(</a:t>
            </a:r>
            <a:r>
              <a:rPr lang="en-US" sz="1500" i="1" dirty="0">
                <a:solidFill>
                  <a:schemeClr val="tx2"/>
                </a:solidFill>
                <a:latin typeface="+mj-lt" pitchFamily="34" charset="0"/>
                <a:ea typeface="+mj-lt" pitchFamily="34" charset="-122"/>
                <a:cs typeface="+mj-lt" pitchFamily="34" charset="-120"/>
              </a:rPr>
              <a:t>B</a:t>
            </a:r>
            <a:r>
              <a:rPr lang="en-US" sz="1500" dirty="0">
                <a:solidFill>
                  <a:schemeClr val="tx2"/>
                </a:solidFill>
                <a:latin typeface="+mj-lt" pitchFamily="34" charset="0"/>
                <a:ea typeface="+mj-lt" pitchFamily="34" charset="-122"/>
                <a:cs typeface="+mj-lt" pitchFamily="34" charset="-120"/>
              </a:rPr>
              <a:t>) + </a:t>
            </a:r>
            <a:r>
              <a:rPr lang="en-US" sz="1500" i="1" dirty="0">
                <a:solidFill>
                  <a:schemeClr val="tx2"/>
                </a:solidFill>
                <a:latin typeface="+mj-lt" pitchFamily="34" charset="0"/>
                <a:ea typeface="+mj-lt" pitchFamily="34" charset="-122"/>
                <a:cs typeface="+mj-lt" pitchFamily="34" charset="-120"/>
              </a:rPr>
              <a:t>N</a:t>
            </a:r>
            <a:r>
              <a:rPr lang="en-US" sz="1500" dirty="0">
                <a:solidFill>
                  <a:schemeClr val="tx2"/>
                </a:solidFill>
                <a:latin typeface="+mj-lt" pitchFamily="34" charset="0"/>
                <a:ea typeface="+mj-lt" pitchFamily="34" charset="-122"/>
                <a:cs typeface="+mj-lt" pitchFamily="34" charset="-120"/>
              </a:rPr>
              <a:t>(0, (</a:t>
            </a:r>
            <a:r>
              <a:rPr lang="en-US" sz="1500" i="1" dirty="0">
                <a:solidFill>
                  <a:schemeClr val="tx2"/>
                </a:solidFill>
                <a:latin typeface="+mj-lt" pitchFamily="34" charset="0"/>
                <a:ea typeface="+mj-lt" pitchFamily="34" charset="-122"/>
                <a:cs typeface="+mj-lt" pitchFamily="34" charset="-120"/>
              </a:rPr>
              <a:t>zC</a:t>
            </a:r>
            <a:r>
              <a:rPr lang="en-US" sz="1500" dirty="0">
                <a:solidFill>
                  <a:schemeClr val="tx2"/>
                </a:solidFill>
                <a:latin typeface="+mj-lt" pitchFamily="34" charset="0"/>
                <a:ea typeface="+mj-lt" pitchFamily="34" charset="-122"/>
                <a:cs typeface="+mj-lt" pitchFamily="34" charset="-120"/>
              </a:rPr>
              <a:t>/</a:t>
            </a:r>
            <a:r>
              <a:rPr lang="en-US" sz="1500" i="1" dirty="0">
                <a:solidFill>
                  <a:schemeClr val="tx2"/>
                </a:solidFill>
                <a:latin typeface="+mj-lt" pitchFamily="34" charset="0"/>
                <a:ea typeface="+mj-lt" pitchFamily="34" charset="-122"/>
                <a:cs typeface="+mj-lt" pitchFamily="34" charset="-120"/>
              </a:rPr>
              <a:t>b</a:t>
            </a:r>
            <a:r>
              <a:rPr lang="en-US" sz="1500" dirty="0">
                <a:solidFill>
                  <a:schemeClr val="tx2"/>
                </a:solidFill>
                <a:latin typeface="+mj-lt" pitchFamily="34" charset="0"/>
                <a:ea typeface="+mj-lt" pitchFamily="34" charset="-122"/>
                <a:cs typeface="+mj-lt" pitchFamily="34" charset="-120"/>
              </a:rPr>
              <a:t>)</a:t>
            </a:r>
            <a:r>
              <a:rPr lang="en-US" sz="1500" baseline="30000" dirty="0">
                <a:solidFill>
                  <a:schemeClr val="tx2"/>
                </a:solidFill>
                <a:latin typeface="+mj-lt" pitchFamily="34" charset="0"/>
                <a:ea typeface="+mj-lt" pitchFamily="34" charset="-122"/>
                <a:cs typeface="+mj-lt" pitchFamily="34" charset="-120"/>
              </a:rPr>
              <a:t>2</a:t>
            </a:r>
            <a:r>
              <a:rPr lang="en-US" sz="1500" dirty="0">
                <a:solidFill>
                  <a:schemeClr val="tx2"/>
                </a:solidFill>
                <a:latin typeface="+mj-lt" pitchFamily="34" charset="0"/>
                <a:ea typeface="+mj-lt" pitchFamily="34" charset="-122"/>
                <a:cs typeface="+mj-lt" pitchFamily="34" charset="-120"/>
              </a:rPr>
              <a:t>)</a:t>
            </a:r>
            <a:endParaRPr lang="en-US" sz="1500" dirty="0"/>
          </a:p>
        </p:txBody>
      </p:sp>
      <p:sp>
        <p:nvSpPr>
          <p:cNvPr id="21" name="Text 17"/>
          <p:cNvSpPr txBox="1"/>
          <p:nvPr/>
        </p:nvSpPr>
        <p:spPr>
          <a:xfrm>
            <a:off x="4734458" y="3794760"/>
            <a:ext cx="2722778" cy="566928"/>
          </a:xfrm>
          <a:prstGeom prst="rect">
            <a:avLst/>
          </a:prstGeom>
          <a:noFill/>
          <a:ln/>
        </p:spPr>
        <p:txBody>
          <a:bodyPr wrap="square" lIns="0" tIns="0" rIns="0" bIns="0" rtlCol="0" anchor="t"/>
          <a:lstStyle/>
          <a:p>
            <a:pPr algn="ctr" indent="0" marL="0">
              <a:buNone/>
            </a:pPr>
            <a:r>
              <a:rPr lang="en-US" sz="1400" dirty="0">
                <a:solidFill>
                  <a:schemeClr val="tx1"/>
                </a:solidFill>
              </a:rPr>
              <a:t>One clipped, sampled-Gaussian score per candidate.</a:t>
            </a:r>
            <a:endParaRPr lang="en-US" sz="1400" dirty="0"/>
          </a:p>
        </p:txBody>
      </p:sp>
      <p:sp>
        <p:nvSpPr>
          <p:cNvPr id="22" name="Text 18"/>
          <p:cNvSpPr txBox="1"/>
          <p:nvPr/>
        </p:nvSpPr>
        <p:spPr>
          <a:xfrm>
            <a:off x="4998568" y="4251960"/>
            <a:ext cx="2194560" cy="292608"/>
          </a:xfrm>
          <a:prstGeom prst="roundRect">
            <a:avLst>
              <a:gd name="adj" fmla="val 43750"/>
            </a:avLst>
          </a:prstGeom>
          <a:solidFill>
            <a:schemeClr val="accent5"/>
          </a:solidFill>
          <a:ln/>
        </p:spPr>
        <p:txBody>
          <a:bodyPr wrap="square" lIns="0" tIns="0" rIns="0" bIns="0" rtlCol="0" anchor="ctr"/>
          <a:lstStyle/>
          <a:p>
            <a:pPr algn="ctr" indent="0" marL="0">
              <a:buNone/>
            </a:pPr>
            <a:r>
              <a:rPr lang="en-US" sz="1200" b="1" dirty="0">
                <a:solidFill>
                  <a:schemeClr val="bg1"/>
                </a:solidFill>
              </a:rPr>
              <a:t>≤ TK releases in total</a:t>
            </a:r>
            <a:endParaRPr lang="en-US" sz="1200" dirty="0"/>
          </a:p>
        </p:txBody>
      </p:sp>
      <p:sp>
        <p:nvSpPr>
          <p:cNvPr id="23" name="Shape 19"/>
          <p:cNvSpPr/>
          <p:nvPr/>
        </p:nvSpPr>
        <p:spPr>
          <a:xfrm>
            <a:off x="8188757" y="2103120"/>
            <a:ext cx="3454298" cy="2697480"/>
          </a:xfrm>
          <a:prstGeom prst="roundRect">
            <a:avLst>
              <a:gd name="adj" fmla="val 2712"/>
            </a:avLst>
          </a:prstGeom>
          <a:solidFill>
            <a:schemeClr val="accent1">
              <a:alpha val="10000"/>
            </a:schemeClr>
          </a:solidFill>
          <a:ln/>
        </p:spPr>
      </p:sp>
      <p:sp>
        <p:nvSpPr>
          <p:cNvPr id="24" name="Text 20"/>
          <p:cNvSpPr txBox="1"/>
          <p:nvPr/>
        </p:nvSpPr>
        <p:spPr>
          <a:xfrm>
            <a:off x="8417357" y="2240280"/>
            <a:ext cx="2997098" cy="274320"/>
          </a:xfrm>
          <a:prstGeom prst="rect">
            <a:avLst/>
          </a:prstGeom>
          <a:noFill/>
          <a:ln/>
        </p:spPr>
        <p:txBody>
          <a:bodyPr wrap="square" lIns="0" tIns="0" rIns="0" bIns="0" rtlCol="0" anchor="t"/>
          <a:lstStyle/>
          <a:p>
            <a:pPr algn="ctr" indent="0" marL="0">
              <a:buNone/>
            </a:pPr>
            <a:r>
              <a:rPr lang="en-US" sz="1200" b="1" spc="150" kern="0" dirty="0">
                <a:solidFill>
                  <a:schemeClr val="accent1"/>
                </a:solidFill>
              </a:rPr>
              <a:t>POST-PROCESSING</a:t>
            </a:r>
            <a:endParaRPr lang="en-US" sz="1200" dirty="0"/>
          </a:p>
        </p:txBody>
      </p:sp>
      <p:sp>
        <p:nvSpPr>
          <p:cNvPr id="25" name="Shape 21"/>
          <p:cNvSpPr/>
          <p:nvPr/>
        </p:nvSpPr>
        <p:spPr>
          <a:xfrm>
            <a:off x="8371637" y="2606040"/>
            <a:ext cx="3088538" cy="2011680"/>
          </a:xfrm>
          <a:prstGeom prst="roundRect">
            <a:avLst>
              <a:gd name="adj" fmla="val 3636"/>
            </a:avLst>
          </a:prstGeom>
          <a:solidFill>
            <a:schemeClr val="bg1"/>
          </a:solidFill>
          <a:ln/>
        </p:spPr>
      </p:sp>
      <p:sp>
        <p:nvSpPr>
          <p:cNvPr id="26" name="Shape 22"/>
          <p:cNvSpPr/>
          <p:nvPr/>
        </p:nvSpPr>
        <p:spPr>
          <a:xfrm>
            <a:off x="8554517" y="2788920"/>
            <a:ext cx="548640" cy="548640"/>
          </a:xfrm>
          <a:prstGeom prst="ellipse">
            <a:avLst/>
          </a:prstGeom>
          <a:solidFill>
            <a:srgbClr val="2E6B4F"/>
          </a:solidFill>
          <a:ln/>
        </p:spPr>
      </p:sp>
      <p:pic>
        <p:nvPicPr>
          <p:cNvPr id="27" name="Image 2" descr="Filter icon">    </p:cNvPr>
          <p:cNvPicPr>
            <a:picLocks noChangeAspect="1"/>
          </p:cNvPicPr>
          <p:nvPr/>
        </p:nvPicPr>
        <p:blipFill>
          <a:blip r:embed="rId3"/>
          <a:stretch>
            <a:fillRect/>
          </a:stretch>
        </p:blipFill>
        <p:spPr>
          <a:xfrm>
            <a:off x="8691677" y="2926080"/>
            <a:ext cx="274320" cy="274320"/>
          </a:xfrm>
          <a:prstGeom prst="rect">
            <a:avLst/>
          </a:prstGeom>
        </p:spPr>
      </p:pic>
      <p:sp>
        <p:nvSpPr>
          <p:cNvPr id="28" name="Text 23"/>
          <p:cNvSpPr txBox="1"/>
          <p:nvPr/>
        </p:nvSpPr>
        <p:spPr>
          <a:xfrm>
            <a:off x="9240317" y="2880360"/>
            <a:ext cx="2128418" cy="365760"/>
          </a:xfrm>
          <a:prstGeom prst="rect">
            <a:avLst/>
          </a:prstGeom>
          <a:noFill/>
          <a:ln/>
        </p:spPr>
        <p:txBody>
          <a:bodyPr wrap="square" lIns="0" tIns="0" rIns="0" bIns="0" rtlCol="0" anchor="ctr"/>
          <a:lstStyle/>
          <a:p>
            <a:pPr indent="0" marL="0">
              <a:buNone/>
            </a:pPr>
            <a:r>
              <a:rPr lang="en-US" sz="1700" b="1" dirty="0">
                <a:solidFill>
                  <a:schemeClr val="tx2"/>
                </a:solidFill>
                <a:latin typeface="+mj-lt" pitchFamily="34" charset="0"/>
                <a:ea typeface="+mj-lt" pitchFamily="34" charset="-122"/>
                <a:cs typeface="+mj-lt" pitchFamily="34" charset="-120"/>
              </a:rPr>
              <a:t>Phase 3: Select</a:t>
            </a:r>
            <a:endParaRPr lang="en-US" sz="1700" dirty="0"/>
          </a:p>
        </p:txBody>
      </p:sp>
      <p:sp>
        <p:nvSpPr>
          <p:cNvPr id="29" name="Text 24"/>
          <p:cNvSpPr txBox="1"/>
          <p:nvPr/>
        </p:nvSpPr>
        <p:spPr>
          <a:xfrm>
            <a:off x="8508797" y="3429000"/>
            <a:ext cx="2814218" cy="320040"/>
          </a:xfrm>
          <a:prstGeom prst="rect">
            <a:avLst/>
          </a:prstGeom>
          <a:noFill/>
          <a:ln/>
        </p:spPr>
        <p:txBody>
          <a:bodyPr wrap="square" lIns="0" tIns="0" rIns="0" bIns="0" rtlCol="0" anchor="t"/>
          <a:lstStyle/>
          <a:p>
            <a:pPr algn="ctr" indent="0" marL="0">
              <a:buNone/>
            </a:pPr>
            <a:r>
              <a:rPr lang="en-US" sz="1500" i="1" dirty="0">
                <a:solidFill>
                  <a:schemeClr val="tx2"/>
                </a:solidFill>
                <a:latin typeface="+mj-lt" pitchFamily="34" charset="0"/>
                <a:ea typeface="+mj-lt" pitchFamily="34" charset="-122"/>
                <a:cs typeface="+mj-lt" pitchFamily="34" charset="-120"/>
              </a:rPr>
              <a:t>S</a:t>
            </a:r>
            <a:r>
              <a:rPr lang="en-US" sz="1500" baseline="-40000" dirty="0">
                <a:solidFill>
                  <a:schemeClr val="tx2"/>
                </a:solidFill>
                <a:latin typeface="+mj-lt" pitchFamily="34" charset="0"/>
                <a:ea typeface="+mj-lt" pitchFamily="34" charset="-122"/>
                <a:cs typeface="+mj-lt" pitchFamily="34" charset="-120"/>
              </a:rPr>
              <a:t>t</a:t>
            </a:r>
            <a:r>
              <a:rPr lang="en-US" sz="1500" dirty="0">
                <a:solidFill>
                  <a:schemeClr val="tx2"/>
                </a:solidFill>
                <a:latin typeface="+mj-lt" pitchFamily="34" charset="0"/>
                <a:ea typeface="+mj-lt" pitchFamily="34" charset="-122"/>
                <a:cs typeface="+mj-lt" pitchFamily="34" charset="-120"/>
              </a:rPr>
              <a:t> = top-</a:t>
            </a:r>
            <a:r>
              <a:rPr lang="en-US" sz="1500" i="1" dirty="0">
                <a:solidFill>
                  <a:schemeClr val="tx2"/>
                </a:solidFill>
                <a:latin typeface="+mj-lt" pitchFamily="34" charset="0"/>
                <a:ea typeface="+mj-lt" pitchFamily="34" charset="-122"/>
                <a:cs typeface="+mj-lt" pitchFamily="34" charset="-120"/>
              </a:rPr>
              <a:t>M</a:t>
            </a:r>
            <a:r>
              <a:rPr lang="en-US" sz="1500" dirty="0">
                <a:solidFill>
                  <a:schemeClr val="tx2"/>
                </a:solidFill>
                <a:latin typeface="+mj-lt" pitchFamily="34" charset="0"/>
                <a:ea typeface="+mj-lt" pitchFamily="34" charset="-122"/>
                <a:cs typeface="+mj-lt" pitchFamily="34" charset="-120"/>
              </a:rPr>
              <a:t> of privatized scores</a:t>
            </a:r>
            <a:endParaRPr lang="en-US" sz="1500" dirty="0"/>
          </a:p>
        </p:txBody>
      </p:sp>
      <p:sp>
        <p:nvSpPr>
          <p:cNvPr id="30" name="Text 25"/>
          <p:cNvSpPr txBox="1"/>
          <p:nvPr/>
        </p:nvSpPr>
        <p:spPr>
          <a:xfrm>
            <a:off x="8554517" y="3794760"/>
            <a:ext cx="2722778" cy="566928"/>
          </a:xfrm>
          <a:prstGeom prst="rect">
            <a:avLst/>
          </a:prstGeom>
          <a:noFill/>
          <a:ln/>
        </p:spPr>
        <p:txBody>
          <a:bodyPr wrap="square" lIns="0" tIns="0" rIns="0" bIns="0" rtlCol="0" anchor="t"/>
          <a:lstStyle/>
          <a:p>
            <a:pPr algn="ctr" indent="0" marL="0">
              <a:buNone/>
            </a:pPr>
            <a:r>
              <a:rPr lang="en-US" sz="1400" dirty="0">
                <a:solidFill>
                  <a:schemeClr val="tx1"/>
                </a:solidFill>
              </a:rPr>
              <a:t>Gumbel-smoothed (default) or deterministic top-</a:t>
            </a:r>
            <a:r>
              <a:rPr lang="en-US" sz="1400" i="1" dirty="0">
                <a:solidFill>
                  <a:schemeClr val="tx1"/>
                </a:solidFill>
              </a:rPr>
              <a:t>M</a:t>
            </a:r>
            <a:r>
              <a:rPr lang="en-US" sz="1400" dirty="0">
                <a:solidFill>
                  <a:schemeClr val="tx1"/>
                </a:solidFill>
              </a:rPr>
              <a:t>.</a:t>
            </a:r>
            <a:endParaRPr lang="en-US" sz="1400" dirty="0"/>
          </a:p>
        </p:txBody>
      </p:sp>
      <p:sp>
        <p:nvSpPr>
          <p:cNvPr id="31" name="Text 26"/>
          <p:cNvSpPr txBox="1"/>
          <p:nvPr/>
        </p:nvSpPr>
        <p:spPr>
          <a:xfrm>
            <a:off x="8818626" y="4251960"/>
            <a:ext cx="2194560" cy="292608"/>
          </a:xfrm>
          <a:prstGeom prst="roundRect">
            <a:avLst>
              <a:gd name="adj" fmla="val 43750"/>
            </a:avLst>
          </a:prstGeom>
          <a:solidFill>
            <a:schemeClr val="accent1"/>
          </a:solidFill>
          <a:ln/>
        </p:spPr>
        <p:txBody>
          <a:bodyPr wrap="square" lIns="0" tIns="0" rIns="0" bIns="0" rtlCol="0" anchor="ctr"/>
          <a:lstStyle/>
          <a:p>
            <a:pPr algn="ctr" indent="0" marL="0">
              <a:buNone/>
            </a:pPr>
            <a:r>
              <a:rPr lang="en-US" sz="1200" b="1" dirty="0">
                <a:solidFill>
                  <a:schemeClr val="bg1"/>
                </a:solidFill>
              </a:rPr>
              <a:t>0 privacy loss</a:t>
            </a:r>
            <a:endParaRPr lang="en-US" sz="1200" dirty="0"/>
          </a:p>
        </p:txBody>
      </p:sp>
      <p:sp>
        <p:nvSpPr>
          <p:cNvPr id="32" name="Shape 27"/>
          <p:cNvSpPr/>
          <p:nvPr/>
        </p:nvSpPr>
        <p:spPr>
          <a:xfrm>
            <a:off x="4039514" y="3451860"/>
            <a:ext cx="292608" cy="0"/>
          </a:xfrm>
          <a:prstGeom prst="line">
            <a:avLst/>
          </a:prstGeom>
          <a:noFill/>
          <a:ln w="25400">
            <a:solidFill>
              <a:srgbClr val="6E747C"/>
            </a:solidFill>
            <a:prstDash val="solid"/>
            <a:tailEnd type="triangle"/>
          </a:ln>
        </p:spPr>
      </p:sp>
      <p:sp>
        <p:nvSpPr>
          <p:cNvPr id="33" name="Shape 28"/>
          <p:cNvSpPr/>
          <p:nvPr/>
        </p:nvSpPr>
        <p:spPr>
          <a:xfrm>
            <a:off x="7859573" y="3451860"/>
            <a:ext cx="292608" cy="0"/>
          </a:xfrm>
          <a:prstGeom prst="line">
            <a:avLst/>
          </a:prstGeom>
          <a:noFill/>
          <a:ln w="25400">
            <a:solidFill>
              <a:srgbClr val="6E747C"/>
            </a:solidFill>
            <a:prstDash val="solid"/>
            <a:tailEnd type="triangle"/>
          </a:ln>
        </p:spPr>
      </p:sp>
      <p:sp>
        <p:nvSpPr>
          <p:cNvPr id="34" name="Shape 29"/>
          <p:cNvSpPr/>
          <p:nvPr/>
        </p:nvSpPr>
        <p:spPr>
          <a:xfrm flipV="1">
            <a:off x="9915906" y="1664208"/>
            <a:ext cx="0" cy="438912"/>
          </a:xfrm>
          <a:prstGeom prst="line">
            <a:avLst/>
          </a:prstGeom>
          <a:noFill/>
          <a:ln w="19050">
            <a:solidFill>
              <a:srgbClr val="6E747C"/>
            </a:solidFill>
            <a:prstDash val="solid"/>
          </a:ln>
        </p:spPr>
      </p:sp>
      <p:sp>
        <p:nvSpPr>
          <p:cNvPr id="35" name="Shape 30"/>
          <p:cNvSpPr/>
          <p:nvPr/>
        </p:nvSpPr>
        <p:spPr>
          <a:xfrm>
            <a:off x="2275789" y="1664208"/>
            <a:ext cx="7640117" cy="0"/>
          </a:xfrm>
          <a:prstGeom prst="line">
            <a:avLst/>
          </a:prstGeom>
          <a:noFill/>
          <a:ln w="19050">
            <a:solidFill>
              <a:srgbClr val="6E747C"/>
            </a:solidFill>
            <a:prstDash val="solid"/>
          </a:ln>
        </p:spPr>
      </p:sp>
      <p:sp>
        <p:nvSpPr>
          <p:cNvPr id="36" name="Shape 31"/>
          <p:cNvSpPr/>
          <p:nvPr/>
        </p:nvSpPr>
        <p:spPr>
          <a:xfrm>
            <a:off x="2275789" y="1664208"/>
            <a:ext cx="0" cy="438912"/>
          </a:xfrm>
          <a:prstGeom prst="line">
            <a:avLst/>
          </a:prstGeom>
          <a:noFill/>
          <a:ln w="19050">
            <a:solidFill>
              <a:srgbClr val="6E747C"/>
            </a:solidFill>
            <a:prstDash val="solid"/>
            <a:tailEnd type="triangle"/>
          </a:ln>
        </p:spPr>
      </p:sp>
      <p:sp>
        <p:nvSpPr>
          <p:cNvPr id="37" name="Text 32"/>
          <p:cNvSpPr txBox="1"/>
          <p:nvPr/>
        </p:nvSpPr>
        <p:spPr>
          <a:xfrm>
            <a:off x="4358488" y="1499616"/>
            <a:ext cx="3474720" cy="329184"/>
          </a:xfrm>
          <a:prstGeom prst="roundRect">
            <a:avLst>
              <a:gd name="adj" fmla="val 38889"/>
            </a:avLst>
          </a:prstGeom>
          <a:solidFill>
            <a:schemeClr val="bg1"/>
          </a:solidFill>
          <a:ln w="12700">
            <a:solidFill>
              <a:srgbClr val="6E747C"/>
            </a:solidFill>
          </a:ln>
        </p:spPr>
        <p:txBody>
          <a:bodyPr wrap="square" lIns="0" tIns="0" rIns="0" bIns="0" rtlCol="0" anchor="ctr"/>
          <a:lstStyle/>
          <a:p>
            <a:pPr algn="ctr" indent="0" marL="0">
              <a:buNone/>
            </a:pPr>
            <a:r>
              <a:rPr lang="en-US" sz="1300" dirty="0">
                <a:solidFill>
                  <a:schemeClr val="tx1"/>
                </a:solidFill>
              </a:rPr>
              <a:t>top-</a:t>
            </a:r>
            <a:r>
              <a:rPr lang="en-US" sz="1300" i="1" dirty="0">
                <a:solidFill>
                  <a:schemeClr val="tx1"/>
                </a:solidFill>
              </a:rPr>
              <a:t>M</a:t>
            </a:r>
            <a:r>
              <a:rPr lang="en-US" sz="1300" dirty="0">
                <a:solidFill>
                  <a:schemeClr val="tx1"/>
                </a:solidFill>
              </a:rPr>
              <a:t> parents </a:t>
            </a:r>
            <a:r>
              <a:rPr lang="en-US" sz="1300" i="1" dirty="0">
                <a:solidFill>
                  <a:schemeClr val="tx1"/>
                </a:solidFill>
              </a:rPr>
              <a:t>S</a:t>
            </a:r>
            <a:r>
              <a:rPr lang="en-US" sz="1300" baseline="-40000" dirty="0">
                <a:solidFill>
                  <a:schemeClr val="tx1"/>
                </a:solidFill>
              </a:rPr>
              <a:t>t</a:t>
            </a:r>
            <a:r>
              <a:rPr lang="en-US" sz="1300" dirty="0">
                <a:solidFill>
                  <a:schemeClr val="tx1"/>
                </a:solidFill>
              </a:rPr>
              <a:t> → next round  (× </a:t>
            </a:r>
            <a:r>
              <a:rPr lang="en-US" sz="1300" i="1" dirty="0">
                <a:solidFill>
                  <a:schemeClr val="tx1"/>
                </a:solidFill>
              </a:rPr>
              <a:t>T</a:t>
            </a:r>
            <a:r>
              <a:rPr lang="en-US" sz="1300" dirty="0">
                <a:solidFill>
                  <a:schemeClr val="tx1"/>
                </a:solidFill>
              </a:rPr>
              <a:t>)</a:t>
            </a:r>
            <a:endParaRPr lang="en-US" sz="1300" dirty="0"/>
          </a:p>
        </p:txBody>
      </p:sp>
      <p:sp>
        <p:nvSpPr>
          <p:cNvPr id="38" name="Shape 33"/>
          <p:cNvSpPr/>
          <p:nvPr/>
        </p:nvSpPr>
        <p:spPr>
          <a:xfrm>
            <a:off x="4871618" y="4956048"/>
            <a:ext cx="502920" cy="566928"/>
          </a:xfrm>
          <a:prstGeom prst="can">
            <a:avLst/>
          </a:prstGeom>
          <a:solidFill>
            <a:schemeClr val="accent5"/>
          </a:solidFill>
          <a:ln/>
        </p:spPr>
      </p:sp>
      <p:sp>
        <p:nvSpPr>
          <p:cNvPr id="39" name="Shape 34"/>
          <p:cNvSpPr/>
          <p:nvPr/>
        </p:nvSpPr>
        <p:spPr>
          <a:xfrm>
            <a:off x="5123078" y="4818888"/>
            <a:ext cx="0" cy="137160"/>
          </a:xfrm>
          <a:prstGeom prst="line">
            <a:avLst/>
          </a:prstGeom>
          <a:noFill/>
          <a:ln w="19050">
            <a:solidFill>
              <a:srgbClr val="35587A"/>
            </a:solidFill>
            <a:prstDash val="solid"/>
            <a:headEnd type="triangle"/>
          </a:ln>
        </p:spPr>
      </p:sp>
      <p:sp>
        <p:nvSpPr>
          <p:cNvPr id="40" name="Text 35"/>
          <p:cNvSpPr txBox="1"/>
          <p:nvPr/>
        </p:nvSpPr>
        <p:spPr>
          <a:xfrm>
            <a:off x="5511698" y="5029200"/>
            <a:ext cx="2265578" cy="457200"/>
          </a:xfrm>
          <a:prstGeom prst="rect">
            <a:avLst/>
          </a:prstGeom>
          <a:noFill/>
          <a:ln/>
        </p:spPr>
        <p:txBody>
          <a:bodyPr wrap="square" lIns="0" tIns="0" rIns="0" bIns="0" rtlCol="0" anchor="ctr"/>
          <a:lstStyle/>
          <a:p>
            <a:pPr indent="0" marL="0">
              <a:buNone/>
            </a:pPr>
            <a:r>
              <a:rPr lang="en-US" sz="1400" b="1" i="1" dirty="0">
                <a:solidFill>
                  <a:schemeClr val="accent5"/>
                </a:solidFill>
              </a:rPr>
              <a:t>D</a:t>
            </a:r>
            <a:r>
              <a:rPr lang="en-US" sz="1400" b="1" dirty="0">
                <a:solidFill>
                  <a:schemeClr val="accent5"/>
                </a:solidFill>
              </a:rPr>
              <a:t>: private dataset (</a:t>
            </a:r>
            <a:r>
              <a:rPr lang="en-US" sz="1400" b="1" i="1" dirty="0">
                <a:solidFill>
                  <a:schemeClr val="accent5"/>
                </a:solidFill>
              </a:rPr>
              <a:t>n</a:t>
            </a:r>
            <a:r>
              <a:rPr lang="en-US" sz="1400" b="1" dirty="0">
                <a:solidFill>
                  <a:schemeClr val="accent5"/>
                </a:solidFill>
              </a:rPr>
              <a:t> records)</a:t>
            </a:r>
            <a:endParaRPr lang="en-US" sz="1400" dirty="0"/>
          </a:p>
        </p:txBody>
      </p:sp>
      <p:pic>
        <p:nvPicPr>
          <p:cNvPr id="41" name="Image 3" descr="Ban icon">    </p:cNvPr>
          <p:cNvPicPr>
            <a:picLocks noChangeAspect="1"/>
          </p:cNvPicPr>
          <p:nvPr/>
        </p:nvPicPr>
        <p:blipFill>
          <a:blip r:embed="rId4"/>
          <a:stretch>
            <a:fillRect/>
          </a:stretch>
        </p:blipFill>
        <p:spPr>
          <a:xfrm>
            <a:off x="868680" y="5074920"/>
            <a:ext cx="292608" cy="292608"/>
          </a:xfrm>
          <a:prstGeom prst="rect">
            <a:avLst/>
          </a:prstGeom>
        </p:spPr>
      </p:pic>
      <p:sp>
        <p:nvSpPr>
          <p:cNvPr id="42" name="Text 36"/>
          <p:cNvSpPr txBox="1"/>
          <p:nvPr/>
        </p:nvSpPr>
        <p:spPr>
          <a:xfrm>
            <a:off x="1280160" y="5029200"/>
            <a:ext cx="2631338" cy="384048"/>
          </a:xfrm>
          <a:prstGeom prst="rect">
            <a:avLst/>
          </a:prstGeom>
          <a:noFill/>
          <a:ln/>
        </p:spPr>
        <p:txBody>
          <a:bodyPr wrap="square" lIns="0" tIns="0" rIns="0" bIns="0" rtlCol="0" anchor="ctr"/>
          <a:lstStyle/>
          <a:p>
            <a:pPr indent="0" marL="0">
              <a:buNone/>
            </a:pPr>
            <a:r>
              <a:rPr lang="en-US" sz="1400" b="1" dirty="0">
                <a:solidFill>
                  <a:schemeClr val="accent1"/>
                </a:solidFill>
              </a:rPr>
              <a:t>Mutation never reads </a:t>
            </a:r>
            <a:r>
              <a:rPr lang="en-US" sz="1400" b="1" i="1" dirty="0">
                <a:solidFill>
                  <a:schemeClr val="accent1"/>
                </a:solidFill>
              </a:rPr>
              <a:t>D</a:t>
            </a:r>
            <a:endParaRPr lang="en-US" sz="1400" dirty="0"/>
          </a:p>
        </p:txBody>
      </p:sp>
      <p:pic>
        <p:nvPicPr>
          <p:cNvPr id="43" name="Image 4" descr="Ban icon">    </p:cNvPr>
          <p:cNvPicPr>
            <a:picLocks noChangeAspect="1"/>
          </p:cNvPicPr>
          <p:nvPr/>
        </p:nvPicPr>
        <p:blipFill>
          <a:blip r:embed="rId5"/>
          <a:stretch>
            <a:fillRect/>
          </a:stretch>
        </p:blipFill>
        <p:spPr>
          <a:xfrm>
            <a:off x="8508797" y="5074920"/>
            <a:ext cx="292608" cy="292608"/>
          </a:xfrm>
          <a:prstGeom prst="rect">
            <a:avLst/>
          </a:prstGeom>
        </p:spPr>
      </p:pic>
      <p:sp>
        <p:nvSpPr>
          <p:cNvPr id="44" name="Text 37"/>
          <p:cNvSpPr txBox="1"/>
          <p:nvPr/>
        </p:nvSpPr>
        <p:spPr>
          <a:xfrm>
            <a:off x="8920277" y="5029200"/>
            <a:ext cx="2631338" cy="384048"/>
          </a:xfrm>
          <a:prstGeom prst="rect">
            <a:avLst/>
          </a:prstGeom>
          <a:noFill/>
          <a:ln/>
        </p:spPr>
        <p:txBody>
          <a:bodyPr wrap="square" lIns="0" tIns="0" rIns="0" bIns="0" rtlCol="0" anchor="ctr"/>
          <a:lstStyle/>
          <a:p>
            <a:pPr indent="0" marL="0">
              <a:buNone/>
            </a:pPr>
            <a:r>
              <a:rPr lang="en-US" sz="1400" b="1" dirty="0">
                <a:solidFill>
                  <a:schemeClr val="accent1"/>
                </a:solidFill>
              </a:rPr>
              <a:t>Selection reads only privatized scores</a:t>
            </a:r>
            <a:endParaRPr lang="en-US" sz="1400" dirty="0"/>
          </a:p>
        </p:txBody>
      </p:sp>
      <p:sp>
        <p:nvSpPr>
          <p:cNvPr id="45" name="Shape 38"/>
          <p:cNvSpPr/>
          <p:nvPr/>
        </p:nvSpPr>
        <p:spPr>
          <a:xfrm>
            <a:off x="548640" y="5669280"/>
            <a:ext cx="11094415" cy="502920"/>
          </a:xfrm>
          <a:prstGeom prst="roundRect">
            <a:avLst>
              <a:gd name="adj" fmla="val 14545"/>
            </a:avLst>
          </a:prstGeom>
          <a:solidFill>
            <a:schemeClr val="bg1"/>
          </a:solidFill>
          <a:ln w="12700">
            <a:solidFill>
              <a:srgbClr val="35587A"/>
            </a:solidFill>
            <a:prstDash val="solid"/>
          </a:ln>
        </p:spPr>
      </p:sp>
      <p:sp>
        <p:nvSpPr>
          <p:cNvPr id="46" name="Text 39"/>
          <p:cNvSpPr txBox="1"/>
          <p:nvPr/>
        </p:nvSpPr>
        <p:spPr>
          <a:xfrm>
            <a:off x="822960" y="5669280"/>
            <a:ext cx="10545775" cy="502920"/>
          </a:xfrm>
          <a:prstGeom prst="rect">
            <a:avLst/>
          </a:prstGeom>
          <a:noFill/>
          <a:ln/>
        </p:spPr>
        <p:txBody>
          <a:bodyPr wrap="square" lIns="0" tIns="0" rIns="0" bIns="0" rtlCol="0" anchor="ctr"/>
          <a:lstStyle/>
          <a:p>
            <a:pPr algn="ctr" indent="0" marL="0">
              <a:buNone/>
            </a:pPr>
            <a:r>
              <a:rPr lang="en-US" sz="1400" b="1" dirty="0">
                <a:solidFill>
                  <a:schemeClr val="tx1"/>
                </a:solidFill>
              </a:rPr>
              <a:t>Privacy accounting:</a:t>
            </a:r>
            <a:r>
              <a:rPr lang="en-US" sz="1400" dirty="0">
                <a:solidFill>
                  <a:schemeClr val="tx1"/>
                </a:solidFill>
              </a:rPr>
              <a:t> ≤ </a:t>
            </a:r>
            <a:r>
              <a:rPr lang="en-US" sz="1400" i="1" dirty="0">
                <a:solidFill>
                  <a:schemeClr val="tx1"/>
                </a:solidFill>
              </a:rPr>
              <a:t>TK</a:t>
            </a:r>
            <a:r>
              <a:rPr lang="en-US" sz="1400" dirty="0">
                <a:solidFill>
                  <a:schemeClr val="tx1"/>
                </a:solidFill>
              </a:rPr>
              <a:t> sampled-Gaussian score releases, composed by one Rényi-DP accountant ⇒ end-to-end (ε, δ)-DP.</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METHOD</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One round: mutate, score privately, select</a:t>
            </a:r>
            <a:endParaRPr lang="en-US" sz="3000" dirty="0"/>
          </a:p>
        </p:txBody>
      </p:sp>
      <p:sp>
        <p:nvSpPr>
          <p:cNvPr id="4" name="Text 2"/>
          <p:cNvSpPr txBox="1"/>
          <p:nvPr/>
        </p:nvSpPr>
        <p:spPr>
          <a:xfrm>
            <a:off x="6156655" y="329184"/>
            <a:ext cx="5486400" cy="292608"/>
          </a:xfrm>
          <a:prstGeom prst="rect">
            <a:avLst/>
          </a:prstGeom>
          <a:noFill/>
          <a:ln/>
        </p:spPr>
        <p:txBody>
          <a:bodyPr wrap="square" lIns="0" tIns="0" rIns="0" bIns="0" rtlCol="0" anchor="t"/>
          <a:lstStyle/>
          <a:p>
            <a:pPr algn="r" indent="0" marL="0">
              <a:buNone/>
            </a:pPr>
            <a:r>
              <a:rPr lang="en-US" sz="1100" dirty="0">
                <a:solidFill>
                  <a:schemeClr val="accent3"/>
                </a:solidFill>
              </a:rPr>
              <a:t>Motivation</a:t>
            </a:r>
            <a:r>
              <a:rPr lang="en-US" sz="1100" dirty="0">
                <a:solidFill>
                  <a:schemeClr val="accent3"/>
                </a:solidFill>
              </a:rPr>
              <a:t>   ·   </a:t>
            </a:r>
            <a:r>
              <a:rPr lang="en-US" sz="1100" dirty="0">
                <a:solidFill>
                  <a:schemeClr val="accent3"/>
                </a:solidFill>
              </a:rPr>
              <a:t>Diagnosis</a:t>
            </a:r>
            <a:r>
              <a:rPr lang="en-US" sz="1100" dirty="0">
                <a:solidFill>
                  <a:schemeClr val="accent3"/>
                </a:solidFill>
              </a:rPr>
              <a:t>   ·   </a:t>
            </a:r>
            <a:r>
              <a:rPr lang="en-US" sz="1100" b="1" dirty="0">
                <a:solidFill>
                  <a:schemeClr val="accent1"/>
                </a:solidFill>
              </a:rPr>
              <a:t>Method</a:t>
            </a:r>
            <a:r>
              <a:rPr lang="en-US" sz="1100" dirty="0">
                <a:solidFill>
                  <a:schemeClr val="accent3"/>
                </a:solidFill>
              </a:rPr>
              <a:t>   ·   </a:t>
            </a:r>
            <a:r>
              <a:rPr lang="en-US" sz="1100" dirty="0">
                <a:solidFill>
                  <a:schemeClr val="accent3"/>
                </a:solidFill>
              </a:rPr>
              <a:t>Results</a:t>
            </a:r>
            <a:r>
              <a:rPr lang="en-US" sz="1100" dirty="0">
                <a:solidFill>
                  <a:schemeClr val="accent3"/>
                </a:solidFill>
              </a:rPr>
              <a:t>   ·   </a:t>
            </a:r>
            <a:r>
              <a:rPr lang="en-US" sz="1100" dirty="0">
                <a:solidFill>
                  <a:schemeClr val="accent3"/>
                </a:solidFill>
              </a:rPr>
              <a:t>Scope</a:t>
            </a:r>
            <a:endParaRPr lang="en-US" sz="1100" dirty="0"/>
          </a:p>
        </p:txBody>
      </p:sp>
      <p:sp>
        <p:nvSpPr>
          <p:cNvPr id="5" name="Shape 3"/>
          <p:cNvSpPr/>
          <p:nvPr/>
        </p:nvSpPr>
        <p:spPr>
          <a:xfrm>
            <a:off x="548640" y="1600200"/>
            <a:ext cx="6995160" cy="1280160"/>
          </a:xfrm>
          <a:prstGeom prst="roundRect">
            <a:avLst>
              <a:gd name="adj" fmla="val 5714"/>
            </a:avLst>
          </a:prstGeom>
          <a:solidFill>
            <a:schemeClr val="bg2"/>
          </a:solidFill>
          <a:ln/>
        </p:spPr>
      </p:sp>
      <p:sp>
        <p:nvSpPr>
          <p:cNvPr id="6" name="Text 4"/>
          <p:cNvSpPr txBox="1"/>
          <p:nvPr/>
        </p:nvSpPr>
        <p:spPr>
          <a:xfrm>
            <a:off x="777240" y="1755648"/>
            <a:ext cx="411480" cy="4114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7" name="Text 5"/>
          <p:cNvSpPr txBox="1"/>
          <p:nvPr/>
        </p:nvSpPr>
        <p:spPr>
          <a:xfrm>
            <a:off x="1371600" y="1755648"/>
            <a:ext cx="5989320" cy="384048"/>
          </a:xfrm>
          <a:prstGeom prst="rect">
            <a:avLst/>
          </a:prstGeom>
          <a:noFill/>
          <a:ln/>
        </p:spPr>
        <p:txBody>
          <a:bodyPr wrap="square" lIns="0" tIns="0" rIns="0" bIns="0" rtlCol="0" anchor="ctr"/>
          <a:lstStyle/>
          <a:p>
            <a:pPr indent="0" marL="0">
              <a:buNone/>
            </a:pPr>
            <a:r>
              <a:rPr lang="en-US" sz="1800" b="1" dirty="0">
                <a:solidFill>
                  <a:schemeClr val="tx2"/>
                </a:solidFill>
                <a:latin typeface="+mj-lt" pitchFamily="34" charset="0"/>
                <a:ea typeface="+mj-lt" pitchFamily="34" charset="-122"/>
                <a:cs typeface="+mj-lt" pitchFamily="34" charset="-120"/>
              </a:rPr>
              <a:t>Privacy-free mutation</a:t>
            </a:r>
            <a:endParaRPr lang="en-US" sz="1800" dirty="0"/>
          </a:p>
        </p:txBody>
      </p:sp>
      <p:sp>
        <p:nvSpPr>
          <p:cNvPr id="8" name="Text 6"/>
          <p:cNvSpPr txBox="1"/>
          <p:nvPr/>
        </p:nvSpPr>
        <p:spPr>
          <a:xfrm>
            <a:off x="1371600" y="2167128"/>
            <a:ext cx="5989320" cy="320040"/>
          </a:xfrm>
          <a:prstGeom prst="rect">
            <a:avLst/>
          </a:prstGeom>
          <a:noFill/>
          <a:ln/>
        </p:spPr>
        <p:txBody>
          <a:bodyPr wrap="square" lIns="0" tIns="0" rIns="0" bIns="0" rtlCol="0" anchor="t"/>
          <a:lstStyle/>
          <a:p>
            <a:pPr indent="0" marL="0">
              <a:buNone/>
            </a:pPr>
            <a:r>
              <a:rPr lang="en-US" sz="1450" i="1" dirty="0">
                <a:solidFill>
                  <a:schemeClr val="tx2"/>
                </a:solidFill>
                <a:latin typeface="+mj-lt" pitchFamily="34" charset="0"/>
                <a:ea typeface="+mj-lt" pitchFamily="34" charset="-122"/>
                <a:cs typeface="+mj-lt" pitchFamily="34" charset="-120"/>
              </a:rPr>
              <a:t>P</a:t>
            </a:r>
            <a:r>
              <a:rPr lang="en-US" sz="1450" baseline="-40000" dirty="0">
                <a:solidFill>
                  <a:schemeClr val="tx2"/>
                </a:solidFill>
                <a:latin typeface="+mj-lt" pitchFamily="34" charset="0"/>
                <a:ea typeface="+mj-lt" pitchFamily="34" charset="-122"/>
                <a:cs typeface="+mj-lt" pitchFamily="34" charset="-120"/>
              </a:rPr>
              <a:t>t</a:t>
            </a:r>
            <a:r>
              <a:rPr lang="en-US" sz="1450" dirty="0">
                <a:solidFill>
                  <a:schemeClr val="tx2"/>
                </a:solidFill>
                <a:latin typeface="+mj-lt" pitchFamily="34" charset="0"/>
                <a:ea typeface="+mj-lt" pitchFamily="34" charset="-122"/>
                <a:cs typeface="+mj-lt" pitchFamily="34" charset="-120"/>
              </a:rPr>
              <a:t> ← Mutate-to-</a:t>
            </a:r>
            <a:r>
              <a:rPr lang="en-US" sz="1450" i="1" dirty="0">
                <a:solidFill>
                  <a:schemeClr val="tx2"/>
                </a:solidFill>
                <a:latin typeface="+mj-lt" pitchFamily="34" charset="0"/>
                <a:ea typeface="+mj-lt" pitchFamily="34" charset="-122"/>
                <a:cs typeface="+mj-lt" pitchFamily="34" charset="-120"/>
              </a:rPr>
              <a:t>K</a:t>
            </a:r>
            <a:r>
              <a:rPr lang="en-US" sz="1450" dirty="0">
                <a:solidFill>
                  <a:schemeClr val="tx2"/>
                </a:solidFill>
                <a:latin typeface="+mj-lt" pitchFamily="34" charset="0"/>
                <a:ea typeface="+mj-lt" pitchFamily="34" charset="-122"/>
                <a:cs typeface="+mj-lt" pitchFamily="34" charset="-120"/>
              </a:rPr>
              <a:t>(</a:t>
            </a:r>
            <a:r>
              <a:rPr lang="en-US" sz="1450" i="1" dirty="0">
                <a:solidFill>
                  <a:schemeClr val="tx2"/>
                </a:solidFill>
                <a:latin typeface="+mj-lt" pitchFamily="34" charset="0"/>
                <a:ea typeface="+mj-lt" pitchFamily="34" charset="-122"/>
                <a:cs typeface="+mj-lt" pitchFamily="34" charset="-120"/>
              </a:rPr>
              <a:t>S</a:t>
            </a:r>
            <a:r>
              <a:rPr lang="en-US" sz="1450" baseline="-40000" dirty="0">
                <a:solidFill>
                  <a:schemeClr val="tx2"/>
                </a:solidFill>
                <a:latin typeface="+mj-lt" pitchFamily="34" charset="0"/>
                <a:ea typeface="+mj-lt" pitchFamily="34" charset="-122"/>
                <a:cs typeface="+mj-lt" pitchFamily="34" charset="-120"/>
              </a:rPr>
              <a:t>t−1</a:t>
            </a:r>
            <a:r>
              <a:rPr lang="en-US" sz="1450" dirty="0">
                <a:solidFill>
                  <a:schemeClr val="tx2"/>
                </a:solidFill>
                <a:latin typeface="+mj-lt" pitchFamily="34" charset="0"/>
                <a:ea typeface="+mj-lt" pitchFamily="34" charset="-122"/>
                <a:cs typeface="+mj-lt" pitchFamily="34" charset="-120"/>
              </a:rPr>
              <a:t>),   |</a:t>
            </a:r>
            <a:r>
              <a:rPr lang="en-US" sz="1450" i="1" dirty="0">
                <a:solidFill>
                  <a:schemeClr val="tx2"/>
                </a:solidFill>
                <a:latin typeface="+mj-lt" pitchFamily="34" charset="0"/>
                <a:ea typeface="+mj-lt" pitchFamily="34" charset="-122"/>
                <a:cs typeface="+mj-lt" pitchFamily="34" charset="-120"/>
              </a:rPr>
              <a:t>P</a:t>
            </a:r>
            <a:r>
              <a:rPr lang="en-US" sz="1450" baseline="-40000" dirty="0">
                <a:solidFill>
                  <a:schemeClr val="tx2"/>
                </a:solidFill>
                <a:latin typeface="+mj-lt" pitchFamily="34" charset="0"/>
                <a:ea typeface="+mj-lt" pitchFamily="34" charset="-122"/>
                <a:cs typeface="+mj-lt" pitchFamily="34" charset="-120"/>
              </a:rPr>
              <a:t>t</a:t>
            </a:r>
            <a:r>
              <a:rPr lang="en-US" sz="1450" dirty="0">
                <a:solidFill>
                  <a:schemeClr val="tx2"/>
                </a:solidFill>
                <a:latin typeface="+mj-lt" pitchFamily="34" charset="0"/>
                <a:ea typeface="+mj-lt" pitchFamily="34" charset="-122"/>
                <a:cs typeface="+mj-lt" pitchFamily="34" charset="-120"/>
              </a:rPr>
              <a:t>| = </a:t>
            </a:r>
            <a:r>
              <a:rPr lang="en-US" sz="1450" i="1" dirty="0">
                <a:solidFill>
                  <a:schemeClr val="tx2"/>
                </a:solidFill>
                <a:latin typeface="+mj-lt" pitchFamily="34" charset="0"/>
                <a:ea typeface="+mj-lt" pitchFamily="34" charset="-122"/>
                <a:cs typeface="+mj-lt" pitchFamily="34" charset="-120"/>
              </a:rPr>
              <a:t>K</a:t>
            </a:r>
            <a:endParaRPr lang="en-US" sz="1450" dirty="0"/>
          </a:p>
        </p:txBody>
      </p:sp>
      <p:sp>
        <p:nvSpPr>
          <p:cNvPr id="9" name="Text 7"/>
          <p:cNvSpPr txBox="1"/>
          <p:nvPr/>
        </p:nvSpPr>
        <p:spPr>
          <a:xfrm>
            <a:off x="1371600" y="2542032"/>
            <a:ext cx="5989320" cy="292608"/>
          </a:xfrm>
          <a:prstGeom prst="rect">
            <a:avLst/>
          </a:prstGeom>
          <a:noFill/>
          <a:ln/>
        </p:spPr>
        <p:txBody>
          <a:bodyPr wrap="square" lIns="0" tIns="0" rIns="0" bIns="0" rtlCol="0" anchor="t"/>
          <a:lstStyle/>
          <a:p>
            <a:pPr indent="0" marL="0">
              <a:buNone/>
            </a:pPr>
            <a:r>
              <a:rPr lang="en-US" sz="1400" dirty="0">
                <a:solidFill>
                  <a:schemeClr val="accent3"/>
                </a:solidFill>
              </a:rPr>
              <a:t>Sees only parent prompts — never records or record-derived feedback.</a:t>
            </a:r>
            <a:endParaRPr lang="en-US" sz="1400" dirty="0"/>
          </a:p>
        </p:txBody>
      </p:sp>
      <p:sp>
        <p:nvSpPr>
          <p:cNvPr id="10" name="Shape 8"/>
          <p:cNvSpPr/>
          <p:nvPr/>
        </p:nvSpPr>
        <p:spPr>
          <a:xfrm>
            <a:off x="548640" y="3063240"/>
            <a:ext cx="6995160" cy="1600200"/>
          </a:xfrm>
          <a:prstGeom prst="roundRect">
            <a:avLst>
              <a:gd name="adj" fmla="val 4571"/>
            </a:avLst>
          </a:prstGeom>
          <a:solidFill>
            <a:schemeClr val="bg2"/>
          </a:solidFill>
          <a:ln/>
        </p:spPr>
      </p:sp>
      <p:sp>
        <p:nvSpPr>
          <p:cNvPr id="11" name="Text 9"/>
          <p:cNvSpPr txBox="1"/>
          <p:nvPr/>
        </p:nvSpPr>
        <p:spPr>
          <a:xfrm>
            <a:off x="777240" y="3218688"/>
            <a:ext cx="411480" cy="41148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2" name="Text 10"/>
          <p:cNvSpPr txBox="1"/>
          <p:nvPr/>
        </p:nvSpPr>
        <p:spPr>
          <a:xfrm>
            <a:off x="1371600" y="3218688"/>
            <a:ext cx="5989320" cy="384048"/>
          </a:xfrm>
          <a:prstGeom prst="rect">
            <a:avLst/>
          </a:prstGeom>
          <a:noFill/>
          <a:ln/>
        </p:spPr>
        <p:txBody>
          <a:bodyPr wrap="square" lIns="0" tIns="0" rIns="0" bIns="0" rtlCol="0" anchor="ctr"/>
          <a:lstStyle/>
          <a:p>
            <a:pPr indent="0" marL="0">
              <a:buNone/>
            </a:pPr>
            <a:r>
              <a:rPr lang="en-US" sz="1800" b="1" dirty="0">
                <a:solidFill>
                  <a:schemeClr val="tx2"/>
                </a:solidFill>
                <a:latin typeface="+mj-lt" pitchFamily="34" charset="0"/>
                <a:ea typeface="+mj-lt" pitchFamily="34" charset="-122"/>
                <a:cs typeface="+mj-lt" pitchFamily="34" charset="-120"/>
              </a:rPr>
              <a:t>Sampled-Gaussian scoring</a:t>
            </a:r>
            <a:endParaRPr lang="en-US" sz="1800" dirty="0"/>
          </a:p>
        </p:txBody>
      </p:sp>
      <p:sp>
        <p:nvSpPr>
          <p:cNvPr id="13" name="Text 11"/>
          <p:cNvSpPr txBox="1"/>
          <p:nvPr/>
        </p:nvSpPr>
        <p:spPr>
          <a:xfrm>
            <a:off x="1371600" y="3630168"/>
            <a:ext cx="5989320" cy="320040"/>
          </a:xfrm>
          <a:prstGeom prst="rect">
            <a:avLst/>
          </a:prstGeom>
          <a:noFill/>
          <a:ln/>
        </p:spPr>
        <p:txBody>
          <a:bodyPr wrap="square" lIns="0" tIns="0" rIns="0" bIns="0" rtlCol="0" anchor="t"/>
          <a:lstStyle/>
          <a:p>
            <a:pPr indent="0" marL="0">
              <a:buNone/>
            </a:pPr>
            <a:r>
              <a:rPr lang="en-US" sz="1450" i="1" dirty="0">
                <a:solidFill>
                  <a:schemeClr val="tx2"/>
                </a:solidFill>
                <a:latin typeface="+mj-lt" pitchFamily="34" charset="0"/>
                <a:ea typeface="+mj-lt" pitchFamily="34" charset="-122"/>
                <a:cs typeface="+mj-lt" pitchFamily="34" charset="-120"/>
              </a:rPr>
              <a:t>u</a:t>
            </a:r>
            <a:r>
              <a:rPr lang="en-US" sz="1450" baseline="-40000" dirty="0">
                <a:solidFill>
                  <a:schemeClr val="tx2"/>
                </a:solidFill>
                <a:latin typeface="+mj-lt" pitchFamily="34" charset="0"/>
                <a:ea typeface="+mj-lt" pitchFamily="34" charset="-122"/>
                <a:cs typeface="+mj-lt" pitchFamily="34" charset="-120"/>
              </a:rPr>
              <a:t>i</a:t>
            </a:r>
            <a:r>
              <a:rPr lang="en-US" sz="1450" dirty="0">
                <a:solidFill>
                  <a:schemeClr val="tx2"/>
                </a:solidFill>
                <a:latin typeface="+mj-lt" pitchFamily="34" charset="0"/>
                <a:ea typeface="+mj-lt" pitchFamily="34" charset="-122"/>
                <a:cs typeface="+mj-lt" pitchFamily="34" charset="-120"/>
              </a:rPr>
              <a:t>(</a:t>
            </a:r>
            <a:r>
              <a:rPr lang="en-US" sz="1450" i="1" dirty="0">
                <a:solidFill>
                  <a:schemeClr val="tx2"/>
                </a:solidFill>
                <a:latin typeface="+mj-lt" pitchFamily="34" charset="0"/>
                <a:ea typeface="+mj-lt" pitchFamily="34" charset="-122"/>
                <a:cs typeface="+mj-lt" pitchFamily="34" charset="-120"/>
              </a:rPr>
              <a:t>p</a:t>
            </a:r>
            <a:r>
              <a:rPr lang="en-US" sz="1450" dirty="0">
                <a:solidFill>
                  <a:schemeClr val="tx2"/>
                </a:solidFill>
                <a:latin typeface="+mj-lt" pitchFamily="34" charset="0"/>
                <a:ea typeface="+mj-lt" pitchFamily="34" charset="-122"/>
                <a:cs typeface="+mj-lt" pitchFamily="34" charset="-120"/>
              </a:rPr>
              <a:t>) = </a:t>
            </a:r>
            <a:r>
              <a:rPr lang="en-US" sz="1450" b="1" dirty="0">
                <a:solidFill>
                  <a:schemeClr val="tx2"/>
                </a:solidFill>
                <a:latin typeface="+mj-lt" pitchFamily="34" charset="0"/>
                <a:ea typeface="+mj-lt" pitchFamily="34" charset="-122"/>
                <a:cs typeface="+mj-lt" pitchFamily="34" charset="-120"/>
              </a:rPr>
              <a:t>1</a:t>
            </a:r>
            <a:r>
              <a:rPr lang="en-US" sz="1450" dirty="0">
                <a:solidFill>
                  <a:schemeClr val="tx2"/>
                </a:solidFill>
                <a:latin typeface="+mj-lt" pitchFamily="34" charset="0"/>
                <a:ea typeface="+mj-lt" pitchFamily="34" charset="-122"/>
                <a:cs typeface="+mj-lt" pitchFamily="34" charset="-120"/>
              </a:rPr>
              <a:t>[LLM(</a:t>
            </a:r>
            <a:r>
              <a:rPr lang="en-US" sz="1450" i="1" dirty="0">
                <a:solidFill>
                  <a:schemeClr val="tx2"/>
                </a:solidFill>
                <a:latin typeface="+mj-lt" pitchFamily="34" charset="0"/>
                <a:ea typeface="+mj-lt" pitchFamily="34" charset="-122"/>
                <a:cs typeface="+mj-lt" pitchFamily="34" charset="-120"/>
              </a:rPr>
              <a:t>p</a:t>
            </a:r>
            <a:r>
              <a:rPr lang="en-US" sz="1450" dirty="0">
                <a:solidFill>
                  <a:schemeClr val="tx2"/>
                </a:solidFill>
                <a:latin typeface="+mj-lt" pitchFamily="34" charset="0"/>
                <a:ea typeface="+mj-lt" pitchFamily="34" charset="-122"/>
                <a:cs typeface="+mj-lt" pitchFamily="34" charset="-120"/>
              </a:rPr>
              <a:t>, </a:t>
            </a:r>
            <a:r>
              <a:rPr lang="en-US" sz="1450" i="1" dirty="0">
                <a:solidFill>
                  <a:schemeClr val="tx2"/>
                </a:solidFill>
                <a:latin typeface="+mj-lt" pitchFamily="34" charset="0"/>
                <a:ea typeface="+mj-lt" pitchFamily="34" charset="-122"/>
                <a:cs typeface="+mj-lt" pitchFamily="34" charset="-120"/>
              </a:rPr>
              <a:t>x</a:t>
            </a:r>
            <a:r>
              <a:rPr lang="en-US" sz="1450" baseline="-40000" dirty="0">
                <a:solidFill>
                  <a:schemeClr val="tx2"/>
                </a:solidFill>
                <a:latin typeface="+mj-lt" pitchFamily="34" charset="0"/>
                <a:ea typeface="+mj-lt" pitchFamily="34" charset="-122"/>
                <a:cs typeface="+mj-lt" pitchFamily="34" charset="-120"/>
              </a:rPr>
              <a:t>i</a:t>
            </a:r>
            <a:r>
              <a:rPr lang="en-US" sz="1450" dirty="0">
                <a:solidFill>
                  <a:schemeClr val="tx2"/>
                </a:solidFill>
                <a:latin typeface="+mj-lt" pitchFamily="34" charset="0"/>
                <a:ea typeface="+mj-lt" pitchFamily="34" charset="-122"/>
                <a:cs typeface="+mj-lt" pitchFamily="34" charset="-120"/>
              </a:rPr>
              <a:t>) = </a:t>
            </a:r>
            <a:r>
              <a:rPr lang="en-US" sz="1450" i="1" dirty="0">
                <a:solidFill>
                  <a:schemeClr val="tx2"/>
                </a:solidFill>
                <a:latin typeface="+mj-lt" pitchFamily="34" charset="0"/>
                <a:ea typeface="+mj-lt" pitchFamily="34" charset="-122"/>
                <a:cs typeface="+mj-lt" pitchFamily="34" charset="-120"/>
              </a:rPr>
              <a:t>y</a:t>
            </a:r>
            <a:r>
              <a:rPr lang="en-US" sz="1450" baseline="-40000" dirty="0">
                <a:solidFill>
                  <a:schemeClr val="tx2"/>
                </a:solidFill>
                <a:latin typeface="+mj-lt" pitchFamily="34" charset="0"/>
                <a:ea typeface="+mj-lt" pitchFamily="34" charset="-122"/>
                <a:cs typeface="+mj-lt" pitchFamily="34" charset="-120"/>
              </a:rPr>
              <a:t>i</a:t>
            </a:r>
            <a:r>
              <a:rPr lang="en-US" sz="1450" dirty="0">
                <a:solidFill>
                  <a:schemeClr val="tx2"/>
                </a:solidFill>
                <a:latin typeface="+mj-lt" pitchFamily="34" charset="0"/>
                <a:ea typeface="+mj-lt" pitchFamily="34" charset="-122"/>
                <a:cs typeface="+mj-lt" pitchFamily="34" charset="-120"/>
              </a:rPr>
              <a:t>],    </a:t>
            </a:r>
            <a:r>
              <a:rPr lang="en-US" sz="1450" i="1" dirty="0">
                <a:solidFill>
                  <a:schemeClr val="tx2"/>
                </a:solidFill>
                <a:latin typeface="+mj-lt" pitchFamily="34" charset="0"/>
                <a:ea typeface="+mj-lt" pitchFamily="34" charset="-122"/>
                <a:cs typeface="+mj-lt" pitchFamily="34" charset="-120"/>
              </a:rPr>
              <a:t>s</a:t>
            </a:r>
            <a:r>
              <a:rPr lang="en-US" sz="1450" baseline="-40000" dirty="0">
                <a:solidFill>
                  <a:schemeClr val="tx2"/>
                </a:solidFill>
                <a:latin typeface="+mj-lt" pitchFamily="34" charset="0"/>
                <a:ea typeface="+mj-lt" pitchFamily="34" charset="-122"/>
                <a:cs typeface="+mj-lt" pitchFamily="34" charset="-120"/>
              </a:rPr>
              <a:t>p</a:t>
            </a:r>
            <a:r>
              <a:rPr lang="en-US" sz="1450" dirty="0">
                <a:solidFill>
                  <a:schemeClr val="tx2"/>
                </a:solidFill>
                <a:latin typeface="+mj-lt" pitchFamily="34" charset="0"/>
                <a:ea typeface="+mj-lt" pitchFamily="34" charset="-122"/>
                <a:cs typeface="+mj-lt" pitchFamily="34" charset="-120"/>
              </a:rPr>
              <a:t>(</a:t>
            </a:r>
            <a:r>
              <a:rPr lang="en-US" sz="1450" i="1" dirty="0">
                <a:solidFill>
                  <a:schemeClr val="tx2"/>
                </a:solidFill>
                <a:latin typeface="+mj-lt" pitchFamily="34" charset="0"/>
                <a:ea typeface="+mj-lt" pitchFamily="34" charset="-122"/>
                <a:cs typeface="+mj-lt" pitchFamily="34" charset="-120"/>
              </a:rPr>
              <a:t>B</a:t>
            </a:r>
            <a:r>
              <a:rPr lang="en-US" sz="1450" dirty="0">
                <a:solidFill>
                  <a:schemeClr val="tx2"/>
                </a:solidFill>
                <a:latin typeface="+mj-lt" pitchFamily="34" charset="0"/>
                <a:ea typeface="+mj-lt" pitchFamily="34" charset="-122"/>
                <a:cs typeface="+mj-lt" pitchFamily="34" charset="-120"/>
              </a:rPr>
              <a:t>) = (1/</a:t>
            </a:r>
            <a:r>
              <a:rPr lang="en-US" sz="1450" i="1" dirty="0">
                <a:solidFill>
                  <a:schemeClr val="tx2"/>
                </a:solidFill>
                <a:latin typeface="+mj-lt" pitchFamily="34" charset="0"/>
                <a:ea typeface="+mj-lt" pitchFamily="34" charset="-122"/>
                <a:cs typeface="+mj-lt" pitchFamily="34" charset="-120"/>
              </a:rPr>
              <a:t>b</a:t>
            </a:r>
            <a:r>
              <a:rPr lang="en-US" sz="1450" dirty="0">
                <a:solidFill>
                  <a:schemeClr val="tx2"/>
                </a:solidFill>
                <a:latin typeface="+mj-lt" pitchFamily="34" charset="0"/>
                <a:ea typeface="+mj-lt" pitchFamily="34" charset="-122"/>
                <a:cs typeface="+mj-lt" pitchFamily="34" charset="-120"/>
              </a:rPr>
              <a:t>) Σ</a:t>
            </a:r>
            <a:r>
              <a:rPr lang="en-US" sz="1450" baseline="-40000" dirty="0">
                <a:solidFill>
                  <a:schemeClr val="tx2"/>
                </a:solidFill>
                <a:latin typeface="+mj-lt" pitchFamily="34" charset="0"/>
                <a:ea typeface="+mj-lt" pitchFamily="34" charset="-122"/>
                <a:cs typeface="+mj-lt" pitchFamily="34" charset="-120"/>
              </a:rPr>
              <a:t>i∈B</a:t>
            </a:r>
            <a:r>
              <a:rPr lang="en-US" sz="1450" dirty="0">
                <a:solidFill>
                  <a:schemeClr val="tx2"/>
                </a:solidFill>
                <a:latin typeface="+mj-lt" pitchFamily="34" charset="0"/>
                <a:ea typeface="+mj-lt" pitchFamily="34" charset="-122"/>
                <a:cs typeface="+mj-lt" pitchFamily="34" charset="-120"/>
              </a:rPr>
              <a:t> clip(</a:t>
            </a:r>
            <a:r>
              <a:rPr lang="en-US" sz="1450" i="1" dirty="0">
                <a:solidFill>
                  <a:schemeClr val="tx2"/>
                </a:solidFill>
                <a:latin typeface="+mj-lt" pitchFamily="34" charset="0"/>
                <a:ea typeface="+mj-lt" pitchFamily="34" charset="-122"/>
                <a:cs typeface="+mj-lt" pitchFamily="34" charset="-120"/>
              </a:rPr>
              <a:t>u</a:t>
            </a:r>
            <a:r>
              <a:rPr lang="en-US" sz="1450" baseline="-40000" dirty="0">
                <a:solidFill>
                  <a:schemeClr val="tx2"/>
                </a:solidFill>
                <a:latin typeface="+mj-lt" pitchFamily="34" charset="0"/>
                <a:ea typeface="+mj-lt" pitchFamily="34" charset="-122"/>
                <a:cs typeface="+mj-lt" pitchFamily="34" charset="-120"/>
              </a:rPr>
              <a:t>i</a:t>
            </a:r>
            <a:r>
              <a:rPr lang="en-US" sz="1450" dirty="0">
                <a:solidFill>
                  <a:schemeClr val="tx2"/>
                </a:solidFill>
                <a:latin typeface="+mj-lt" pitchFamily="34" charset="0"/>
                <a:ea typeface="+mj-lt" pitchFamily="34" charset="-122"/>
                <a:cs typeface="+mj-lt" pitchFamily="34" charset="-120"/>
              </a:rPr>
              <a:t>(</a:t>
            </a:r>
            <a:r>
              <a:rPr lang="en-US" sz="1450" i="1" dirty="0">
                <a:solidFill>
                  <a:schemeClr val="tx2"/>
                </a:solidFill>
                <a:latin typeface="+mj-lt" pitchFamily="34" charset="0"/>
                <a:ea typeface="+mj-lt" pitchFamily="34" charset="-122"/>
                <a:cs typeface="+mj-lt" pitchFamily="34" charset="-120"/>
              </a:rPr>
              <a:t>p</a:t>
            </a:r>
            <a:r>
              <a:rPr lang="en-US" sz="1450" dirty="0">
                <a:solidFill>
                  <a:schemeClr val="tx2"/>
                </a:solidFill>
                <a:latin typeface="+mj-lt" pitchFamily="34" charset="0"/>
                <a:ea typeface="+mj-lt" pitchFamily="34" charset="-122"/>
                <a:cs typeface="+mj-lt" pitchFamily="34" charset="-120"/>
              </a:rPr>
              <a:t>), [0, </a:t>
            </a:r>
            <a:r>
              <a:rPr lang="en-US" sz="1450" i="1" dirty="0">
                <a:solidFill>
                  <a:schemeClr val="tx2"/>
                </a:solidFill>
                <a:latin typeface="+mj-lt" pitchFamily="34" charset="0"/>
                <a:ea typeface="+mj-lt" pitchFamily="34" charset="-122"/>
                <a:cs typeface="+mj-lt" pitchFamily="34" charset="-120"/>
              </a:rPr>
              <a:t>C</a:t>
            </a:r>
            <a:r>
              <a:rPr lang="en-US" sz="1450" dirty="0">
                <a:solidFill>
                  <a:schemeClr val="tx2"/>
                </a:solidFill>
                <a:latin typeface="+mj-lt" pitchFamily="34" charset="0"/>
                <a:ea typeface="+mj-lt" pitchFamily="34" charset="-122"/>
                <a:cs typeface="+mj-lt" pitchFamily="34" charset="-120"/>
              </a:rPr>
              <a:t>])</a:t>
            </a:r>
            <a:endParaRPr lang="en-US" sz="1450" dirty="0"/>
          </a:p>
        </p:txBody>
      </p:sp>
      <p:sp>
        <p:nvSpPr>
          <p:cNvPr id="14" name="Text 12"/>
          <p:cNvSpPr txBox="1"/>
          <p:nvPr/>
        </p:nvSpPr>
        <p:spPr>
          <a:xfrm>
            <a:off x="1371600" y="3968496"/>
            <a:ext cx="5989320" cy="320040"/>
          </a:xfrm>
          <a:prstGeom prst="rect">
            <a:avLst/>
          </a:prstGeom>
          <a:noFill/>
          <a:ln/>
        </p:spPr>
        <p:txBody>
          <a:bodyPr wrap="square" lIns="0" tIns="0" rIns="0" bIns="0" rtlCol="0" anchor="t"/>
          <a:lstStyle/>
          <a:p>
            <a:pPr indent="0" marL="0">
              <a:buNone/>
            </a:pPr>
            <a:r>
              <a:rPr lang="en-US" sz="1450" i="1" dirty="0">
                <a:solidFill>
                  <a:schemeClr val="tx2"/>
                </a:solidFill>
                <a:latin typeface="+mj-lt" pitchFamily="34" charset="0"/>
                <a:ea typeface="+mj-lt" pitchFamily="34" charset="-122"/>
                <a:cs typeface="+mj-lt" pitchFamily="34" charset="-120"/>
              </a:rPr>
              <a:t>s̃</a:t>
            </a:r>
            <a:r>
              <a:rPr lang="en-US" sz="1450" baseline="-40000" dirty="0">
                <a:solidFill>
                  <a:schemeClr val="tx2"/>
                </a:solidFill>
                <a:latin typeface="+mj-lt" pitchFamily="34" charset="0"/>
                <a:ea typeface="+mj-lt" pitchFamily="34" charset="-122"/>
                <a:cs typeface="+mj-lt" pitchFamily="34" charset="-120"/>
              </a:rPr>
              <a:t>p</a:t>
            </a:r>
            <a:r>
              <a:rPr lang="en-US" sz="1450" dirty="0">
                <a:solidFill>
                  <a:schemeClr val="tx2"/>
                </a:solidFill>
                <a:latin typeface="+mj-lt" pitchFamily="34" charset="0"/>
                <a:ea typeface="+mj-lt" pitchFamily="34" charset="-122"/>
                <a:cs typeface="+mj-lt" pitchFamily="34" charset="-120"/>
              </a:rPr>
              <a:t> = </a:t>
            </a:r>
            <a:r>
              <a:rPr lang="en-US" sz="1450" i="1" dirty="0">
                <a:solidFill>
                  <a:schemeClr val="tx2"/>
                </a:solidFill>
                <a:latin typeface="+mj-lt" pitchFamily="34" charset="0"/>
                <a:ea typeface="+mj-lt" pitchFamily="34" charset="-122"/>
                <a:cs typeface="+mj-lt" pitchFamily="34" charset="-120"/>
              </a:rPr>
              <a:t>s</a:t>
            </a:r>
            <a:r>
              <a:rPr lang="en-US" sz="1450" baseline="-40000" dirty="0">
                <a:solidFill>
                  <a:schemeClr val="tx2"/>
                </a:solidFill>
                <a:latin typeface="+mj-lt" pitchFamily="34" charset="0"/>
                <a:ea typeface="+mj-lt" pitchFamily="34" charset="-122"/>
                <a:cs typeface="+mj-lt" pitchFamily="34" charset="-120"/>
              </a:rPr>
              <a:t>p</a:t>
            </a:r>
            <a:r>
              <a:rPr lang="en-US" sz="1450" dirty="0">
                <a:solidFill>
                  <a:schemeClr val="tx2"/>
                </a:solidFill>
                <a:latin typeface="+mj-lt" pitchFamily="34" charset="0"/>
                <a:ea typeface="+mj-lt" pitchFamily="34" charset="-122"/>
                <a:cs typeface="+mj-lt" pitchFamily="34" charset="-120"/>
              </a:rPr>
              <a:t>(</a:t>
            </a:r>
            <a:r>
              <a:rPr lang="en-US" sz="1450" i="1" dirty="0">
                <a:solidFill>
                  <a:schemeClr val="tx2"/>
                </a:solidFill>
                <a:latin typeface="+mj-lt" pitchFamily="34" charset="0"/>
                <a:ea typeface="+mj-lt" pitchFamily="34" charset="-122"/>
                <a:cs typeface="+mj-lt" pitchFamily="34" charset="-120"/>
              </a:rPr>
              <a:t>B</a:t>
            </a:r>
            <a:r>
              <a:rPr lang="en-US" sz="1450" dirty="0">
                <a:solidFill>
                  <a:schemeClr val="tx2"/>
                </a:solidFill>
                <a:latin typeface="+mj-lt" pitchFamily="34" charset="0"/>
                <a:ea typeface="+mj-lt" pitchFamily="34" charset="-122"/>
                <a:cs typeface="+mj-lt" pitchFamily="34" charset="-120"/>
              </a:rPr>
              <a:t>) + </a:t>
            </a:r>
            <a:r>
              <a:rPr lang="en-US" sz="1450" i="1" dirty="0">
                <a:solidFill>
                  <a:schemeClr val="tx2"/>
                </a:solidFill>
                <a:latin typeface="+mj-lt" pitchFamily="34" charset="0"/>
                <a:ea typeface="+mj-lt" pitchFamily="34" charset="-122"/>
                <a:cs typeface="+mj-lt" pitchFamily="34" charset="-120"/>
              </a:rPr>
              <a:t>N</a:t>
            </a:r>
            <a:r>
              <a:rPr lang="en-US" sz="1450" dirty="0">
                <a:solidFill>
                  <a:schemeClr val="tx2"/>
                </a:solidFill>
                <a:latin typeface="+mj-lt" pitchFamily="34" charset="0"/>
                <a:ea typeface="+mj-lt" pitchFamily="34" charset="-122"/>
                <a:cs typeface="+mj-lt" pitchFamily="34" charset="-120"/>
              </a:rPr>
              <a:t>(0, σ</a:t>
            </a:r>
            <a:r>
              <a:rPr lang="en-US" sz="1450" baseline="30000" dirty="0">
                <a:solidFill>
                  <a:schemeClr val="tx2"/>
                </a:solidFill>
                <a:latin typeface="+mj-lt" pitchFamily="34" charset="0"/>
                <a:ea typeface="+mj-lt" pitchFamily="34" charset="-122"/>
                <a:cs typeface="+mj-lt" pitchFamily="34" charset="-120"/>
              </a:rPr>
              <a:t>2</a:t>
            </a:r>
            <a:r>
              <a:rPr lang="en-US" sz="1450" dirty="0">
                <a:solidFill>
                  <a:schemeClr val="tx2"/>
                </a:solidFill>
                <a:latin typeface="+mj-lt" pitchFamily="34" charset="0"/>
                <a:ea typeface="+mj-lt" pitchFamily="34" charset="-122"/>
                <a:cs typeface="+mj-lt" pitchFamily="34" charset="-120"/>
              </a:rPr>
              <a:t>),    σ = </a:t>
            </a:r>
            <a:r>
              <a:rPr lang="en-US" sz="1450" i="1" dirty="0">
                <a:solidFill>
                  <a:schemeClr val="tx2"/>
                </a:solidFill>
                <a:latin typeface="+mj-lt" pitchFamily="34" charset="0"/>
                <a:ea typeface="+mj-lt" pitchFamily="34" charset="-122"/>
                <a:cs typeface="+mj-lt" pitchFamily="34" charset="-120"/>
              </a:rPr>
              <a:t>zC</a:t>
            </a:r>
            <a:r>
              <a:rPr lang="en-US" sz="1450" dirty="0">
                <a:solidFill>
                  <a:schemeClr val="tx2"/>
                </a:solidFill>
                <a:latin typeface="+mj-lt" pitchFamily="34" charset="0"/>
                <a:ea typeface="+mj-lt" pitchFamily="34" charset="-122"/>
                <a:cs typeface="+mj-lt" pitchFamily="34" charset="-120"/>
              </a:rPr>
              <a:t>/</a:t>
            </a:r>
            <a:r>
              <a:rPr lang="en-US" sz="1450" i="1" dirty="0">
                <a:solidFill>
                  <a:schemeClr val="tx2"/>
                </a:solidFill>
                <a:latin typeface="+mj-lt" pitchFamily="34" charset="0"/>
                <a:ea typeface="+mj-lt" pitchFamily="34" charset="-122"/>
                <a:cs typeface="+mj-lt" pitchFamily="34" charset="-120"/>
              </a:rPr>
              <a:t>b</a:t>
            </a:r>
            <a:endParaRPr lang="en-US" sz="1450" dirty="0"/>
          </a:p>
        </p:txBody>
      </p:sp>
      <p:sp>
        <p:nvSpPr>
          <p:cNvPr id="15" name="Text 13"/>
          <p:cNvSpPr txBox="1"/>
          <p:nvPr/>
        </p:nvSpPr>
        <p:spPr>
          <a:xfrm>
            <a:off x="1371600" y="4343400"/>
            <a:ext cx="5989320" cy="292608"/>
          </a:xfrm>
          <a:prstGeom prst="rect">
            <a:avLst/>
          </a:prstGeom>
          <a:noFill/>
          <a:ln/>
        </p:spPr>
        <p:txBody>
          <a:bodyPr wrap="square" lIns="0" tIns="0" rIns="0" bIns="0" rtlCol="0" anchor="t"/>
          <a:lstStyle/>
          <a:p>
            <a:pPr indent="0" marL="0">
              <a:buNone/>
            </a:pPr>
            <a:r>
              <a:rPr lang="en-US" sz="1400" dirty="0">
                <a:solidFill>
                  <a:schemeClr val="accent3"/>
                </a:solidFill>
              </a:rPr>
              <a:t>Fresh uniform batch </a:t>
            </a:r>
            <a:r>
              <a:rPr lang="en-US" sz="1400" i="1" dirty="0">
                <a:solidFill>
                  <a:schemeClr val="accent3"/>
                </a:solidFill>
              </a:rPr>
              <a:t>B</a:t>
            </a:r>
            <a:r>
              <a:rPr lang="en-US" sz="1400" dirty="0">
                <a:solidFill>
                  <a:schemeClr val="accent3"/>
                </a:solidFill>
              </a:rPr>
              <a:t> ⊂ </a:t>
            </a:r>
            <a:r>
              <a:rPr lang="en-US" sz="1400" i="1" dirty="0">
                <a:solidFill>
                  <a:schemeClr val="accent3"/>
                </a:solidFill>
              </a:rPr>
              <a:t>D</a:t>
            </a:r>
            <a:r>
              <a:rPr lang="en-US" sz="1400" dirty="0">
                <a:solidFill>
                  <a:schemeClr val="accent3"/>
                </a:solidFill>
              </a:rPr>
              <a:t>, |</a:t>
            </a:r>
            <a:r>
              <a:rPr lang="en-US" sz="1400" i="1" dirty="0">
                <a:solidFill>
                  <a:schemeClr val="accent3"/>
                </a:solidFill>
              </a:rPr>
              <a:t>B</a:t>
            </a:r>
            <a:r>
              <a:rPr lang="en-US" sz="1400" dirty="0">
                <a:solidFill>
                  <a:schemeClr val="accent3"/>
                </a:solidFill>
              </a:rPr>
              <a:t>| = </a:t>
            </a:r>
            <a:r>
              <a:rPr lang="en-US" sz="1400" i="1" dirty="0">
                <a:solidFill>
                  <a:schemeClr val="accent3"/>
                </a:solidFill>
              </a:rPr>
              <a:t>b</a:t>
            </a:r>
            <a:r>
              <a:rPr lang="en-US" sz="1400" dirty="0">
                <a:solidFill>
                  <a:schemeClr val="accent3"/>
                </a:solidFill>
              </a:rPr>
              <a:t>, per candidate; sensitivity </a:t>
            </a:r>
            <a:r>
              <a:rPr lang="en-US" sz="1400" i="1" dirty="0">
                <a:solidFill>
                  <a:schemeClr val="accent3"/>
                </a:solidFill>
              </a:rPr>
              <a:t>C</a:t>
            </a:r>
            <a:r>
              <a:rPr lang="en-US" sz="1400" dirty="0">
                <a:solidFill>
                  <a:schemeClr val="accent3"/>
                </a:solidFill>
              </a:rPr>
              <a:t>/</a:t>
            </a:r>
            <a:r>
              <a:rPr lang="en-US" sz="1400" i="1" dirty="0">
                <a:solidFill>
                  <a:schemeClr val="accent3"/>
                </a:solidFill>
              </a:rPr>
              <a:t>b</a:t>
            </a:r>
            <a:r>
              <a:rPr lang="en-US" sz="1400" dirty="0">
                <a:solidFill>
                  <a:schemeClr val="accent3"/>
                </a:solidFill>
              </a:rPr>
              <a:t>.</a:t>
            </a:r>
            <a:endParaRPr lang="en-US" sz="1400" dirty="0"/>
          </a:p>
        </p:txBody>
      </p:sp>
      <p:sp>
        <p:nvSpPr>
          <p:cNvPr id="16" name="Shape 14"/>
          <p:cNvSpPr/>
          <p:nvPr/>
        </p:nvSpPr>
        <p:spPr>
          <a:xfrm>
            <a:off x="548640" y="4846320"/>
            <a:ext cx="6995160" cy="1280160"/>
          </a:xfrm>
          <a:prstGeom prst="roundRect">
            <a:avLst>
              <a:gd name="adj" fmla="val 5714"/>
            </a:avLst>
          </a:prstGeom>
          <a:solidFill>
            <a:schemeClr val="bg2"/>
          </a:solidFill>
          <a:ln/>
        </p:spPr>
      </p:sp>
      <p:sp>
        <p:nvSpPr>
          <p:cNvPr id="17" name="Text 15"/>
          <p:cNvSpPr txBox="1"/>
          <p:nvPr/>
        </p:nvSpPr>
        <p:spPr>
          <a:xfrm>
            <a:off x="777240" y="5001768"/>
            <a:ext cx="411480" cy="4114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8" name="Text 16"/>
          <p:cNvSpPr txBox="1"/>
          <p:nvPr/>
        </p:nvSpPr>
        <p:spPr>
          <a:xfrm>
            <a:off x="1371600" y="5001768"/>
            <a:ext cx="5989320" cy="384048"/>
          </a:xfrm>
          <a:prstGeom prst="rect">
            <a:avLst/>
          </a:prstGeom>
          <a:noFill/>
          <a:ln/>
        </p:spPr>
        <p:txBody>
          <a:bodyPr wrap="square" lIns="0" tIns="0" rIns="0" bIns="0" rtlCol="0" anchor="ctr"/>
          <a:lstStyle/>
          <a:p>
            <a:pPr indent="0" marL="0">
              <a:buNone/>
            </a:pPr>
            <a:r>
              <a:rPr lang="en-US" sz="1800" b="1" dirty="0">
                <a:solidFill>
                  <a:schemeClr val="tx2"/>
                </a:solidFill>
                <a:latin typeface="+mj-lt" pitchFamily="34" charset="0"/>
                <a:ea typeface="+mj-lt" pitchFamily="34" charset="-122"/>
                <a:cs typeface="+mj-lt" pitchFamily="34" charset="-120"/>
              </a:rPr>
              <a:t>Selection over privatized scores</a:t>
            </a:r>
            <a:endParaRPr lang="en-US" sz="1800" dirty="0"/>
          </a:p>
        </p:txBody>
      </p:sp>
      <p:sp>
        <p:nvSpPr>
          <p:cNvPr id="19" name="Text 17"/>
          <p:cNvSpPr txBox="1"/>
          <p:nvPr/>
        </p:nvSpPr>
        <p:spPr>
          <a:xfrm>
            <a:off x="1371600" y="5413248"/>
            <a:ext cx="5989320" cy="320040"/>
          </a:xfrm>
          <a:prstGeom prst="rect">
            <a:avLst/>
          </a:prstGeom>
          <a:noFill/>
          <a:ln/>
        </p:spPr>
        <p:txBody>
          <a:bodyPr wrap="square" lIns="0" tIns="0" rIns="0" bIns="0" rtlCol="0" anchor="t"/>
          <a:lstStyle/>
          <a:p>
            <a:pPr indent="0" marL="0">
              <a:buNone/>
            </a:pPr>
            <a:r>
              <a:rPr lang="en-US" sz="1450" i="1" dirty="0">
                <a:solidFill>
                  <a:schemeClr val="tx2"/>
                </a:solidFill>
                <a:latin typeface="+mj-lt" pitchFamily="34" charset="0"/>
                <a:ea typeface="+mj-lt" pitchFamily="34" charset="-122"/>
                <a:cs typeface="+mj-lt" pitchFamily="34" charset="-120"/>
              </a:rPr>
              <a:t>ŝ</a:t>
            </a:r>
            <a:r>
              <a:rPr lang="en-US" sz="1450" baseline="-40000" dirty="0">
                <a:solidFill>
                  <a:schemeClr val="tx2"/>
                </a:solidFill>
                <a:latin typeface="+mj-lt" pitchFamily="34" charset="0"/>
                <a:ea typeface="+mj-lt" pitchFamily="34" charset="-122"/>
                <a:cs typeface="+mj-lt" pitchFamily="34" charset="-120"/>
              </a:rPr>
              <a:t>p</a:t>
            </a:r>
            <a:r>
              <a:rPr lang="en-US" sz="1450" dirty="0">
                <a:solidFill>
                  <a:schemeClr val="tx2"/>
                </a:solidFill>
                <a:latin typeface="+mj-lt" pitchFamily="34" charset="0"/>
                <a:ea typeface="+mj-lt" pitchFamily="34" charset="-122"/>
                <a:cs typeface="+mj-lt" pitchFamily="34" charset="-120"/>
              </a:rPr>
              <a:t> = </a:t>
            </a:r>
            <a:r>
              <a:rPr lang="en-US" sz="1450" i="1" dirty="0">
                <a:solidFill>
                  <a:schemeClr val="tx2"/>
                </a:solidFill>
                <a:latin typeface="+mj-lt" pitchFamily="34" charset="0"/>
                <a:ea typeface="+mj-lt" pitchFamily="34" charset="-122"/>
                <a:cs typeface="+mj-lt" pitchFamily="34" charset="-120"/>
              </a:rPr>
              <a:t>s̃</a:t>
            </a:r>
            <a:r>
              <a:rPr lang="en-US" sz="1450" baseline="-40000" dirty="0">
                <a:solidFill>
                  <a:schemeClr val="tx2"/>
                </a:solidFill>
                <a:latin typeface="+mj-lt" pitchFamily="34" charset="0"/>
                <a:ea typeface="+mj-lt" pitchFamily="34" charset="-122"/>
                <a:cs typeface="+mj-lt" pitchFamily="34" charset="-120"/>
              </a:rPr>
              <a:t>p</a:t>
            </a:r>
            <a:r>
              <a:rPr lang="en-US" sz="1450" dirty="0">
                <a:solidFill>
                  <a:schemeClr val="tx2"/>
                </a:solidFill>
                <a:latin typeface="+mj-lt" pitchFamily="34" charset="0"/>
                <a:ea typeface="+mj-lt" pitchFamily="34" charset="-122"/>
                <a:cs typeface="+mj-lt" pitchFamily="34" charset="-120"/>
              </a:rPr>
              <a:t> + Gumbel(0, β)   (default)     or     </a:t>
            </a:r>
            <a:r>
              <a:rPr lang="en-US" sz="1450" i="1" dirty="0">
                <a:solidFill>
                  <a:schemeClr val="tx2"/>
                </a:solidFill>
                <a:latin typeface="+mj-lt" pitchFamily="34" charset="0"/>
                <a:ea typeface="+mj-lt" pitchFamily="34" charset="-122"/>
                <a:cs typeface="+mj-lt" pitchFamily="34" charset="-120"/>
              </a:rPr>
              <a:t>ŝ</a:t>
            </a:r>
            <a:r>
              <a:rPr lang="en-US" sz="1450" baseline="-40000" dirty="0">
                <a:solidFill>
                  <a:schemeClr val="tx2"/>
                </a:solidFill>
                <a:latin typeface="+mj-lt" pitchFamily="34" charset="0"/>
                <a:ea typeface="+mj-lt" pitchFamily="34" charset="-122"/>
                <a:cs typeface="+mj-lt" pitchFamily="34" charset="-120"/>
              </a:rPr>
              <a:t>p</a:t>
            </a:r>
            <a:r>
              <a:rPr lang="en-US" sz="1450" dirty="0">
                <a:solidFill>
                  <a:schemeClr val="tx2"/>
                </a:solidFill>
                <a:latin typeface="+mj-lt" pitchFamily="34" charset="0"/>
                <a:ea typeface="+mj-lt" pitchFamily="34" charset="-122"/>
                <a:cs typeface="+mj-lt" pitchFamily="34" charset="-120"/>
              </a:rPr>
              <a:t> = </a:t>
            </a:r>
            <a:r>
              <a:rPr lang="en-US" sz="1450" i="1" dirty="0">
                <a:solidFill>
                  <a:schemeClr val="tx2"/>
                </a:solidFill>
                <a:latin typeface="+mj-lt" pitchFamily="34" charset="0"/>
                <a:ea typeface="+mj-lt" pitchFamily="34" charset="-122"/>
                <a:cs typeface="+mj-lt" pitchFamily="34" charset="-120"/>
              </a:rPr>
              <a:t>s̃</a:t>
            </a:r>
            <a:r>
              <a:rPr lang="en-US" sz="1450" baseline="-40000" dirty="0">
                <a:solidFill>
                  <a:schemeClr val="tx2"/>
                </a:solidFill>
                <a:latin typeface="+mj-lt" pitchFamily="34" charset="0"/>
                <a:ea typeface="+mj-lt" pitchFamily="34" charset="-122"/>
                <a:cs typeface="+mj-lt" pitchFamily="34" charset="-120"/>
              </a:rPr>
              <a:t>p</a:t>
            </a:r>
            <a:r>
              <a:rPr lang="en-US" sz="1450" dirty="0">
                <a:solidFill>
                  <a:schemeClr val="tx2"/>
                </a:solidFill>
                <a:latin typeface="+mj-lt" pitchFamily="34" charset="0"/>
                <a:ea typeface="+mj-lt" pitchFamily="34" charset="-122"/>
                <a:cs typeface="+mj-lt" pitchFamily="34" charset="-120"/>
              </a:rPr>
              <a:t>   (deterministic)</a:t>
            </a:r>
            <a:endParaRPr lang="en-US" sz="1450" dirty="0"/>
          </a:p>
        </p:txBody>
      </p:sp>
      <p:sp>
        <p:nvSpPr>
          <p:cNvPr id="20" name="Text 18"/>
          <p:cNvSpPr txBox="1"/>
          <p:nvPr/>
        </p:nvSpPr>
        <p:spPr>
          <a:xfrm>
            <a:off x="1371600" y="5788152"/>
            <a:ext cx="5989320" cy="292608"/>
          </a:xfrm>
          <a:prstGeom prst="rect">
            <a:avLst/>
          </a:prstGeom>
          <a:noFill/>
          <a:ln/>
        </p:spPr>
        <p:txBody>
          <a:bodyPr wrap="square" lIns="0" tIns="0" rIns="0" bIns="0" rtlCol="0" anchor="t"/>
          <a:lstStyle/>
          <a:p>
            <a:pPr indent="0" marL="0">
              <a:buNone/>
            </a:pPr>
            <a:r>
              <a:rPr lang="en-US" sz="1400" i="1" dirty="0">
                <a:solidFill>
                  <a:schemeClr val="accent3"/>
                </a:solidFill>
              </a:rPr>
              <a:t>S</a:t>
            </a:r>
            <a:r>
              <a:rPr lang="en-US" sz="1400" baseline="-40000" dirty="0">
                <a:solidFill>
                  <a:schemeClr val="accent3"/>
                </a:solidFill>
              </a:rPr>
              <a:t>t</a:t>
            </a:r>
            <a:r>
              <a:rPr lang="en-US" sz="1400" dirty="0">
                <a:solidFill>
                  <a:schemeClr val="accent3"/>
                </a:solidFill>
              </a:rPr>
              <a:t> ← top-</a:t>
            </a:r>
            <a:r>
              <a:rPr lang="en-US" sz="1400" i="1" dirty="0">
                <a:solidFill>
                  <a:schemeClr val="accent3"/>
                </a:solidFill>
              </a:rPr>
              <a:t>M</a:t>
            </a:r>
            <a:r>
              <a:rPr lang="en-US" sz="1400" dirty="0">
                <a:solidFill>
                  <a:schemeClr val="accent3"/>
                </a:solidFill>
              </a:rPr>
              <a:t>(</a:t>
            </a:r>
            <a:r>
              <a:rPr lang="en-US" sz="1400" i="1" dirty="0">
                <a:solidFill>
                  <a:schemeClr val="accent3"/>
                </a:solidFill>
              </a:rPr>
              <a:t>P</a:t>
            </a:r>
            <a:r>
              <a:rPr lang="en-US" sz="1400" baseline="-40000" dirty="0">
                <a:solidFill>
                  <a:schemeClr val="accent3"/>
                </a:solidFill>
              </a:rPr>
              <a:t>t</a:t>
            </a:r>
            <a:r>
              <a:rPr lang="en-US" sz="1400" dirty="0">
                <a:solidFill>
                  <a:schemeClr val="accent3"/>
                </a:solidFill>
              </a:rPr>
              <a:t>, </a:t>
            </a:r>
            <a:r>
              <a:rPr lang="en-US" sz="1400" i="1" dirty="0">
                <a:solidFill>
                  <a:schemeClr val="accent3"/>
                </a:solidFill>
              </a:rPr>
              <a:t>ŝ</a:t>
            </a:r>
            <a:r>
              <a:rPr lang="en-US" sz="1400" dirty="0">
                <a:solidFill>
                  <a:schemeClr val="accent3"/>
                </a:solidFill>
              </a:rPr>
              <a:t>). Both rules are post-processing.</a:t>
            </a:r>
            <a:endParaRPr lang="en-US" sz="1400" dirty="0"/>
          </a:p>
        </p:txBody>
      </p:sp>
      <p:sp>
        <p:nvSpPr>
          <p:cNvPr id="21" name="Shape 19"/>
          <p:cNvSpPr/>
          <p:nvPr/>
        </p:nvSpPr>
        <p:spPr>
          <a:xfrm>
            <a:off x="8001000" y="1600200"/>
            <a:ext cx="3642055" cy="4343400"/>
          </a:xfrm>
          <a:prstGeom prst="roundRect">
            <a:avLst>
              <a:gd name="adj" fmla="val 2009"/>
            </a:avLst>
          </a:prstGeom>
          <a:solidFill>
            <a:schemeClr val="tx2"/>
          </a:solidFill>
          <a:ln/>
        </p:spPr>
      </p:sp>
      <p:sp>
        <p:nvSpPr>
          <p:cNvPr id="22" name="Text 20"/>
          <p:cNvSpPr txBox="1"/>
          <p:nvPr/>
        </p:nvSpPr>
        <p:spPr>
          <a:xfrm>
            <a:off x="8321040" y="1828800"/>
            <a:ext cx="3001975" cy="274320"/>
          </a:xfrm>
          <a:prstGeom prst="rect">
            <a:avLst/>
          </a:prstGeom>
          <a:noFill/>
          <a:ln/>
        </p:spPr>
        <p:txBody>
          <a:bodyPr wrap="square" lIns="0" tIns="0" rIns="0" bIns="0" rtlCol="0" anchor="t"/>
          <a:lstStyle/>
          <a:p>
            <a:pPr indent="0" marL="0">
              <a:buNone/>
            </a:pPr>
            <a:r>
              <a:rPr lang="en-US" sz="1200" b="1" spc="150" kern="0" dirty="0">
                <a:solidFill>
                  <a:schemeClr val="accent6"/>
                </a:solidFill>
              </a:rPr>
              <a:t>CONFIGURATION (ALL TASKS)</a:t>
            </a:r>
            <a:endParaRPr lang="en-US" sz="1200" dirty="0"/>
          </a:p>
        </p:txBody>
      </p:sp>
      <p:sp>
        <p:nvSpPr>
          <p:cNvPr id="23" name="Text 21"/>
          <p:cNvSpPr txBox="1"/>
          <p:nvPr/>
        </p:nvSpPr>
        <p:spPr>
          <a:xfrm>
            <a:off x="8321040" y="2212848"/>
            <a:ext cx="1188720" cy="365760"/>
          </a:xfrm>
          <a:prstGeom prst="rect">
            <a:avLst/>
          </a:prstGeom>
          <a:noFill/>
          <a:ln/>
        </p:spPr>
        <p:txBody>
          <a:bodyPr wrap="square" lIns="0" tIns="0" rIns="0" bIns="0" rtlCol="0" anchor="ctr"/>
          <a:lstStyle/>
          <a:p>
            <a:pPr indent="0" marL="0">
              <a:buNone/>
            </a:pPr>
            <a:r>
              <a:rPr lang="en-US" sz="1700" b="1" i="1" dirty="0">
                <a:solidFill>
                  <a:schemeClr val="bg1"/>
                </a:solidFill>
                <a:latin typeface="+mj-lt" pitchFamily="34" charset="0"/>
                <a:ea typeface="+mj-lt" pitchFamily="34" charset="-122"/>
                <a:cs typeface="+mj-lt" pitchFamily="34" charset="-120"/>
              </a:rPr>
              <a:t>K</a:t>
            </a:r>
            <a:r>
              <a:rPr lang="en-US" sz="1700" b="1" dirty="0">
                <a:solidFill>
                  <a:schemeClr val="bg1"/>
                </a:solidFill>
                <a:latin typeface="+mj-lt" pitchFamily="34" charset="0"/>
                <a:ea typeface="+mj-lt" pitchFamily="34" charset="-122"/>
                <a:cs typeface="+mj-lt" pitchFamily="34" charset="-120"/>
              </a:rPr>
              <a:t> = 6</a:t>
            </a:r>
            <a:endParaRPr lang="en-US" sz="1700" dirty="0"/>
          </a:p>
        </p:txBody>
      </p:sp>
      <p:sp>
        <p:nvSpPr>
          <p:cNvPr id="24" name="Text 22"/>
          <p:cNvSpPr txBox="1"/>
          <p:nvPr/>
        </p:nvSpPr>
        <p:spPr>
          <a:xfrm>
            <a:off x="9555480" y="2212848"/>
            <a:ext cx="1813255" cy="365760"/>
          </a:xfrm>
          <a:prstGeom prst="rect">
            <a:avLst/>
          </a:prstGeom>
          <a:noFill/>
          <a:ln/>
        </p:spPr>
        <p:txBody>
          <a:bodyPr wrap="square" lIns="0" tIns="0" rIns="0" bIns="0" rtlCol="0" anchor="ctr"/>
          <a:lstStyle/>
          <a:p>
            <a:pPr indent="0" marL="0">
              <a:buNone/>
            </a:pPr>
            <a:r>
              <a:rPr lang="en-US" sz="1500" dirty="0">
                <a:solidFill>
                  <a:schemeClr val="bg2"/>
                </a:solidFill>
              </a:rPr>
              <a:t>candidates per round</a:t>
            </a:r>
            <a:endParaRPr lang="en-US" sz="1500" dirty="0"/>
          </a:p>
        </p:txBody>
      </p:sp>
      <p:sp>
        <p:nvSpPr>
          <p:cNvPr id="25" name="Text 23"/>
          <p:cNvSpPr txBox="1"/>
          <p:nvPr/>
        </p:nvSpPr>
        <p:spPr>
          <a:xfrm>
            <a:off x="8321040" y="2606040"/>
            <a:ext cx="1188720" cy="365760"/>
          </a:xfrm>
          <a:prstGeom prst="rect">
            <a:avLst/>
          </a:prstGeom>
          <a:noFill/>
          <a:ln/>
        </p:spPr>
        <p:txBody>
          <a:bodyPr wrap="square" lIns="0" tIns="0" rIns="0" bIns="0" rtlCol="0" anchor="ctr"/>
          <a:lstStyle/>
          <a:p>
            <a:pPr indent="0" marL="0">
              <a:buNone/>
            </a:pPr>
            <a:r>
              <a:rPr lang="en-US" sz="1700" b="1" i="1" dirty="0">
                <a:solidFill>
                  <a:schemeClr val="bg1"/>
                </a:solidFill>
                <a:latin typeface="+mj-lt" pitchFamily="34" charset="0"/>
                <a:ea typeface="+mj-lt" pitchFamily="34" charset="-122"/>
                <a:cs typeface="+mj-lt" pitchFamily="34" charset="-120"/>
              </a:rPr>
              <a:t>M</a:t>
            </a:r>
            <a:r>
              <a:rPr lang="en-US" sz="1700" b="1" dirty="0">
                <a:solidFill>
                  <a:schemeClr val="bg1"/>
                </a:solidFill>
                <a:latin typeface="+mj-lt" pitchFamily="34" charset="0"/>
                <a:ea typeface="+mj-lt" pitchFamily="34" charset="-122"/>
                <a:cs typeface="+mj-lt" pitchFamily="34" charset="-120"/>
              </a:rPr>
              <a:t> = 2</a:t>
            </a:r>
            <a:endParaRPr lang="en-US" sz="1700" dirty="0"/>
          </a:p>
        </p:txBody>
      </p:sp>
      <p:sp>
        <p:nvSpPr>
          <p:cNvPr id="26" name="Text 24"/>
          <p:cNvSpPr txBox="1"/>
          <p:nvPr/>
        </p:nvSpPr>
        <p:spPr>
          <a:xfrm>
            <a:off x="9555480" y="2606040"/>
            <a:ext cx="1813255" cy="365760"/>
          </a:xfrm>
          <a:prstGeom prst="rect">
            <a:avLst/>
          </a:prstGeom>
          <a:noFill/>
          <a:ln/>
        </p:spPr>
        <p:txBody>
          <a:bodyPr wrap="square" lIns="0" tIns="0" rIns="0" bIns="0" rtlCol="0" anchor="ctr"/>
          <a:lstStyle/>
          <a:p>
            <a:pPr indent="0" marL="0">
              <a:buNone/>
            </a:pPr>
            <a:r>
              <a:rPr lang="en-US" sz="1500" dirty="0">
                <a:solidFill>
                  <a:schemeClr val="bg2"/>
                </a:solidFill>
              </a:rPr>
              <a:t>parents kept</a:t>
            </a:r>
            <a:endParaRPr lang="en-US" sz="1500" dirty="0"/>
          </a:p>
        </p:txBody>
      </p:sp>
      <p:sp>
        <p:nvSpPr>
          <p:cNvPr id="27" name="Text 25"/>
          <p:cNvSpPr txBox="1"/>
          <p:nvPr/>
        </p:nvSpPr>
        <p:spPr>
          <a:xfrm>
            <a:off x="8321040" y="2999232"/>
            <a:ext cx="1188720" cy="365760"/>
          </a:xfrm>
          <a:prstGeom prst="rect">
            <a:avLst/>
          </a:prstGeom>
          <a:noFill/>
          <a:ln/>
        </p:spPr>
        <p:txBody>
          <a:bodyPr wrap="square" lIns="0" tIns="0" rIns="0" bIns="0" rtlCol="0" anchor="ctr"/>
          <a:lstStyle/>
          <a:p>
            <a:pPr indent="0" marL="0">
              <a:buNone/>
            </a:pPr>
            <a:r>
              <a:rPr lang="en-US" sz="1700" b="1" i="1" dirty="0">
                <a:solidFill>
                  <a:schemeClr val="bg1"/>
                </a:solidFill>
                <a:latin typeface="+mj-lt" pitchFamily="34" charset="0"/>
                <a:ea typeface="+mj-lt" pitchFamily="34" charset="-122"/>
                <a:cs typeface="+mj-lt" pitchFamily="34" charset="-120"/>
              </a:rPr>
              <a:t>T</a:t>
            </a:r>
            <a:r>
              <a:rPr lang="en-US" sz="1700" b="1" dirty="0">
                <a:solidFill>
                  <a:schemeClr val="bg1"/>
                </a:solidFill>
                <a:latin typeface="+mj-lt" pitchFamily="34" charset="0"/>
                <a:ea typeface="+mj-lt" pitchFamily="34" charset="-122"/>
                <a:cs typeface="+mj-lt" pitchFamily="34" charset="-120"/>
              </a:rPr>
              <a:t> = 3</a:t>
            </a:r>
            <a:endParaRPr lang="en-US" sz="1700" dirty="0"/>
          </a:p>
        </p:txBody>
      </p:sp>
      <p:sp>
        <p:nvSpPr>
          <p:cNvPr id="28" name="Text 26"/>
          <p:cNvSpPr txBox="1"/>
          <p:nvPr/>
        </p:nvSpPr>
        <p:spPr>
          <a:xfrm>
            <a:off x="9555480" y="2999232"/>
            <a:ext cx="1813255" cy="365760"/>
          </a:xfrm>
          <a:prstGeom prst="rect">
            <a:avLst/>
          </a:prstGeom>
          <a:noFill/>
          <a:ln/>
        </p:spPr>
        <p:txBody>
          <a:bodyPr wrap="square" lIns="0" tIns="0" rIns="0" bIns="0" rtlCol="0" anchor="ctr"/>
          <a:lstStyle/>
          <a:p>
            <a:pPr indent="0" marL="0">
              <a:buNone/>
            </a:pPr>
            <a:r>
              <a:rPr lang="en-US" sz="1500" dirty="0">
                <a:solidFill>
                  <a:schemeClr val="bg2"/>
                </a:solidFill>
              </a:rPr>
              <a:t>rounds</a:t>
            </a:r>
            <a:endParaRPr lang="en-US" sz="1500" dirty="0"/>
          </a:p>
        </p:txBody>
      </p:sp>
      <p:sp>
        <p:nvSpPr>
          <p:cNvPr id="29" name="Text 27"/>
          <p:cNvSpPr txBox="1"/>
          <p:nvPr/>
        </p:nvSpPr>
        <p:spPr>
          <a:xfrm>
            <a:off x="8321040" y="3392424"/>
            <a:ext cx="1188720" cy="365760"/>
          </a:xfrm>
          <a:prstGeom prst="rect">
            <a:avLst/>
          </a:prstGeom>
          <a:noFill/>
          <a:ln/>
        </p:spPr>
        <p:txBody>
          <a:bodyPr wrap="square" lIns="0" tIns="0" rIns="0" bIns="0" rtlCol="0" anchor="ctr"/>
          <a:lstStyle/>
          <a:p>
            <a:pPr indent="0" marL="0">
              <a:buNone/>
            </a:pPr>
            <a:r>
              <a:rPr lang="en-US" sz="1700" b="1" i="1" dirty="0">
                <a:solidFill>
                  <a:schemeClr val="bg1"/>
                </a:solidFill>
                <a:latin typeface="+mj-lt" pitchFamily="34" charset="0"/>
                <a:ea typeface="+mj-lt" pitchFamily="34" charset="-122"/>
                <a:cs typeface="+mj-lt" pitchFamily="34" charset="-120"/>
              </a:rPr>
              <a:t>b</a:t>
            </a:r>
            <a:r>
              <a:rPr lang="en-US" sz="1700" b="1" dirty="0">
                <a:solidFill>
                  <a:schemeClr val="bg1"/>
                </a:solidFill>
                <a:latin typeface="+mj-lt" pitchFamily="34" charset="0"/>
                <a:ea typeface="+mj-lt" pitchFamily="34" charset="-122"/>
                <a:cs typeface="+mj-lt" pitchFamily="34" charset="-120"/>
              </a:rPr>
              <a:t> = 10</a:t>
            </a:r>
            <a:endParaRPr lang="en-US" sz="1700" dirty="0"/>
          </a:p>
        </p:txBody>
      </p:sp>
      <p:sp>
        <p:nvSpPr>
          <p:cNvPr id="30" name="Text 28"/>
          <p:cNvSpPr txBox="1"/>
          <p:nvPr/>
        </p:nvSpPr>
        <p:spPr>
          <a:xfrm>
            <a:off x="9555480" y="3392424"/>
            <a:ext cx="1813255" cy="365760"/>
          </a:xfrm>
          <a:prstGeom prst="rect">
            <a:avLst/>
          </a:prstGeom>
          <a:noFill/>
          <a:ln/>
        </p:spPr>
        <p:txBody>
          <a:bodyPr wrap="square" lIns="0" tIns="0" rIns="0" bIns="0" rtlCol="0" anchor="ctr"/>
          <a:lstStyle/>
          <a:p>
            <a:pPr indent="0" marL="0">
              <a:buNone/>
            </a:pPr>
            <a:r>
              <a:rPr lang="en-US" sz="1500" dirty="0">
                <a:solidFill>
                  <a:schemeClr val="bg2"/>
                </a:solidFill>
              </a:rPr>
              <a:t>scoring batch size</a:t>
            </a:r>
            <a:endParaRPr lang="en-US" sz="1500" dirty="0"/>
          </a:p>
        </p:txBody>
      </p:sp>
      <p:sp>
        <p:nvSpPr>
          <p:cNvPr id="31" name="Text 29"/>
          <p:cNvSpPr txBox="1"/>
          <p:nvPr/>
        </p:nvSpPr>
        <p:spPr>
          <a:xfrm>
            <a:off x="8321040" y="3785616"/>
            <a:ext cx="1188720" cy="365760"/>
          </a:xfrm>
          <a:prstGeom prst="rect">
            <a:avLst/>
          </a:prstGeom>
          <a:noFill/>
          <a:ln/>
        </p:spPr>
        <p:txBody>
          <a:bodyPr wrap="square" lIns="0" tIns="0" rIns="0" bIns="0" rtlCol="0" anchor="ctr"/>
          <a:lstStyle/>
          <a:p>
            <a:pPr indent="0" marL="0">
              <a:buNone/>
            </a:pPr>
            <a:r>
              <a:rPr lang="en-US" sz="1700" b="1" i="1" dirty="0">
                <a:solidFill>
                  <a:schemeClr val="bg1"/>
                </a:solidFill>
                <a:latin typeface="+mj-lt" pitchFamily="34" charset="0"/>
                <a:ea typeface="+mj-lt" pitchFamily="34" charset="-122"/>
                <a:cs typeface="+mj-lt" pitchFamily="34" charset="-120"/>
              </a:rPr>
              <a:t>z</a:t>
            </a:r>
            <a:r>
              <a:rPr lang="en-US" sz="1700" b="1" dirty="0">
                <a:solidFill>
                  <a:schemeClr val="bg1"/>
                </a:solidFill>
                <a:latin typeface="+mj-lt" pitchFamily="34" charset="0"/>
                <a:ea typeface="+mj-lt" pitchFamily="34" charset="-122"/>
                <a:cs typeface="+mj-lt" pitchFamily="34" charset="-120"/>
              </a:rPr>
              <a:t> = 10</a:t>
            </a:r>
            <a:endParaRPr lang="en-US" sz="1700" dirty="0"/>
          </a:p>
        </p:txBody>
      </p:sp>
      <p:sp>
        <p:nvSpPr>
          <p:cNvPr id="32" name="Text 30"/>
          <p:cNvSpPr txBox="1"/>
          <p:nvPr/>
        </p:nvSpPr>
        <p:spPr>
          <a:xfrm>
            <a:off x="9555480" y="3785616"/>
            <a:ext cx="1813255" cy="365760"/>
          </a:xfrm>
          <a:prstGeom prst="rect">
            <a:avLst/>
          </a:prstGeom>
          <a:noFill/>
          <a:ln/>
        </p:spPr>
        <p:txBody>
          <a:bodyPr wrap="square" lIns="0" tIns="0" rIns="0" bIns="0" rtlCol="0" anchor="ctr"/>
          <a:lstStyle/>
          <a:p>
            <a:pPr indent="0" marL="0">
              <a:buNone/>
            </a:pPr>
            <a:r>
              <a:rPr lang="en-US" sz="1500" dirty="0">
                <a:solidFill>
                  <a:schemeClr val="bg2"/>
                </a:solidFill>
              </a:rPr>
              <a:t>noise multiplier</a:t>
            </a:r>
            <a:endParaRPr lang="en-US" sz="1500" dirty="0"/>
          </a:p>
        </p:txBody>
      </p:sp>
      <p:sp>
        <p:nvSpPr>
          <p:cNvPr id="33" name="Text 31"/>
          <p:cNvSpPr txBox="1"/>
          <p:nvPr/>
        </p:nvSpPr>
        <p:spPr>
          <a:xfrm>
            <a:off x="8321040" y="4178808"/>
            <a:ext cx="1188720" cy="365760"/>
          </a:xfrm>
          <a:prstGeom prst="rect">
            <a:avLst/>
          </a:prstGeom>
          <a:noFill/>
          <a:ln/>
        </p:spPr>
        <p:txBody>
          <a:bodyPr wrap="square" lIns="0" tIns="0" rIns="0" bIns="0" rtlCol="0" anchor="ctr"/>
          <a:lstStyle/>
          <a:p>
            <a:pPr indent="0" marL="0">
              <a:buNone/>
            </a:pPr>
            <a:r>
              <a:rPr lang="en-US" sz="1700" b="1" i="1" dirty="0">
                <a:solidFill>
                  <a:schemeClr val="bg1"/>
                </a:solidFill>
                <a:latin typeface="+mj-lt" pitchFamily="34" charset="0"/>
                <a:ea typeface="+mj-lt" pitchFamily="34" charset="-122"/>
                <a:cs typeface="+mj-lt" pitchFamily="34" charset="-120"/>
              </a:rPr>
              <a:t>C</a:t>
            </a:r>
            <a:r>
              <a:rPr lang="en-US" sz="1700" b="1" dirty="0">
                <a:solidFill>
                  <a:schemeClr val="bg1"/>
                </a:solidFill>
                <a:latin typeface="+mj-lt" pitchFamily="34" charset="0"/>
                <a:ea typeface="+mj-lt" pitchFamily="34" charset="-122"/>
                <a:cs typeface="+mj-lt" pitchFamily="34" charset="-120"/>
              </a:rPr>
              <a:t> = 1</a:t>
            </a:r>
            <a:endParaRPr lang="en-US" sz="1700" dirty="0"/>
          </a:p>
        </p:txBody>
      </p:sp>
      <p:sp>
        <p:nvSpPr>
          <p:cNvPr id="34" name="Text 32"/>
          <p:cNvSpPr txBox="1"/>
          <p:nvPr/>
        </p:nvSpPr>
        <p:spPr>
          <a:xfrm>
            <a:off x="9555480" y="4178808"/>
            <a:ext cx="1813255" cy="365760"/>
          </a:xfrm>
          <a:prstGeom prst="rect">
            <a:avLst/>
          </a:prstGeom>
          <a:noFill/>
          <a:ln/>
        </p:spPr>
        <p:txBody>
          <a:bodyPr wrap="square" lIns="0" tIns="0" rIns="0" bIns="0" rtlCol="0" anchor="ctr"/>
          <a:lstStyle/>
          <a:p>
            <a:pPr indent="0" marL="0">
              <a:buNone/>
            </a:pPr>
            <a:r>
              <a:rPr lang="en-US" sz="1500" dirty="0">
                <a:solidFill>
                  <a:schemeClr val="bg2"/>
                </a:solidFill>
              </a:rPr>
              <a:t>clipping bound</a:t>
            </a:r>
            <a:endParaRPr lang="en-US" sz="1500" dirty="0"/>
          </a:p>
        </p:txBody>
      </p:sp>
      <p:sp>
        <p:nvSpPr>
          <p:cNvPr id="35" name="Text 33"/>
          <p:cNvSpPr txBox="1"/>
          <p:nvPr/>
        </p:nvSpPr>
        <p:spPr>
          <a:xfrm>
            <a:off x="8321040" y="4572000"/>
            <a:ext cx="1188720" cy="365760"/>
          </a:xfrm>
          <a:prstGeom prst="rect">
            <a:avLst/>
          </a:prstGeom>
          <a:noFill/>
          <a:ln/>
        </p:spPr>
        <p:txBody>
          <a:bodyPr wrap="square" lIns="0" tIns="0" rIns="0" bIns="0" rtlCol="0" anchor="ctr"/>
          <a:lstStyle/>
          <a:p>
            <a:pPr indent="0" marL="0">
              <a:buNone/>
            </a:pPr>
            <a:r>
              <a:rPr lang="en-US" sz="1700" b="1" i="1" dirty="0">
                <a:solidFill>
                  <a:schemeClr val="bg1"/>
                </a:solidFill>
                <a:latin typeface="+mj-lt" pitchFamily="34" charset="0"/>
                <a:ea typeface="+mj-lt" pitchFamily="34" charset="-122"/>
                <a:cs typeface="+mj-lt" pitchFamily="34" charset="-120"/>
              </a:rPr>
              <a:t>n</a:t>
            </a:r>
            <a:r>
              <a:rPr lang="en-US" sz="1700" b="1" dirty="0">
                <a:solidFill>
                  <a:schemeClr val="bg1"/>
                </a:solidFill>
                <a:latin typeface="+mj-lt" pitchFamily="34" charset="0"/>
                <a:ea typeface="+mj-lt" pitchFamily="34" charset="-122"/>
                <a:cs typeface="+mj-lt" pitchFamily="34" charset="-120"/>
              </a:rPr>
              <a:t> = 200</a:t>
            </a:r>
            <a:endParaRPr lang="en-US" sz="1700" dirty="0"/>
          </a:p>
        </p:txBody>
      </p:sp>
      <p:sp>
        <p:nvSpPr>
          <p:cNvPr id="36" name="Text 34"/>
          <p:cNvSpPr txBox="1"/>
          <p:nvPr/>
        </p:nvSpPr>
        <p:spPr>
          <a:xfrm>
            <a:off x="9555480" y="4572000"/>
            <a:ext cx="1813255" cy="365760"/>
          </a:xfrm>
          <a:prstGeom prst="rect">
            <a:avLst/>
          </a:prstGeom>
          <a:noFill/>
          <a:ln/>
        </p:spPr>
        <p:txBody>
          <a:bodyPr wrap="square" lIns="0" tIns="0" rIns="0" bIns="0" rtlCol="0" anchor="ctr"/>
          <a:lstStyle/>
          <a:p>
            <a:pPr indent="0" marL="0">
              <a:buNone/>
            </a:pPr>
            <a:r>
              <a:rPr lang="en-US" sz="1500" dirty="0">
                <a:solidFill>
                  <a:schemeClr val="bg2"/>
                </a:solidFill>
              </a:rPr>
              <a:t>optimization records</a:t>
            </a:r>
            <a:endParaRPr lang="en-US" sz="1500" dirty="0"/>
          </a:p>
        </p:txBody>
      </p:sp>
      <p:sp>
        <p:nvSpPr>
          <p:cNvPr id="37" name="Text 35"/>
          <p:cNvSpPr txBox="1"/>
          <p:nvPr/>
        </p:nvSpPr>
        <p:spPr>
          <a:xfrm>
            <a:off x="8321040" y="4965192"/>
            <a:ext cx="1188720" cy="365760"/>
          </a:xfrm>
          <a:prstGeom prst="rect">
            <a:avLst/>
          </a:prstGeom>
          <a:noFill/>
          <a:ln/>
        </p:spPr>
        <p:txBody>
          <a:bodyPr wrap="square" lIns="0" tIns="0" rIns="0" bIns="0" rtlCol="0" anchor="ctr"/>
          <a:lstStyle/>
          <a:p>
            <a:pPr indent="0" marL="0">
              <a:buNone/>
            </a:pPr>
            <a:r>
              <a:rPr lang="en-US" sz="1700" b="1" dirty="0">
                <a:solidFill>
                  <a:schemeClr val="bg1"/>
                </a:solidFill>
                <a:latin typeface="+mj-lt" pitchFamily="34" charset="0"/>
                <a:ea typeface="+mj-lt" pitchFamily="34" charset="-122"/>
                <a:cs typeface="+mj-lt" pitchFamily="34" charset="-120"/>
              </a:rPr>
              <a:t>Mode</a:t>
            </a:r>
            <a:endParaRPr lang="en-US" sz="1700" dirty="0"/>
          </a:p>
        </p:txBody>
      </p:sp>
      <p:sp>
        <p:nvSpPr>
          <p:cNvPr id="38" name="Text 36"/>
          <p:cNvSpPr txBox="1"/>
          <p:nvPr/>
        </p:nvSpPr>
        <p:spPr>
          <a:xfrm>
            <a:off x="9555480" y="4965192"/>
            <a:ext cx="1813255" cy="365760"/>
          </a:xfrm>
          <a:prstGeom prst="rect">
            <a:avLst/>
          </a:prstGeom>
          <a:noFill/>
          <a:ln/>
        </p:spPr>
        <p:txBody>
          <a:bodyPr wrap="square" lIns="0" tIns="0" rIns="0" bIns="0" rtlCol="0" anchor="ctr"/>
          <a:lstStyle/>
          <a:p>
            <a:pPr indent="0" marL="0">
              <a:buNone/>
            </a:pPr>
            <a:r>
              <a:rPr lang="en-US" sz="1500" dirty="0">
                <a:solidFill>
                  <a:schemeClr val="bg2"/>
                </a:solidFill>
              </a:rPr>
              <a:t>BALANCED mutation</a:t>
            </a:r>
            <a:endParaRPr lang="en-US" sz="1500" dirty="0"/>
          </a:p>
        </p:txBody>
      </p:sp>
      <p:sp>
        <p:nvSpPr>
          <p:cNvPr id="39" name="Text 37"/>
          <p:cNvSpPr txBox="1"/>
          <p:nvPr/>
        </p:nvSpPr>
        <p:spPr>
          <a:xfrm>
            <a:off x="8321040" y="5440680"/>
            <a:ext cx="3001975" cy="411480"/>
          </a:xfrm>
          <a:prstGeom prst="rect">
            <a:avLst/>
          </a:prstGeom>
          <a:noFill/>
          <a:ln/>
        </p:spPr>
        <p:txBody>
          <a:bodyPr wrap="square" lIns="0" tIns="0" rIns="0" bIns="0" rtlCol="0" anchor="t"/>
          <a:lstStyle/>
          <a:p>
            <a:pPr indent="0" marL="0">
              <a:buNone/>
            </a:pPr>
            <a:r>
              <a:rPr lang="en-US" sz="1300" i="1" dirty="0">
                <a:solidFill>
                  <a:schemeClr val="accent6"/>
                </a:solidFill>
              </a:rPr>
              <a:t>Fixed in advance; not selected using task utility.</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PRIVACY ANALYSIS</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End-to-end guarantee: ε ≤ 0.71 at δ = 10</a:t>
            </a:r>
            <a:r>
              <a:rPr lang="en-US" sz="3000" b="1" baseline="30000" dirty="0">
                <a:solidFill>
                  <a:schemeClr val="tx2"/>
                </a:solidFill>
                <a:latin typeface="+mj-lt" pitchFamily="34" charset="0"/>
                <a:ea typeface="+mj-lt" pitchFamily="34" charset="-122"/>
                <a:cs typeface="+mj-lt" pitchFamily="34" charset="-120"/>
              </a:rPr>
              <a:t>−5</a:t>
            </a:r>
            <a:endParaRPr lang="en-US" sz="3000" dirty="0"/>
          </a:p>
        </p:txBody>
      </p:sp>
      <p:sp>
        <p:nvSpPr>
          <p:cNvPr id="4" name="Text 2"/>
          <p:cNvSpPr txBox="1"/>
          <p:nvPr/>
        </p:nvSpPr>
        <p:spPr>
          <a:xfrm>
            <a:off x="6156655" y="329184"/>
            <a:ext cx="5486400" cy="292608"/>
          </a:xfrm>
          <a:prstGeom prst="rect">
            <a:avLst/>
          </a:prstGeom>
          <a:noFill/>
          <a:ln/>
        </p:spPr>
        <p:txBody>
          <a:bodyPr wrap="square" lIns="0" tIns="0" rIns="0" bIns="0" rtlCol="0" anchor="t"/>
          <a:lstStyle/>
          <a:p>
            <a:pPr algn="r" indent="0" marL="0">
              <a:buNone/>
            </a:pPr>
            <a:r>
              <a:rPr lang="en-US" sz="1100" dirty="0">
                <a:solidFill>
                  <a:schemeClr val="accent3"/>
                </a:solidFill>
              </a:rPr>
              <a:t>Motivation</a:t>
            </a:r>
            <a:r>
              <a:rPr lang="en-US" sz="1100" dirty="0">
                <a:solidFill>
                  <a:schemeClr val="accent3"/>
                </a:solidFill>
              </a:rPr>
              <a:t>   ·   </a:t>
            </a:r>
            <a:r>
              <a:rPr lang="en-US" sz="1100" dirty="0">
                <a:solidFill>
                  <a:schemeClr val="accent3"/>
                </a:solidFill>
              </a:rPr>
              <a:t>Diagnosis</a:t>
            </a:r>
            <a:r>
              <a:rPr lang="en-US" sz="1100" dirty="0">
                <a:solidFill>
                  <a:schemeClr val="accent3"/>
                </a:solidFill>
              </a:rPr>
              <a:t>   ·   </a:t>
            </a:r>
            <a:r>
              <a:rPr lang="en-US" sz="1100" b="1" dirty="0">
                <a:solidFill>
                  <a:schemeClr val="accent1"/>
                </a:solidFill>
              </a:rPr>
              <a:t>Method</a:t>
            </a:r>
            <a:r>
              <a:rPr lang="en-US" sz="1100" dirty="0">
                <a:solidFill>
                  <a:schemeClr val="accent3"/>
                </a:solidFill>
              </a:rPr>
              <a:t>   ·   </a:t>
            </a:r>
            <a:r>
              <a:rPr lang="en-US" sz="1100" dirty="0">
                <a:solidFill>
                  <a:schemeClr val="accent3"/>
                </a:solidFill>
              </a:rPr>
              <a:t>Results</a:t>
            </a:r>
            <a:r>
              <a:rPr lang="en-US" sz="1100" dirty="0">
                <a:solidFill>
                  <a:schemeClr val="accent3"/>
                </a:solidFill>
              </a:rPr>
              <a:t>   ·   </a:t>
            </a:r>
            <a:r>
              <a:rPr lang="en-US" sz="1100" dirty="0">
                <a:solidFill>
                  <a:schemeClr val="accent3"/>
                </a:solidFill>
              </a:rPr>
              <a:t>Scope</a:t>
            </a:r>
            <a:endParaRPr lang="en-US" sz="1100" dirty="0"/>
          </a:p>
        </p:txBody>
      </p:sp>
      <p:sp>
        <p:nvSpPr>
          <p:cNvPr id="5" name="Shape 3"/>
          <p:cNvSpPr/>
          <p:nvPr/>
        </p:nvSpPr>
        <p:spPr>
          <a:xfrm>
            <a:off x="548640" y="1600200"/>
            <a:ext cx="6766560" cy="1298448"/>
          </a:xfrm>
          <a:prstGeom prst="roundRect">
            <a:avLst>
              <a:gd name="adj" fmla="val 5634"/>
            </a:avLst>
          </a:prstGeom>
          <a:solidFill>
            <a:schemeClr val="bg2"/>
          </a:solidFill>
          <a:ln/>
        </p:spPr>
      </p:sp>
      <p:sp>
        <p:nvSpPr>
          <p:cNvPr id="6" name="Text 4"/>
          <p:cNvSpPr txBox="1"/>
          <p:nvPr/>
        </p:nvSpPr>
        <p:spPr>
          <a:xfrm>
            <a:off x="822960" y="1801368"/>
            <a:ext cx="1417320" cy="292608"/>
          </a:xfrm>
          <a:prstGeom prst="roundRect">
            <a:avLst>
              <a:gd name="adj" fmla="val 43750"/>
            </a:avLst>
          </a:prstGeom>
          <a:solidFill>
            <a:schemeClr val="accent1"/>
          </a:solidFill>
          <a:ln/>
        </p:spPr>
        <p:txBody>
          <a:bodyPr wrap="square" lIns="0" tIns="0" rIns="0" bIns="0" rtlCol="0" anchor="ctr"/>
          <a:lstStyle/>
          <a:p>
            <a:pPr algn="ctr" indent="0" marL="0">
              <a:buNone/>
            </a:pPr>
            <a:r>
              <a:rPr lang="en-US" sz="1200" b="1" dirty="0">
                <a:solidFill>
                  <a:schemeClr val="bg1"/>
                </a:solidFill>
              </a:rPr>
              <a:t>Proposition 1</a:t>
            </a:r>
            <a:endParaRPr lang="en-US" sz="1200" dirty="0"/>
          </a:p>
        </p:txBody>
      </p:sp>
      <p:sp>
        <p:nvSpPr>
          <p:cNvPr id="7" name="Text 5"/>
          <p:cNvSpPr txBox="1"/>
          <p:nvPr/>
        </p:nvSpPr>
        <p:spPr>
          <a:xfrm>
            <a:off x="2423160" y="1755648"/>
            <a:ext cx="4663440" cy="384048"/>
          </a:xfrm>
          <a:prstGeom prst="rect">
            <a:avLst/>
          </a:prstGeom>
          <a:noFill/>
          <a:ln/>
        </p:spPr>
        <p:txBody>
          <a:bodyPr wrap="square" lIns="0" tIns="0" rIns="0" bIns="0" rtlCol="0" anchor="ctr"/>
          <a:lstStyle/>
          <a:p>
            <a:pPr indent="0" marL="0">
              <a:buNone/>
            </a:pPr>
            <a:r>
              <a:rPr lang="en-US" sz="1800" b="1" dirty="0">
                <a:solidFill>
                  <a:schemeClr val="tx2"/>
                </a:solidFill>
                <a:latin typeface="+mj-lt" pitchFamily="34" charset="0"/>
                <a:ea typeface="+mj-lt" pitchFamily="34" charset="-122"/>
                <a:cs typeface="+mj-lt" pitchFamily="34" charset="-120"/>
              </a:rPr>
              <a:t>Mutation is privacy-free</a:t>
            </a:r>
            <a:endParaRPr lang="en-US" sz="1800" dirty="0"/>
          </a:p>
        </p:txBody>
      </p:sp>
      <p:sp>
        <p:nvSpPr>
          <p:cNvPr id="8" name="Text 6"/>
          <p:cNvSpPr txBox="1"/>
          <p:nvPr/>
        </p:nvSpPr>
        <p:spPr>
          <a:xfrm>
            <a:off x="822960" y="2221992"/>
            <a:ext cx="6217920" cy="640080"/>
          </a:xfrm>
          <a:prstGeom prst="rect">
            <a:avLst/>
          </a:prstGeom>
          <a:noFill/>
          <a:ln/>
        </p:spPr>
        <p:txBody>
          <a:bodyPr wrap="square" lIns="0" tIns="0" rIns="0" bIns="0" rtlCol="0" anchor="t"/>
          <a:lstStyle/>
          <a:p>
            <a:pPr indent="0" marL="0">
              <a:buNone/>
            </a:pPr>
            <a:r>
              <a:rPr lang="en-US" sz="1500" dirty="0">
                <a:solidFill>
                  <a:schemeClr val="tx1"/>
                </a:solidFill>
              </a:rPr>
              <a:t>Mutate sees only a public or previously privatized parent prompt, so by post-processing it consumes zero privacy budget.</a:t>
            </a:r>
            <a:endParaRPr lang="en-US" sz="1500" dirty="0"/>
          </a:p>
        </p:txBody>
      </p:sp>
      <p:sp>
        <p:nvSpPr>
          <p:cNvPr id="9" name="Shape 7"/>
          <p:cNvSpPr/>
          <p:nvPr/>
        </p:nvSpPr>
        <p:spPr>
          <a:xfrm>
            <a:off x="548640" y="3081528"/>
            <a:ext cx="6766560" cy="1298448"/>
          </a:xfrm>
          <a:prstGeom prst="roundRect">
            <a:avLst>
              <a:gd name="adj" fmla="val 5634"/>
            </a:avLst>
          </a:prstGeom>
          <a:solidFill>
            <a:schemeClr val="bg2"/>
          </a:solidFill>
          <a:ln/>
        </p:spPr>
      </p:sp>
      <p:sp>
        <p:nvSpPr>
          <p:cNvPr id="10" name="Text 8"/>
          <p:cNvSpPr txBox="1"/>
          <p:nvPr/>
        </p:nvSpPr>
        <p:spPr>
          <a:xfrm>
            <a:off x="822960" y="3282696"/>
            <a:ext cx="1417320" cy="292608"/>
          </a:xfrm>
          <a:prstGeom prst="roundRect">
            <a:avLst>
              <a:gd name="adj" fmla="val 43750"/>
            </a:avLst>
          </a:prstGeom>
          <a:solidFill>
            <a:schemeClr val="accent1"/>
          </a:solidFill>
          <a:ln/>
        </p:spPr>
        <p:txBody>
          <a:bodyPr wrap="square" lIns="0" tIns="0" rIns="0" bIns="0" rtlCol="0" anchor="ctr"/>
          <a:lstStyle/>
          <a:p>
            <a:pPr algn="ctr" indent="0" marL="0">
              <a:buNone/>
            </a:pPr>
            <a:r>
              <a:rPr lang="en-US" sz="1200" b="1" dirty="0">
                <a:solidFill>
                  <a:schemeClr val="bg1"/>
                </a:solidFill>
              </a:rPr>
              <a:t>Proposition 2</a:t>
            </a:r>
            <a:endParaRPr lang="en-US" sz="1200" dirty="0"/>
          </a:p>
        </p:txBody>
      </p:sp>
      <p:sp>
        <p:nvSpPr>
          <p:cNvPr id="11" name="Text 9"/>
          <p:cNvSpPr txBox="1"/>
          <p:nvPr/>
        </p:nvSpPr>
        <p:spPr>
          <a:xfrm>
            <a:off x="2423160" y="3236976"/>
            <a:ext cx="4663440" cy="384048"/>
          </a:xfrm>
          <a:prstGeom prst="rect">
            <a:avLst/>
          </a:prstGeom>
          <a:noFill/>
          <a:ln/>
        </p:spPr>
        <p:txBody>
          <a:bodyPr wrap="square" lIns="0" tIns="0" rIns="0" bIns="0" rtlCol="0" anchor="ctr"/>
          <a:lstStyle/>
          <a:p>
            <a:pPr indent="0" marL="0">
              <a:buNone/>
            </a:pPr>
            <a:r>
              <a:rPr lang="en-US" sz="1800" b="1" dirty="0">
                <a:solidFill>
                  <a:schemeClr val="tx2"/>
                </a:solidFill>
                <a:latin typeface="+mj-lt" pitchFamily="34" charset="0"/>
                <a:ea typeface="+mj-lt" pitchFamily="34" charset="-122"/>
                <a:cs typeface="+mj-lt" pitchFamily="34" charset="-120"/>
              </a:rPr>
              <a:t>Decoupled exploration</a:t>
            </a:r>
            <a:endParaRPr lang="en-US" sz="1800" dirty="0"/>
          </a:p>
        </p:txBody>
      </p:sp>
      <p:sp>
        <p:nvSpPr>
          <p:cNvPr id="12" name="Text 10"/>
          <p:cNvSpPr txBox="1"/>
          <p:nvPr/>
        </p:nvSpPr>
        <p:spPr>
          <a:xfrm>
            <a:off x="822960" y="3703320"/>
            <a:ext cx="6217920" cy="640080"/>
          </a:xfrm>
          <a:prstGeom prst="rect">
            <a:avLst/>
          </a:prstGeom>
          <a:noFill/>
          <a:ln/>
        </p:spPr>
        <p:txBody>
          <a:bodyPr wrap="square" lIns="0" tIns="0" rIns="0" bIns="0" rtlCol="0" anchor="t"/>
          <a:lstStyle/>
          <a:p>
            <a:pPr indent="0" marL="0">
              <a:buNone/>
            </a:pPr>
            <a:r>
              <a:rPr lang="en-US" sz="1500" dirty="0">
                <a:solidFill>
                  <a:schemeClr val="tx1"/>
                </a:solidFill>
              </a:rPr>
              <a:t>Privacy loss depends only on the score releases — not on the number or strength of mutations per round.</a:t>
            </a:r>
            <a:endParaRPr lang="en-US" sz="1500" dirty="0"/>
          </a:p>
        </p:txBody>
      </p:sp>
      <p:sp>
        <p:nvSpPr>
          <p:cNvPr id="13" name="Shape 11"/>
          <p:cNvSpPr/>
          <p:nvPr/>
        </p:nvSpPr>
        <p:spPr>
          <a:xfrm>
            <a:off x="548640" y="4562856"/>
            <a:ext cx="6766560" cy="1298448"/>
          </a:xfrm>
          <a:prstGeom prst="roundRect">
            <a:avLst>
              <a:gd name="adj" fmla="val 5634"/>
            </a:avLst>
          </a:prstGeom>
          <a:solidFill>
            <a:schemeClr val="bg2"/>
          </a:solidFill>
          <a:ln/>
        </p:spPr>
      </p:sp>
      <p:sp>
        <p:nvSpPr>
          <p:cNvPr id="14" name="Text 12"/>
          <p:cNvSpPr txBox="1"/>
          <p:nvPr/>
        </p:nvSpPr>
        <p:spPr>
          <a:xfrm>
            <a:off x="822960" y="4764024"/>
            <a:ext cx="1417320" cy="292608"/>
          </a:xfrm>
          <a:prstGeom prst="roundRect">
            <a:avLst>
              <a:gd name="adj" fmla="val 43750"/>
            </a:avLst>
          </a:prstGeom>
          <a:solidFill>
            <a:schemeClr val="tx2"/>
          </a:solidFill>
          <a:ln/>
        </p:spPr>
        <p:txBody>
          <a:bodyPr wrap="square" lIns="0" tIns="0" rIns="0" bIns="0" rtlCol="0" anchor="ctr"/>
          <a:lstStyle/>
          <a:p>
            <a:pPr algn="ctr" indent="0" marL="0">
              <a:buNone/>
            </a:pPr>
            <a:r>
              <a:rPr lang="en-US" sz="1200" b="1" dirty="0">
                <a:solidFill>
                  <a:schemeClr val="bg1"/>
                </a:solidFill>
              </a:rPr>
              <a:t>Theorem</a:t>
            </a:r>
            <a:endParaRPr lang="en-US" sz="1200" dirty="0"/>
          </a:p>
        </p:txBody>
      </p:sp>
      <p:sp>
        <p:nvSpPr>
          <p:cNvPr id="15" name="Text 13"/>
          <p:cNvSpPr txBox="1"/>
          <p:nvPr/>
        </p:nvSpPr>
        <p:spPr>
          <a:xfrm>
            <a:off x="2423160" y="4718304"/>
            <a:ext cx="4663440" cy="384048"/>
          </a:xfrm>
          <a:prstGeom prst="rect">
            <a:avLst/>
          </a:prstGeom>
          <a:noFill/>
          <a:ln/>
        </p:spPr>
        <p:txBody>
          <a:bodyPr wrap="square" lIns="0" tIns="0" rIns="0" bIns="0" rtlCol="0" anchor="ctr"/>
          <a:lstStyle/>
          <a:p>
            <a:pPr indent="0" marL="0">
              <a:buNone/>
            </a:pPr>
            <a:r>
              <a:rPr lang="en-US" sz="1800" b="1" dirty="0">
                <a:solidFill>
                  <a:schemeClr val="tx2"/>
                </a:solidFill>
                <a:latin typeface="+mj-lt" pitchFamily="34" charset="0"/>
                <a:ea typeface="+mj-lt" pitchFamily="34" charset="-122"/>
                <a:cs typeface="+mj-lt" pitchFamily="34" charset="-120"/>
              </a:rPr>
              <a:t>End-to-end (ε, δ)-DP</a:t>
            </a:r>
            <a:endParaRPr lang="en-US" sz="1800" dirty="0"/>
          </a:p>
        </p:txBody>
      </p:sp>
      <p:sp>
        <p:nvSpPr>
          <p:cNvPr id="16" name="Text 14"/>
          <p:cNvSpPr txBox="1"/>
          <p:nvPr/>
        </p:nvSpPr>
        <p:spPr>
          <a:xfrm>
            <a:off x="822960" y="5184648"/>
            <a:ext cx="6217920" cy="640080"/>
          </a:xfrm>
          <a:prstGeom prst="rect">
            <a:avLst/>
          </a:prstGeom>
          <a:noFill/>
          <a:ln/>
        </p:spPr>
        <p:txBody>
          <a:bodyPr wrap="square" lIns="0" tIns="0" rIns="0" bIns="0" rtlCol="0" anchor="t"/>
          <a:lstStyle/>
          <a:p>
            <a:pPr indent="0" marL="0">
              <a:buNone/>
            </a:pPr>
            <a:r>
              <a:rPr lang="en-US" sz="1500" dirty="0">
                <a:solidFill>
                  <a:schemeClr val="tx1"/>
                </a:solidFill>
              </a:rPr>
              <a:t>Composing ≤ </a:t>
            </a:r>
            <a:r>
              <a:rPr lang="en-US" sz="1500" i="1" dirty="0">
                <a:solidFill>
                  <a:schemeClr val="tx1"/>
                </a:solidFill>
              </a:rPr>
              <a:t>TK</a:t>
            </a:r>
            <a:r>
              <a:rPr lang="en-US" sz="1500" dirty="0">
                <a:solidFill>
                  <a:schemeClr val="tx1"/>
                </a:solidFill>
              </a:rPr>
              <a:t> sampled-Gaussian releases in Rényi DP (subsampling without replacement) gives (ε, δ)-DP for the released prompt.</a:t>
            </a:r>
            <a:endParaRPr lang="en-US" sz="1500" dirty="0"/>
          </a:p>
        </p:txBody>
      </p:sp>
      <p:sp>
        <p:nvSpPr>
          <p:cNvPr id="17" name="Shape 15"/>
          <p:cNvSpPr/>
          <p:nvPr/>
        </p:nvSpPr>
        <p:spPr>
          <a:xfrm>
            <a:off x="7772400" y="1600200"/>
            <a:ext cx="3870655" cy="4343400"/>
          </a:xfrm>
          <a:prstGeom prst="roundRect">
            <a:avLst>
              <a:gd name="adj" fmla="val 1890"/>
            </a:avLst>
          </a:prstGeom>
          <a:solidFill>
            <a:schemeClr val="bg1"/>
          </a:solidFill>
          <a:ln w="12700">
            <a:solidFill>
              <a:srgbClr val="D9DEDB"/>
            </a:solidFill>
            <a:prstDash val="solid"/>
          </a:ln>
        </p:spPr>
      </p:sp>
      <p:sp>
        <p:nvSpPr>
          <p:cNvPr id="18" name="Text 16"/>
          <p:cNvSpPr txBox="1"/>
          <p:nvPr/>
        </p:nvSpPr>
        <p:spPr>
          <a:xfrm>
            <a:off x="8046720" y="1783080"/>
            <a:ext cx="3322015" cy="274320"/>
          </a:xfrm>
          <a:prstGeom prst="rect">
            <a:avLst/>
          </a:prstGeom>
          <a:noFill/>
          <a:ln/>
        </p:spPr>
        <p:txBody>
          <a:bodyPr wrap="square" lIns="0" tIns="0" rIns="0" bIns="0" rtlCol="0" anchor="t"/>
          <a:lstStyle/>
          <a:p>
            <a:pPr indent="0" marL="0">
              <a:buNone/>
            </a:pPr>
            <a:r>
              <a:rPr lang="en-US" sz="1200" b="1" spc="120" kern="0" dirty="0">
                <a:solidFill>
                  <a:schemeClr val="accent5"/>
                </a:solidFill>
              </a:rPr>
              <a:t>ACCOUNTING FOR THE REPORTED RUNS</a:t>
            </a:r>
            <a:endParaRPr lang="en-US" sz="1200" dirty="0"/>
          </a:p>
        </p:txBody>
      </p:sp>
      <p:sp>
        <p:nvSpPr>
          <p:cNvPr id="19" name="Text 17"/>
          <p:cNvSpPr txBox="1"/>
          <p:nvPr/>
        </p:nvSpPr>
        <p:spPr>
          <a:xfrm>
            <a:off x="8046720" y="2212848"/>
            <a:ext cx="1600200" cy="365760"/>
          </a:xfrm>
          <a:prstGeom prst="rect">
            <a:avLst/>
          </a:prstGeom>
          <a:noFill/>
          <a:ln/>
        </p:spPr>
        <p:txBody>
          <a:bodyPr wrap="square" lIns="0" tIns="0" rIns="0" bIns="0" rtlCol="0" anchor="ctr"/>
          <a:lstStyle/>
          <a:p>
            <a:pPr indent="0" marL="0">
              <a:buNone/>
            </a:pPr>
            <a:r>
              <a:rPr lang="en-US" sz="1500" i="1" dirty="0">
                <a:solidFill>
                  <a:schemeClr val="tx1"/>
                </a:solidFill>
                <a:latin typeface="+mj-lt" pitchFamily="34" charset="0"/>
                <a:ea typeface="+mj-lt" pitchFamily="34" charset="-122"/>
                <a:cs typeface="+mj-lt" pitchFamily="34" charset="-120"/>
              </a:rPr>
              <a:t>n</a:t>
            </a:r>
            <a:r>
              <a:rPr lang="en-US" sz="1500" dirty="0">
                <a:solidFill>
                  <a:schemeClr val="tx1"/>
                </a:solidFill>
                <a:latin typeface="+mj-lt" pitchFamily="34" charset="0"/>
                <a:ea typeface="+mj-lt" pitchFamily="34" charset="-122"/>
                <a:cs typeface="+mj-lt" pitchFamily="34" charset="-120"/>
              </a:rPr>
              <a:t> = 200, </a:t>
            </a:r>
            <a:r>
              <a:rPr lang="en-US" sz="1500" i="1" dirty="0">
                <a:solidFill>
                  <a:schemeClr val="tx1"/>
                </a:solidFill>
                <a:latin typeface="+mj-lt" pitchFamily="34" charset="0"/>
                <a:ea typeface="+mj-lt" pitchFamily="34" charset="-122"/>
                <a:cs typeface="+mj-lt" pitchFamily="34" charset="-120"/>
              </a:rPr>
              <a:t>b</a:t>
            </a:r>
            <a:r>
              <a:rPr lang="en-US" sz="1500" dirty="0">
                <a:solidFill>
                  <a:schemeClr val="tx1"/>
                </a:solidFill>
                <a:latin typeface="+mj-lt" pitchFamily="34" charset="0"/>
                <a:ea typeface="+mj-lt" pitchFamily="34" charset="-122"/>
                <a:cs typeface="+mj-lt" pitchFamily="34" charset="-120"/>
              </a:rPr>
              <a:t> = 10</a:t>
            </a:r>
            <a:endParaRPr lang="en-US" sz="1500" dirty="0"/>
          </a:p>
        </p:txBody>
      </p:sp>
      <p:sp>
        <p:nvSpPr>
          <p:cNvPr id="20" name="Text 18"/>
          <p:cNvSpPr txBox="1"/>
          <p:nvPr/>
        </p:nvSpPr>
        <p:spPr>
          <a:xfrm>
            <a:off x="9646920" y="2212848"/>
            <a:ext cx="320040" cy="365760"/>
          </a:xfrm>
          <a:prstGeom prst="rect">
            <a:avLst/>
          </a:prstGeom>
          <a:noFill/>
          <a:ln/>
        </p:spPr>
        <p:txBody>
          <a:bodyPr wrap="square" lIns="0" tIns="0" rIns="0" bIns="0" rtlCol="0" anchor="ctr"/>
          <a:lstStyle/>
          <a:p>
            <a:pPr algn="ctr" indent="0" marL="0">
              <a:buNone/>
            </a:pPr>
            <a:r>
              <a:rPr lang="en-US" sz="1600" dirty="0">
                <a:solidFill>
                  <a:schemeClr val="accent3"/>
                </a:solidFill>
              </a:rPr>
              <a:t>→</a:t>
            </a:r>
            <a:endParaRPr lang="en-US" sz="1600" dirty="0"/>
          </a:p>
        </p:txBody>
      </p:sp>
      <p:sp>
        <p:nvSpPr>
          <p:cNvPr id="21" name="Text 19"/>
          <p:cNvSpPr txBox="1"/>
          <p:nvPr/>
        </p:nvSpPr>
        <p:spPr>
          <a:xfrm>
            <a:off x="9966960" y="2212848"/>
            <a:ext cx="1493215" cy="365760"/>
          </a:xfrm>
          <a:prstGeom prst="rect">
            <a:avLst/>
          </a:prstGeom>
          <a:noFill/>
          <a:ln/>
        </p:spPr>
        <p:txBody>
          <a:bodyPr wrap="square" lIns="0" tIns="0" rIns="0" bIns="0" rtlCol="0" anchor="ctr"/>
          <a:lstStyle/>
          <a:p>
            <a:pPr indent="0" marL="0">
              <a:buNone/>
            </a:pPr>
            <a:r>
              <a:rPr lang="en-US" sz="1500" b="1" i="1" dirty="0">
                <a:solidFill>
                  <a:schemeClr val="accent5"/>
                </a:solidFill>
                <a:latin typeface="+mj-lt" pitchFamily="34" charset="0"/>
                <a:ea typeface="+mj-lt" pitchFamily="34" charset="-122"/>
                <a:cs typeface="+mj-lt" pitchFamily="34" charset="-120"/>
              </a:rPr>
              <a:t>q</a:t>
            </a:r>
            <a:r>
              <a:rPr lang="en-US" sz="1500" b="1" dirty="0">
                <a:solidFill>
                  <a:schemeClr val="accent5"/>
                </a:solidFill>
                <a:latin typeface="+mj-lt" pitchFamily="34" charset="0"/>
                <a:ea typeface="+mj-lt" pitchFamily="34" charset="-122"/>
                <a:cs typeface="+mj-lt" pitchFamily="34" charset="-120"/>
              </a:rPr>
              <a:t> = </a:t>
            </a:r>
            <a:r>
              <a:rPr lang="en-US" sz="1500" b="1" i="1" dirty="0">
                <a:solidFill>
                  <a:schemeClr val="accent5"/>
                </a:solidFill>
                <a:latin typeface="+mj-lt" pitchFamily="34" charset="0"/>
                <a:ea typeface="+mj-lt" pitchFamily="34" charset="-122"/>
                <a:cs typeface="+mj-lt" pitchFamily="34" charset="-120"/>
              </a:rPr>
              <a:t>b</a:t>
            </a:r>
            <a:r>
              <a:rPr lang="en-US" sz="1500" b="1" dirty="0">
                <a:solidFill>
                  <a:schemeClr val="accent5"/>
                </a:solidFill>
                <a:latin typeface="+mj-lt" pitchFamily="34" charset="0"/>
                <a:ea typeface="+mj-lt" pitchFamily="34" charset="-122"/>
                <a:cs typeface="+mj-lt" pitchFamily="34" charset="-120"/>
              </a:rPr>
              <a:t>/</a:t>
            </a:r>
            <a:r>
              <a:rPr lang="en-US" sz="1500" b="1" i="1" dirty="0">
                <a:solidFill>
                  <a:schemeClr val="accent5"/>
                </a:solidFill>
                <a:latin typeface="+mj-lt" pitchFamily="34" charset="0"/>
                <a:ea typeface="+mj-lt" pitchFamily="34" charset="-122"/>
                <a:cs typeface="+mj-lt" pitchFamily="34" charset="-120"/>
              </a:rPr>
              <a:t>n</a:t>
            </a:r>
            <a:r>
              <a:rPr lang="en-US" sz="1500" b="1" dirty="0">
                <a:solidFill>
                  <a:schemeClr val="accent5"/>
                </a:solidFill>
                <a:latin typeface="+mj-lt" pitchFamily="34" charset="0"/>
                <a:ea typeface="+mj-lt" pitchFamily="34" charset="-122"/>
                <a:cs typeface="+mj-lt" pitchFamily="34" charset="-120"/>
              </a:rPr>
              <a:t> = 0.05</a:t>
            </a:r>
            <a:endParaRPr lang="en-US" sz="1500" dirty="0"/>
          </a:p>
        </p:txBody>
      </p:sp>
      <p:sp>
        <p:nvSpPr>
          <p:cNvPr id="22" name="Text 20"/>
          <p:cNvSpPr txBox="1"/>
          <p:nvPr/>
        </p:nvSpPr>
        <p:spPr>
          <a:xfrm>
            <a:off x="8046720" y="2715768"/>
            <a:ext cx="1600200" cy="365760"/>
          </a:xfrm>
          <a:prstGeom prst="rect">
            <a:avLst/>
          </a:prstGeom>
          <a:noFill/>
          <a:ln/>
        </p:spPr>
        <p:txBody>
          <a:bodyPr wrap="square" lIns="0" tIns="0" rIns="0" bIns="0" rtlCol="0" anchor="ctr"/>
          <a:lstStyle/>
          <a:p>
            <a:pPr indent="0" marL="0">
              <a:buNone/>
            </a:pPr>
            <a:r>
              <a:rPr lang="en-US" sz="1500" i="1" dirty="0">
                <a:solidFill>
                  <a:schemeClr val="tx1"/>
                </a:solidFill>
                <a:latin typeface="+mj-lt" pitchFamily="34" charset="0"/>
                <a:ea typeface="+mj-lt" pitchFamily="34" charset="-122"/>
                <a:cs typeface="+mj-lt" pitchFamily="34" charset="-120"/>
              </a:rPr>
              <a:t>z</a:t>
            </a:r>
            <a:r>
              <a:rPr lang="en-US" sz="1500" dirty="0">
                <a:solidFill>
                  <a:schemeClr val="tx1"/>
                </a:solidFill>
                <a:latin typeface="+mj-lt" pitchFamily="34" charset="0"/>
                <a:ea typeface="+mj-lt" pitchFamily="34" charset="-122"/>
                <a:cs typeface="+mj-lt" pitchFamily="34" charset="-120"/>
              </a:rPr>
              <a:t> = 10, </a:t>
            </a:r>
            <a:r>
              <a:rPr lang="en-US" sz="1500" i="1" dirty="0">
                <a:solidFill>
                  <a:schemeClr val="tx1"/>
                </a:solidFill>
                <a:latin typeface="+mj-lt" pitchFamily="34" charset="0"/>
                <a:ea typeface="+mj-lt" pitchFamily="34" charset="-122"/>
                <a:cs typeface="+mj-lt" pitchFamily="34" charset="-120"/>
              </a:rPr>
              <a:t>C</a:t>
            </a:r>
            <a:r>
              <a:rPr lang="en-US" sz="1500" dirty="0">
                <a:solidFill>
                  <a:schemeClr val="tx1"/>
                </a:solidFill>
                <a:latin typeface="+mj-lt" pitchFamily="34" charset="0"/>
                <a:ea typeface="+mj-lt" pitchFamily="34" charset="-122"/>
                <a:cs typeface="+mj-lt" pitchFamily="34" charset="-120"/>
              </a:rPr>
              <a:t> = 1</a:t>
            </a:r>
            <a:endParaRPr lang="en-US" sz="1500" dirty="0"/>
          </a:p>
        </p:txBody>
      </p:sp>
      <p:sp>
        <p:nvSpPr>
          <p:cNvPr id="23" name="Text 21"/>
          <p:cNvSpPr txBox="1"/>
          <p:nvPr/>
        </p:nvSpPr>
        <p:spPr>
          <a:xfrm>
            <a:off x="9646920" y="2715768"/>
            <a:ext cx="320040" cy="365760"/>
          </a:xfrm>
          <a:prstGeom prst="rect">
            <a:avLst/>
          </a:prstGeom>
          <a:noFill/>
          <a:ln/>
        </p:spPr>
        <p:txBody>
          <a:bodyPr wrap="square" lIns="0" tIns="0" rIns="0" bIns="0" rtlCol="0" anchor="ctr"/>
          <a:lstStyle/>
          <a:p>
            <a:pPr algn="ctr" indent="0" marL="0">
              <a:buNone/>
            </a:pPr>
            <a:r>
              <a:rPr lang="en-US" sz="1600" dirty="0">
                <a:solidFill>
                  <a:schemeClr val="accent3"/>
                </a:solidFill>
              </a:rPr>
              <a:t>→</a:t>
            </a:r>
            <a:endParaRPr lang="en-US" sz="1600" dirty="0"/>
          </a:p>
        </p:txBody>
      </p:sp>
      <p:sp>
        <p:nvSpPr>
          <p:cNvPr id="24" name="Text 22"/>
          <p:cNvSpPr txBox="1"/>
          <p:nvPr/>
        </p:nvSpPr>
        <p:spPr>
          <a:xfrm>
            <a:off x="9966960" y="2715768"/>
            <a:ext cx="1493215" cy="365760"/>
          </a:xfrm>
          <a:prstGeom prst="rect">
            <a:avLst/>
          </a:prstGeom>
          <a:noFill/>
          <a:ln/>
        </p:spPr>
        <p:txBody>
          <a:bodyPr wrap="square" lIns="0" tIns="0" rIns="0" bIns="0" rtlCol="0" anchor="ctr"/>
          <a:lstStyle/>
          <a:p>
            <a:pPr indent="0" marL="0">
              <a:buNone/>
            </a:pPr>
            <a:r>
              <a:rPr lang="en-US" sz="1500" b="1" dirty="0">
                <a:solidFill>
                  <a:schemeClr val="accent5"/>
                </a:solidFill>
                <a:latin typeface="+mj-lt" pitchFamily="34" charset="0"/>
                <a:ea typeface="+mj-lt" pitchFamily="34" charset="-122"/>
                <a:cs typeface="+mj-lt" pitchFamily="34" charset="-120"/>
              </a:rPr>
              <a:t>σ = </a:t>
            </a:r>
            <a:r>
              <a:rPr lang="en-US" sz="1500" b="1" i="1" dirty="0">
                <a:solidFill>
                  <a:schemeClr val="accent5"/>
                </a:solidFill>
                <a:latin typeface="+mj-lt" pitchFamily="34" charset="0"/>
                <a:ea typeface="+mj-lt" pitchFamily="34" charset="-122"/>
                <a:cs typeface="+mj-lt" pitchFamily="34" charset="-120"/>
              </a:rPr>
              <a:t>zC</a:t>
            </a:r>
            <a:r>
              <a:rPr lang="en-US" sz="1500" b="1" dirty="0">
                <a:solidFill>
                  <a:schemeClr val="accent5"/>
                </a:solidFill>
                <a:latin typeface="+mj-lt" pitchFamily="34" charset="0"/>
                <a:ea typeface="+mj-lt" pitchFamily="34" charset="-122"/>
                <a:cs typeface="+mj-lt" pitchFamily="34" charset="-120"/>
              </a:rPr>
              <a:t>/</a:t>
            </a:r>
            <a:r>
              <a:rPr lang="en-US" sz="1500" b="1" i="1" dirty="0">
                <a:solidFill>
                  <a:schemeClr val="accent5"/>
                </a:solidFill>
                <a:latin typeface="+mj-lt" pitchFamily="34" charset="0"/>
                <a:ea typeface="+mj-lt" pitchFamily="34" charset="-122"/>
                <a:cs typeface="+mj-lt" pitchFamily="34" charset="-120"/>
              </a:rPr>
              <a:t>b</a:t>
            </a:r>
            <a:r>
              <a:rPr lang="en-US" sz="1500" b="1" dirty="0">
                <a:solidFill>
                  <a:schemeClr val="accent5"/>
                </a:solidFill>
                <a:latin typeface="+mj-lt" pitchFamily="34" charset="0"/>
                <a:ea typeface="+mj-lt" pitchFamily="34" charset="-122"/>
                <a:cs typeface="+mj-lt" pitchFamily="34" charset="-120"/>
              </a:rPr>
              <a:t> = 1.0</a:t>
            </a:r>
            <a:endParaRPr lang="en-US" sz="1500" dirty="0"/>
          </a:p>
        </p:txBody>
      </p:sp>
      <p:sp>
        <p:nvSpPr>
          <p:cNvPr id="25" name="Text 23"/>
          <p:cNvSpPr txBox="1"/>
          <p:nvPr/>
        </p:nvSpPr>
        <p:spPr>
          <a:xfrm>
            <a:off x="8046720" y="3218688"/>
            <a:ext cx="1600200" cy="365760"/>
          </a:xfrm>
          <a:prstGeom prst="rect">
            <a:avLst/>
          </a:prstGeom>
          <a:noFill/>
          <a:ln/>
        </p:spPr>
        <p:txBody>
          <a:bodyPr wrap="square" lIns="0" tIns="0" rIns="0" bIns="0" rtlCol="0" anchor="ctr"/>
          <a:lstStyle/>
          <a:p>
            <a:pPr indent="0" marL="0">
              <a:buNone/>
            </a:pPr>
            <a:r>
              <a:rPr lang="en-US" sz="1500" i="1" dirty="0">
                <a:solidFill>
                  <a:schemeClr val="tx1"/>
                </a:solidFill>
                <a:latin typeface="+mj-lt" pitchFamily="34" charset="0"/>
                <a:ea typeface="+mj-lt" pitchFamily="34" charset="-122"/>
                <a:cs typeface="+mj-lt" pitchFamily="34" charset="-120"/>
              </a:rPr>
              <a:t>K</a:t>
            </a:r>
            <a:r>
              <a:rPr lang="en-US" sz="1500" dirty="0">
                <a:solidFill>
                  <a:schemeClr val="tx1"/>
                </a:solidFill>
                <a:latin typeface="+mj-lt" pitchFamily="34" charset="0"/>
                <a:ea typeface="+mj-lt" pitchFamily="34" charset="-122"/>
                <a:cs typeface="+mj-lt" pitchFamily="34" charset="-120"/>
              </a:rPr>
              <a:t> = 6, </a:t>
            </a:r>
            <a:r>
              <a:rPr lang="en-US" sz="1500" i="1" dirty="0">
                <a:solidFill>
                  <a:schemeClr val="tx1"/>
                </a:solidFill>
                <a:latin typeface="+mj-lt" pitchFamily="34" charset="0"/>
                <a:ea typeface="+mj-lt" pitchFamily="34" charset="-122"/>
                <a:cs typeface="+mj-lt" pitchFamily="34" charset="-120"/>
              </a:rPr>
              <a:t>T</a:t>
            </a:r>
            <a:r>
              <a:rPr lang="en-US" sz="1500" dirty="0">
                <a:solidFill>
                  <a:schemeClr val="tx1"/>
                </a:solidFill>
                <a:latin typeface="+mj-lt" pitchFamily="34" charset="0"/>
                <a:ea typeface="+mj-lt" pitchFamily="34" charset="-122"/>
                <a:cs typeface="+mj-lt" pitchFamily="34" charset="-120"/>
              </a:rPr>
              <a:t> = 3</a:t>
            </a:r>
            <a:endParaRPr lang="en-US" sz="1500" dirty="0"/>
          </a:p>
        </p:txBody>
      </p:sp>
      <p:sp>
        <p:nvSpPr>
          <p:cNvPr id="26" name="Text 24"/>
          <p:cNvSpPr txBox="1"/>
          <p:nvPr/>
        </p:nvSpPr>
        <p:spPr>
          <a:xfrm>
            <a:off x="9646920" y="3218688"/>
            <a:ext cx="320040" cy="365760"/>
          </a:xfrm>
          <a:prstGeom prst="rect">
            <a:avLst/>
          </a:prstGeom>
          <a:noFill/>
          <a:ln/>
        </p:spPr>
        <p:txBody>
          <a:bodyPr wrap="square" lIns="0" tIns="0" rIns="0" bIns="0" rtlCol="0" anchor="ctr"/>
          <a:lstStyle/>
          <a:p>
            <a:pPr algn="ctr" indent="0" marL="0">
              <a:buNone/>
            </a:pPr>
            <a:r>
              <a:rPr lang="en-US" sz="1600" dirty="0">
                <a:solidFill>
                  <a:schemeClr val="accent3"/>
                </a:solidFill>
              </a:rPr>
              <a:t>→</a:t>
            </a:r>
            <a:endParaRPr lang="en-US" sz="1600" dirty="0"/>
          </a:p>
        </p:txBody>
      </p:sp>
      <p:sp>
        <p:nvSpPr>
          <p:cNvPr id="27" name="Text 25"/>
          <p:cNvSpPr txBox="1"/>
          <p:nvPr/>
        </p:nvSpPr>
        <p:spPr>
          <a:xfrm>
            <a:off x="9966960" y="3218688"/>
            <a:ext cx="1493215" cy="365760"/>
          </a:xfrm>
          <a:prstGeom prst="rect">
            <a:avLst/>
          </a:prstGeom>
          <a:noFill/>
          <a:ln/>
        </p:spPr>
        <p:txBody>
          <a:bodyPr wrap="square" lIns="0" tIns="0" rIns="0" bIns="0" rtlCol="0" anchor="ctr"/>
          <a:lstStyle/>
          <a:p>
            <a:pPr indent="0" marL="0">
              <a:buNone/>
            </a:pPr>
            <a:r>
              <a:rPr lang="en-US" sz="1500" b="1" dirty="0">
                <a:solidFill>
                  <a:schemeClr val="accent5"/>
                </a:solidFill>
                <a:latin typeface="+mj-lt" pitchFamily="34" charset="0"/>
                <a:ea typeface="+mj-lt" pitchFamily="34" charset="-122"/>
                <a:cs typeface="+mj-lt" pitchFamily="34" charset="-120"/>
              </a:rPr>
              <a:t>≤ 18 releases</a:t>
            </a:r>
            <a:endParaRPr lang="en-US" sz="1500" dirty="0"/>
          </a:p>
        </p:txBody>
      </p:sp>
      <p:sp>
        <p:nvSpPr>
          <p:cNvPr id="28" name="Text 26"/>
          <p:cNvSpPr txBox="1"/>
          <p:nvPr/>
        </p:nvSpPr>
        <p:spPr>
          <a:xfrm>
            <a:off x="8046720" y="3794760"/>
            <a:ext cx="3322015" cy="320040"/>
          </a:xfrm>
          <a:prstGeom prst="rect">
            <a:avLst/>
          </a:prstGeom>
          <a:noFill/>
          <a:ln/>
        </p:spPr>
        <p:txBody>
          <a:bodyPr wrap="square" lIns="0" tIns="0" rIns="0" bIns="0" rtlCol="0" anchor="t"/>
          <a:lstStyle/>
          <a:p>
            <a:pPr indent="0" marL="0">
              <a:buNone/>
            </a:pPr>
            <a:r>
              <a:rPr lang="en-US" sz="1400" dirty="0">
                <a:solidFill>
                  <a:schemeClr val="accent3"/>
                </a:solidFill>
              </a:rPr>
              <a:t>AutoDP Rényi-DP accountant at δ = 10</a:t>
            </a:r>
            <a:r>
              <a:rPr lang="en-US" sz="1400" baseline="30000" dirty="0">
                <a:solidFill>
                  <a:schemeClr val="accent3"/>
                </a:solidFill>
              </a:rPr>
              <a:t>−5</a:t>
            </a:r>
            <a:endParaRPr lang="en-US" sz="1400" dirty="0"/>
          </a:p>
        </p:txBody>
      </p:sp>
      <p:sp>
        <p:nvSpPr>
          <p:cNvPr id="29" name="Text 27"/>
          <p:cNvSpPr txBox="1"/>
          <p:nvPr/>
        </p:nvSpPr>
        <p:spPr>
          <a:xfrm>
            <a:off x="8046720" y="4114800"/>
            <a:ext cx="3322015" cy="777240"/>
          </a:xfrm>
          <a:prstGeom prst="rect">
            <a:avLst/>
          </a:prstGeom>
          <a:noFill/>
          <a:ln/>
        </p:spPr>
        <p:txBody>
          <a:bodyPr wrap="square" lIns="0" tIns="0" rIns="0" bIns="0" rtlCol="0" anchor="t"/>
          <a:lstStyle/>
          <a:p>
            <a:pPr indent="0" marL="0">
              <a:buNone/>
            </a:pPr>
            <a:r>
              <a:rPr lang="en-US" sz="4400" b="1" dirty="0">
                <a:solidFill>
                  <a:schemeClr val="accent5"/>
                </a:solidFill>
                <a:latin typeface="+mj-lt" pitchFamily="34" charset="0"/>
                <a:ea typeface="+mj-lt" pitchFamily="34" charset="-122"/>
                <a:cs typeface="+mj-lt" pitchFamily="34" charset="-120"/>
              </a:rPr>
              <a:t>ε = 0.705</a:t>
            </a:r>
            <a:endParaRPr lang="en-US" sz="4400" dirty="0"/>
          </a:p>
        </p:txBody>
      </p:sp>
      <p:sp>
        <p:nvSpPr>
          <p:cNvPr id="30" name="Text 28"/>
          <p:cNvSpPr txBox="1"/>
          <p:nvPr/>
        </p:nvSpPr>
        <p:spPr>
          <a:xfrm>
            <a:off x="8046720" y="4937760"/>
            <a:ext cx="3322015" cy="640080"/>
          </a:xfrm>
          <a:prstGeom prst="rect">
            <a:avLst/>
          </a:prstGeom>
          <a:noFill/>
          <a:ln/>
        </p:spPr>
        <p:txBody>
          <a:bodyPr wrap="square" lIns="0" tIns="0" rIns="0" bIns="0" rtlCol="0" anchor="t"/>
          <a:lstStyle/>
          <a:p>
            <a:pPr indent="0" marL="0">
              <a:buNone/>
            </a:pPr>
            <a:r>
              <a:rPr lang="en-US" sz="1400" dirty="0">
                <a:solidFill>
                  <a:schemeClr val="tx1"/>
                </a:solidFill>
              </a:rPr>
              <a:t>Reported conservatively as ε ≤ 1, the setting used for DP-OPT.</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EXPERIMENTAL SETUP</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Four tasks, one fixed configuration</a:t>
            </a:r>
            <a:endParaRPr lang="en-US" sz="3000" dirty="0"/>
          </a:p>
        </p:txBody>
      </p:sp>
      <p:sp>
        <p:nvSpPr>
          <p:cNvPr id="4" name="Text 2"/>
          <p:cNvSpPr txBox="1"/>
          <p:nvPr/>
        </p:nvSpPr>
        <p:spPr>
          <a:xfrm>
            <a:off x="6156655" y="329184"/>
            <a:ext cx="5486400" cy="292608"/>
          </a:xfrm>
          <a:prstGeom prst="rect">
            <a:avLst/>
          </a:prstGeom>
          <a:noFill/>
          <a:ln/>
        </p:spPr>
        <p:txBody>
          <a:bodyPr wrap="square" lIns="0" tIns="0" rIns="0" bIns="0" rtlCol="0" anchor="t"/>
          <a:lstStyle/>
          <a:p>
            <a:pPr algn="r" indent="0" marL="0">
              <a:buNone/>
            </a:pPr>
            <a:r>
              <a:rPr lang="en-US" sz="1100" dirty="0">
                <a:solidFill>
                  <a:schemeClr val="accent3"/>
                </a:solidFill>
              </a:rPr>
              <a:t>Motivation</a:t>
            </a:r>
            <a:r>
              <a:rPr lang="en-US" sz="1100" dirty="0">
                <a:solidFill>
                  <a:schemeClr val="accent3"/>
                </a:solidFill>
              </a:rPr>
              <a:t>   ·   </a:t>
            </a:r>
            <a:r>
              <a:rPr lang="en-US" sz="1100" dirty="0">
                <a:solidFill>
                  <a:schemeClr val="accent3"/>
                </a:solidFill>
              </a:rPr>
              <a:t>Diagnosis</a:t>
            </a:r>
            <a:r>
              <a:rPr lang="en-US" sz="1100" dirty="0">
                <a:solidFill>
                  <a:schemeClr val="accent3"/>
                </a:solidFill>
              </a:rPr>
              <a:t>   ·   </a:t>
            </a:r>
            <a:r>
              <a:rPr lang="en-US" sz="1100" dirty="0">
                <a:solidFill>
                  <a:schemeClr val="accent3"/>
                </a:solidFill>
              </a:rPr>
              <a:t>Method</a:t>
            </a:r>
            <a:r>
              <a:rPr lang="en-US" sz="1100" dirty="0">
                <a:solidFill>
                  <a:schemeClr val="accent3"/>
                </a:solidFill>
              </a:rPr>
              <a:t>   ·   </a:t>
            </a:r>
            <a:r>
              <a:rPr lang="en-US" sz="1100" b="1" dirty="0">
                <a:solidFill>
                  <a:schemeClr val="accent1"/>
                </a:solidFill>
              </a:rPr>
              <a:t>Results</a:t>
            </a:r>
            <a:r>
              <a:rPr lang="en-US" sz="1100" dirty="0">
                <a:solidFill>
                  <a:schemeClr val="accent3"/>
                </a:solidFill>
              </a:rPr>
              <a:t>   ·   </a:t>
            </a:r>
            <a:r>
              <a:rPr lang="en-US" sz="1100" dirty="0">
                <a:solidFill>
                  <a:schemeClr val="accent3"/>
                </a:solidFill>
              </a:rPr>
              <a:t>Scope</a:t>
            </a:r>
            <a:endParaRPr lang="en-US" sz="1100" dirty="0"/>
          </a:p>
        </p:txBody>
      </p:sp>
      <p:sp>
        <p:nvSpPr>
          <p:cNvPr id="5" name="Shape 3"/>
          <p:cNvSpPr/>
          <p:nvPr/>
        </p:nvSpPr>
        <p:spPr>
          <a:xfrm>
            <a:off x="548640" y="1600200"/>
            <a:ext cx="2567864" cy="2377440"/>
          </a:xfrm>
          <a:prstGeom prst="roundRect">
            <a:avLst>
              <a:gd name="adj" fmla="val 3077"/>
            </a:avLst>
          </a:prstGeom>
          <a:solidFill>
            <a:schemeClr val="bg2"/>
          </a:solidFill>
          <a:ln/>
        </p:spPr>
      </p:sp>
      <p:sp>
        <p:nvSpPr>
          <p:cNvPr id="6" name="Shape 4"/>
          <p:cNvSpPr/>
          <p:nvPr/>
        </p:nvSpPr>
        <p:spPr>
          <a:xfrm>
            <a:off x="822960" y="1828800"/>
            <a:ext cx="548640" cy="548640"/>
          </a:xfrm>
          <a:prstGeom prst="ellipse">
            <a:avLst/>
          </a:prstGeom>
          <a:solidFill>
            <a:srgbClr val="173A2C"/>
          </a:solidFill>
          <a:ln/>
        </p:spPr>
      </p:sp>
      <p:pic>
        <p:nvPicPr>
          <p:cNvPr id="7" name="Image 0" descr="Calculator icon">    </p:cNvPr>
          <p:cNvPicPr>
            <a:picLocks noChangeAspect="1"/>
          </p:cNvPicPr>
          <p:nvPr/>
        </p:nvPicPr>
        <p:blipFill>
          <a:blip r:embed="rId1"/>
          <a:stretch>
            <a:fillRect/>
          </a:stretch>
        </p:blipFill>
        <p:spPr>
          <a:xfrm>
            <a:off x="960120" y="1965960"/>
            <a:ext cx="274320" cy="274320"/>
          </a:xfrm>
          <a:prstGeom prst="rect">
            <a:avLst/>
          </a:prstGeom>
        </p:spPr>
      </p:pic>
      <p:sp>
        <p:nvSpPr>
          <p:cNvPr id="8" name="Text 5"/>
          <p:cNvSpPr txBox="1"/>
          <p:nvPr/>
        </p:nvSpPr>
        <p:spPr>
          <a:xfrm>
            <a:off x="1508760" y="1901952"/>
            <a:ext cx="1470584" cy="411480"/>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GSM8K</a:t>
            </a:r>
            <a:endParaRPr lang="en-US" sz="2000" dirty="0"/>
          </a:p>
        </p:txBody>
      </p:sp>
      <p:sp>
        <p:nvSpPr>
          <p:cNvPr id="9" name="Text 6"/>
          <p:cNvSpPr txBox="1"/>
          <p:nvPr/>
        </p:nvSpPr>
        <p:spPr>
          <a:xfrm>
            <a:off x="822960" y="2542032"/>
            <a:ext cx="2110664" cy="292608"/>
          </a:xfrm>
          <a:prstGeom prst="rect">
            <a:avLst/>
          </a:prstGeom>
          <a:noFill/>
          <a:ln/>
        </p:spPr>
        <p:txBody>
          <a:bodyPr wrap="square" lIns="0" tIns="0" rIns="0" bIns="0" rtlCol="0" anchor="t"/>
          <a:lstStyle/>
          <a:p>
            <a:pPr indent="0" marL="0">
              <a:buNone/>
            </a:pPr>
            <a:r>
              <a:rPr lang="en-US" sz="1400" b="1" dirty="0">
                <a:solidFill>
                  <a:schemeClr val="accent1"/>
                </a:solidFill>
              </a:rPr>
              <a:t>Multi-step math reasoning</a:t>
            </a:r>
            <a:endParaRPr lang="en-US" sz="1400" dirty="0"/>
          </a:p>
        </p:txBody>
      </p:sp>
      <p:sp>
        <p:nvSpPr>
          <p:cNvPr id="10" name="Text 7"/>
          <p:cNvSpPr txBox="1"/>
          <p:nvPr/>
        </p:nvSpPr>
        <p:spPr>
          <a:xfrm>
            <a:off x="822960" y="2852928"/>
            <a:ext cx="2110664" cy="868680"/>
          </a:xfrm>
          <a:prstGeom prst="rect">
            <a:avLst/>
          </a:prstGeom>
          <a:noFill/>
          <a:ln/>
        </p:spPr>
        <p:txBody>
          <a:bodyPr wrap="square" lIns="0" tIns="0" rIns="0" bIns="0" rtlCol="0" anchor="t"/>
          <a:lstStyle/>
          <a:p>
            <a:pPr indent="0" marL="0">
              <a:buNone/>
            </a:pPr>
            <a:r>
              <a:rPr lang="en-US" sz="1400" dirty="0">
                <a:solidFill>
                  <a:schemeClr val="tx1"/>
                </a:solidFill>
              </a:rPr>
              <a:t>200-example optimization set; full 1,319-example test set</a:t>
            </a:r>
            <a:endParaRPr lang="en-US" sz="1400" dirty="0"/>
          </a:p>
        </p:txBody>
      </p:sp>
      <p:sp>
        <p:nvSpPr>
          <p:cNvPr id="11" name="Shape 8"/>
          <p:cNvSpPr/>
          <p:nvPr/>
        </p:nvSpPr>
        <p:spPr>
          <a:xfrm>
            <a:off x="3390824" y="1600200"/>
            <a:ext cx="2567864" cy="2377440"/>
          </a:xfrm>
          <a:prstGeom prst="roundRect">
            <a:avLst>
              <a:gd name="adj" fmla="val 3077"/>
            </a:avLst>
          </a:prstGeom>
          <a:solidFill>
            <a:schemeClr val="bg2"/>
          </a:solidFill>
          <a:ln/>
        </p:spPr>
      </p:sp>
      <p:sp>
        <p:nvSpPr>
          <p:cNvPr id="12" name="Shape 9"/>
          <p:cNvSpPr/>
          <p:nvPr/>
        </p:nvSpPr>
        <p:spPr>
          <a:xfrm>
            <a:off x="3665144" y="1828800"/>
            <a:ext cx="548640" cy="548640"/>
          </a:xfrm>
          <a:prstGeom prst="ellipse">
            <a:avLst/>
          </a:prstGeom>
          <a:solidFill>
            <a:srgbClr val="173A2C"/>
          </a:solidFill>
          <a:ln/>
        </p:spPr>
      </p:sp>
      <p:pic>
        <p:nvPicPr>
          <p:cNvPr id="13" name="Image 1" descr="Stethoscope icon">    </p:cNvPr>
          <p:cNvPicPr>
            <a:picLocks noChangeAspect="1"/>
          </p:cNvPicPr>
          <p:nvPr/>
        </p:nvPicPr>
        <p:blipFill>
          <a:blip r:embed="rId2"/>
          <a:stretch>
            <a:fillRect/>
          </a:stretch>
        </p:blipFill>
        <p:spPr>
          <a:xfrm>
            <a:off x="3802304" y="1965960"/>
            <a:ext cx="274320" cy="274320"/>
          </a:xfrm>
          <a:prstGeom prst="rect">
            <a:avLst/>
          </a:prstGeom>
        </p:spPr>
      </p:pic>
      <p:sp>
        <p:nvSpPr>
          <p:cNvPr id="14" name="Text 10"/>
          <p:cNvSpPr txBox="1"/>
          <p:nvPr/>
        </p:nvSpPr>
        <p:spPr>
          <a:xfrm>
            <a:off x="4350944" y="1901952"/>
            <a:ext cx="1470584" cy="411480"/>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MedQA</a:t>
            </a:r>
            <a:endParaRPr lang="en-US" sz="2000" dirty="0"/>
          </a:p>
        </p:txBody>
      </p:sp>
      <p:sp>
        <p:nvSpPr>
          <p:cNvPr id="15" name="Text 11"/>
          <p:cNvSpPr txBox="1"/>
          <p:nvPr/>
        </p:nvSpPr>
        <p:spPr>
          <a:xfrm>
            <a:off x="3665144" y="2542032"/>
            <a:ext cx="2110664" cy="292608"/>
          </a:xfrm>
          <a:prstGeom prst="rect">
            <a:avLst/>
          </a:prstGeom>
          <a:noFill/>
          <a:ln/>
        </p:spPr>
        <p:txBody>
          <a:bodyPr wrap="square" lIns="0" tIns="0" rIns="0" bIns="0" rtlCol="0" anchor="t"/>
          <a:lstStyle/>
          <a:p>
            <a:pPr indent="0" marL="0">
              <a:buNone/>
            </a:pPr>
            <a:r>
              <a:rPr lang="en-US" sz="1400" b="1" dirty="0">
                <a:solidFill>
                  <a:schemeClr val="accent1"/>
                </a:solidFill>
              </a:rPr>
              <a:t>Medical multiple-choice QA</a:t>
            </a:r>
            <a:endParaRPr lang="en-US" sz="1400" dirty="0"/>
          </a:p>
        </p:txBody>
      </p:sp>
      <p:sp>
        <p:nvSpPr>
          <p:cNvPr id="16" name="Text 12"/>
          <p:cNvSpPr txBox="1"/>
          <p:nvPr/>
        </p:nvSpPr>
        <p:spPr>
          <a:xfrm>
            <a:off x="3665144" y="2852928"/>
            <a:ext cx="2110664" cy="868680"/>
          </a:xfrm>
          <a:prstGeom prst="rect">
            <a:avLst/>
          </a:prstGeom>
          <a:noFill/>
          <a:ln/>
        </p:spPr>
        <p:txBody>
          <a:bodyPr wrap="square" lIns="0" tIns="0" rIns="0" bIns="0" rtlCol="0" anchor="t"/>
          <a:lstStyle/>
          <a:p>
            <a:pPr indent="0" marL="0">
              <a:buNone/>
            </a:pPr>
            <a:r>
              <a:rPr lang="en-US" sz="1400" dirty="0">
                <a:solidFill>
                  <a:schemeClr val="tx1"/>
                </a:solidFill>
              </a:rPr>
              <a:t>200-question USMLE subset; near-ceiling regime</a:t>
            </a:r>
            <a:endParaRPr lang="en-US" sz="1400" dirty="0"/>
          </a:p>
        </p:txBody>
      </p:sp>
      <p:sp>
        <p:nvSpPr>
          <p:cNvPr id="17" name="Shape 13"/>
          <p:cNvSpPr/>
          <p:nvPr/>
        </p:nvSpPr>
        <p:spPr>
          <a:xfrm>
            <a:off x="6233008" y="1600200"/>
            <a:ext cx="2567864" cy="2377440"/>
          </a:xfrm>
          <a:prstGeom prst="roundRect">
            <a:avLst>
              <a:gd name="adj" fmla="val 3077"/>
            </a:avLst>
          </a:prstGeom>
          <a:solidFill>
            <a:schemeClr val="bg2"/>
          </a:solidFill>
          <a:ln/>
        </p:spPr>
      </p:sp>
      <p:sp>
        <p:nvSpPr>
          <p:cNvPr id="18" name="Shape 14"/>
          <p:cNvSpPr/>
          <p:nvPr/>
        </p:nvSpPr>
        <p:spPr>
          <a:xfrm>
            <a:off x="6507328" y="1828800"/>
            <a:ext cx="548640" cy="548640"/>
          </a:xfrm>
          <a:prstGeom prst="ellipse">
            <a:avLst/>
          </a:prstGeom>
          <a:solidFill>
            <a:srgbClr val="173A2C"/>
          </a:solidFill>
          <a:ln/>
        </p:spPr>
      </p:sp>
      <p:pic>
        <p:nvPicPr>
          <p:cNvPr id="19" name="Image 2" descr="MoneyCheckAlt icon">    </p:cNvPr>
          <p:cNvPicPr>
            <a:picLocks noChangeAspect="1"/>
          </p:cNvPicPr>
          <p:nvPr/>
        </p:nvPicPr>
        <p:blipFill>
          <a:blip r:embed="rId3"/>
          <a:stretch>
            <a:fillRect/>
          </a:stretch>
        </p:blipFill>
        <p:spPr>
          <a:xfrm>
            <a:off x="6644488" y="1965960"/>
            <a:ext cx="274320" cy="274320"/>
          </a:xfrm>
          <a:prstGeom prst="rect">
            <a:avLst/>
          </a:prstGeom>
        </p:spPr>
      </p:pic>
      <p:sp>
        <p:nvSpPr>
          <p:cNvPr id="20" name="Text 15"/>
          <p:cNvSpPr txBox="1"/>
          <p:nvPr/>
        </p:nvSpPr>
        <p:spPr>
          <a:xfrm>
            <a:off x="7193128" y="1901952"/>
            <a:ext cx="1470584" cy="411480"/>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BANKING77</a:t>
            </a:r>
            <a:endParaRPr lang="en-US" sz="2000" dirty="0"/>
          </a:p>
        </p:txBody>
      </p:sp>
      <p:sp>
        <p:nvSpPr>
          <p:cNvPr id="21" name="Text 16"/>
          <p:cNvSpPr txBox="1"/>
          <p:nvPr/>
        </p:nvSpPr>
        <p:spPr>
          <a:xfrm>
            <a:off x="6507328" y="2542032"/>
            <a:ext cx="2110664" cy="292608"/>
          </a:xfrm>
          <a:prstGeom prst="rect">
            <a:avLst/>
          </a:prstGeom>
          <a:noFill/>
          <a:ln/>
        </p:spPr>
        <p:txBody>
          <a:bodyPr wrap="square" lIns="0" tIns="0" rIns="0" bIns="0" rtlCol="0" anchor="t"/>
          <a:lstStyle/>
          <a:p>
            <a:pPr indent="0" marL="0">
              <a:buNone/>
            </a:pPr>
            <a:r>
              <a:rPr lang="en-US" sz="1400" b="1" dirty="0">
                <a:solidFill>
                  <a:schemeClr val="accent1"/>
                </a:solidFill>
              </a:rPr>
              <a:t>Intent classification</a:t>
            </a:r>
            <a:endParaRPr lang="en-US" sz="1400" dirty="0"/>
          </a:p>
        </p:txBody>
      </p:sp>
      <p:sp>
        <p:nvSpPr>
          <p:cNvPr id="22" name="Text 17"/>
          <p:cNvSpPr txBox="1"/>
          <p:nvPr/>
        </p:nvSpPr>
        <p:spPr>
          <a:xfrm>
            <a:off x="6507328" y="2852928"/>
            <a:ext cx="2110664" cy="868680"/>
          </a:xfrm>
          <a:prstGeom prst="rect">
            <a:avLst/>
          </a:prstGeom>
          <a:noFill/>
          <a:ln/>
        </p:spPr>
        <p:txBody>
          <a:bodyPr wrap="square" lIns="0" tIns="0" rIns="0" bIns="0" rtlCol="0" anchor="t"/>
          <a:lstStyle/>
          <a:p>
            <a:pPr indent="0" marL="0">
              <a:buNone/>
            </a:pPr>
            <a:r>
              <a:rPr lang="en-US" sz="1400" dirty="0">
                <a:solidFill>
                  <a:schemeClr val="tx1"/>
                </a:solidFill>
              </a:rPr>
              <a:t>77 classes, 200 examples; large label space</a:t>
            </a:r>
            <a:endParaRPr lang="en-US" sz="1400" dirty="0"/>
          </a:p>
        </p:txBody>
      </p:sp>
      <p:sp>
        <p:nvSpPr>
          <p:cNvPr id="23" name="Shape 18"/>
          <p:cNvSpPr/>
          <p:nvPr/>
        </p:nvSpPr>
        <p:spPr>
          <a:xfrm>
            <a:off x="9075191" y="1600200"/>
            <a:ext cx="2567864" cy="2377440"/>
          </a:xfrm>
          <a:prstGeom prst="roundRect">
            <a:avLst>
              <a:gd name="adj" fmla="val 3077"/>
            </a:avLst>
          </a:prstGeom>
          <a:solidFill>
            <a:schemeClr val="bg2"/>
          </a:solidFill>
          <a:ln/>
        </p:spPr>
      </p:sp>
      <p:sp>
        <p:nvSpPr>
          <p:cNvPr id="24" name="Shape 19"/>
          <p:cNvSpPr/>
          <p:nvPr/>
        </p:nvSpPr>
        <p:spPr>
          <a:xfrm>
            <a:off x="9349511" y="1828800"/>
            <a:ext cx="548640" cy="548640"/>
          </a:xfrm>
          <a:prstGeom prst="ellipse">
            <a:avLst/>
          </a:prstGeom>
          <a:solidFill>
            <a:srgbClr val="173A2C"/>
          </a:solidFill>
          <a:ln/>
        </p:spPr>
      </p:sp>
      <p:pic>
        <p:nvPicPr>
          <p:cNvPr id="25" name="Image 3" descr="Comments icon">    </p:cNvPr>
          <p:cNvPicPr>
            <a:picLocks noChangeAspect="1"/>
          </p:cNvPicPr>
          <p:nvPr/>
        </p:nvPicPr>
        <p:blipFill>
          <a:blip r:embed="rId4"/>
          <a:stretch>
            <a:fillRect/>
          </a:stretch>
        </p:blipFill>
        <p:spPr>
          <a:xfrm>
            <a:off x="9486671" y="1965960"/>
            <a:ext cx="274320" cy="274320"/>
          </a:xfrm>
          <a:prstGeom prst="rect">
            <a:avLst/>
          </a:prstGeom>
        </p:spPr>
      </p:pic>
      <p:sp>
        <p:nvSpPr>
          <p:cNvPr id="26" name="Text 20"/>
          <p:cNvSpPr txBox="1"/>
          <p:nvPr/>
        </p:nvSpPr>
        <p:spPr>
          <a:xfrm>
            <a:off x="10035311" y="1901952"/>
            <a:ext cx="1470584" cy="411480"/>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Alpaca</a:t>
            </a:r>
            <a:endParaRPr lang="en-US" sz="2000" dirty="0"/>
          </a:p>
        </p:txBody>
      </p:sp>
      <p:sp>
        <p:nvSpPr>
          <p:cNvPr id="27" name="Text 21"/>
          <p:cNvSpPr txBox="1"/>
          <p:nvPr/>
        </p:nvSpPr>
        <p:spPr>
          <a:xfrm>
            <a:off x="9349511" y="2542032"/>
            <a:ext cx="2110664" cy="292608"/>
          </a:xfrm>
          <a:prstGeom prst="rect">
            <a:avLst/>
          </a:prstGeom>
          <a:noFill/>
          <a:ln/>
        </p:spPr>
        <p:txBody>
          <a:bodyPr wrap="square" lIns="0" tIns="0" rIns="0" bIns="0" rtlCol="0" anchor="t"/>
          <a:lstStyle/>
          <a:p>
            <a:pPr indent="0" marL="0">
              <a:buNone/>
            </a:pPr>
            <a:r>
              <a:rPr lang="en-US" sz="1400" b="1" dirty="0">
                <a:solidFill>
                  <a:schemeClr val="accent1"/>
                </a:solidFill>
              </a:rPr>
              <a:t>Instruction following</a:t>
            </a:r>
            <a:endParaRPr lang="en-US" sz="1400" dirty="0"/>
          </a:p>
        </p:txBody>
      </p:sp>
      <p:sp>
        <p:nvSpPr>
          <p:cNvPr id="28" name="Text 22"/>
          <p:cNvSpPr txBox="1"/>
          <p:nvPr/>
        </p:nvSpPr>
        <p:spPr>
          <a:xfrm>
            <a:off x="9349511" y="2852928"/>
            <a:ext cx="2110664" cy="868680"/>
          </a:xfrm>
          <a:prstGeom prst="rect">
            <a:avLst/>
          </a:prstGeom>
          <a:noFill/>
          <a:ln/>
        </p:spPr>
        <p:txBody>
          <a:bodyPr wrap="square" lIns="0" tIns="0" rIns="0" bIns="0" rtlCol="0" anchor="t"/>
          <a:lstStyle/>
          <a:p>
            <a:pPr indent="0" marL="0">
              <a:buNone/>
            </a:pPr>
            <a:r>
              <a:rPr lang="en-US" sz="1400" dirty="0">
                <a:solidFill>
                  <a:schemeClr val="tx1"/>
                </a:solidFill>
              </a:rPr>
              <a:t>200 instructions; LLM-judge score (DeepSeek-Chat)</a:t>
            </a:r>
            <a:endParaRPr lang="en-US" sz="1400" dirty="0"/>
          </a:p>
        </p:txBody>
      </p:sp>
      <p:pic>
        <p:nvPicPr>
          <p:cNvPr id="29" name="Image 4" descr="Server icon">    </p:cNvPr>
          <p:cNvPicPr>
            <a:picLocks noChangeAspect="1"/>
          </p:cNvPicPr>
          <p:nvPr/>
        </p:nvPicPr>
        <p:blipFill>
          <a:blip r:embed="rId5"/>
          <a:stretch>
            <a:fillRect/>
          </a:stretch>
        </p:blipFill>
        <p:spPr>
          <a:xfrm>
            <a:off x="548640" y="4370832"/>
            <a:ext cx="329184" cy="329184"/>
          </a:xfrm>
          <a:prstGeom prst="rect">
            <a:avLst/>
          </a:prstGeom>
        </p:spPr>
      </p:pic>
      <p:sp>
        <p:nvSpPr>
          <p:cNvPr id="30" name="Text 23"/>
          <p:cNvSpPr txBox="1"/>
          <p:nvPr/>
        </p:nvSpPr>
        <p:spPr>
          <a:xfrm>
            <a:off x="1005840" y="4343400"/>
            <a:ext cx="2997098" cy="384048"/>
          </a:xfrm>
          <a:prstGeom prst="rect">
            <a:avLst/>
          </a:prstGeom>
          <a:noFill/>
          <a:ln/>
        </p:spPr>
        <p:txBody>
          <a:bodyPr wrap="square" lIns="0" tIns="0" rIns="0" bIns="0" rtlCol="0" anchor="ctr"/>
          <a:lstStyle/>
          <a:p>
            <a:pPr indent="0" marL="0">
              <a:buNone/>
            </a:pPr>
            <a:r>
              <a:rPr lang="en-US" sz="1800" b="1" dirty="0">
                <a:solidFill>
                  <a:schemeClr val="tx2"/>
                </a:solidFill>
                <a:latin typeface="+mj-lt" pitchFamily="34" charset="0"/>
                <a:ea typeface="+mj-lt" pitchFamily="34" charset="-122"/>
                <a:cs typeface="+mj-lt" pitchFamily="34" charset="-120"/>
              </a:rPr>
              <a:t>Models</a:t>
            </a:r>
            <a:endParaRPr lang="en-US" sz="1800" dirty="0"/>
          </a:p>
        </p:txBody>
      </p:sp>
      <p:sp>
        <p:nvSpPr>
          <p:cNvPr id="31" name="Text 24"/>
          <p:cNvSpPr txBox="1"/>
          <p:nvPr/>
        </p:nvSpPr>
        <p:spPr>
          <a:xfrm>
            <a:off x="548640" y="4846320"/>
            <a:ext cx="3454298" cy="1280160"/>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tx1"/>
                </a:solidFill>
              </a:rPr>
              <a:t>DeepSeek-V3.2 via API (main results)</a:t>
            </a:r>
            <a:endParaRPr lang="en-US" sz="1500" dirty="0"/>
          </a:p>
          <a:p>
            <a:pPr marL="177800" indent="-177800">
              <a:spcAft>
                <a:spcPts val="400"/>
              </a:spcAft>
              <a:buSzPct val="100000"/>
              <a:buChar char="•"/>
            </a:pPr>
            <a:r>
              <a:rPr lang="en-US" sz="1500" dirty="0">
                <a:solidFill>
                  <a:schemeClr val="tx1"/>
                </a:solidFill>
              </a:rPr>
              <a:t>Qwen2.5-7B-Instruct, local (validation)</a:t>
            </a:r>
            <a:endParaRPr lang="en-US" sz="1500" dirty="0"/>
          </a:p>
        </p:txBody>
      </p:sp>
      <p:pic>
        <p:nvPicPr>
          <p:cNvPr id="32" name="Image 5" descr="BalanceScale icon">    </p:cNvPr>
          <p:cNvPicPr>
            <a:picLocks noChangeAspect="1"/>
          </p:cNvPicPr>
          <p:nvPr/>
        </p:nvPicPr>
        <p:blipFill>
          <a:blip r:embed="rId6"/>
          <a:stretch>
            <a:fillRect/>
          </a:stretch>
        </p:blipFill>
        <p:spPr>
          <a:xfrm>
            <a:off x="4368698" y="4370832"/>
            <a:ext cx="329184" cy="329184"/>
          </a:xfrm>
          <a:prstGeom prst="rect">
            <a:avLst/>
          </a:prstGeom>
        </p:spPr>
      </p:pic>
      <p:sp>
        <p:nvSpPr>
          <p:cNvPr id="33" name="Text 25"/>
          <p:cNvSpPr txBox="1"/>
          <p:nvPr/>
        </p:nvSpPr>
        <p:spPr>
          <a:xfrm>
            <a:off x="4825898" y="4343400"/>
            <a:ext cx="2997098" cy="384048"/>
          </a:xfrm>
          <a:prstGeom prst="rect">
            <a:avLst/>
          </a:prstGeom>
          <a:noFill/>
          <a:ln/>
        </p:spPr>
        <p:txBody>
          <a:bodyPr wrap="square" lIns="0" tIns="0" rIns="0" bIns="0" rtlCol="0" anchor="ctr"/>
          <a:lstStyle/>
          <a:p>
            <a:pPr indent="0" marL="0">
              <a:buNone/>
            </a:pPr>
            <a:r>
              <a:rPr lang="en-US" sz="1800" b="1" dirty="0">
                <a:solidFill>
                  <a:schemeClr val="tx2"/>
                </a:solidFill>
                <a:latin typeface="+mj-lt" pitchFamily="34" charset="0"/>
                <a:ea typeface="+mj-lt" pitchFamily="34" charset="-122"/>
                <a:cs typeface="+mj-lt" pitchFamily="34" charset="-120"/>
              </a:rPr>
              <a:t>Baselines</a:t>
            </a:r>
            <a:endParaRPr lang="en-US" sz="1800" dirty="0"/>
          </a:p>
        </p:txBody>
      </p:sp>
      <p:sp>
        <p:nvSpPr>
          <p:cNvPr id="34" name="Text 26"/>
          <p:cNvSpPr txBox="1"/>
          <p:nvPr/>
        </p:nvSpPr>
        <p:spPr>
          <a:xfrm>
            <a:off x="4368698" y="4846320"/>
            <a:ext cx="3454298" cy="1280160"/>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tx1"/>
                </a:solidFill>
              </a:rPr>
              <a:t>DP-OPT, black-box adaptation (ε = 1)</a:t>
            </a:r>
            <a:endParaRPr lang="en-US" sz="1500" dirty="0"/>
          </a:p>
          <a:p>
            <a:pPr marL="177800" indent="-177800">
              <a:spcAft>
                <a:spcPts val="400"/>
              </a:spcAft>
              <a:buSzPct val="100000"/>
              <a:buChar char="•"/>
            </a:pPr>
            <a:r>
              <a:rPr lang="en-US" sz="1500" dirty="0">
                <a:solidFill>
                  <a:schemeClr val="tx1"/>
                </a:solidFill>
              </a:rPr>
              <a:t>Non-DP TextGrad (reference, not a bound)</a:t>
            </a:r>
            <a:endParaRPr lang="en-US" sz="1500" dirty="0"/>
          </a:p>
          <a:p>
            <a:pPr marL="177800" indent="-177800">
              <a:spcAft>
                <a:spcPts val="400"/>
              </a:spcAft>
              <a:buSzPct val="100000"/>
              <a:buChar char="•"/>
            </a:pPr>
            <a:r>
              <a:rPr lang="en-US" sz="1500" dirty="0">
                <a:solidFill>
                  <a:schemeClr val="tx1"/>
                </a:solidFill>
              </a:rPr>
              <a:t>PromptDPSGD, soft prompts (local)</a:t>
            </a:r>
            <a:endParaRPr lang="en-US" sz="1500" dirty="0"/>
          </a:p>
        </p:txBody>
      </p:sp>
      <p:pic>
        <p:nvPicPr>
          <p:cNvPr id="35" name="Image 6" descr="ClipboardList icon">    </p:cNvPr>
          <p:cNvPicPr>
            <a:picLocks noChangeAspect="1"/>
          </p:cNvPicPr>
          <p:nvPr/>
        </p:nvPicPr>
        <p:blipFill>
          <a:blip r:embed="rId7"/>
          <a:stretch>
            <a:fillRect/>
          </a:stretch>
        </p:blipFill>
        <p:spPr>
          <a:xfrm>
            <a:off x="8188757" y="4370832"/>
            <a:ext cx="329184" cy="329184"/>
          </a:xfrm>
          <a:prstGeom prst="rect">
            <a:avLst/>
          </a:prstGeom>
        </p:spPr>
      </p:pic>
      <p:sp>
        <p:nvSpPr>
          <p:cNvPr id="36" name="Text 27"/>
          <p:cNvSpPr txBox="1"/>
          <p:nvPr/>
        </p:nvSpPr>
        <p:spPr>
          <a:xfrm>
            <a:off x="8645957" y="4343400"/>
            <a:ext cx="2997098" cy="384048"/>
          </a:xfrm>
          <a:prstGeom prst="rect">
            <a:avLst/>
          </a:prstGeom>
          <a:noFill/>
          <a:ln/>
        </p:spPr>
        <p:txBody>
          <a:bodyPr wrap="square" lIns="0" tIns="0" rIns="0" bIns="0" rtlCol="0" anchor="ctr"/>
          <a:lstStyle/>
          <a:p>
            <a:pPr indent="0" marL="0">
              <a:buNone/>
            </a:pPr>
            <a:r>
              <a:rPr lang="en-US" sz="1800" b="1" dirty="0">
                <a:solidFill>
                  <a:schemeClr val="tx2"/>
                </a:solidFill>
                <a:latin typeface="+mj-lt" pitchFamily="34" charset="0"/>
                <a:ea typeface="+mj-lt" pitchFamily="34" charset="-122"/>
                <a:cs typeface="+mj-lt" pitchFamily="34" charset="-120"/>
              </a:rPr>
              <a:t>Protocol</a:t>
            </a:r>
            <a:endParaRPr lang="en-US" sz="1800" dirty="0"/>
          </a:p>
        </p:txBody>
      </p:sp>
      <p:sp>
        <p:nvSpPr>
          <p:cNvPr id="37" name="Text 28"/>
          <p:cNvSpPr txBox="1"/>
          <p:nvPr/>
        </p:nvSpPr>
        <p:spPr>
          <a:xfrm>
            <a:off x="8188757" y="4846320"/>
            <a:ext cx="3454298" cy="1280160"/>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tx1"/>
                </a:solidFill>
              </a:rPr>
              <a:t>Common ceiling ε ≤ 1, δ = 10</a:t>
            </a:r>
            <a:r>
              <a:rPr lang="en-US" sz="1500" baseline="30000" dirty="0">
                <a:solidFill>
                  <a:schemeClr val="tx1"/>
                </a:solidFill>
              </a:rPr>
              <a:t>−5</a:t>
            </a:r>
            <a:endParaRPr lang="en-US" sz="1500" dirty="0"/>
          </a:p>
          <a:p>
            <a:pPr marL="177800" indent="-177800">
              <a:spcAft>
                <a:spcPts val="400"/>
              </a:spcAft>
              <a:buSzPct val="100000"/>
              <a:buChar char="•"/>
            </a:pPr>
            <a:r>
              <a:rPr lang="en-US" sz="1500" dirty="0">
                <a:solidFill>
                  <a:schemeClr val="tx1"/>
                </a:solidFill>
              </a:rPr>
              <a:t>30 runs on GSM8K; 3 seeds elsewhere</a:t>
            </a:r>
            <a:endParaRPr lang="en-US" sz="1500" dirty="0"/>
          </a:p>
          <a:p>
            <a:pPr marL="177800" indent="-177800">
              <a:spcAft>
                <a:spcPts val="400"/>
              </a:spcAft>
              <a:buSzPct val="100000"/>
              <a:buChar char="•"/>
            </a:pPr>
            <a:r>
              <a:rPr lang="en-US" sz="1500" dirty="0">
                <a:solidFill>
                  <a:schemeClr val="tx1"/>
                </a:solidFill>
              </a:rPr>
              <a:t>Same initial prompt for all methods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MAIN RESULTS</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Largest gains where prompt structure matters</a:t>
            </a:r>
            <a:endParaRPr lang="en-US" sz="3000" dirty="0"/>
          </a:p>
        </p:txBody>
      </p:sp>
      <p:sp>
        <p:nvSpPr>
          <p:cNvPr id="4" name="Text 2"/>
          <p:cNvSpPr txBox="1"/>
          <p:nvPr/>
        </p:nvSpPr>
        <p:spPr>
          <a:xfrm>
            <a:off x="6156655" y="329184"/>
            <a:ext cx="5486400" cy="292608"/>
          </a:xfrm>
          <a:prstGeom prst="rect">
            <a:avLst/>
          </a:prstGeom>
          <a:noFill/>
          <a:ln/>
        </p:spPr>
        <p:txBody>
          <a:bodyPr wrap="square" lIns="0" tIns="0" rIns="0" bIns="0" rtlCol="0" anchor="t"/>
          <a:lstStyle/>
          <a:p>
            <a:pPr algn="r" indent="0" marL="0">
              <a:buNone/>
            </a:pPr>
            <a:r>
              <a:rPr lang="en-US" sz="1100" dirty="0">
                <a:solidFill>
                  <a:schemeClr val="accent3"/>
                </a:solidFill>
              </a:rPr>
              <a:t>Motivation</a:t>
            </a:r>
            <a:r>
              <a:rPr lang="en-US" sz="1100" dirty="0">
                <a:solidFill>
                  <a:schemeClr val="accent3"/>
                </a:solidFill>
              </a:rPr>
              <a:t>   ·   </a:t>
            </a:r>
            <a:r>
              <a:rPr lang="en-US" sz="1100" dirty="0">
                <a:solidFill>
                  <a:schemeClr val="accent3"/>
                </a:solidFill>
              </a:rPr>
              <a:t>Diagnosis</a:t>
            </a:r>
            <a:r>
              <a:rPr lang="en-US" sz="1100" dirty="0">
                <a:solidFill>
                  <a:schemeClr val="accent3"/>
                </a:solidFill>
              </a:rPr>
              <a:t>   ·   </a:t>
            </a:r>
            <a:r>
              <a:rPr lang="en-US" sz="1100" dirty="0">
                <a:solidFill>
                  <a:schemeClr val="accent3"/>
                </a:solidFill>
              </a:rPr>
              <a:t>Method</a:t>
            </a:r>
            <a:r>
              <a:rPr lang="en-US" sz="1100" dirty="0">
                <a:solidFill>
                  <a:schemeClr val="accent3"/>
                </a:solidFill>
              </a:rPr>
              <a:t>   ·   </a:t>
            </a:r>
            <a:r>
              <a:rPr lang="en-US" sz="1100" b="1" dirty="0">
                <a:solidFill>
                  <a:schemeClr val="accent1"/>
                </a:solidFill>
              </a:rPr>
              <a:t>Results</a:t>
            </a:r>
            <a:r>
              <a:rPr lang="en-US" sz="1100" dirty="0">
                <a:solidFill>
                  <a:schemeClr val="accent3"/>
                </a:solidFill>
              </a:rPr>
              <a:t>   ·   </a:t>
            </a:r>
            <a:r>
              <a:rPr lang="en-US" sz="1100" dirty="0">
                <a:solidFill>
                  <a:schemeClr val="accent3"/>
                </a:solidFill>
              </a:rPr>
              <a:t>Scope</a:t>
            </a:r>
            <a:endParaRPr lang="en-US" sz="1100" dirty="0"/>
          </a:p>
        </p:txBody>
      </p:sp>
      <p:graphicFrame>
        <p:nvGraphicFramePr>
          <p:cNvPr id="5" name="Chart 0" descr=""/>
          <p:cNvGraphicFramePr/>
          <p:nvPr/>
        </p:nvGraphicFramePr>
        <p:xfrm>
          <a:off x="548640" y="1508760"/>
          <a:ext cx="722376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5760720"/>
            <a:ext cx="7223760" cy="320040"/>
          </a:xfrm>
          <a:prstGeom prst="rect">
            <a:avLst/>
          </a:prstGeom>
          <a:noFill/>
          <a:ln/>
        </p:spPr>
        <p:txBody>
          <a:bodyPr wrap="square" lIns="0" tIns="0" rIns="0" bIns="0" rtlCol="0" anchor="t"/>
          <a:lstStyle/>
          <a:p>
            <a:pPr indent="0" marL="0">
              <a:buNone/>
            </a:pPr>
            <a:r>
              <a:rPr lang="en-US" sz="1100" i="1" dirty="0">
                <a:solidFill>
                  <a:schemeClr val="accent3"/>
                </a:solidFill>
              </a:rPr>
              <a:t>Mean over 30 runs (GSM8K) or 3 seeds; δ = 10</a:t>
            </a:r>
            <a:r>
              <a:rPr lang="en-US" sz="1100" i="1" baseline="30000" dirty="0">
                <a:solidFill>
                  <a:schemeClr val="accent3"/>
                </a:solidFill>
              </a:rPr>
              <a:t>−5</a:t>
            </a:r>
            <a:r>
              <a:rPr lang="en-US" sz="1100" i="1" dirty="0">
                <a:solidFill>
                  <a:schemeClr val="accent3"/>
                </a:solidFill>
              </a:rPr>
              <a:t>. †LLM-judge score scaled to %.</a:t>
            </a:r>
            <a:endParaRPr lang="en-US" sz="1100" dirty="0"/>
          </a:p>
        </p:txBody>
      </p:sp>
      <p:sp>
        <p:nvSpPr>
          <p:cNvPr id="7" name="Shape 4"/>
          <p:cNvSpPr/>
          <p:nvPr/>
        </p:nvSpPr>
        <p:spPr>
          <a:xfrm>
            <a:off x="8183880" y="1600200"/>
            <a:ext cx="3459175" cy="4343400"/>
          </a:xfrm>
          <a:prstGeom prst="roundRect">
            <a:avLst>
              <a:gd name="adj" fmla="val 2115"/>
            </a:avLst>
          </a:prstGeom>
          <a:solidFill>
            <a:schemeClr val="bg2"/>
          </a:solidFill>
          <a:ln/>
        </p:spPr>
      </p:sp>
      <p:sp>
        <p:nvSpPr>
          <p:cNvPr id="8" name="Text 5"/>
          <p:cNvSpPr txBox="1"/>
          <p:nvPr/>
        </p:nvSpPr>
        <p:spPr>
          <a:xfrm>
            <a:off x="8503920" y="1810512"/>
            <a:ext cx="2819095" cy="320040"/>
          </a:xfrm>
          <a:prstGeom prst="rect">
            <a:avLst/>
          </a:prstGeom>
          <a:noFill/>
          <a:ln/>
        </p:spPr>
        <p:txBody>
          <a:bodyPr wrap="square" lIns="0" tIns="0" rIns="0" bIns="0" rtlCol="0" anchor="t"/>
          <a:lstStyle/>
          <a:p>
            <a:pPr indent="0" marL="0">
              <a:buNone/>
            </a:pPr>
            <a:r>
              <a:rPr lang="en-US" sz="1300" b="1" dirty="0">
                <a:solidFill>
                  <a:schemeClr val="tx2"/>
                </a:solidFill>
              </a:rPr>
              <a:t>DP-ES − DP-OPT (pp)</a:t>
            </a:r>
            <a:endParaRPr lang="en-US" sz="1300" dirty="0"/>
          </a:p>
        </p:txBody>
      </p:sp>
      <p:sp>
        <p:nvSpPr>
          <p:cNvPr id="9" name="Text 6"/>
          <p:cNvSpPr txBox="1"/>
          <p:nvPr/>
        </p:nvSpPr>
        <p:spPr>
          <a:xfrm>
            <a:off x="8503920" y="2240280"/>
            <a:ext cx="1645920" cy="457200"/>
          </a:xfrm>
          <a:prstGeom prst="rect">
            <a:avLst/>
          </a:prstGeom>
          <a:noFill/>
          <a:ln/>
        </p:spPr>
        <p:txBody>
          <a:bodyPr wrap="square" lIns="0" tIns="0" rIns="0" bIns="0" rtlCol="0" anchor="ctr"/>
          <a:lstStyle/>
          <a:p>
            <a:pPr indent="0" marL="0">
              <a:buNone/>
            </a:pPr>
            <a:r>
              <a:rPr lang="en-US" sz="1600" dirty="0">
                <a:solidFill>
                  <a:schemeClr val="tx1"/>
                </a:solidFill>
              </a:rPr>
              <a:t>GSM8K</a:t>
            </a:r>
            <a:endParaRPr lang="en-US" sz="1600" dirty="0"/>
          </a:p>
        </p:txBody>
      </p:sp>
      <p:sp>
        <p:nvSpPr>
          <p:cNvPr id="10" name="Text 7"/>
          <p:cNvSpPr txBox="1"/>
          <p:nvPr/>
        </p:nvSpPr>
        <p:spPr>
          <a:xfrm>
            <a:off x="10012680" y="2240280"/>
            <a:ext cx="1310335" cy="457200"/>
          </a:xfrm>
          <a:prstGeom prst="rect">
            <a:avLst/>
          </a:prstGeom>
          <a:noFill/>
          <a:ln/>
        </p:spPr>
        <p:txBody>
          <a:bodyPr wrap="square" lIns="0" tIns="0" rIns="0" bIns="0" rtlCol="0" anchor="ctr"/>
          <a:lstStyle/>
          <a:p>
            <a:pPr algn="r" indent="0" marL="0">
              <a:buNone/>
            </a:pPr>
            <a:r>
              <a:rPr lang="en-US" sz="2600" b="1" dirty="0">
                <a:solidFill>
                  <a:schemeClr val="accent1"/>
                </a:solidFill>
                <a:latin typeface="+mj-lt" pitchFamily="34" charset="0"/>
                <a:ea typeface="+mj-lt" pitchFamily="34" charset="-122"/>
                <a:cs typeface="+mj-lt" pitchFamily="34" charset="-120"/>
              </a:rPr>
              <a:t>+38.6</a:t>
            </a:r>
            <a:endParaRPr lang="en-US" sz="2600" dirty="0"/>
          </a:p>
        </p:txBody>
      </p:sp>
      <p:sp>
        <p:nvSpPr>
          <p:cNvPr id="11" name="Text 8"/>
          <p:cNvSpPr txBox="1"/>
          <p:nvPr/>
        </p:nvSpPr>
        <p:spPr>
          <a:xfrm>
            <a:off x="8503920" y="2807208"/>
            <a:ext cx="1645920" cy="457200"/>
          </a:xfrm>
          <a:prstGeom prst="rect">
            <a:avLst/>
          </a:prstGeom>
          <a:noFill/>
          <a:ln/>
        </p:spPr>
        <p:txBody>
          <a:bodyPr wrap="square" lIns="0" tIns="0" rIns="0" bIns="0" rtlCol="0" anchor="ctr"/>
          <a:lstStyle/>
          <a:p>
            <a:pPr indent="0" marL="0">
              <a:buNone/>
            </a:pPr>
            <a:r>
              <a:rPr lang="en-US" sz="1600" dirty="0">
                <a:solidFill>
                  <a:schemeClr val="tx1"/>
                </a:solidFill>
              </a:rPr>
              <a:t>MedQA</a:t>
            </a:r>
            <a:endParaRPr lang="en-US" sz="1600" dirty="0"/>
          </a:p>
        </p:txBody>
      </p:sp>
      <p:sp>
        <p:nvSpPr>
          <p:cNvPr id="12" name="Text 9"/>
          <p:cNvSpPr txBox="1"/>
          <p:nvPr/>
        </p:nvSpPr>
        <p:spPr>
          <a:xfrm>
            <a:off x="10012680" y="2807208"/>
            <a:ext cx="1310335" cy="457200"/>
          </a:xfrm>
          <a:prstGeom prst="rect">
            <a:avLst/>
          </a:prstGeom>
          <a:noFill/>
          <a:ln/>
        </p:spPr>
        <p:txBody>
          <a:bodyPr wrap="square" lIns="0" tIns="0" rIns="0" bIns="0" rtlCol="0" anchor="ctr"/>
          <a:lstStyle/>
          <a:p>
            <a:pPr algn="r" indent="0" marL="0">
              <a:buNone/>
            </a:pPr>
            <a:r>
              <a:rPr lang="en-US" sz="2600" b="1" dirty="0">
                <a:solidFill>
                  <a:schemeClr val="accent1"/>
                </a:solidFill>
                <a:latin typeface="+mj-lt" pitchFamily="34" charset="0"/>
                <a:ea typeface="+mj-lt" pitchFamily="34" charset="-122"/>
                <a:cs typeface="+mj-lt" pitchFamily="34" charset="-120"/>
              </a:rPr>
              <a:t>+6.2</a:t>
            </a:r>
            <a:endParaRPr lang="en-US" sz="2600" dirty="0"/>
          </a:p>
        </p:txBody>
      </p:sp>
      <p:sp>
        <p:nvSpPr>
          <p:cNvPr id="13" name="Text 10"/>
          <p:cNvSpPr txBox="1"/>
          <p:nvPr/>
        </p:nvSpPr>
        <p:spPr>
          <a:xfrm>
            <a:off x="8503920" y="3374136"/>
            <a:ext cx="1645920" cy="457200"/>
          </a:xfrm>
          <a:prstGeom prst="rect">
            <a:avLst/>
          </a:prstGeom>
          <a:noFill/>
          <a:ln/>
        </p:spPr>
        <p:txBody>
          <a:bodyPr wrap="square" lIns="0" tIns="0" rIns="0" bIns="0" rtlCol="0" anchor="ctr"/>
          <a:lstStyle/>
          <a:p>
            <a:pPr indent="0" marL="0">
              <a:buNone/>
            </a:pPr>
            <a:r>
              <a:rPr lang="en-US" sz="1600" dirty="0">
                <a:solidFill>
                  <a:schemeClr val="tx1"/>
                </a:solidFill>
              </a:rPr>
              <a:t>BANKING77</a:t>
            </a:r>
            <a:endParaRPr lang="en-US" sz="1600" dirty="0"/>
          </a:p>
        </p:txBody>
      </p:sp>
      <p:sp>
        <p:nvSpPr>
          <p:cNvPr id="14" name="Text 11"/>
          <p:cNvSpPr txBox="1"/>
          <p:nvPr/>
        </p:nvSpPr>
        <p:spPr>
          <a:xfrm>
            <a:off x="10012680" y="3374136"/>
            <a:ext cx="1310335" cy="457200"/>
          </a:xfrm>
          <a:prstGeom prst="rect">
            <a:avLst/>
          </a:prstGeom>
          <a:noFill/>
          <a:ln/>
        </p:spPr>
        <p:txBody>
          <a:bodyPr wrap="square" lIns="0" tIns="0" rIns="0" bIns="0" rtlCol="0" anchor="ctr"/>
          <a:lstStyle/>
          <a:p>
            <a:pPr algn="r" indent="0" marL="0">
              <a:buNone/>
            </a:pPr>
            <a:r>
              <a:rPr lang="en-US" sz="2600" b="1" dirty="0">
                <a:solidFill>
                  <a:schemeClr val="accent3"/>
                </a:solidFill>
                <a:latin typeface="+mj-lt" pitchFamily="34" charset="0"/>
                <a:ea typeface="+mj-lt" pitchFamily="34" charset="-122"/>
                <a:cs typeface="+mj-lt" pitchFamily="34" charset="-120"/>
              </a:rPr>
              <a:t>−1.8</a:t>
            </a:r>
            <a:endParaRPr lang="en-US" sz="2600" dirty="0"/>
          </a:p>
        </p:txBody>
      </p:sp>
      <p:sp>
        <p:nvSpPr>
          <p:cNvPr id="15" name="Text 12"/>
          <p:cNvSpPr txBox="1"/>
          <p:nvPr/>
        </p:nvSpPr>
        <p:spPr>
          <a:xfrm>
            <a:off x="8503920" y="3941064"/>
            <a:ext cx="1645920" cy="457200"/>
          </a:xfrm>
          <a:prstGeom prst="rect">
            <a:avLst/>
          </a:prstGeom>
          <a:noFill/>
          <a:ln/>
        </p:spPr>
        <p:txBody>
          <a:bodyPr wrap="square" lIns="0" tIns="0" rIns="0" bIns="0" rtlCol="0" anchor="ctr"/>
          <a:lstStyle/>
          <a:p>
            <a:pPr indent="0" marL="0">
              <a:buNone/>
            </a:pPr>
            <a:r>
              <a:rPr lang="en-US" sz="1600" dirty="0">
                <a:solidFill>
                  <a:schemeClr val="tx1"/>
                </a:solidFill>
              </a:rPr>
              <a:t>Alpaca</a:t>
            </a:r>
            <a:endParaRPr lang="en-US" sz="1600" dirty="0"/>
          </a:p>
        </p:txBody>
      </p:sp>
      <p:sp>
        <p:nvSpPr>
          <p:cNvPr id="16" name="Text 13"/>
          <p:cNvSpPr txBox="1"/>
          <p:nvPr/>
        </p:nvSpPr>
        <p:spPr>
          <a:xfrm>
            <a:off x="10012680" y="3941064"/>
            <a:ext cx="1310335" cy="457200"/>
          </a:xfrm>
          <a:prstGeom prst="rect">
            <a:avLst/>
          </a:prstGeom>
          <a:noFill/>
          <a:ln/>
        </p:spPr>
        <p:txBody>
          <a:bodyPr wrap="square" lIns="0" tIns="0" rIns="0" bIns="0" rtlCol="0" anchor="ctr"/>
          <a:lstStyle/>
          <a:p>
            <a:pPr algn="r" indent="0" marL="0">
              <a:buNone/>
            </a:pPr>
            <a:r>
              <a:rPr lang="en-US" sz="2600" b="1" dirty="0">
                <a:solidFill>
                  <a:schemeClr val="accent3"/>
                </a:solidFill>
                <a:latin typeface="+mj-lt" pitchFamily="34" charset="0"/>
                <a:ea typeface="+mj-lt" pitchFamily="34" charset="-122"/>
                <a:cs typeface="+mj-lt" pitchFamily="34" charset="-120"/>
              </a:rPr>
              <a:t>−0.3</a:t>
            </a:r>
            <a:endParaRPr lang="en-US" sz="2600" dirty="0"/>
          </a:p>
        </p:txBody>
      </p:sp>
      <p:sp>
        <p:nvSpPr>
          <p:cNvPr id="17" name="Text 14"/>
          <p:cNvSpPr txBox="1"/>
          <p:nvPr/>
        </p:nvSpPr>
        <p:spPr>
          <a:xfrm>
            <a:off x="8503920" y="4617720"/>
            <a:ext cx="2819095" cy="1188720"/>
          </a:xfrm>
          <a:prstGeom prst="rect">
            <a:avLst/>
          </a:prstGeom>
          <a:noFill/>
          <a:ln/>
        </p:spPr>
        <p:txBody>
          <a:bodyPr wrap="square" lIns="0" tIns="0" rIns="0" bIns="0" rtlCol="0" anchor="t"/>
          <a:lstStyle/>
          <a:p>
            <a:pPr indent="0" marL="0">
              <a:buNone/>
            </a:pPr>
            <a:r>
              <a:rPr lang="en-US" sz="1400" dirty="0">
                <a:solidFill>
                  <a:schemeClr val="tx1"/>
                </a:solidFill>
              </a:rPr>
              <a:t>Large gains on reasoning-heavy tasks; parity on well-structured classification and instruction following. MedQA is near ceiling.</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ANALYSIS</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Populations retain alternatives under noise</a:t>
            </a:r>
            <a:endParaRPr lang="en-US" sz="3000" dirty="0"/>
          </a:p>
        </p:txBody>
      </p:sp>
      <p:sp>
        <p:nvSpPr>
          <p:cNvPr id="4" name="Text 2"/>
          <p:cNvSpPr txBox="1"/>
          <p:nvPr/>
        </p:nvSpPr>
        <p:spPr>
          <a:xfrm>
            <a:off x="6156655" y="329184"/>
            <a:ext cx="5486400" cy="292608"/>
          </a:xfrm>
          <a:prstGeom prst="rect">
            <a:avLst/>
          </a:prstGeom>
          <a:noFill/>
          <a:ln/>
        </p:spPr>
        <p:txBody>
          <a:bodyPr wrap="square" lIns="0" tIns="0" rIns="0" bIns="0" rtlCol="0" anchor="t"/>
          <a:lstStyle/>
          <a:p>
            <a:pPr algn="r" indent="0" marL="0">
              <a:buNone/>
            </a:pPr>
            <a:r>
              <a:rPr lang="en-US" sz="1100" dirty="0">
                <a:solidFill>
                  <a:schemeClr val="accent3"/>
                </a:solidFill>
              </a:rPr>
              <a:t>Motivation</a:t>
            </a:r>
            <a:r>
              <a:rPr lang="en-US" sz="1100" dirty="0">
                <a:solidFill>
                  <a:schemeClr val="accent3"/>
                </a:solidFill>
              </a:rPr>
              <a:t>   ·   </a:t>
            </a:r>
            <a:r>
              <a:rPr lang="en-US" sz="1100" dirty="0">
                <a:solidFill>
                  <a:schemeClr val="accent3"/>
                </a:solidFill>
              </a:rPr>
              <a:t>Diagnosis</a:t>
            </a:r>
            <a:r>
              <a:rPr lang="en-US" sz="1100" dirty="0">
                <a:solidFill>
                  <a:schemeClr val="accent3"/>
                </a:solidFill>
              </a:rPr>
              <a:t>   ·   </a:t>
            </a:r>
            <a:r>
              <a:rPr lang="en-US" sz="1100" dirty="0">
                <a:solidFill>
                  <a:schemeClr val="accent3"/>
                </a:solidFill>
              </a:rPr>
              <a:t>Method</a:t>
            </a:r>
            <a:r>
              <a:rPr lang="en-US" sz="1100" dirty="0">
                <a:solidFill>
                  <a:schemeClr val="accent3"/>
                </a:solidFill>
              </a:rPr>
              <a:t>   ·   </a:t>
            </a:r>
            <a:r>
              <a:rPr lang="en-US" sz="1100" b="1" dirty="0">
                <a:solidFill>
                  <a:schemeClr val="accent1"/>
                </a:solidFill>
              </a:rPr>
              <a:t>Results</a:t>
            </a:r>
            <a:r>
              <a:rPr lang="en-US" sz="1100" dirty="0">
                <a:solidFill>
                  <a:schemeClr val="accent3"/>
                </a:solidFill>
              </a:rPr>
              <a:t>   ·   </a:t>
            </a:r>
            <a:r>
              <a:rPr lang="en-US" sz="1100" dirty="0">
                <a:solidFill>
                  <a:schemeClr val="accent3"/>
                </a:solidFill>
              </a:rPr>
              <a:t>Scope</a:t>
            </a:r>
            <a:endParaRPr lang="en-US" sz="1100" dirty="0"/>
          </a:p>
        </p:txBody>
      </p:sp>
      <p:pic>
        <p:nvPicPr>
          <p:cNvPr id="5" name="Image 0" descr="Line plot: mean pairwise cosine distance between prompt embeddings falls from about 0.15 at iteration 1 to about 0.03 by iteration 4; mean 0.096.">    </p:cNvPr>
          <p:cNvPicPr>
            <a:picLocks noChangeAspect="1"/>
          </p:cNvPicPr>
          <p:nvPr/>
        </p:nvPicPr>
        <p:blipFill>
          <a:blip r:embed="rId1"/>
          <a:stretch>
            <a:fillRect/>
          </a:stretch>
        </p:blipFill>
        <p:spPr>
          <a:xfrm>
            <a:off x="548640" y="1600200"/>
            <a:ext cx="6309360" cy="3901595"/>
          </a:xfrm>
          <a:prstGeom prst="rect">
            <a:avLst/>
          </a:prstGeom>
        </p:spPr>
      </p:pic>
      <p:sp>
        <p:nvSpPr>
          <p:cNvPr id="6" name="Text 3"/>
          <p:cNvSpPr txBox="1"/>
          <p:nvPr/>
        </p:nvSpPr>
        <p:spPr>
          <a:xfrm>
            <a:off x="548640" y="5596128"/>
            <a:ext cx="6309360" cy="457200"/>
          </a:xfrm>
          <a:prstGeom prst="rect">
            <a:avLst/>
          </a:prstGeom>
          <a:noFill/>
          <a:ln/>
        </p:spPr>
        <p:txBody>
          <a:bodyPr wrap="square" lIns="0" tIns="0" rIns="0" bIns="0" rtlCol="0" anchor="t"/>
          <a:lstStyle/>
          <a:p>
            <a:pPr indent="0" marL="0">
              <a:buNone/>
            </a:pPr>
            <a:r>
              <a:rPr lang="en-US" sz="1200" i="1" dirty="0">
                <a:solidFill>
                  <a:schemeClr val="accent3"/>
                </a:solidFill>
              </a:rPr>
              <a:t>Population diversity: mean pairwise cosine distance of prompt embeddings (all-mpnet-base-v2) across iterations.</a:t>
            </a:r>
            <a:endParaRPr lang="en-US" sz="1200" dirty="0"/>
          </a:p>
        </p:txBody>
      </p:sp>
      <p:sp>
        <p:nvSpPr>
          <p:cNvPr id="7" name="Shape 4"/>
          <p:cNvSpPr/>
          <p:nvPr/>
        </p:nvSpPr>
        <p:spPr>
          <a:xfrm>
            <a:off x="7269480" y="1600200"/>
            <a:ext cx="4373575" cy="1828800"/>
          </a:xfrm>
          <a:prstGeom prst="roundRect">
            <a:avLst>
              <a:gd name="adj" fmla="val 4000"/>
            </a:avLst>
          </a:prstGeom>
          <a:solidFill>
            <a:schemeClr val="accent1">
              <a:alpha val="8000"/>
            </a:schemeClr>
          </a:solidFill>
          <a:ln/>
        </p:spPr>
      </p:sp>
      <p:sp>
        <p:nvSpPr>
          <p:cNvPr id="8" name="Text 5"/>
          <p:cNvSpPr txBox="1"/>
          <p:nvPr/>
        </p:nvSpPr>
        <p:spPr>
          <a:xfrm>
            <a:off x="7543800" y="1755648"/>
            <a:ext cx="2179015" cy="292608"/>
          </a:xfrm>
          <a:prstGeom prst="rect">
            <a:avLst/>
          </a:prstGeom>
          <a:noFill/>
          <a:ln/>
        </p:spPr>
        <p:txBody>
          <a:bodyPr wrap="square" lIns="0" tIns="0" rIns="0" bIns="0" rtlCol="0" anchor="t"/>
          <a:lstStyle/>
          <a:p>
            <a:pPr indent="0" marL="0">
              <a:buNone/>
            </a:pPr>
            <a:r>
              <a:rPr lang="en-US" sz="1300" b="1" dirty="0">
                <a:solidFill>
                  <a:schemeClr val="tx2"/>
                </a:solidFill>
              </a:rPr>
              <a:t>Final DP-ES prompt (GSM8K)</a:t>
            </a:r>
            <a:endParaRPr lang="en-US" sz="1300" dirty="0"/>
          </a:p>
        </p:txBody>
      </p:sp>
      <p:sp>
        <p:nvSpPr>
          <p:cNvPr id="9" name="Text 6"/>
          <p:cNvSpPr txBox="1"/>
          <p:nvPr/>
        </p:nvSpPr>
        <p:spPr>
          <a:xfrm>
            <a:off x="9814255" y="1737360"/>
            <a:ext cx="1600200" cy="292608"/>
          </a:xfrm>
          <a:prstGeom prst="roundRect">
            <a:avLst>
              <a:gd name="adj" fmla="val 43750"/>
            </a:avLst>
          </a:prstGeom>
          <a:solidFill>
            <a:schemeClr val="accent1"/>
          </a:solidFill>
          <a:ln/>
        </p:spPr>
        <p:txBody>
          <a:bodyPr wrap="square" lIns="0" tIns="0" rIns="0" bIns="0" rtlCol="0" anchor="ctr"/>
          <a:lstStyle/>
          <a:p>
            <a:pPr algn="ctr" indent="0" marL="0">
              <a:buNone/>
            </a:pPr>
            <a:r>
              <a:rPr lang="en-US" sz="1200" b="1" dirty="0">
                <a:solidFill>
                  <a:schemeClr val="bg1"/>
                </a:solidFill>
              </a:rPr>
              <a:t>{question} kept</a:t>
            </a:r>
            <a:endParaRPr lang="en-US" sz="1200" dirty="0"/>
          </a:p>
        </p:txBody>
      </p:sp>
      <p:sp>
        <p:nvSpPr>
          <p:cNvPr id="10" name="Text 7"/>
          <p:cNvSpPr txBox="1"/>
          <p:nvPr/>
        </p:nvSpPr>
        <p:spPr>
          <a:xfrm>
            <a:off x="7543800" y="2176272"/>
            <a:ext cx="3824935" cy="1463040"/>
          </a:xfrm>
          <a:prstGeom prst="rect">
            <a:avLst/>
          </a:prstGeom>
          <a:noFill/>
          <a:ln/>
        </p:spPr>
        <p:txBody>
          <a:bodyPr wrap="square" lIns="0" tIns="0" rIns="0" bIns="0" rtlCol="0" anchor="t"/>
          <a:lstStyle/>
          <a:p>
            <a:pPr indent="0" marL="0">
              <a:buNone/>
            </a:pPr>
            <a:r>
              <a:rPr lang="en-US" sz="1500" i="1" dirty="0">
                <a:solidFill>
                  <a:schemeClr val="tx1"/>
                </a:solidFill>
              </a:rPr>
              <a:t>You are a math tutor. Solve the question carefully and show reasoning: </a:t>
            </a:r>
            <a:r>
              <a:rPr lang="en-US" sz="1500" b="1" i="1" dirty="0">
                <a:solidFill>
                  <a:schemeClr val="accent1"/>
                </a:solidFill>
              </a:rPr>
              <a:t>{question}</a:t>
            </a:r>
            <a:r>
              <a:rPr lang="en-US" sz="1500" i="1" dirty="0">
                <a:solidFill>
                  <a:schemeClr val="tx1"/>
                </a:solidFill>
              </a:rPr>
              <a:t>  (Provide detailed reasoning and justification.)  (Be concise and accurate.)</a:t>
            </a:r>
            <a:endParaRPr lang="en-US" sz="1500" dirty="0"/>
          </a:p>
        </p:txBody>
      </p:sp>
      <p:sp>
        <p:nvSpPr>
          <p:cNvPr id="11" name="Shape 8"/>
          <p:cNvSpPr/>
          <p:nvPr/>
        </p:nvSpPr>
        <p:spPr>
          <a:xfrm>
            <a:off x="7269480" y="3794760"/>
            <a:ext cx="457200" cy="457200"/>
          </a:xfrm>
          <a:prstGeom prst="ellipse">
            <a:avLst/>
          </a:prstGeom>
          <a:solidFill>
            <a:srgbClr val="2E6B4F"/>
          </a:solidFill>
          <a:ln/>
        </p:spPr>
      </p:sp>
      <p:pic>
        <p:nvPicPr>
          <p:cNvPr id="12" name="Image 1" descr="LayerGroup icon">    </p:cNvPr>
          <p:cNvPicPr>
            <a:picLocks noChangeAspect="1"/>
          </p:cNvPicPr>
          <p:nvPr/>
        </p:nvPicPr>
        <p:blipFill>
          <a:blip r:embed="rId2"/>
          <a:stretch>
            <a:fillRect/>
          </a:stretch>
        </p:blipFill>
        <p:spPr>
          <a:xfrm>
            <a:off x="7383780" y="3909060"/>
            <a:ext cx="228600" cy="228600"/>
          </a:xfrm>
          <a:prstGeom prst="rect">
            <a:avLst/>
          </a:prstGeom>
        </p:spPr>
      </p:pic>
      <p:sp>
        <p:nvSpPr>
          <p:cNvPr id="13" name="Text 9"/>
          <p:cNvSpPr txBox="1"/>
          <p:nvPr/>
        </p:nvSpPr>
        <p:spPr>
          <a:xfrm>
            <a:off x="7909560" y="3758184"/>
            <a:ext cx="3733495" cy="566928"/>
          </a:xfrm>
          <a:prstGeom prst="rect">
            <a:avLst/>
          </a:prstGeom>
          <a:noFill/>
          <a:ln/>
        </p:spPr>
        <p:txBody>
          <a:bodyPr wrap="square" lIns="0" tIns="0" rIns="0" bIns="0" rtlCol="0" anchor="ctr"/>
          <a:lstStyle/>
          <a:p>
            <a:pPr indent="0" marL="0">
              <a:buNone/>
            </a:pPr>
            <a:r>
              <a:rPr lang="en-US" sz="1500" dirty="0">
                <a:solidFill>
                  <a:schemeClr val="tx1"/>
                </a:solidFill>
              </a:rPr>
              <a:t>Mutations edit </a:t>
            </a:r>
            <a:r>
              <a:rPr lang="en-US" sz="1500" i="1" dirty="0">
                <a:solidFill>
                  <a:schemeClr val="tx1"/>
                </a:solidFill>
              </a:rPr>
              <a:t>complete</a:t>
            </a:r>
            <a:r>
              <a:rPr lang="en-US" sz="1500" dirty="0">
                <a:solidFill>
                  <a:schemeClr val="tx1"/>
                </a:solidFill>
              </a:rPr>
              <a:t> strings, preserving global prompt structure.</a:t>
            </a:r>
            <a:endParaRPr lang="en-US" sz="1500" dirty="0"/>
          </a:p>
        </p:txBody>
      </p:sp>
      <p:sp>
        <p:nvSpPr>
          <p:cNvPr id="14" name="Shape 10"/>
          <p:cNvSpPr/>
          <p:nvPr/>
        </p:nvSpPr>
        <p:spPr>
          <a:xfrm>
            <a:off x="7269480" y="4526280"/>
            <a:ext cx="457200" cy="457200"/>
          </a:xfrm>
          <a:prstGeom prst="ellipse">
            <a:avLst/>
          </a:prstGeom>
          <a:solidFill>
            <a:srgbClr val="2E6B4F"/>
          </a:solidFill>
          <a:ln/>
        </p:spPr>
      </p:sp>
      <p:pic>
        <p:nvPicPr>
          <p:cNvPr id="15" name="Image 2" descr="Random icon">    </p:cNvPr>
          <p:cNvPicPr>
            <a:picLocks noChangeAspect="1"/>
          </p:cNvPicPr>
          <p:nvPr/>
        </p:nvPicPr>
        <p:blipFill>
          <a:blip r:embed="rId3"/>
          <a:stretch>
            <a:fillRect/>
          </a:stretch>
        </p:blipFill>
        <p:spPr>
          <a:xfrm>
            <a:off x="7383780" y="4640580"/>
            <a:ext cx="228600" cy="228600"/>
          </a:xfrm>
          <a:prstGeom prst="rect">
            <a:avLst/>
          </a:prstGeom>
        </p:spPr>
      </p:pic>
      <p:sp>
        <p:nvSpPr>
          <p:cNvPr id="16" name="Text 11"/>
          <p:cNvSpPr txBox="1"/>
          <p:nvPr/>
        </p:nvSpPr>
        <p:spPr>
          <a:xfrm>
            <a:off x="7909560" y="4489704"/>
            <a:ext cx="3733495" cy="566928"/>
          </a:xfrm>
          <a:prstGeom prst="rect">
            <a:avLst/>
          </a:prstGeom>
          <a:noFill/>
          <a:ln/>
        </p:spPr>
        <p:txBody>
          <a:bodyPr wrap="square" lIns="0" tIns="0" rIns="0" bIns="0" rtlCol="0" anchor="ctr"/>
          <a:lstStyle/>
          <a:p>
            <a:pPr indent="0" marL="0">
              <a:buNone/>
            </a:pPr>
            <a:r>
              <a:rPr lang="en-US" sz="1500" dirty="0">
                <a:solidFill>
                  <a:schemeClr val="tx1"/>
                </a:solidFill>
              </a:rPr>
              <a:t>Six candidates per round supply alternatives after noise-induced rank inversions.</a:t>
            </a:r>
            <a:endParaRPr lang="en-US" sz="1500" dirty="0"/>
          </a:p>
        </p:txBody>
      </p:sp>
      <p:sp>
        <p:nvSpPr>
          <p:cNvPr id="17" name="Shape 12"/>
          <p:cNvSpPr/>
          <p:nvPr/>
        </p:nvSpPr>
        <p:spPr>
          <a:xfrm>
            <a:off x="7269480" y="5257800"/>
            <a:ext cx="457200" cy="457200"/>
          </a:xfrm>
          <a:prstGeom prst="ellipse">
            <a:avLst/>
          </a:prstGeom>
          <a:solidFill>
            <a:srgbClr val="2E6B4F"/>
          </a:solidFill>
          <a:ln/>
        </p:spPr>
      </p:sp>
      <p:pic>
        <p:nvPicPr>
          <p:cNvPr id="18" name="Image 3" descr="Seedling icon">    </p:cNvPr>
          <p:cNvPicPr>
            <a:picLocks noChangeAspect="1"/>
          </p:cNvPicPr>
          <p:nvPr/>
        </p:nvPicPr>
        <p:blipFill>
          <a:blip r:embed="rId4"/>
          <a:stretch>
            <a:fillRect/>
          </a:stretch>
        </p:blipFill>
        <p:spPr>
          <a:xfrm>
            <a:off x="7383780" y="5372100"/>
            <a:ext cx="228600" cy="228600"/>
          </a:xfrm>
          <a:prstGeom prst="rect">
            <a:avLst/>
          </a:prstGeom>
        </p:spPr>
      </p:pic>
      <p:sp>
        <p:nvSpPr>
          <p:cNvPr id="19" name="Text 13"/>
          <p:cNvSpPr txBox="1"/>
          <p:nvPr/>
        </p:nvSpPr>
        <p:spPr>
          <a:xfrm>
            <a:off x="7909560" y="5221224"/>
            <a:ext cx="3733495" cy="566928"/>
          </a:xfrm>
          <a:prstGeom prst="rect">
            <a:avLst/>
          </a:prstGeom>
          <a:noFill/>
          <a:ln/>
        </p:spPr>
        <p:txBody>
          <a:bodyPr wrap="square" lIns="0" tIns="0" rIns="0" bIns="0" rtlCol="0" anchor="ctr"/>
          <a:lstStyle/>
          <a:p>
            <a:pPr indent="0" marL="0">
              <a:buNone/>
            </a:pPr>
            <a:r>
              <a:rPr lang="en-US" sz="1500" dirty="0">
                <a:solidFill>
                  <a:schemeClr val="tx1"/>
                </a:solidFill>
              </a:rPr>
              <a:t>Exploration is free: richer mutation costs no privacy budget.</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EFFICIENCY</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2.5× faster, 3.3× fewer private-data calls</a:t>
            </a:r>
            <a:endParaRPr lang="en-US" sz="3000" dirty="0"/>
          </a:p>
        </p:txBody>
      </p:sp>
      <p:sp>
        <p:nvSpPr>
          <p:cNvPr id="4" name="Text 2"/>
          <p:cNvSpPr txBox="1"/>
          <p:nvPr/>
        </p:nvSpPr>
        <p:spPr>
          <a:xfrm>
            <a:off x="6156655" y="329184"/>
            <a:ext cx="5486400" cy="292608"/>
          </a:xfrm>
          <a:prstGeom prst="rect">
            <a:avLst/>
          </a:prstGeom>
          <a:noFill/>
          <a:ln/>
        </p:spPr>
        <p:txBody>
          <a:bodyPr wrap="square" lIns="0" tIns="0" rIns="0" bIns="0" rtlCol="0" anchor="t"/>
          <a:lstStyle/>
          <a:p>
            <a:pPr algn="r" indent="0" marL="0">
              <a:buNone/>
            </a:pPr>
            <a:r>
              <a:rPr lang="en-US" sz="1100" dirty="0">
                <a:solidFill>
                  <a:schemeClr val="accent3"/>
                </a:solidFill>
              </a:rPr>
              <a:t>Motivation</a:t>
            </a:r>
            <a:r>
              <a:rPr lang="en-US" sz="1100" dirty="0">
                <a:solidFill>
                  <a:schemeClr val="accent3"/>
                </a:solidFill>
              </a:rPr>
              <a:t>   ·   </a:t>
            </a:r>
            <a:r>
              <a:rPr lang="en-US" sz="1100" dirty="0">
                <a:solidFill>
                  <a:schemeClr val="accent3"/>
                </a:solidFill>
              </a:rPr>
              <a:t>Diagnosis</a:t>
            </a:r>
            <a:r>
              <a:rPr lang="en-US" sz="1100" dirty="0">
                <a:solidFill>
                  <a:schemeClr val="accent3"/>
                </a:solidFill>
              </a:rPr>
              <a:t>   ·   </a:t>
            </a:r>
            <a:r>
              <a:rPr lang="en-US" sz="1100" dirty="0">
                <a:solidFill>
                  <a:schemeClr val="accent3"/>
                </a:solidFill>
              </a:rPr>
              <a:t>Method</a:t>
            </a:r>
            <a:r>
              <a:rPr lang="en-US" sz="1100" dirty="0">
                <a:solidFill>
                  <a:schemeClr val="accent3"/>
                </a:solidFill>
              </a:rPr>
              <a:t>   ·   </a:t>
            </a:r>
            <a:r>
              <a:rPr lang="en-US" sz="1100" b="1" dirty="0">
                <a:solidFill>
                  <a:schemeClr val="accent1"/>
                </a:solidFill>
              </a:rPr>
              <a:t>Results</a:t>
            </a:r>
            <a:r>
              <a:rPr lang="en-US" sz="1100" dirty="0">
                <a:solidFill>
                  <a:schemeClr val="accent3"/>
                </a:solidFill>
              </a:rPr>
              <a:t>   ·   </a:t>
            </a:r>
            <a:r>
              <a:rPr lang="en-US" sz="1100" dirty="0">
                <a:solidFill>
                  <a:schemeClr val="accent3"/>
                </a:solidFill>
              </a:rPr>
              <a:t>Scope</a:t>
            </a:r>
            <a:endParaRPr lang="en-US" sz="1100" dirty="0"/>
          </a:p>
        </p:txBody>
      </p:sp>
      <p:sp>
        <p:nvSpPr>
          <p:cNvPr id="5" name="Shape 3"/>
          <p:cNvSpPr/>
          <p:nvPr/>
        </p:nvSpPr>
        <p:spPr>
          <a:xfrm>
            <a:off x="548640" y="1600200"/>
            <a:ext cx="3454298" cy="1600200"/>
          </a:xfrm>
          <a:prstGeom prst="roundRect">
            <a:avLst>
              <a:gd name="adj" fmla="val 4571"/>
            </a:avLst>
          </a:prstGeom>
          <a:solidFill>
            <a:schemeClr val="bg2"/>
          </a:solidFill>
          <a:ln/>
        </p:spPr>
      </p:sp>
      <p:sp>
        <p:nvSpPr>
          <p:cNvPr id="6" name="Text 4"/>
          <p:cNvSpPr txBox="1"/>
          <p:nvPr/>
        </p:nvSpPr>
        <p:spPr>
          <a:xfrm>
            <a:off x="822960" y="1737360"/>
            <a:ext cx="1554480" cy="73152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2.5×</a:t>
            </a:r>
            <a:endParaRPr lang="en-US" sz="4000" dirty="0"/>
          </a:p>
        </p:txBody>
      </p:sp>
      <p:sp>
        <p:nvSpPr>
          <p:cNvPr id="7" name="Text 5"/>
          <p:cNvSpPr txBox="1"/>
          <p:nvPr/>
        </p:nvSpPr>
        <p:spPr>
          <a:xfrm>
            <a:off x="2331720" y="1783080"/>
            <a:ext cx="1488338" cy="685800"/>
          </a:xfrm>
          <a:prstGeom prst="rect">
            <a:avLst/>
          </a:prstGeom>
          <a:noFill/>
          <a:ln/>
        </p:spPr>
        <p:txBody>
          <a:bodyPr wrap="square" lIns="0" tIns="0" rIns="0" bIns="0" rtlCol="0" anchor="ctr"/>
          <a:lstStyle/>
          <a:p>
            <a:pPr indent="0" marL="0">
              <a:buNone/>
            </a:pPr>
            <a:r>
              <a:rPr lang="en-US" sz="1500" b="1" dirty="0">
                <a:solidFill>
                  <a:schemeClr val="tx2"/>
                </a:solidFill>
              </a:rPr>
              <a:t>faster wall-clock</a:t>
            </a:r>
            <a:endParaRPr lang="en-US" sz="1500" dirty="0"/>
          </a:p>
        </p:txBody>
      </p:sp>
      <p:sp>
        <p:nvSpPr>
          <p:cNvPr id="8" name="Text 6"/>
          <p:cNvSpPr txBox="1"/>
          <p:nvPr/>
        </p:nvSpPr>
        <p:spPr>
          <a:xfrm>
            <a:off x="822960" y="2542032"/>
            <a:ext cx="2905658" cy="548640"/>
          </a:xfrm>
          <a:prstGeom prst="rect">
            <a:avLst/>
          </a:prstGeom>
          <a:noFill/>
          <a:ln/>
        </p:spPr>
        <p:txBody>
          <a:bodyPr wrap="square" lIns="0" tIns="0" rIns="0" bIns="0" rtlCol="0" anchor="t"/>
          <a:lstStyle/>
          <a:p>
            <a:pPr indent="0" marL="0">
              <a:buNone/>
            </a:pPr>
            <a:r>
              <a:rPr lang="en-US" sz="1400" dirty="0">
                <a:solidFill>
                  <a:schemeClr val="accent3"/>
                </a:solidFill>
              </a:rPr>
              <a:t>17.9 h vs. 45.7 h on GSM8K (API)</a:t>
            </a:r>
            <a:endParaRPr lang="en-US" sz="1400" dirty="0"/>
          </a:p>
        </p:txBody>
      </p:sp>
      <p:sp>
        <p:nvSpPr>
          <p:cNvPr id="9" name="Shape 7"/>
          <p:cNvSpPr/>
          <p:nvPr/>
        </p:nvSpPr>
        <p:spPr>
          <a:xfrm>
            <a:off x="4368698" y="1600200"/>
            <a:ext cx="3454298" cy="1600200"/>
          </a:xfrm>
          <a:prstGeom prst="roundRect">
            <a:avLst>
              <a:gd name="adj" fmla="val 4571"/>
            </a:avLst>
          </a:prstGeom>
          <a:solidFill>
            <a:schemeClr val="bg2"/>
          </a:solidFill>
          <a:ln/>
        </p:spPr>
      </p:sp>
      <p:sp>
        <p:nvSpPr>
          <p:cNvPr id="10" name="Text 8"/>
          <p:cNvSpPr txBox="1"/>
          <p:nvPr/>
        </p:nvSpPr>
        <p:spPr>
          <a:xfrm>
            <a:off x="4643018" y="1737360"/>
            <a:ext cx="1554480" cy="73152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3.3×</a:t>
            </a:r>
            <a:endParaRPr lang="en-US" sz="4000" dirty="0"/>
          </a:p>
        </p:txBody>
      </p:sp>
      <p:sp>
        <p:nvSpPr>
          <p:cNvPr id="11" name="Text 9"/>
          <p:cNvSpPr txBox="1"/>
          <p:nvPr/>
        </p:nvSpPr>
        <p:spPr>
          <a:xfrm>
            <a:off x="6151778" y="1783080"/>
            <a:ext cx="1488338" cy="685800"/>
          </a:xfrm>
          <a:prstGeom prst="rect">
            <a:avLst/>
          </a:prstGeom>
          <a:noFill/>
          <a:ln/>
        </p:spPr>
        <p:txBody>
          <a:bodyPr wrap="square" lIns="0" tIns="0" rIns="0" bIns="0" rtlCol="0" anchor="ctr"/>
          <a:lstStyle/>
          <a:p>
            <a:pPr indent="0" marL="0">
              <a:buNone/>
            </a:pPr>
            <a:r>
              <a:rPr lang="en-US" sz="1500" b="1" dirty="0">
                <a:solidFill>
                  <a:schemeClr val="tx2"/>
                </a:solidFill>
              </a:rPr>
              <a:t>fewer private-data call groups</a:t>
            </a:r>
            <a:endParaRPr lang="en-US" sz="1500" dirty="0"/>
          </a:p>
        </p:txBody>
      </p:sp>
      <p:sp>
        <p:nvSpPr>
          <p:cNvPr id="12" name="Text 10"/>
          <p:cNvSpPr txBox="1"/>
          <p:nvPr/>
        </p:nvSpPr>
        <p:spPr>
          <a:xfrm>
            <a:off x="4643018" y="2542032"/>
            <a:ext cx="2905658" cy="548640"/>
          </a:xfrm>
          <a:prstGeom prst="rect">
            <a:avLst/>
          </a:prstGeom>
          <a:noFill/>
          <a:ln/>
        </p:spPr>
        <p:txBody>
          <a:bodyPr wrap="square" lIns="0" tIns="0" rIns="0" bIns="0" rtlCol="0" anchor="t"/>
          <a:lstStyle/>
          <a:p>
            <a:pPr indent="0" marL="0">
              <a:buNone/>
            </a:pPr>
            <a:r>
              <a:rPr lang="en-US" sz="1400" dirty="0">
                <a:solidFill>
                  <a:schemeClr val="accent3"/>
                </a:solidFill>
              </a:rPr>
              <a:t>10 vs. 33 in a representative run</a:t>
            </a:r>
            <a:endParaRPr lang="en-US" sz="1400" dirty="0"/>
          </a:p>
        </p:txBody>
      </p:sp>
      <p:sp>
        <p:nvSpPr>
          <p:cNvPr id="13" name="Shape 11"/>
          <p:cNvSpPr/>
          <p:nvPr/>
        </p:nvSpPr>
        <p:spPr>
          <a:xfrm>
            <a:off x="8188757" y="1600200"/>
            <a:ext cx="3454298" cy="1600200"/>
          </a:xfrm>
          <a:prstGeom prst="roundRect">
            <a:avLst>
              <a:gd name="adj" fmla="val 4571"/>
            </a:avLst>
          </a:prstGeom>
          <a:solidFill>
            <a:schemeClr val="bg2"/>
          </a:solidFill>
          <a:ln/>
        </p:spPr>
      </p:sp>
      <p:sp>
        <p:nvSpPr>
          <p:cNvPr id="14" name="Text 12"/>
          <p:cNvSpPr txBox="1"/>
          <p:nvPr/>
        </p:nvSpPr>
        <p:spPr>
          <a:xfrm>
            <a:off x="8463077" y="1737360"/>
            <a:ext cx="1554480" cy="731520"/>
          </a:xfrm>
          <a:prstGeom prst="rect">
            <a:avLst/>
          </a:prstGeom>
          <a:noFill/>
          <a:ln/>
        </p:spPr>
        <p:txBody>
          <a:bodyPr wrap="square" lIns="0" tIns="0" rIns="0" bIns="0" rtlCol="0" anchor="ctr"/>
          <a:lstStyle/>
          <a:p>
            <a:pPr indent="0" marL="0">
              <a:buNone/>
            </a:pPr>
            <a:r>
              <a:rPr lang="en-US" sz="4000" b="1" dirty="0">
                <a:solidFill>
                  <a:schemeClr val="accent4"/>
                </a:solidFill>
                <a:latin typeface="+mj-lt" pitchFamily="34" charset="0"/>
                <a:ea typeface="+mj-lt" pitchFamily="34" charset="-122"/>
                <a:cs typeface="+mj-lt" pitchFamily="34" charset="-120"/>
              </a:rPr>
              <a:t>2.8×</a:t>
            </a:r>
            <a:endParaRPr lang="en-US" sz="4000" dirty="0"/>
          </a:p>
        </p:txBody>
      </p:sp>
      <p:sp>
        <p:nvSpPr>
          <p:cNvPr id="15" name="Text 13"/>
          <p:cNvSpPr txBox="1"/>
          <p:nvPr/>
        </p:nvSpPr>
        <p:spPr>
          <a:xfrm>
            <a:off x="9971837" y="1783080"/>
            <a:ext cx="1488338" cy="685800"/>
          </a:xfrm>
          <a:prstGeom prst="rect">
            <a:avLst/>
          </a:prstGeom>
          <a:noFill/>
          <a:ln/>
        </p:spPr>
        <p:txBody>
          <a:bodyPr wrap="square" lIns="0" tIns="0" rIns="0" bIns="0" rtlCol="0" anchor="ctr"/>
          <a:lstStyle/>
          <a:p>
            <a:pPr indent="0" marL="0">
              <a:buNone/>
            </a:pPr>
            <a:r>
              <a:rPr lang="en-US" sz="1500" b="1" dirty="0">
                <a:solidFill>
                  <a:schemeClr val="tx2"/>
                </a:solidFill>
              </a:rPr>
              <a:t>more tokens — the trade-off</a:t>
            </a:r>
            <a:endParaRPr lang="en-US" sz="1500" dirty="0"/>
          </a:p>
        </p:txBody>
      </p:sp>
      <p:sp>
        <p:nvSpPr>
          <p:cNvPr id="16" name="Text 14"/>
          <p:cNvSpPr txBox="1"/>
          <p:nvPr/>
        </p:nvSpPr>
        <p:spPr>
          <a:xfrm>
            <a:off x="8463077" y="2542032"/>
            <a:ext cx="2905658" cy="548640"/>
          </a:xfrm>
          <a:prstGeom prst="rect">
            <a:avLst/>
          </a:prstGeom>
          <a:noFill/>
          <a:ln/>
        </p:spPr>
        <p:txBody>
          <a:bodyPr wrap="square" lIns="0" tIns="0" rIns="0" bIns="0" rtlCol="0" anchor="t"/>
          <a:lstStyle/>
          <a:p>
            <a:pPr indent="0" marL="0">
              <a:buNone/>
            </a:pPr>
            <a:r>
              <a:rPr lang="en-US" sz="1400" dirty="0">
                <a:solidFill>
                  <a:schemeClr val="accent3"/>
                </a:solidFill>
              </a:rPr>
              <a:t>11,120 vs. 4,016: DP-ES trades tokens for robustness</a:t>
            </a:r>
            <a:endParaRPr lang="en-US" sz="1400" dirty="0"/>
          </a:p>
        </p:txBody>
      </p:sp>
      <p:graphicFrame>
        <p:nvGraphicFramePr>
          <p:cNvPr id="17" name="Chart 0" descr=""/>
          <p:cNvGraphicFramePr/>
          <p:nvPr/>
        </p:nvGraphicFramePr>
        <p:xfrm>
          <a:off x="548640" y="3429000"/>
          <a:ext cx="7315200" cy="269748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8229600" y="3520440"/>
            <a:ext cx="3413455"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Why faster?</a:t>
            </a:r>
            <a:endParaRPr lang="en-US" sz="1800" dirty="0"/>
          </a:p>
        </p:txBody>
      </p:sp>
      <p:sp>
        <p:nvSpPr>
          <p:cNvPr id="19" name="Text 16"/>
          <p:cNvSpPr txBox="1"/>
          <p:nvPr/>
        </p:nvSpPr>
        <p:spPr>
          <a:xfrm>
            <a:off x="8229600" y="3931920"/>
            <a:ext cx="3413455" cy="2103120"/>
          </a:xfrm>
          <a:prstGeom prst="rect">
            <a:avLst/>
          </a:prstGeom>
          <a:noFill/>
          <a:ln/>
        </p:spPr>
        <p:txBody>
          <a:bodyPr wrap="square" lIns="0" tIns="0" rIns="0" bIns="0" rtlCol="0" anchor="t"/>
          <a:lstStyle/>
          <a:p>
            <a:pPr indent="0" marL="0">
              <a:buNone/>
            </a:pPr>
            <a:r>
              <a:rPr lang="en-US" sz="1500" dirty="0">
                <a:solidFill>
                  <a:schemeClr val="tx1"/>
                </a:solidFill>
              </a:rPr>
              <a:t>DP-OPT queries private aggregates both while constructing tokens and while evaluating. DP-ES mutations never touch </a:t>
            </a:r>
            <a:r>
              <a:rPr lang="en-US" sz="1500" i="1" dirty="0">
                <a:solidFill>
                  <a:schemeClr val="tx1"/>
                </a:solidFill>
              </a:rPr>
              <a:t>D</a:t>
            </a:r>
            <a:r>
              <a:rPr lang="en-US" sz="1500" dirty="0">
                <a:solidFill>
                  <a:schemeClr val="tx1"/>
                </a:solidFill>
              </a:rPr>
              <a:t>, so far fewer serial private-data round trips are needed — latency drops even though token count rises.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ABLATIONS AND VALIDATION</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Robust to selector, population size, and model</a:t>
            </a:r>
            <a:endParaRPr lang="en-US" sz="3000" dirty="0"/>
          </a:p>
        </p:txBody>
      </p:sp>
      <p:sp>
        <p:nvSpPr>
          <p:cNvPr id="4" name="Text 2"/>
          <p:cNvSpPr txBox="1"/>
          <p:nvPr/>
        </p:nvSpPr>
        <p:spPr>
          <a:xfrm>
            <a:off x="6156655" y="329184"/>
            <a:ext cx="5486400" cy="292608"/>
          </a:xfrm>
          <a:prstGeom prst="rect">
            <a:avLst/>
          </a:prstGeom>
          <a:noFill/>
          <a:ln/>
        </p:spPr>
        <p:txBody>
          <a:bodyPr wrap="square" lIns="0" tIns="0" rIns="0" bIns="0" rtlCol="0" anchor="t"/>
          <a:lstStyle/>
          <a:p>
            <a:pPr algn="r" indent="0" marL="0">
              <a:buNone/>
            </a:pPr>
            <a:r>
              <a:rPr lang="en-US" sz="1100" dirty="0">
                <a:solidFill>
                  <a:schemeClr val="accent3"/>
                </a:solidFill>
              </a:rPr>
              <a:t>Motivation</a:t>
            </a:r>
            <a:r>
              <a:rPr lang="en-US" sz="1100" dirty="0">
                <a:solidFill>
                  <a:schemeClr val="accent3"/>
                </a:solidFill>
              </a:rPr>
              <a:t>   ·   </a:t>
            </a:r>
            <a:r>
              <a:rPr lang="en-US" sz="1100" dirty="0">
                <a:solidFill>
                  <a:schemeClr val="accent3"/>
                </a:solidFill>
              </a:rPr>
              <a:t>Diagnosis</a:t>
            </a:r>
            <a:r>
              <a:rPr lang="en-US" sz="1100" dirty="0">
                <a:solidFill>
                  <a:schemeClr val="accent3"/>
                </a:solidFill>
              </a:rPr>
              <a:t>   ·   </a:t>
            </a:r>
            <a:r>
              <a:rPr lang="en-US" sz="1100" dirty="0">
                <a:solidFill>
                  <a:schemeClr val="accent3"/>
                </a:solidFill>
              </a:rPr>
              <a:t>Method</a:t>
            </a:r>
            <a:r>
              <a:rPr lang="en-US" sz="1100" dirty="0">
                <a:solidFill>
                  <a:schemeClr val="accent3"/>
                </a:solidFill>
              </a:rPr>
              <a:t>   ·   </a:t>
            </a:r>
            <a:r>
              <a:rPr lang="en-US" sz="1100" b="1" dirty="0">
                <a:solidFill>
                  <a:schemeClr val="accent1"/>
                </a:solidFill>
              </a:rPr>
              <a:t>Results</a:t>
            </a:r>
            <a:r>
              <a:rPr lang="en-US" sz="1100" dirty="0">
                <a:solidFill>
                  <a:schemeClr val="accent3"/>
                </a:solidFill>
              </a:rPr>
              <a:t>   ·   </a:t>
            </a:r>
            <a:r>
              <a:rPr lang="en-US" sz="1100" dirty="0">
                <a:solidFill>
                  <a:schemeClr val="accent3"/>
                </a:solidFill>
              </a:rPr>
              <a:t>Scope</a:t>
            </a:r>
            <a:endParaRPr lang="en-US" sz="1100" dirty="0"/>
          </a:p>
        </p:txBody>
      </p:sp>
      <p:sp>
        <p:nvSpPr>
          <p:cNvPr id="5" name="Shape 3"/>
          <p:cNvSpPr/>
          <p:nvPr/>
        </p:nvSpPr>
        <p:spPr>
          <a:xfrm>
            <a:off x="548640" y="1600200"/>
            <a:ext cx="3454298" cy="4343400"/>
          </a:xfrm>
          <a:prstGeom prst="roundRect">
            <a:avLst>
              <a:gd name="adj" fmla="val 2118"/>
            </a:avLst>
          </a:prstGeom>
          <a:solidFill>
            <a:schemeClr val="bg2"/>
          </a:solidFill>
          <a:ln/>
        </p:spPr>
      </p:sp>
      <p:sp>
        <p:nvSpPr>
          <p:cNvPr id="6" name="Text 4"/>
          <p:cNvSpPr txBox="1"/>
          <p:nvPr/>
        </p:nvSpPr>
        <p:spPr>
          <a:xfrm>
            <a:off x="822960" y="1783080"/>
            <a:ext cx="2905658" cy="36576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(a) Selection rule</a:t>
            </a:r>
            <a:endParaRPr lang="en-US" sz="1700" dirty="0"/>
          </a:p>
        </p:txBody>
      </p:sp>
      <p:sp>
        <p:nvSpPr>
          <p:cNvPr id="7" name="Shape 5"/>
          <p:cNvSpPr/>
          <p:nvPr/>
        </p:nvSpPr>
        <p:spPr>
          <a:xfrm>
            <a:off x="4368698" y="1600200"/>
            <a:ext cx="3454298" cy="4343400"/>
          </a:xfrm>
          <a:prstGeom prst="roundRect">
            <a:avLst>
              <a:gd name="adj" fmla="val 2118"/>
            </a:avLst>
          </a:prstGeom>
          <a:solidFill>
            <a:schemeClr val="bg2"/>
          </a:solidFill>
          <a:ln/>
        </p:spPr>
      </p:sp>
      <p:sp>
        <p:nvSpPr>
          <p:cNvPr id="8" name="Text 6"/>
          <p:cNvSpPr txBox="1"/>
          <p:nvPr/>
        </p:nvSpPr>
        <p:spPr>
          <a:xfrm>
            <a:off x="4643018" y="1783080"/>
            <a:ext cx="2905658" cy="36576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(b) Population size (</a:t>
            </a:r>
            <a:r>
              <a:rPr lang="en-US" sz="1700" b="1" i="1" dirty="0">
                <a:solidFill>
                  <a:schemeClr val="tx2"/>
                </a:solidFill>
                <a:latin typeface="+mj-lt" pitchFamily="34" charset="0"/>
                <a:ea typeface="+mj-lt" pitchFamily="34" charset="-122"/>
                <a:cs typeface="+mj-lt" pitchFamily="34" charset="-120"/>
              </a:rPr>
              <a:t>K</a:t>
            </a:r>
            <a:r>
              <a:rPr lang="en-US" sz="1700" b="1" dirty="0">
                <a:solidFill>
                  <a:schemeClr val="tx2"/>
                </a:solidFill>
                <a:latin typeface="+mj-lt" pitchFamily="34" charset="0"/>
                <a:ea typeface="+mj-lt" pitchFamily="34" charset="-122"/>
                <a:cs typeface="+mj-lt" pitchFamily="34" charset="-120"/>
              </a:rPr>
              <a:t>·</a:t>
            </a:r>
            <a:r>
              <a:rPr lang="en-US" sz="1700" b="1" i="1" dirty="0">
                <a:solidFill>
                  <a:schemeClr val="tx2"/>
                </a:solidFill>
                <a:latin typeface="+mj-lt" pitchFamily="34" charset="0"/>
                <a:ea typeface="+mj-lt" pitchFamily="34" charset="-122"/>
                <a:cs typeface="+mj-lt" pitchFamily="34" charset="-120"/>
              </a:rPr>
              <a:t>T</a:t>
            </a:r>
            <a:r>
              <a:rPr lang="en-US" sz="1700" b="1" dirty="0">
                <a:solidFill>
                  <a:schemeClr val="tx2"/>
                </a:solidFill>
                <a:latin typeface="+mj-lt" pitchFamily="34" charset="0"/>
                <a:ea typeface="+mj-lt" pitchFamily="34" charset="-122"/>
                <a:cs typeface="+mj-lt" pitchFamily="34" charset="-120"/>
              </a:rPr>
              <a:t> ≤ 24)</a:t>
            </a:r>
            <a:endParaRPr lang="en-US" sz="1700" dirty="0"/>
          </a:p>
        </p:txBody>
      </p:sp>
      <p:sp>
        <p:nvSpPr>
          <p:cNvPr id="9" name="Shape 7"/>
          <p:cNvSpPr/>
          <p:nvPr/>
        </p:nvSpPr>
        <p:spPr>
          <a:xfrm>
            <a:off x="8188757" y="1600200"/>
            <a:ext cx="3454298" cy="4343400"/>
          </a:xfrm>
          <a:prstGeom prst="roundRect">
            <a:avLst>
              <a:gd name="adj" fmla="val 2118"/>
            </a:avLst>
          </a:prstGeom>
          <a:solidFill>
            <a:schemeClr val="bg2"/>
          </a:solidFill>
          <a:ln/>
        </p:spPr>
      </p:sp>
      <p:sp>
        <p:nvSpPr>
          <p:cNvPr id="10" name="Text 8"/>
          <p:cNvSpPr txBox="1"/>
          <p:nvPr/>
        </p:nvSpPr>
        <p:spPr>
          <a:xfrm>
            <a:off x="8463077" y="1783080"/>
            <a:ext cx="2905658" cy="36576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(c) Local Qwen2.5-7B (ε ≤ 1)</a:t>
            </a:r>
            <a:endParaRPr lang="en-US" sz="1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2960" y="2331720"/>
          <a:ext cx="2905658" cy="914400"/>
        </p:xfrm>
        <a:graphic>
          <a:graphicData uri="http://schemas.openxmlformats.org/drawingml/2006/table">
            <a:tbl>
              <a:tblPr/>
              <a:tblGrid>
                <a:gridCol w="1598112"/>
                <a:gridCol w="1307546"/>
              </a:tblGrid>
              <a:tr h="411480">
                <a:tc>
                  <a:txBody>
                    <a:bodyPr/>
                    <a:lstStyle/>
                    <a:p>
                      <a:pPr algn="l" indent="0" marL="0">
                        <a:buNone/>
                      </a:pPr>
                      <a:r>
                        <a:rPr lang="en-US" sz="1400" b="1" dirty="0">
                          <a:solidFill>
                            <a:schemeClr val="bg1"/>
                          </a:solidFill>
                        </a:rPr>
                        <a:t>Selector</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GSM8K (%)</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tx2"/>
                    </a:solidFill>
                  </a:tcPr>
                </a:tc>
              </a:tr>
              <a:tr h="411480">
                <a:tc>
                  <a:txBody>
                    <a:bodyPr/>
                    <a:lstStyle/>
                    <a:p>
                      <a:pPr algn="l" indent="0" marL="0">
                        <a:buNone/>
                      </a:pPr>
                      <a:r>
                        <a:rPr lang="en-US" sz="1400" dirty="0">
                          <a:solidFill>
                            <a:schemeClr val="tx1"/>
                          </a:solidFill>
                        </a:rPr>
                        <a:t>Gumbel-smoothed</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88.8 ± 3.4</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1"/>
                    </a:solidFill>
                  </a:tcPr>
                </a:tc>
              </a:tr>
              <a:tr h="411480">
                <a:tc>
                  <a:txBody>
                    <a:bodyPr/>
                    <a:lstStyle/>
                    <a:p>
                      <a:pPr algn="l" indent="0" marL="0">
                        <a:buNone/>
                      </a:pPr>
                      <a:r>
                        <a:rPr lang="en-US" sz="1400" dirty="0">
                          <a:solidFill>
                            <a:schemeClr val="tx1"/>
                          </a:solidFill>
                        </a:rPr>
                        <a:t>Deterministic</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88.6 ± 2.9</a:t>
                      </a:r>
                      <a:endParaRPr lang="en-US" sz="140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1"/>
                    </a:solidFill>
                  </a:tcPr>
                </a:tc>
              </a:tr>
            </a:tbl>
          </a:graphicData>
        </a:graphic>
      </p:graphicFrame>
      <p:sp>
        <p:nvSpPr>
          <p:cNvPr id="12" name="Text 9"/>
          <p:cNvSpPr txBox="1"/>
          <p:nvPr/>
        </p:nvSpPr>
        <p:spPr>
          <a:xfrm>
            <a:off x="822960" y="3749040"/>
            <a:ext cx="2905658" cy="2011680"/>
          </a:xfrm>
          <a:prstGeom prst="rect">
            <a:avLst/>
          </a:prstGeom>
          <a:noFill/>
          <a:ln/>
        </p:spPr>
        <p:txBody>
          <a:bodyPr wrap="square" lIns="0" tIns="0" rIns="0" bIns="0" rtlCol="0" anchor="t"/>
          <a:lstStyle/>
          <a:p>
            <a:pPr indent="0" marL="0">
              <a:buNone/>
            </a:pPr>
            <a:r>
              <a:rPr lang="en-US" sz="1500" dirty="0">
                <a:solidFill>
                  <a:schemeClr val="tx1"/>
                </a:solidFill>
              </a:rPr>
              <a:t>Five seeds. Both rules post-process privatized scores, so the privacy guarantee is identical; accuracy differs by only 0.2 pp.</a:t>
            </a:r>
            <a:endParaRPr lang="en-US" sz="1500" dirty="0"/>
          </a:p>
        </p:txBody>
      </p:sp>
      <p:graphicFrame>
        <p:nvGraphicFramePr>
          <p:cNvPr id="13" name="Chart 0" descr=""/>
          <p:cNvGraphicFramePr/>
          <p:nvPr/>
        </p:nvGraphicFramePr>
        <p:xfrm>
          <a:off x="4505858" y="2240280"/>
          <a:ext cx="3179978" cy="2377440"/>
        </p:xfrm>
        <a:graphic xmlns:a="http://schemas.openxmlformats.org/drawingml/2006/main">
          <a:graphicData uri="http://schemas.openxmlformats.org/drawingml/2006/chart">
            <c:chart xmlns:c="http://schemas.openxmlformats.org/drawingml/2006/chart" r:id="rId1"/>
          </a:graphicData>
        </a:graphic>
      </p:graphicFrame>
      <p:sp>
        <p:nvSpPr>
          <p:cNvPr id="14" name="Text 10"/>
          <p:cNvSpPr txBox="1"/>
          <p:nvPr/>
        </p:nvSpPr>
        <p:spPr>
          <a:xfrm>
            <a:off x="4643018" y="4709160"/>
            <a:ext cx="2905658" cy="1097280"/>
          </a:xfrm>
          <a:prstGeom prst="rect">
            <a:avLst/>
          </a:prstGeom>
          <a:noFill/>
          <a:ln/>
        </p:spPr>
        <p:txBody>
          <a:bodyPr wrap="square" lIns="0" tIns="0" rIns="0" bIns="0" rtlCol="0" anchor="t"/>
          <a:lstStyle/>
          <a:p>
            <a:pPr indent="0" marL="0">
              <a:buNone/>
            </a:pPr>
            <a:r>
              <a:rPr lang="en-US" sz="1400" i="1" dirty="0">
                <a:solidFill>
                  <a:schemeClr val="tx1"/>
                </a:solidFill>
              </a:rPr>
              <a:t>K</a:t>
            </a:r>
            <a:r>
              <a:rPr lang="en-US" sz="1400" dirty="0">
                <a:solidFill>
                  <a:schemeClr val="tx1"/>
                </a:solidFill>
              </a:rPr>
              <a:t> = 6, </a:t>
            </a:r>
            <a:r>
              <a:rPr lang="en-US" sz="1400" i="1" dirty="0">
                <a:solidFill>
                  <a:schemeClr val="tx1"/>
                </a:solidFill>
              </a:rPr>
              <a:t>T</a:t>
            </a:r>
            <a:r>
              <a:rPr lang="en-US" sz="1400" dirty="0">
                <a:solidFill>
                  <a:schemeClr val="tx1"/>
                </a:solidFill>
              </a:rPr>
              <a:t> = 3 balances diversity and depth: small </a:t>
            </a:r>
            <a:r>
              <a:rPr lang="en-US" sz="1400" i="1" dirty="0">
                <a:solidFill>
                  <a:schemeClr val="tx1"/>
                </a:solidFill>
              </a:rPr>
              <a:t>K</a:t>
            </a:r>
            <a:r>
              <a:rPr lang="en-US" sz="1400" dirty="0">
                <a:solidFill>
                  <a:schemeClr val="tx1"/>
                </a:solidFill>
              </a:rPr>
              <a:t> explores too narrowly, large </a:t>
            </a:r>
            <a:r>
              <a:rPr lang="en-US" sz="1400" i="1" dirty="0">
                <a:solidFill>
                  <a:schemeClr val="tx1"/>
                </a:solidFill>
              </a:rPr>
              <a:t>K</a:t>
            </a:r>
            <a:r>
              <a:rPr lang="en-US" sz="1400" dirty="0">
                <a:solidFill>
                  <a:schemeClr val="tx1"/>
                </a:solidFill>
              </a:rPr>
              <a:t> leaves too few refinement rounds.</a:t>
            </a:r>
            <a:endParaRPr lang="en-US" sz="14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8463077" y="2331720"/>
          <a:ext cx="2905658" cy="914400"/>
        </p:xfrm>
        <a:graphic>
          <a:graphicData uri="http://schemas.openxmlformats.org/drawingml/2006/table">
            <a:tbl>
              <a:tblPr/>
              <a:tblGrid>
                <a:gridCol w="1104150"/>
                <a:gridCol w="900754"/>
                <a:gridCol w="900754"/>
              </a:tblGrid>
              <a:tr h="384048">
                <a:tc>
                  <a:txBody>
                    <a:bodyPr/>
                    <a:lstStyle/>
                    <a:p>
                      <a:pPr algn="l" indent="0" marL="0">
                        <a:buNone/>
                      </a:pPr>
                      <a:r>
                        <a:rPr lang="en-US" sz="1250" b="1" dirty="0">
                          <a:solidFill>
                            <a:schemeClr val="bg1"/>
                          </a:solidFill>
                        </a:rPr>
                        <a:t>Method</a:t>
                      </a:r>
                      <a:endParaRPr lang="en-US" sz="125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tx2"/>
                    </a:solidFill>
                  </a:tcPr>
                </a:tc>
                <a:tc>
                  <a:txBody>
                    <a:bodyPr/>
                    <a:lstStyle/>
                    <a:p>
                      <a:pPr algn="ctr" indent="0" marL="0">
                        <a:buNone/>
                      </a:pPr>
                      <a:r>
                        <a:rPr lang="en-US" sz="1250" b="1" dirty="0">
                          <a:solidFill>
                            <a:schemeClr val="bg1"/>
                          </a:solidFill>
                        </a:rPr>
                        <a:t>GSM8K</a:t>
                      </a:r>
                      <a:endParaRPr lang="en-US" sz="125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tx2"/>
                    </a:solidFill>
                  </a:tcPr>
                </a:tc>
                <a:tc>
                  <a:txBody>
                    <a:bodyPr/>
                    <a:lstStyle/>
                    <a:p>
                      <a:pPr algn="ctr" indent="0" marL="0">
                        <a:buNone/>
                      </a:pPr>
                      <a:r>
                        <a:rPr lang="en-US" sz="1250" b="1" dirty="0">
                          <a:solidFill>
                            <a:schemeClr val="bg1"/>
                          </a:solidFill>
                        </a:rPr>
                        <a:t>MedQA</a:t>
                      </a:r>
                      <a:endParaRPr lang="en-US" sz="125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tx2"/>
                    </a:solidFill>
                  </a:tcPr>
                </a:tc>
              </a:tr>
              <a:tr h="384048">
                <a:tc>
                  <a:txBody>
                    <a:bodyPr/>
                    <a:lstStyle/>
                    <a:p>
                      <a:pPr algn="l" indent="0" marL="0">
                        <a:buNone/>
                      </a:pPr>
                      <a:r>
                        <a:rPr lang="en-US" sz="1250" b="1" dirty="0">
                          <a:solidFill>
                            <a:schemeClr val="accent1"/>
                          </a:solidFill>
                        </a:rPr>
                        <a:t>DP-ES</a:t>
                      </a:r>
                      <a:endParaRPr lang="en-US" sz="125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1"/>
                    </a:solidFill>
                  </a:tcPr>
                </a:tc>
                <a:tc>
                  <a:txBody>
                    <a:bodyPr/>
                    <a:lstStyle/>
                    <a:p>
                      <a:pPr algn="ctr" indent="0" marL="0">
                        <a:buNone/>
                      </a:pPr>
                      <a:r>
                        <a:rPr lang="en-US" sz="1250" b="1" dirty="0">
                          <a:solidFill>
                            <a:schemeClr val="accent1"/>
                          </a:solidFill>
                        </a:rPr>
                        <a:t>53.8 ± 6.1</a:t>
                      </a:r>
                      <a:endParaRPr lang="en-US" sz="125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81.2 ± 1.3</a:t>
                      </a:r>
                      <a:endParaRPr lang="en-US" sz="125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1"/>
                    </a:solidFill>
                  </a:tcPr>
                </a:tc>
              </a:tr>
              <a:tr h="384048">
                <a:tc>
                  <a:txBody>
                    <a:bodyPr/>
                    <a:lstStyle/>
                    <a:p>
                      <a:pPr algn="l" indent="0" marL="0">
                        <a:buNone/>
                      </a:pPr>
                      <a:r>
                        <a:rPr lang="en-US" sz="1250" dirty="0">
                          <a:solidFill>
                            <a:schemeClr val="tx1"/>
                          </a:solidFill>
                        </a:rPr>
                        <a:t>DP-OPT</a:t>
                      </a:r>
                      <a:endParaRPr lang="en-US" sz="125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37.4 ± 11.6</a:t>
                      </a:r>
                      <a:endParaRPr lang="en-US" sz="125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83.0 ± 2.1</a:t>
                      </a:r>
                      <a:endParaRPr lang="en-US" sz="125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1"/>
                    </a:solidFill>
                  </a:tcPr>
                </a:tc>
              </a:tr>
              <a:tr h="384048">
                <a:tc>
                  <a:txBody>
                    <a:bodyPr/>
                    <a:lstStyle/>
                    <a:p>
                      <a:pPr algn="l" indent="0" marL="0">
                        <a:buNone/>
                      </a:pPr>
                      <a:r>
                        <a:rPr lang="en-US" sz="1250" dirty="0">
                          <a:solidFill>
                            <a:schemeClr val="tx1"/>
                          </a:solidFill>
                        </a:rPr>
                        <a:t>PromptDPSGD</a:t>
                      </a:r>
                      <a:endParaRPr lang="en-US" sz="125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20.0 ± 5.8</a:t>
                      </a:r>
                      <a:endParaRPr lang="en-US" sz="125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34.8 ± 19.0</a:t>
                      </a:r>
                      <a:endParaRPr lang="en-US" sz="125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1"/>
                    </a:solidFill>
                  </a:tcPr>
                </a:tc>
              </a:tr>
              <a:tr h="384048">
                <a:tc>
                  <a:txBody>
                    <a:bodyPr/>
                    <a:lstStyle/>
                    <a:p>
                      <a:pPr algn="l" indent="0" marL="0">
                        <a:buNone/>
                      </a:pPr>
                      <a:r>
                        <a:rPr lang="en-US" sz="1250" dirty="0">
                          <a:solidFill>
                            <a:schemeClr val="tx1"/>
                          </a:solidFill>
                        </a:rPr>
                        <a:t>Non-DP</a:t>
                      </a:r>
                      <a:endParaRPr lang="en-US" sz="125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26.2 ± 10.2</a:t>
                      </a:r>
                      <a:endParaRPr lang="en-US" sz="125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79.5 ± 4.2</a:t>
                      </a:r>
                      <a:endParaRPr lang="en-US" sz="1250" dirty="0"/>
                    </a:p>
                  </a:txBody>
                  <a:tcPr marL="73152" marR="73152"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1"/>
                    </a:solidFill>
                  </a:tcPr>
                </a:tc>
              </a:tr>
            </a:tbl>
          </a:graphicData>
        </a:graphic>
      </p:graphicFrame>
      <p:sp>
        <p:nvSpPr>
          <p:cNvPr id="16" name="Text 11"/>
          <p:cNvSpPr txBox="1"/>
          <p:nvPr/>
        </p:nvSpPr>
        <p:spPr>
          <a:xfrm>
            <a:off x="8463077" y="4434840"/>
            <a:ext cx="2905658" cy="1371600"/>
          </a:xfrm>
          <a:prstGeom prst="rect">
            <a:avLst/>
          </a:prstGeom>
          <a:noFill/>
          <a:ln/>
        </p:spPr>
        <p:txBody>
          <a:bodyPr wrap="square" lIns="0" tIns="0" rIns="0" bIns="0" rtlCol="0" anchor="t"/>
          <a:lstStyle/>
          <a:p>
            <a:pPr indent="0" marL="0">
              <a:buNone/>
            </a:pPr>
            <a:r>
              <a:rPr lang="en-US" sz="1400" dirty="0">
                <a:solidFill>
                  <a:schemeClr val="tx1"/>
                </a:solidFill>
              </a:rPr>
              <a:t>Three seeds. The reasoning gain transfers (+16.4 pp on GSM8K); MedQA is comparable, matching the API trend.</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PRIVACY DIAGNOSTICS</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Stress test: no listed PII strings in DP-ES prompts</a:t>
            </a:r>
            <a:endParaRPr lang="en-US" sz="3000" dirty="0"/>
          </a:p>
        </p:txBody>
      </p:sp>
      <p:sp>
        <p:nvSpPr>
          <p:cNvPr id="4" name="Text 2"/>
          <p:cNvSpPr txBox="1"/>
          <p:nvPr/>
        </p:nvSpPr>
        <p:spPr>
          <a:xfrm>
            <a:off x="6156655" y="329184"/>
            <a:ext cx="5486400" cy="292608"/>
          </a:xfrm>
          <a:prstGeom prst="rect">
            <a:avLst/>
          </a:prstGeom>
          <a:noFill/>
          <a:ln/>
        </p:spPr>
        <p:txBody>
          <a:bodyPr wrap="square" lIns="0" tIns="0" rIns="0" bIns="0" rtlCol="0" anchor="t"/>
          <a:lstStyle/>
          <a:p>
            <a:pPr algn="r" indent="0" marL="0">
              <a:buNone/>
            </a:pPr>
            <a:r>
              <a:rPr lang="en-US" sz="1100" dirty="0">
                <a:solidFill>
                  <a:schemeClr val="accent3"/>
                </a:solidFill>
              </a:rPr>
              <a:t>Motivation</a:t>
            </a:r>
            <a:r>
              <a:rPr lang="en-US" sz="1100" dirty="0">
                <a:solidFill>
                  <a:schemeClr val="accent3"/>
                </a:solidFill>
              </a:rPr>
              <a:t>   ·   </a:t>
            </a:r>
            <a:r>
              <a:rPr lang="en-US" sz="1100" dirty="0">
                <a:solidFill>
                  <a:schemeClr val="accent3"/>
                </a:solidFill>
              </a:rPr>
              <a:t>Diagnosis</a:t>
            </a:r>
            <a:r>
              <a:rPr lang="en-US" sz="1100" dirty="0">
                <a:solidFill>
                  <a:schemeClr val="accent3"/>
                </a:solidFill>
              </a:rPr>
              <a:t>   ·   </a:t>
            </a:r>
            <a:r>
              <a:rPr lang="en-US" sz="1100" dirty="0">
                <a:solidFill>
                  <a:schemeClr val="accent3"/>
                </a:solidFill>
              </a:rPr>
              <a:t>Method</a:t>
            </a:r>
            <a:r>
              <a:rPr lang="en-US" sz="1100" dirty="0">
                <a:solidFill>
                  <a:schemeClr val="accent3"/>
                </a:solidFill>
              </a:rPr>
              <a:t>   ·   </a:t>
            </a:r>
            <a:r>
              <a:rPr lang="en-US" sz="1100" b="1" dirty="0">
                <a:solidFill>
                  <a:schemeClr val="accent1"/>
                </a:solidFill>
              </a:rPr>
              <a:t>Results</a:t>
            </a:r>
            <a:r>
              <a:rPr lang="en-US" sz="1100" dirty="0">
                <a:solidFill>
                  <a:schemeClr val="accent3"/>
                </a:solidFill>
              </a:rPr>
              <a:t>   ·   </a:t>
            </a:r>
            <a:r>
              <a:rPr lang="en-US" sz="1100" dirty="0">
                <a:solidFill>
                  <a:schemeClr val="accent3"/>
                </a:solidFill>
              </a:rPr>
              <a:t>Scope</a:t>
            </a:r>
            <a:endParaRPr lang="en-US" sz="1100" dirty="0"/>
          </a:p>
        </p:txBody>
      </p:sp>
      <p:sp>
        <p:nvSpPr>
          <p:cNvPr id="5" name="Shape 3"/>
          <p:cNvSpPr/>
          <p:nvPr/>
        </p:nvSpPr>
        <p:spPr>
          <a:xfrm>
            <a:off x="548640" y="1600200"/>
            <a:ext cx="11094415" cy="777240"/>
          </a:xfrm>
          <a:prstGeom prst="roundRect">
            <a:avLst>
              <a:gd name="adj" fmla="val 9412"/>
            </a:avLst>
          </a:prstGeom>
          <a:solidFill>
            <a:schemeClr val="bg2"/>
          </a:solidFill>
          <a:ln/>
        </p:spPr>
      </p:sp>
      <p:sp>
        <p:nvSpPr>
          <p:cNvPr id="6" name="Shape 4"/>
          <p:cNvSpPr/>
          <p:nvPr/>
        </p:nvSpPr>
        <p:spPr>
          <a:xfrm>
            <a:off x="777240" y="1719072"/>
            <a:ext cx="530352" cy="530352"/>
          </a:xfrm>
          <a:prstGeom prst="ellipse">
            <a:avLst/>
          </a:prstGeom>
          <a:solidFill>
            <a:srgbClr val="173A2C"/>
          </a:solidFill>
          <a:ln/>
        </p:spPr>
      </p:sp>
      <p:pic>
        <p:nvPicPr>
          <p:cNvPr id="7" name="Image 0" descr="UserSecret icon">    </p:cNvPr>
          <p:cNvPicPr>
            <a:picLocks noChangeAspect="1"/>
          </p:cNvPicPr>
          <p:nvPr/>
        </p:nvPicPr>
        <p:blipFill>
          <a:blip r:embed="rId1"/>
          <a:stretch>
            <a:fillRect/>
          </a:stretch>
        </p:blipFill>
        <p:spPr>
          <a:xfrm>
            <a:off x="909828" y="1851660"/>
            <a:ext cx="265176" cy="265176"/>
          </a:xfrm>
          <a:prstGeom prst="rect">
            <a:avLst/>
          </a:prstGeom>
        </p:spPr>
      </p:pic>
      <p:sp>
        <p:nvSpPr>
          <p:cNvPr id="8" name="Text 5"/>
          <p:cNvSpPr txBox="1"/>
          <p:nvPr/>
        </p:nvSpPr>
        <p:spPr>
          <a:xfrm>
            <a:off x="1508760" y="1645920"/>
            <a:ext cx="9905695" cy="685800"/>
          </a:xfrm>
          <a:prstGeom prst="rect">
            <a:avLst/>
          </a:prstGeom>
          <a:noFill/>
          <a:ln/>
        </p:spPr>
        <p:txBody>
          <a:bodyPr wrap="square" lIns="0" tIns="0" rIns="0" bIns="0" rtlCol="0" anchor="ctr"/>
          <a:lstStyle/>
          <a:p>
            <a:pPr indent="0" marL="0">
              <a:buNone/>
            </a:pPr>
            <a:r>
              <a:rPr lang="en-US" sz="1500" b="1" dirty="0">
                <a:solidFill>
                  <a:schemeClr val="tx1"/>
                </a:solidFill>
              </a:rPr>
              <a:t>Setup.</a:t>
            </a:r>
            <a:r>
              <a:rPr lang="en-US" sz="1500" dirty="0">
                <a:solidFill>
                  <a:schemeClr val="tx1"/>
                </a:solidFill>
              </a:rPr>
              <a:t> 200 synthetic customer profiles × 6 sensitive strings (name, phone, email, full address, street fragment, account ID) = </a:t>
            </a:r>
            <a:r>
              <a:rPr lang="en-US" sz="1500" b="1" dirty="0">
                <a:solidFill>
                  <a:schemeClr val="tx1"/>
                </a:solidFill>
              </a:rPr>
              <a:t>1,200 strings</a:t>
            </a:r>
            <a:r>
              <a:rPr lang="en-US" sz="1500" dirty="0">
                <a:solidFill>
                  <a:schemeClr val="tx1"/>
                </a:solidFill>
              </a:rPr>
              <a:t>. We count exact and near-verbatim matches in the final prompt.</a:t>
            </a:r>
            <a:endParaRPr lang="en-US" sz="1500" dirty="0"/>
          </a:p>
        </p:txBody>
      </p:sp>
      <p:sp>
        <p:nvSpPr>
          <p:cNvPr id="9" name="Shape 6"/>
          <p:cNvSpPr/>
          <p:nvPr/>
        </p:nvSpPr>
        <p:spPr>
          <a:xfrm>
            <a:off x="548640" y="2606040"/>
            <a:ext cx="5364328" cy="2743200"/>
          </a:xfrm>
          <a:prstGeom prst="roundRect">
            <a:avLst>
              <a:gd name="adj" fmla="val 2667"/>
            </a:avLst>
          </a:prstGeom>
          <a:solidFill>
            <a:schemeClr val="accent2">
              <a:alpha val="8000"/>
            </a:schemeClr>
          </a:solidFill>
          <a:ln/>
        </p:spPr>
      </p:sp>
      <p:sp>
        <p:nvSpPr>
          <p:cNvPr id="10" name="Text 7"/>
          <p:cNvSpPr txBox="1"/>
          <p:nvPr/>
        </p:nvSpPr>
        <p:spPr>
          <a:xfrm>
            <a:off x="822960" y="2743200"/>
            <a:ext cx="4815688" cy="365760"/>
          </a:xfrm>
          <a:prstGeom prst="rect">
            <a:avLst/>
          </a:prstGeom>
          <a:noFill/>
          <a:ln/>
        </p:spPr>
        <p:txBody>
          <a:bodyPr wrap="square" lIns="0" tIns="0" rIns="0" bIns="0" rtlCol="0" anchor="t"/>
          <a:lstStyle/>
          <a:p>
            <a:pPr indent="0" marL="0">
              <a:buNone/>
            </a:pPr>
            <a:r>
              <a:rPr lang="en-US" sz="1900" b="1" dirty="0">
                <a:solidFill>
                  <a:schemeClr val="accent2"/>
                </a:solidFill>
                <a:latin typeface="+mj-lt" pitchFamily="34" charset="0"/>
                <a:ea typeface="+mj-lt" pitchFamily="34" charset="-122"/>
                <a:cs typeface="+mj-lt" pitchFamily="34" charset="-120"/>
              </a:rPr>
              <a:t>Adversarial non-DP control</a:t>
            </a:r>
            <a:endParaRPr lang="en-US" sz="1900" dirty="0"/>
          </a:p>
        </p:txBody>
      </p:sp>
      <p:sp>
        <p:nvSpPr>
          <p:cNvPr id="11" name="Text 8"/>
          <p:cNvSpPr txBox="1"/>
          <p:nvPr/>
        </p:nvSpPr>
        <p:spPr>
          <a:xfrm>
            <a:off x="822960" y="3108960"/>
            <a:ext cx="4815688" cy="292608"/>
          </a:xfrm>
          <a:prstGeom prst="rect">
            <a:avLst/>
          </a:prstGeom>
          <a:noFill/>
          <a:ln/>
        </p:spPr>
        <p:txBody>
          <a:bodyPr wrap="square" lIns="0" tIns="0" rIns="0" bIns="0" rtlCol="0" anchor="t"/>
          <a:lstStyle/>
          <a:p>
            <a:pPr indent="0" marL="0">
              <a:buNone/>
            </a:pPr>
            <a:r>
              <a:rPr lang="en-US" sz="1400" dirty="0">
                <a:solidFill>
                  <a:schemeClr val="accent3"/>
                </a:solidFill>
              </a:rPr>
              <a:t>Given raw records and instructed to embed a directory</a:t>
            </a:r>
            <a:endParaRPr lang="en-US" sz="1400" dirty="0"/>
          </a:p>
        </p:txBody>
      </p:sp>
      <p:sp>
        <p:nvSpPr>
          <p:cNvPr id="12" name="Shape 9"/>
          <p:cNvSpPr/>
          <p:nvPr/>
        </p:nvSpPr>
        <p:spPr>
          <a:xfrm>
            <a:off x="822960" y="3493008"/>
            <a:ext cx="3337560" cy="1691640"/>
          </a:xfrm>
          <a:prstGeom prst="roundRect">
            <a:avLst>
              <a:gd name="adj" fmla="val 4324"/>
            </a:avLst>
          </a:prstGeom>
          <a:solidFill>
            <a:schemeClr val="bg1"/>
          </a:solidFill>
          <a:ln/>
        </p:spPr>
      </p:sp>
      <p:sp>
        <p:nvSpPr>
          <p:cNvPr id="13" name="Text 10"/>
          <p:cNvSpPr txBox="1"/>
          <p:nvPr/>
        </p:nvSpPr>
        <p:spPr>
          <a:xfrm>
            <a:off x="960120" y="3584448"/>
            <a:ext cx="3108960" cy="155448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Use this customer directory:</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Jessica Moore, (713) 907-8800,</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jessica.moore83@mail.com;</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Anthony Williams, (312) 991-9095,</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anthony.williams60@mail.com; …</a:t>
            </a:r>
            <a:endParaRPr lang="en-US" sz="1100" dirty="0"/>
          </a:p>
        </p:txBody>
      </p:sp>
      <p:sp>
        <p:nvSpPr>
          <p:cNvPr id="14" name="Text 11"/>
          <p:cNvSpPr txBox="1"/>
          <p:nvPr/>
        </p:nvSpPr>
        <p:spPr>
          <a:xfrm>
            <a:off x="4343400" y="3520440"/>
            <a:ext cx="1386688" cy="960120"/>
          </a:xfrm>
          <a:prstGeom prst="rect">
            <a:avLst/>
          </a:prstGeom>
          <a:noFill/>
          <a:ln/>
        </p:spPr>
        <p:txBody>
          <a:bodyPr wrap="square" lIns="0" tIns="0" rIns="0" bIns="0" rtlCol="0" anchor="ctr"/>
          <a:lstStyle/>
          <a:p>
            <a:pPr algn="ctr" indent="0" marL="0">
              <a:buNone/>
            </a:pPr>
            <a:r>
              <a:rPr lang="en-US" sz="5400" b="1" dirty="0">
                <a:solidFill>
                  <a:schemeClr val="accent2"/>
                </a:solidFill>
                <a:latin typeface="+mj-lt" pitchFamily="34" charset="0"/>
                <a:ea typeface="+mj-lt" pitchFamily="34" charset="-122"/>
                <a:cs typeface="+mj-lt" pitchFamily="34" charset="-120"/>
              </a:rPr>
              <a:t>40</a:t>
            </a:r>
            <a:endParaRPr lang="en-US" sz="5400" dirty="0"/>
          </a:p>
        </p:txBody>
      </p:sp>
      <p:sp>
        <p:nvSpPr>
          <p:cNvPr id="15" name="Text 12"/>
          <p:cNvSpPr txBox="1"/>
          <p:nvPr/>
        </p:nvSpPr>
        <p:spPr>
          <a:xfrm>
            <a:off x="4343400" y="4480560"/>
            <a:ext cx="1386688" cy="548640"/>
          </a:xfrm>
          <a:prstGeom prst="rect">
            <a:avLst/>
          </a:prstGeom>
          <a:noFill/>
          <a:ln/>
        </p:spPr>
        <p:txBody>
          <a:bodyPr wrap="square" lIns="0" tIns="0" rIns="0" bIns="0" rtlCol="0" anchor="t"/>
          <a:lstStyle/>
          <a:p>
            <a:pPr algn="ctr" indent="0" marL="0">
              <a:buNone/>
            </a:pPr>
            <a:r>
              <a:rPr lang="en-US" sz="1400" b="1" dirty="0">
                <a:solidFill>
                  <a:schemeClr val="accent2"/>
                </a:solidFill>
              </a:rPr>
              <a:t>strings leaked (3.33%)</a:t>
            </a:r>
            <a:endParaRPr lang="en-US" sz="1400" dirty="0"/>
          </a:p>
        </p:txBody>
      </p:sp>
      <p:sp>
        <p:nvSpPr>
          <p:cNvPr id="16" name="Shape 13"/>
          <p:cNvSpPr/>
          <p:nvPr/>
        </p:nvSpPr>
        <p:spPr>
          <a:xfrm>
            <a:off x="6278728" y="2606040"/>
            <a:ext cx="5364328" cy="2743200"/>
          </a:xfrm>
          <a:prstGeom prst="roundRect">
            <a:avLst>
              <a:gd name="adj" fmla="val 2667"/>
            </a:avLst>
          </a:prstGeom>
          <a:solidFill>
            <a:schemeClr val="accent1">
              <a:alpha val="8000"/>
            </a:schemeClr>
          </a:solidFill>
          <a:ln/>
        </p:spPr>
      </p:sp>
      <p:sp>
        <p:nvSpPr>
          <p:cNvPr id="17" name="Text 14"/>
          <p:cNvSpPr txBox="1"/>
          <p:nvPr/>
        </p:nvSpPr>
        <p:spPr>
          <a:xfrm>
            <a:off x="6553048" y="2743200"/>
            <a:ext cx="4815688" cy="365760"/>
          </a:xfrm>
          <a:prstGeom prst="rect">
            <a:avLst/>
          </a:prstGeom>
          <a:noFill/>
          <a:ln/>
        </p:spPr>
        <p:txBody>
          <a:bodyPr wrap="square" lIns="0" tIns="0" rIns="0" bIns="0" rtlCol="0" anchor="t"/>
          <a:lstStyle/>
          <a:p>
            <a:pPr indent="0" marL="0">
              <a:buNone/>
            </a:pPr>
            <a:r>
              <a:rPr lang="en-US" sz="1900" b="1" dirty="0">
                <a:solidFill>
                  <a:schemeClr val="accent1"/>
                </a:solidFill>
                <a:latin typeface="+mj-lt" pitchFamily="34" charset="0"/>
                <a:ea typeface="+mj-lt" pitchFamily="34" charset="-122"/>
                <a:cs typeface="+mj-lt" pitchFamily="34" charset="-120"/>
              </a:rPr>
              <a:t>DP-ES</a:t>
            </a:r>
            <a:endParaRPr lang="en-US" sz="1900" dirty="0"/>
          </a:p>
        </p:txBody>
      </p:sp>
      <p:sp>
        <p:nvSpPr>
          <p:cNvPr id="18" name="Text 15"/>
          <p:cNvSpPr txBox="1"/>
          <p:nvPr/>
        </p:nvSpPr>
        <p:spPr>
          <a:xfrm>
            <a:off x="6553048" y="3108960"/>
            <a:ext cx="4815688" cy="292608"/>
          </a:xfrm>
          <a:prstGeom prst="rect">
            <a:avLst/>
          </a:prstGeom>
          <a:noFill/>
          <a:ln/>
        </p:spPr>
        <p:txBody>
          <a:bodyPr wrap="square" lIns="0" tIns="0" rIns="0" bIns="0" rtlCol="0" anchor="t"/>
          <a:lstStyle/>
          <a:p>
            <a:pPr indent="0" marL="0">
              <a:buNone/>
            </a:pPr>
            <a:r>
              <a:rPr lang="en-US" sz="1400" dirty="0">
                <a:solidFill>
                  <a:schemeClr val="accent3"/>
                </a:solidFill>
              </a:rPr>
              <a:t>Mutation never receives records</a:t>
            </a:r>
            <a:endParaRPr lang="en-US" sz="1400" dirty="0"/>
          </a:p>
        </p:txBody>
      </p:sp>
      <p:sp>
        <p:nvSpPr>
          <p:cNvPr id="19" name="Shape 16"/>
          <p:cNvSpPr/>
          <p:nvPr/>
        </p:nvSpPr>
        <p:spPr>
          <a:xfrm>
            <a:off x="6553048" y="3493008"/>
            <a:ext cx="3337560" cy="1691640"/>
          </a:xfrm>
          <a:prstGeom prst="roundRect">
            <a:avLst>
              <a:gd name="adj" fmla="val 4324"/>
            </a:avLst>
          </a:prstGeom>
          <a:solidFill>
            <a:schemeClr val="bg1"/>
          </a:solidFill>
          <a:ln/>
        </p:spPr>
      </p:sp>
      <p:sp>
        <p:nvSpPr>
          <p:cNvPr id="20" name="Text 17"/>
          <p:cNvSpPr txBox="1"/>
          <p:nvPr/>
        </p:nvSpPr>
        <p:spPr>
          <a:xfrm>
            <a:off x="6690208" y="3584448"/>
            <a:ext cx="3108960" cy="155448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You are a customer service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assistant. Retrieve relevant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information based on user queries.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If the query involves account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information, verify before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responding.</a:t>
            </a:r>
            <a:endParaRPr lang="en-US" sz="1100" dirty="0"/>
          </a:p>
        </p:txBody>
      </p:sp>
      <p:sp>
        <p:nvSpPr>
          <p:cNvPr id="21" name="Text 18"/>
          <p:cNvSpPr txBox="1"/>
          <p:nvPr/>
        </p:nvSpPr>
        <p:spPr>
          <a:xfrm>
            <a:off x="10073488" y="3520440"/>
            <a:ext cx="1386688" cy="960120"/>
          </a:xfrm>
          <a:prstGeom prst="rect">
            <a:avLst/>
          </a:prstGeom>
          <a:noFill/>
          <a:ln/>
        </p:spPr>
        <p:txBody>
          <a:bodyPr wrap="square" lIns="0" tIns="0" rIns="0" bIns="0" rtlCol="0" anchor="ctr"/>
          <a:lstStyle/>
          <a:p>
            <a:pPr algn="ctr" indent="0" marL="0">
              <a:buNone/>
            </a:pPr>
            <a:r>
              <a:rPr lang="en-US" sz="5400" b="1" dirty="0">
                <a:solidFill>
                  <a:schemeClr val="accent1"/>
                </a:solidFill>
                <a:latin typeface="+mj-lt" pitchFamily="34" charset="0"/>
                <a:ea typeface="+mj-lt" pitchFamily="34" charset="-122"/>
                <a:cs typeface="+mj-lt" pitchFamily="34" charset="-120"/>
              </a:rPr>
              <a:t>0</a:t>
            </a:r>
            <a:endParaRPr lang="en-US" sz="5400" dirty="0"/>
          </a:p>
        </p:txBody>
      </p:sp>
      <p:sp>
        <p:nvSpPr>
          <p:cNvPr id="22" name="Text 19"/>
          <p:cNvSpPr txBox="1"/>
          <p:nvPr/>
        </p:nvSpPr>
        <p:spPr>
          <a:xfrm>
            <a:off x="10073488" y="4480560"/>
            <a:ext cx="1386688" cy="548640"/>
          </a:xfrm>
          <a:prstGeom prst="rect">
            <a:avLst/>
          </a:prstGeom>
          <a:noFill/>
          <a:ln/>
        </p:spPr>
        <p:txBody>
          <a:bodyPr wrap="square" lIns="0" tIns="0" rIns="0" bIns="0" rtlCol="0" anchor="t"/>
          <a:lstStyle/>
          <a:p>
            <a:pPr algn="ctr" indent="0" marL="0">
              <a:buNone/>
            </a:pPr>
            <a:r>
              <a:rPr lang="en-US" sz="1400" b="1" dirty="0">
                <a:solidFill>
                  <a:schemeClr val="accent1"/>
                </a:solidFill>
              </a:rPr>
              <a:t>strings leaked (0.0%)</a:t>
            </a:r>
            <a:endParaRPr lang="en-US" sz="1400" dirty="0"/>
          </a:p>
        </p:txBody>
      </p:sp>
      <p:pic>
        <p:nvPicPr>
          <p:cNvPr id="23" name="Image 1" descr="InfoCircle icon">    </p:cNvPr>
          <p:cNvPicPr>
            <a:picLocks noChangeAspect="1"/>
          </p:cNvPicPr>
          <p:nvPr/>
        </p:nvPicPr>
        <p:blipFill>
          <a:blip r:embed="rId2"/>
          <a:stretch>
            <a:fillRect/>
          </a:stretch>
        </p:blipFill>
        <p:spPr>
          <a:xfrm>
            <a:off x="548640" y="5605272"/>
            <a:ext cx="274320" cy="274320"/>
          </a:xfrm>
          <a:prstGeom prst="rect">
            <a:avLst/>
          </a:prstGeom>
        </p:spPr>
      </p:pic>
      <p:sp>
        <p:nvSpPr>
          <p:cNvPr id="24" name="Text 20"/>
          <p:cNvSpPr txBox="1"/>
          <p:nvPr/>
        </p:nvSpPr>
        <p:spPr>
          <a:xfrm>
            <a:off x="960120" y="5532120"/>
            <a:ext cx="10682935" cy="548640"/>
          </a:xfrm>
          <a:prstGeom prst="rect">
            <a:avLst/>
          </a:prstGeom>
          <a:noFill/>
          <a:ln/>
        </p:spPr>
        <p:txBody>
          <a:bodyPr wrap="square" lIns="0" tIns="0" rIns="0" bIns="0" rtlCol="0" anchor="t"/>
          <a:lstStyle/>
          <a:p>
            <a:pPr indent="0" marL="0">
              <a:buNone/>
            </a:pPr>
            <a:r>
              <a:rPr lang="en-US" sz="1400" dirty="0">
                <a:solidFill>
                  <a:schemeClr val="accent3"/>
                </a:solidFill>
              </a:rPr>
              <a:t>Also: 1,000 logged noise draws are consistent with the configured Gaussian (Kolmogorov–Smirnov). These are diagnostics — they cannot certify DP; the guarantee comes from the RDP accountant.</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SCOPE AND LIMITATIONS</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What we establish — and what remains open</a:t>
            </a:r>
            <a:endParaRPr lang="en-US" sz="3000" dirty="0"/>
          </a:p>
        </p:txBody>
      </p:sp>
      <p:sp>
        <p:nvSpPr>
          <p:cNvPr id="4" name="Text 2"/>
          <p:cNvSpPr txBox="1"/>
          <p:nvPr/>
        </p:nvSpPr>
        <p:spPr>
          <a:xfrm>
            <a:off x="6156655" y="329184"/>
            <a:ext cx="5486400" cy="292608"/>
          </a:xfrm>
          <a:prstGeom prst="rect">
            <a:avLst/>
          </a:prstGeom>
          <a:noFill/>
          <a:ln/>
        </p:spPr>
        <p:txBody>
          <a:bodyPr wrap="square" lIns="0" tIns="0" rIns="0" bIns="0" rtlCol="0" anchor="t"/>
          <a:lstStyle/>
          <a:p>
            <a:pPr algn="r" indent="0" marL="0">
              <a:buNone/>
            </a:pPr>
            <a:r>
              <a:rPr lang="en-US" sz="1100" dirty="0">
                <a:solidFill>
                  <a:schemeClr val="accent3"/>
                </a:solidFill>
              </a:rPr>
              <a:t>Motivation</a:t>
            </a:r>
            <a:r>
              <a:rPr lang="en-US" sz="1100" dirty="0">
                <a:solidFill>
                  <a:schemeClr val="accent3"/>
                </a:solidFill>
              </a:rPr>
              <a:t>   ·   </a:t>
            </a:r>
            <a:r>
              <a:rPr lang="en-US" sz="1100" dirty="0">
                <a:solidFill>
                  <a:schemeClr val="accent3"/>
                </a:solidFill>
              </a:rPr>
              <a:t>Diagnosis</a:t>
            </a:r>
            <a:r>
              <a:rPr lang="en-US" sz="1100" dirty="0">
                <a:solidFill>
                  <a:schemeClr val="accent3"/>
                </a:solidFill>
              </a:rPr>
              <a:t>   ·   </a:t>
            </a:r>
            <a:r>
              <a:rPr lang="en-US" sz="1100" dirty="0">
                <a:solidFill>
                  <a:schemeClr val="accent3"/>
                </a:solidFill>
              </a:rPr>
              <a:t>Method</a:t>
            </a:r>
            <a:r>
              <a:rPr lang="en-US" sz="1100" dirty="0">
                <a:solidFill>
                  <a:schemeClr val="accent3"/>
                </a:solidFill>
              </a:rPr>
              <a:t>   ·   </a:t>
            </a:r>
            <a:r>
              <a:rPr lang="en-US" sz="1100" dirty="0">
                <a:solidFill>
                  <a:schemeClr val="accent3"/>
                </a:solidFill>
              </a:rPr>
              <a:t>Results</a:t>
            </a:r>
            <a:r>
              <a:rPr lang="en-US" sz="1100" dirty="0">
                <a:solidFill>
                  <a:schemeClr val="accent3"/>
                </a:solidFill>
              </a:rPr>
              <a:t>   ·   </a:t>
            </a:r>
            <a:r>
              <a:rPr lang="en-US" sz="1100" b="1" dirty="0">
                <a:solidFill>
                  <a:schemeClr val="accent1"/>
                </a:solidFill>
              </a:rPr>
              <a:t>Scope</a:t>
            </a:r>
            <a:endParaRPr lang="en-US" sz="1100" dirty="0"/>
          </a:p>
        </p:txBody>
      </p:sp>
      <p:sp>
        <p:nvSpPr>
          <p:cNvPr id="5" name="Shape 3"/>
          <p:cNvSpPr/>
          <p:nvPr/>
        </p:nvSpPr>
        <p:spPr>
          <a:xfrm>
            <a:off x="548640" y="1600200"/>
            <a:ext cx="5364328" cy="3977640"/>
          </a:xfrm>
          <a:prstGeom prst="roundRect">
            <a:avLst>
              <a:gd name="adj" fmla="val 1839"/>
            </a:avLst>
          </a:prstGeom>
          <a:solidFill>
            <a:schemeClr val="bg2"/>
          </a:solidFill>
          <a:ln/>
        </p:spPr>
      </p:sp>
      <p:sp>
        <p:nvSpPr>
          <p:cNvPr id="6" name="Text 4"/>
          <p:cNvSpPr txBox="1"/>
          <p:nvPr/>
        </p:nvSpPr>
        <p:spPr>
          <a:xfrm>
            <a:off x="868680" y="1783080"/>
            <a:ext cx="4724248" cy="365760"/>
          </a:xfrm>
          <a:prstGeom prst="rect">
            <a:avLst/>
          </a:prstGeom>
          <a:noFill/>
          <a:ln/>
        </p:spPr>
        <p:txBody>
          <a:bodyPr wrap="square" lIns="0" tIns="0" rIns="0" bIns="0" rtlCol="0" anchor="t"/>
          <a:lstStyle/>
          <a:p>
            <a:pPr indent="0" marL="0">
              <a:buNone/>
            </a:pPr>
            <a:r>
              <a:rPr lang="en-US" sz="1900" b="1" dirty="0">
                <a:solidFill>
                  <a:schemeClr val="accent1"/>
                </a:solidFill>
                <a:latin typeface="+mj-lt" pitchFamily="34" charset="0"/>
                <a:ea typeface="+mj-lt" pitchFamily="34" charset="-122"/>
                <a:cs typeface="+mj-lt" pitchFamily="34" charset="-120"/>
              </a:rPr>
              <a:t>Supported by the evidence</a:t>
            </a:r>
            <a:endParaRPr lang="en-US" sz="1900" dirty="0"/>
          </a:p>
        </p:txBody>
      </p:sp>
      <p:sp>
        <p:nvSpPr>
          <p:cNvPr id="7" name="Shape 5"/>
          <p:cNvSpPr/>
          <p:nvPr/>
        </p:nvSpPr>
        <p:spPr>
          <a:xfrm>
            <a:off x="868680" y="2359152"/>
            <a:ext cx="310896" cy="310896"/>
          </a:xfrm>
          <a:prstGeom prst="ellipse">
            <a:avLst/>
          </a:prstGeom>
          <a:solidFill>
            <a:srgbClr val="2E6B4F"/>
          </a:solidFill>
          <a:ln/>
        </p:spPr>
      </p:sp>
      <p:pic>
        <p:nvPicPr>
          <p:cNvPr id="8" name="Image 0" descr="Check icon">    </p:cNvPr>
          <p:cNvPicPr>
            <a:picLocks noChangeAspect="1"/>
          </p:cNvPicPr>
          <p:nvPr/>
        </p:nvPicPr>
        <p:blipFill>
          <a:blip r:embed="rId1"/>
          <a:stretch>
            <a:fillRect/>
          </a:stretch>
        </p:blipFill>
        <p:spPr>
          <a:xfrm>
            <a:off x="946404" y="2436876"/>
            <a:ext cx="155448" cy="155448"/>
          </a:xfrm>
          <a:prstGeom prst="rect">
            <a:avLst/>
          </a:prstGeom>
        </p:spPr>
      </p:pic>
      <p:sp>
        <p:nvSpPr>
          <p:cNvPr id="9" name="Text 6"/>
          <p:cNvSpPr txBox="1"/>
          <p:nvPr/>
        </p:nvSpPr>
        <p:spPr>
          <a:xfrm>
            <a:off x="1371600" y="2331720"/>
            <a:ext cx="4267048" cy="758952"/>
          </a:xfrm>
          <a:prstGeom prst="rect">
            <a:avLst/>
          </a:prstGeom>
          <a:noFill/>
          <a:ln/>
        </p:spPr>
        <p:txBody>
          <a:bodyPr wrap="square" lIns="0" tIns="0" rIns="0" bIns="0" rtlCol="0" anchor="t"/>
          <a:lstStyle/>
          <a:p>
            <a:pPr indent="0" marL="0">
              <a:buNone/>
            </a:pPr>
            <a:r>
              <a:rPr lang="en-US" sz="1500" dirty="0">
                <a:solidFill>
                  <a:schemeClr val="tx1"/>
                </a:solidFill>
              </a:rPr>
              <a:t>More robust optimization under DP noise than token-level construction</a:t>
            </a:r>
            <a:endParaRPr lang="en-US" sz="1500" dirty="0"/>
          </a:p>
        </p:txBody>
      </p:sp>
      <p:sp>
        <p:nvSpPr>
          <p:cNvPr id="10" name="Shape 7"/>
          <p:cNvSpPr/>
          <p:nvPr/>
        </p:nvSpPr>
        <p:spPr>
          <a:xfrm>
            <a:off x="868680" y="3163824"/>
            <a:ext cx="310896" cy="310896"/>
          </a:xfrm>
          <a:prstGeom prst="ellipse">
            <a:avLst/>
          </a:prstGeom>
          <a:solidFill>
            <a:srgbClr val="2E6B4F"/>
          </a:solidFill>
          <a:ln/>
        </p:spPr>
      </p:sp>
      <p:pic>
        <p:nvPicPr>
          <p:cNvPr id="11" name="Image 1" descr="Check icon">    </p:cNvPr>
          <p:cNvPicPr>
            <a:picLocks noChangeAspect="1"/>
          </p:cNvPicPr>
          <p:nvPr/>
        </p:nvPicPr>
        <p:blipFill>
          <a:blip r:embed="rId2"/>
          <a:stretch>
            <a:fillRect/>
          </a:stretch>
        </p:blipFill>
        <p:spPr>
          <a:xfrm>
            <a:off x="946404" y="3241548"/>
            <a:ext cx="155448" cy="155448"/>
          </a:xfrm>
          <a:prstGeom prst="rect">
            <a:avLst/>
          </a:prstGeom>
        </p:spPr>
      </p:pic>
      <p:sp>
        <p:nvSpPr>
          <p:cNvPr id="12" name="Text 8"/>
          <p:cNvSpPr txBox="1"/>
          <p:nvPr/>
        </p:nvSpPr>
        <p:spPr>
          <a:xfrm>
            <a:off x="1371600" y="3136392"/>
            <a:ext cx="4267048" cy="758952"/>
          </a:xfrm>
          <a:prstGeom prst="rect">
            <a:avLst/>
          </a:prstGeom>
          <a:noFill/>
          <a:ln/>
        </p:spPr>
        <p:txBody>
          <a:bodyPr wrap="square" lIns="0" tIns="0" rIns="0" bIns="0" rtlCol="0" anchor="t"/>
          <a:lstStyle/>
          <a:p>
            <a:pPr indent="0" marL="0">
              <a:buNone/>
            </a:pPr>
            <a:r>
              <a:rPr lang="en-US" sz="1500" dirty="0">
                <a:solidFill>
                  <a:schemeClr val="tx1"/>
                </a:solidFill>
              </a:rPr>
              <a:t>A formal record-level guarantee (ε ≤ 0.71, δ = 10</a:t>
            </a:r>
            <a:r>
              <a:rPr lang="en-US" sz="1500" baseline="30000" dirty="0">
                <a:solidFill>
                  <a:schemeClr val="tx1"/>
                </a:solidFill>
              </a:rPr>
              <a:t>−5</a:t>
            </a:r>
            <a:r>
              <a:rPr lang="en-US" sz="1500" dirty="0">
                <a:solidFill>
                  <a:schemeClr val="tx1"/>
                </a:solidFill>
              </a:rPr>
              <a:t>) from mechanism-level RDP accounting</a:t>
            </a:r>
            <a:endParaRPr lang="en-US" sz="1500" dirty="0"/>
          </a:p>
        </p:txBody>
      </p:sp>
      <p:sp>
        <p:nvSpPr>
          <p:cNvPr id="13" name="Shape 9"/>
          <p:cNvSpPr/>
          <p:nvPr/>
        </p:nvSpPr>
        <p:spPr>
          <a:xfrm>
            <a:off x="868680" y="3968496"/>
            <a:ext cx="310896" cy="310896"/>
          </a:xfrm>
          <a:prstGeom prst="ellipse">
            <a:avLst/>
          </a:prstGeom>
          <a:solidFill>
            <a:srgbClr val="2E6B4F"/>
          </a:solidFill>
          <a:ln/>
        </p:spPr>
      </p:sp>
      <p:pic>
        <p:nvPicPr>
          <p:cNvPr id="14" name="Image 2" descr="Check icon">    </p:cNvPr>
          <p:cNvPicPr>
            <a:picLocks noChangeAspect="1"/>
          </p:cNvPicPr>
          <p:nvPr/>
        </p:nvPicPr>
        <p:blipFill>
          <a:blip r:embed="rId3"/>
          <a:stretch>
            <a:fillRect/>
          </a:stretch>
        </p:blipFill>
        <p:spPr>
          <a:xfrm>
            <a:off x="946404" y="4046220"/>
            <a:ext cx="155448" cy="155448"/>
          </a:xfrm>
          <a:prstGeom prst="rect">
            <a:avLst/>
          </a:prstGeom>
        </p:spPr>
      </p:pic>
      <p:sp>
        <p:nvSpPr>
          <p:cNvPr id="15" name="Text 10"/>
          <p:cNvSpPr txBox="1"/>
          <p:nvPr/>
        </p:nvSpPr>
        <p:spPr>
          <a:xfrm>
            <a:off x="1371600" y="3941064"/>
            <a:ext cx="4267048" cy="758952"/>
          </a:xfrm>
          <a:prstGeom prst="rect">
            <a:avLst/>
          </a:prstGeom>
          <a:noFill/>
          <a:ln/>
        </p:spPr>
        <p:txBody>
          <a:bodyPr wrap="square" lIns="0" tIns="0" rIns="0" bIns="0" rtlCol="0" anchor="t"/>
          <a:lstStyle/>
          <a:p>
            <a:pPr indent="0" marL="0">
              <a:buNone/>
            </a:pPr>
            <a:r>
              <a:rPr lang="en-US" sz="1500" dirty="0">
                <a:solidFill>
                  <a:schemeClr val="tx1"/>
                </a:solidFill>
              </a:rPr>
              <a:t>Lower wall-clock time and fewer private-data round trips than DP-OPT</a:t>
            </a:r>
            <a:endParaRPr lang="en-US" sz="1500" dirty="0"/>
          </a:p>
        </p:txBody>
      </p:sp>
      <p:sp>
        <p:nvSpPr>
          <p:cNvPr id="16" name="Shape 11"/>
          <p:cNvSpPr/>
          <p:nvPr/>
        </p:nvSpPr>
        <p:spPr>
          <a:xfrm>
            <a:off x="6278728" y="1600200"/>
            <a:ext cx="5364328" cy="3977640"/>
          </a:xfrm>
          <a:prstGeom prst="roundRect">
            <a:avLst>
              <a:gd name="adj" fmla="val 1839"/>
            </a:avLst>
          </a:prstGeom>
          <a:solidFill>
            <a:schemeClr val="bg2"/>
          </a:solidFill>
          <a:ln/>
        </p:spPr>
      </p:sp>
      <p:sp>
        <p:nvSpPr>
          <p:cNvPr id="17" name="Text 12"/>
          <p:cNvSpPr txBox="1"/>
          <p:nvPr/>
        </p:nvSpPr>
        <p:spPr>
          <a:xfrm>
            <a:off x="6598768" y="1783080"/>
            <a:ext cx="4724248" cy="365760"/>
          </a:xfrm>
          <a:prstGeom prst="rect">
            <a:avLst/>
          </a:prstGeom>
          <a:noFill/>
          <a:ln/>
        </p:spPr>
        <p:txBody>
          <a:bodyPr wrap="square" lIns="0" tIns="0" rIns="0" bIns="0" rtlCol="0" anchor="t"/>
          <a:lstStyle/>
          <a:p>
            <a:pPr indent="0" marL="0">
              <a:buNone/>
            </a:pPr>
            <a:r>
              <a:rPr lang="en-US" sz="1900" b="1" dirty="0">
                <a:solidFill>
                  <a:schemeClr val="accent4"/>
                </a:solidFill>
                <a:latin typeface="+mj-lt" pitchFamily="34" charset="0"/>
                <a:ea typeface="+mj-lt" pitchFamily="34" charset="-122"/>
                <a:cs typeface="+mj-lt" pitchFamily="34" charset="-120"/>
              </a:rPr>
              <a:t>Open — future work</a:t>
            </a:r>
            <a:endParaRPr lang="en-US" sz="1900" dirty="0"/>
          </a:p>
        </p:txBody>
      </p:sp>
      <p:sp>
        <p:nvSpPr>
          <p:cNvPr id="18" name="Shape 13"/>
          <p:cNvSpPr/>
          <p:nvPr/>
        </p:nvSpPr>
        <p:spPr>
          <a:xfrm>
            <a:off x="6598768" y="2359152"/>
            <a:ext cx="310896" cy="310896"/>
          </a:xfrm>
          <a:prstGeom prst="ellipse">
            <a:avLst/>
          </a:prstGeom>
          <a:solidFill>
            <a:srgbClr val="B07D1A"/>
          </a:solidFill>
          <a:ln/>
        </p:spPr>
      </p:sp>
      <p:pic>
        <p:nvPicPr>
          <p:cNvPr id="19" name="Image 3" descr="Question icon">    </p:cNvPr>
          <p:cNvPicPr>
            <a:picLocks noChangeAspect="1"/>
          </p:cNvPicPr>
          <p:nvPr/>
        </p:nvPicPr>
        <p:blipFill>
          <a:blip r:embed="rId4"/>
          <a:stretch>
            <a:fillRect/>
          </a:stretch>
        </p:blipFill>
        <p:spPr>
          <a:xfrm>
            <a:off x="6676492" y="2436876"/>
            <a:ext cx="155448" cy="155448"/>
          </a:xfrm>
          <a:prstGeom prst="rect">
            <a:avLst/>
          </a:prstGeom>
        </p:spPr>
      </p:pic>
      <p:sp>
        <p:nvSpPr>
          <p:cNvPr id="20" name="Text 14"/>
          <p:cNvSpPr txBox="1"/>
          <p:nvPr/>
        </p:nvSpPr>
        <p:spPr>
          <a:xfrm>
            <a:off x="7101688" y="2331720"/>
            <a:ext cx="4267048" cy="594360"/>
          </a:xfrm>
          <a:prstGeom prst="rect">
            <a:avLst/>
          </a:prstGeom>
          <a:noFill/>
          <a:ln/>
        </p:spPr>
        <p:txBody>
          <a:bodyPr wrap="square" lIns="0" tIns="0" rIns="0" bIns="0" rtlCol="0" anchor="t"/>
          <a:lstStyle/>
          <a:p>
            <a:pPr indent="0" marL="0">
              <a:buNone/>
            </a:pPr>
            <a:r>
              <a:rPr lang="en-US" sz="1500" dirty="0">
                <a:solidFill>
                  <a:schemeClr val="tx1"/>
                </a:solidFill>
              </a:rPr>
              <a:t>End-to-end validation on genuinely sensitive, non-saturated deployment data</a:t>
            </a:r>
            <a:endParaRPr lang="en-US" sz="1500" dirty="0"/>
          </a:p>
        </p:txBody>
      </p:sp>
      <p:sp>
        <p:nvSpPr>
          <p:cNvPr id="21" name="Shape 15"/>
          <p:cNvSpPr/>
          <p:nvPr/>
        </p:nvSpPr>
        <p:spPr>
          <a:xfrm>
            <a:off x="6598768" y="2999232"/>
            <a:ext cx="310896" cy="310896"/>
          </a:xfrm>
          <a:prstGeom prst="ellipse">
            <a:avLst/>
          </a:prstGeom>
          <a:solidFill>
            <a:srgbClr val="B07D1A"/>
          </a:solidFill>
          <a:ln/>
        </p:spPr>
      </p:sp>
      <p:pic>
        <p:nvPicPr>
          <p:cNvPr id="22" name="Image 4" descr="Question icon">    </p:cNvPr>
          <p:cNvPicPr>
            <a:picLocks noChangeAspect="1"/>
          </p:cNvPicPr>
          <p:nvPr/>
        </p:nvPicPr>
        <p:blipFill>
          <a:blip r:embed="rId5"/>
          <a:stretch>
            <a:fillRect/>
          </a:stretch>
        </p:blipFill>
        <p:spPr>
          <a:xfrm>
            <a:off x="6676492" y="3076956"/>
            <a:ext cx="155448" cy="155448"/>
          </a:xfrm>
          <a:prstGeom prst="rect">
            <a:avLst/>
          </a:prstGeom>
        </p:spPr>
      </p:pic>
      <p:sp>
        <p:nvSpPr>
          <p:cNvPr id="23" name="Text 16"/>
          <p:cNvSpPr txBox="1"/>
          <p:nvPr/>
        </p:nvSpPr>
        <p:spPr>
          <a:xfrm>
            <a:off x="7101688" y="2971800"/>
            <a:ext cx="4267048" cy="594360"/>
          </a:xfrm>
          <a:prstGeom prst="rect">
            <a:avLst/>
          </a:prstGeom>
          <a:noFill/>
          <a:ln/>
        </p:spPr>
        <p:txBody>
          <a:bodyPr wrap="square" lIns="0" tIns="0" rIns="0" bIns="0" rtlCol="0" anchor="t"/>
          <a:lstStyle/>
          <a:p>
            <a:pPr indent="0" marL="0">
              <a:buNone/>
            </a:pPr>
            <a:r>
              <a:rPr lang="en-US" sz="1500" dirty="0">
                <a:solidFill>
                  <a:schemeClr val="tx1"/>
                </a:solidFill>
              </a:rPr>
              <a:t>MedQA is near ceiling (Non-DP 100.0%), limiting its discriminative power</a:t>
            </a:r>
            <a:endParaRPr lang="en-US" sz="1500" dirty="0"/>
          </a:p>
        </p:txBody>
      </p:sp>
      <p:sp>
        <p:nvSpPr>
          <p:cNvPr id="24" name="Shape 17"/>
          <p:cNvSpPr/>
          <p:nvPr/>
        </p:nvSpPr>
        <p:spPr>
          <a:xfrm>
            <a:off x="6598768" y="3639312"/>
            <a:ext cx="310896" cy="310896"/>
          </a:xfrm>
          <a:prstGeom prst="ellipse">
            <a:avLst/>
          </a:prstGeom>
          <a:solidFill>
            <a:srgbClr val="B07D1A"/>
          </a:solidFill>
          <a:ln/>
        </p:spPr>
      </p:sp>
      <p:pic>
        <p:nvPicPr>
          <p:cNvPr id="25" name="Image 5" descr="Question icon">    </p:cNvPr>
          <p:cNvPicPr>
            <a:picLocks noChangeAspect="1"/>
          </p:cNvPicPr>
          <p:nvPr/>
        </p:nvPicPr>
        <p:blipFill>
          <a:blip r:embed="rId6"/>
          <a:stretch>
            <a:fillRect/>
          </a:stretch>
        </p:blipFill>
        <p:spPr>
          <a:xfrm>
            <a:off x="6676492" y="3717036"/>
            <a:ext cx="155448" cy="155448"/>
          </a:xfrm>
          <a:prstGeom prst="rect">
            <a:avLst/>
          </a:prstGeom>
        </p:spPr>
      </p:pic>
      <p:sp>
        <p:nvSpPr>
          <p:cNvPr id="26" name="Text 18"/>
          <p:cNvSpPr txBox="1"/>
          <p:nvPr/>
        </p:nvSpPr>
        <p:spPr>
          <a:xfrm>
            <a:off x="7101688" y="3611880"/>
            <a:ext cx="4267048" cy="594360"/>
          </a:xfrm>
          <a:prstGeom prst="rect">
            <a:avLst/>
          </a:prstGeom>
          <a:noFill/>
          <a:ln/>
        </p:spPr>
        <p:txBody>
          <a:bodyPr wrap="square" lIns="0" tIns="0" rIns="0" bIns="0" rtlCol="0" anchor="t"/>
          <a:lstStyle/>
          <a:p>
            <a:pPr indent="0" marL="0">
              <a:buNone/>
            </a:pPr>
            <a:r>
              <a:rPr lang="en-US" sz="1500" dirty="0">
                <a:solidFill>
                  <a:schemeClr val="tx1"/>
                </a:solidFill>
              </a:rPr>
              <a:t>Attacks: exact-match only — no membership inference or reconstruction</a:t>
            </a:r>
            <a:endParaRPr lang="en-US" sz="1500" dirty="0"/>
          </a:p>
        </p:txBody>
      </p:sp>
      <p:sp>
        <p:nvSpPr>
          <p:cNvPr id="27" name="Shape 19"/>
          <p:cNvSpPr/>
          <p:nvPr/>
        </p:nvSpPr>
        <p:spPr>
          <a:xfrm>
            <a:off x="6598768" y="4279392"/>
            <a:ext cx="310896" cy="310896"/>
          </a:xfrm>
          <a:prstGeom prst="ellipse">
            <a:avLst/>
          </a:prstGeom>
          <a:solidFill>
            <a:srgbClr val="B07D1A"/>
          </a:solidFill>
          <a:ln/>
        </p:spPr>
      </p:sp>
      <p:pic>
        <p:nvPicPr>
          <p:cNvPr id="28" name="Image 6" descr="Question icon">    </p:cNvPr>
          <p:cNvPicPr>
            <a:picLocks noChangeAspect="1"/>
          </p:cNvPicPr>
          <p:nvPr/>
        </p:nvPicPr>
        <p:blipFill>
          <a:blip r:embed="rId7"/>
          <a:stretch>
            <a:fillRect/>
          </a:stretch>
        </p:blipFill>
        <p:spPr>
          <a:xfrm>
            <a:off x="6676492" y="4357116"/>
            <a:ext cx="155448" cy="155448"/>
          </a:xfrm>
          <a:prstGeom prst="rect">
            <a:avLst/>
          </a:prstGeom>
        </p:spPr>
      </p:pic>
      <p:sp>
        <p:nvSpPr>
          <p:cNvPr id="29" name="Text 20"/>
          <p:cNvSpPr txBox="1"/>
          <p:nvPr/>
        </p:nvSpPr>
        <p:spPr>
          <a:xfrm>
            <a:off x="7101688" y="4251960"/>
            <a:ext cx="4267048" cy="594360"/>
          </a:xfrm>
          <a:prstGeom prst="rect">
            <a:avLst/>
          </a:prstGeom>
          <a:noFill/>
          <a:ln/>
        </p:spPr>
        <p:txBody>
          <a:bodyPr wrap="square" lIns="0" tIns="0" rIns="0" bIns="0" rtlCol="0" anchor="t"/>
          <a:lstStyle/>
          <a:p>
            <a:pPr indent="0" marL="0">
              <a:buNone/>
            </a:pPr>
            <a:r>
              <a:rPr lang="en-US" sz="1500" dirty="0">
                <a:solidFill>
                  <a:schemeClr val="tx1"/>
                </a:solidFill>
              </a:rPr>
              <a:t>One privacy level (ε ≤ 1) rather than a dense privacy–utility frontier</a:t>
            </a:r>
            <a:endParaRPr lang="en-US" sz="1500" dirty="0"/>
          </a:p>
        </p:txBody>
      </p:sp>
      <p:sp>
        <p:nvSpPr>
          <p:cNvPr id="30" name="Shape 21"/>
          <p:cNvSpPr/>
          <p:nvPr/>
        </p:nvSpPr>
        <p:spPr>
          <a:xfrm>
            <a:off x="6598768" y="4919472"/>
            <a:ext cx="310896" cy="310896"/>
          </a:xfrm>
          <a:prstGeom prst="ellipse">
            <a:avLst/>
          </a:prstGeom>
          <a:solidFill>
            <a:srgbClr val="B07D1A"/>
          </a:solidFill>
          <a:ln/>
        </p:spPr>
      </p:sp>
      <p:pic>
        <p:nvPicPr>
          <p:cNvPr id="31" name="Image 7" descr="Question icon">    </p:cNvPr>
          <p:cNvPicPr>
            <a:picLocks noChangeAspect="1"/>
          </p:cNvPicPr>
          <p:nvPr/>
        </p:nvPicPr>
        <p:blipFill>
          <a:blip r:embed="rId8"/>
          <a:stretch>
            <a:fillRect/>
          </a:stretch>
        </p:blipFill>
        <p:spPr>
          <a:xfrm>
            <a:off x="6676492" y="4997196"/>
            <a:ext cx="155448" cy="155448"/>
          </a:xfrm>
          <a:prstGeom prst="rect">
            <a:avLst/>
          </a:prstGeom>
        </p:spPr>
      </p:pic>
      <p:sp>
        <p:nvSpPr>
          <p:cNvPr id="32" name="Text 22"/>
          <p:cNvSpPr txBox="1"/>
          <p:nvPr/>
        </p:nvSpPr>
        <p:spPr>
          <a:xfrm>
            <a:off x="7101688" y="4892040"/>
            <a:ext cx="4267048" cy="594360"/>
          </a:xfrm>
          <a:prstGeom prst="rect">
            <a:avLst/>
          </a:prstGeom>
          <a:noFill/>
          <a:ln/>
        </p:spPr>
        <p:txBody>
          <a:bodyPr wrap="square" lIns="0" tIns="0" rIns="0" bIns="0" rtlCol="0" anchor="t"/>
          <a:lstStyle/>
          <a:p>
            <a:pPr indent="0" marL="0">
              <a:buNone/>
            </a:pPr>
            <a:r>
              <a:rPr lang="en-US" sz="1500" dirty="0">
                <a:solidFill>
                  <a:schemeClr val="tx1"/>
                </a:solidFill>
              </a:rPr>
              <a:t>Advantage is task-dependent: parity on BANKING77 and Alpaca</a:t>
            </a:r>
            <a:endParaRPr lang="en-US" sz="1500" dirty="0"/>
          </a:p>
        </p:txBody>
      </p:sp>
      <p:sp>
        <p:nvSpPr>
          <p:cNvPr id="33" name="Text 23"/>
          <p:cNvSpPr txBox="1"/>
          <p:nvPr/>
        </p:nvSpPr>
        <p:spPr>
          <a:xfrm>
            <a:off x="548640" y="5715000"/>
            <a:ext cx="11094415" cy="411480"/>
          </a:xfrm>
          <a:prstGeom prst="rect">
            <a:avLst/>
          </a:prstGeom>
          <a:noFill/>
          <a:ln/>
        </p:spPr>
        <p:txBody>
          <a:bodyPr wrap="square" lIns="0" tIns="0" rIns="0" bIns="0" rtlCol="0" anchor="ctr"/>
          <a:lstStyle/>
          <a:p>
            <a:pPr indent="0" marL="0">
              <a:buNone/>
            </a:pPr>
            <a:r>
              <a:rPr lang="en-US" sz="1500" b="1" dirty="0">
                <a:solidFill>
                  <a:schemeClr val="tx2"/>
                </a:solidFill>
              </a:rPr>
              <a:t>Next steps:</a:t>
            </a:r>
            <a:r>
              <a:rPr lang="en-US" sz="1500" dirty="0">
                <a:solidFill>
                  <a:schemeClr val="tx2"/>
                </a:solidFill>
              </a:rPr>
              <a:t> adaptive population sizing  ·  multi-objective search (utility, privacy, stability)  ·  federated DP-ES for distributed sensitive data</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6"/>
                </a:solidFill>
              </a:rPr>
              <a:t>CONCLUSION</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bg1"/>
                </a:solidFill>
                <a:latin typeface="+mj-lt" pitchFamily="34" charset="0"/>
                <a:ea typeface="+mj-lt" pitchFamily="34" charset="-122"/>
                <a:cs typeface="+mj-lt" pitchFamily="34" charset="-120"/>
              </a:rPr>
              <a:t>Takeaways</a:t>
            </a:r>
            <a:endParaRPr lang="en-US" sz="3000" dirty="0"/>
          </a:p>
        </p:txBody>
      </p:sp>
      <p:sp>
        <p:nvSpPr>
          <p:cNvPr id="4" name="Shape 2"/>
          <p:cNvSpPr/>
          <p:nvPr/>
        </p:nvSpPr>
        <p:spPr>
          <a:xfrm>
            <a:off x="548640" y="1600200"/>
            <a:ext cx="3454298" cy="2423160"/>
          </a:xfrm>
          <a:prstGeom prst="roundRect">
            <a:avLst>
              <a:gd name="adj" fmla="val 3019"/>
            </a:avLst>
          </a:prstGeom>
          <a:solidFill>
            <a:schemeClr val="bg1">
              <a:alpha val="8000"/>
            </a:schemeClr>
          </a:solidFill>
          <a:ln/>
        </p:spPr>
      </p:sp>
      <p:sp>
        <p:nvSpPr>
          <p:cNvPr id="5" name="Text 3"/>
          <p:cNvSpPr txBox="1"/>
          <p:nvPr/>
        </p:nvSpPr>
        <p:spPr>
          <a:xfrm>
            <a:off x="868680" y="1783080"/>
            <a:ext cx="914400" cy="502920"/>
          </a:xfrm>
          <a:prstGeom prst="rect">
            <a:avLst/>
          </a:prstGeom>
          <a:noFill/>
          <a:ln/>
        </p:spPr>
        <p:txBody>
          <a:bodyPr wrap="square" lIns="0" tIns="0" rIns="0" bIns="0" rtlCol="0" anchor="t"/>
          <a:lstStyle/>
          <a:p>
            <a:pPr indent="0" marL="0">
              <a:buNone/>
            </a:pPr>
            <a:r>
              <a:rPr lang="en-US" sz="2800" b="1" dirty="0">
                <a:solidFill>
                  <a:schemeClr val="accent6"/>
                </a:solidFill>
                <a:latin typeface="+mj-lt" pitchFamily="34" charset="0"/>
                <a:ea typeface="+mj-lt" pitchFamily="34" charset="-122"/>
                <a:cs typeface="+mj-lt" pitchFamily="34" charset="-120"/>
              </a:rPr>
              <a:t>01</a:t>
            </a:r>
            <a:endParaRPr lang="en-US" sz="2800" dirty="0"/>
          </a:p>
        </p:txBody>
      </p:sp>
      <p:sp>
        <p:nvSpPr>
          <p:cNvPr id="6" name="Text 4"/>
          <p:cNvSpPr txBox="1"/>
          <p:nvPr/>
        </p:nvSpPr>
        <p:spPr>
          <a:xfrm>
            <a:off x="868680" y="2331720"/>
            <a:ext cx="2814218" cy="384048"/>
          </a:xfrm>
          <a:prstGeom prst="rect">
            <a:avLst/>
          </a:prstGeom>
          <a:noFill/>
          <a:ln/>
        </p:spPr>
        <p:txBody>
          <a:bodyPr wrap="square" lIns="0" tIns="0" rIns="0" bIns="0" rtlCol="0" anchor="t"/>
          <a:lstStyle/>
          <a:p>
            <a:pPr indent="0" marL="0">
              <a:buNone/>
            </a:pPr>
            <a:r>
              <a:rPr lang="en-US" sz="2000" b="1" dirty="0">
                <a:solidFill>
                  <a:schemeClr val="bg1"/>
                </a:solidFill>
                <a:latin typeface="+mj-lt" pitchFamily="34" charset="0"/>
                <a:ea typeface="+mj-lt" pitchFamily="34" charset="-122"/>
                <a:cs typeface="+mj-lt" pitchFamily="34" charset="-120"/>
              </a:rPr>
              <a:t>Diagnosis</a:t>
            </a:r>
            <a:endParaRPr lang="en-US" sz="2000" dirty="0"/>
          </a:p>
        </p:txBody>
      </p:sp>
      <p:sp>
        <p:nvSpPr>
          <p:cNvPr id="7" name="Text 5"/>
          <p:cNvSpPr txBox="1"/>
          <p:nvPr/>
        </p:nvSpPr>
        <p:spPr>
          <a:xfrm>
            <a:off x="868680" y="2788920"/>
            <a:ext cx="2814218" cy="1417320"/>
          </a:xfrm>
          <a:prstGeom prst="rect">
            <a:avLst/>
          </a:prstGeom>
          <a:noFill/>
          <a:ln/>
        </p:spPr>
        <p:txBody>
          <a:bodyPr wrap="square" lIns="0" tIns="0" rIns="0" bIns="0" rtlCol="0" anchor="t"/>
          <a:lstStyle/>
          <a:p>
            <a:pPr indent="0" marL="0">
              <a:buNone/>
            </a:pPr>
            <a:r>
              <a:rPr lang="en-US" sz="1500" dirty="0">
                <a:solidFill>
                  <a:schemeClr val="bg2"/>
                </a:solidFill>
              </a:rPr>
              <a:t>Token-level DP prompt construction is structurally fragile: 49.5 ± 28.5% on GSM8K over 30 runs, with template drift.</a:t>
            </a:r>
            <a:endParaRPr lang="en-US" sz="1500" dirty="0"/>
          </a:p>
        </p:txBody>
      </p:sp>
      <p:sp>
        <p:nvSpPr>
          <p:cNvPr id="8" name="Shape 6"/>
          <p:cNvSpPr/>
          <p:nvPr/>
        </p:nvSpPr>
        <p:spPr>
          <a:xfrm>
            <a:off x="4368698" y="1600200"/>
            <a:ext cx="3454298" cy="2423160"/>
          </a:xfrm>
          <a:prstGeom prst="roundRect">
            <a:avLst>
              <a:gd name="adj" fmla="val 3019"/>
            </a:avLst>
          </a:prstGeom>
          <a:solidFill>
            <a:schemeClr val="bg1">
              <a:alpha val="8000"/>
            </a:schemeClr>
          </a:solidFill>
          <a:ln/>
        </p:spPr>
      </p:sp>
      <p:sp>
        <p:nvSpPr>
          <p:cNvPr id="9" name="Text 7"/>
          <p:cNvSpPr txBox="1"/>
          <p:nvPr/>
        </p:nvSpPr>
        <p:spPr>
          <a:xfrm>
            <a:off x="4688738" y="1783080"/>
            <a:ext cx="914400" cy="502920"/>
          </a:xfrm>
          <a:prstGeom prst="rect">
            <a:avLst/>
          </a:prstGeom>
          <a:noFill/>
          <a:ln/>
        </p:spPr>
        <p:txBody>
          <a:bodyPr wrap="square" lIns="0" tIns="0" rIns="0" bIns="0" rtlCol="0" anchor="t"/>
          <a:lstStyle/>
          <a:p>
            <a:pPr indent="0" marL="0">
              <a:buNone/>
            </a:pPr>
            <a:r>
              <a:rPr lang="en-US" sz="2800" b="1" dirty="0">
                <a:solidFill>
                  <a:schemeClr val="accent6"/>
                </a:solidFill>
                <a:latin typeface="+mj-lt" pitchFamily="34" charset="0"/>
                <a:ea typeface="+mj-lt" pitchFamily="34" charset="-122"/>
                <a:cs typeface="+mj-lt" pitchFamily="34" charset="-120"/>
              </a:rPr>
              <a:t>02</a:t>
            </a:r>
            <a:endParaRPr lang="en-US" sz="2800" dirty="0"/>
          </a:p>
        </p:txBody>
      </p:sp>
      <p:sp>
        <p:nvSpPr>
          <p:cNvPr id="10" name="Text 8"/>
          <p:cNvSpPr txBox="1"/>
          <p:nvPr/>
        </p:nvSpPr>
        <p:spPr>
          <a:xfrm>
            <a:off x="4688738" y="2331720"/>
            <a:ext cx="2814218" cy="384048"/>
          </a:xfrm>
          <a:prstGeom prst="rect">
            <a:avLst/>
          </a:prstGeom>
          <a:noFill/>
          <a:ln/>
        </p:spPr>
        <p:txBody>
          <a:bodyPr wrap="square" lIns="0" tIns="0" rIns="0" bIns="0" rtlCol="0" anchor="t"/>
          <a:lstStyle/>
          <a:p>
            <a:pPr indent="0" marL="0">
              <a:buNone/>
            </a:pPr>
            <a:r>
              <a:rPr lang="en-US" sz="2000" b="1" dirty="0">
                <a:solidFill>
                  <a:schemeClr val="bg1"/>
                </a:solidFill>
                <a:latin typeface="+mj-lt" pitchFamily="34" charset="0"/>
                <a:ea typeface="+mj-lt" pitchFamily="34" charset="-122"/>
                <a:cs typeface="+mj-lt" pitchFamily="34" charset="-120"/>
              </a:rPr>
              <a:t>Method</a:t>
            </a:r>
            <a:endParaRPr lang="en-US" sz="2000" dirty="0"/>
          </a:p>
        </p:txBody>
      </p:sp>
      <p:sp>
        <p:nvSpPr>
          <p:cNvPr id="11" name="Text 9"/>
          <p:cNvSpPr txBox="1"/>
          <p:nvPr/>
        </p:nvSpPr>
        <p:spPr>
          <a:xfrm>
            <a:off x="4688738" y="2788920"/>
            <a:ext cx="2814218" cy="1417320"/>
          </a:xfrm>
          <a:prstGeom prst="rect">
            <a:avLst/>
          </a:prstGeom>
          <a:noFill/>
          <a:ln/>
        </p:spPr>
        <p:txBody>
          <a:bodyPr wrap="square" lIns="0" tIns="0" rIns="0" bIns="0" rtlCol="0" anchor="t"/>
          <a:lstStyle/>
          <a:p>
            <a:pPr indent="0" marL="0">
              <a:buNone/>
            </a:pPr>
            <a:r>
              <a:rPr lang="en-US" sz="1500" dirty="0">
                <a:solidFill>
                  <a:schemeClr val="bg2"/>
                </a:solidFill>
              </a:rPr>
              <a:t>DP-ES evolves complete prompts; only sampled-Gaussian scoring spends privacy, while mutation and selection are post-processing.</a:t>
            </a:r>
            <a:endParaRPr lang="en-US" sz="1500" dirty="0"/>
          </a:p>
        </p:txBody>
      </p:sp>
      <p:sp>
        <p:nvSpPr>
          <p:cNvPr id="12" name="Shape 10"/>
          <p:cNvSpPr/>
          <p:nvPr/>
        </p:nvSpPr>
        <p:spPr>
          <a:xfrm>
            <a:off x="8188757" y="1600200"/>
            <a:ext cx="3454298" cy="2423160"/>
          </a:xfrm>
          <a:prstGeom prst="roundRect">
            <a:avLst>
              <a:gd name="adj" fmla="val 3019"/>
            </a:avLst>
          </a:prstGeom>
          <a:solidFill>
            <a:schemeClr val="bg1">
              <a:alpha val="8000"/>
            </a:schemeClr>
          </a:solidFill>
          <a:ln/>
        </p:spPr>
      </p:sp>
      <p:sp>
        <p:nvSpPr>
          <p:cNvPr id="13" name="Text 11"/>
          <p:cNvSpPr txBox="1"/>
          <p:nvPr/>
        </p:nvSpPr>
        <p:spPr>
          <a:xfrm>
            <a:off x="8508797" y="1783080"/>
            <a:ext cx="914400" cy="502920"/>
          </a:xfrm>
          <a:prstGeom prst="rect">
            <a:avLst/>
          </a:prstGeom>
          <a:noFill/>
          <a:ln/>
        </p:spPr>
        <p:txBody>
          <a:bodyPr wrap="square" lIns="0" tIns="0" rIns="0" bIns="0" rtlCol="0" anchor="t"/>
          <a:lstStyle/>
          <a:p>
            <a:pPr indent="0" marL="0">
              <a:buNone/>
            </a:pPr>
            <a:r>
              <a:rPr lang="en-US" sz="2800" b="1" dirty="0">
                <a:solidFill>
                  <a:schemeClr val="accent6"/>
                </a:solidFill>
                <a:latin typeface="+mj-lt" pitchFamily="34" charset="0"/>
                <a:ea typeface="+mj-lt" pitchFamily="34" charset="-122"/>
                <a:cs typeface="+mj-lt" pitchFamily="34" charset="-120"/>
              </a:rPr>
              <a:t>03</a:t>
            </a:r>
            <a:endParaRPr lang="en-US" sz="2800" dirty="0"/>
          </a:p>
        </p:txBody>
      </p:sp>
      <p:sp>
        <p:nvSpPr>
          <p:cNvPr id="14" name="Text 12"/>
          <p:cNvSpPr txBox="1"/>
          <p:nvPr/>
        </p:nvSpPr>
        <p:spPr>
          <a:xfrm>
            <a:off x="8508797" y="2331720"/>
            <a:ext cx="2814218" cy="384048"/>
          </a:xfrm>
          <a:prstGeom prst="rect">
            <a:avLst/>
          </a:prstGeom>
          <a:noFill/>
          <a:ln/>
        </p:spPr>
        <p:txBody>
          <a:bodyPr wrap="square" lIns="0" tIns="0" rIns="0" bIns="0" rtlCol="0" anchor="t"/>
          <a:lstStyle/>
          <a:p>
            <a:pPr indent="0" marL="0">
              <a:buNone/>
            </a:pPr>
            <a:r>
              <a:rPr lang="en-US" sz="2000" b="1" dirty="0">
                <a:solidFill>
                  <a:schemeClr val="bg1"/>
                </a:solidFill>
                <a:latin typeface="+mj-lt" pitchFamily="34" charset="0"/>
                <a:ea typeface="+mj-lt" pitchFamily="34" charset="-122"/>
                <a:cs typeface="+mj-lt" pitchFamily="34" charset="-120"/>
              </a:rPr>
              <a:t>Evidence</a:t>
            </a:r>
            <a:endParaRPr lang="en-US" sz="2000" dirty="0"/>
          </a:p>
        </p:txBody>
      </p:sp>
      <p:sp>
        <p:nvSpPr>
          <p:cNvPr id="15" name="Text 13"/>
          <p:cNvSpPr txBox="1"/>
          <p:nvPr/>
        </p:nvSpPr>
        <p:spPr>
          <a:xfrm>
            <a:off x="8508797" y="2788920"/>
            <a:ext cx="2814218" cy="1417320"/>
          </a:xfrm>
          <a:prstGeom prst="rect">
            <a:avLst/>
          </a:prstGeom>
          <a:noFill/>
          <a:ln/>
        </p:spPr>
        <p:txBody>
          <a:bodyPr wrap="square" lIns="0" tIns="0" rIns="0" bIns="0" rtlCol="0" anchor="t"/>
          <a:lstStyle/>
          <a:p>
            <a:pPr indent="0" marL="0">
              <a:buNone/>
            </a:pPr>
            <a:r>
              <a:rPr lang="en-US" sz="1500" dirty="0">
                <a:solidFill>
                  <a:schemeClr val="bg2"/>
                </a:solidFill>
              </a:rPr>
              <a:t>88.1% on GSM8K (+38.6 pp, ~9× lower std) and 2.5× faster, under ε ≤ 0.71, δ = 10</a:t>
            </a:r>
            <a:r>
              <a:rPr lang="en-US" sz="1500" baseline="30000" dirty="0">
                <a:solidFill>
                  <a:schemeClr val="bg2"/>
                </a:solidFill>
              </a:rPr>
              <a:t>−5</a:t>
            </a:r>
            <a:r>
              <a:rPr lang="en-US" sz="1500" dirty="0">
                <a:solidFill>
                  <a:schemeClr val="bg2"/>
                </a:solidFill>
              </a:rPr>
              <a:t>.</a:t>
            </a:r>
            <a:endParaRPr lang="en-US" sz="1500" dirty="0"/>
          </a:p>
        </p:txBody>
      </p:sp>
      <p:sp>
        <p:nvSpPr>
          <p:cNvPr id="16" name="Text 14"/>
          <p:cNvSpPr txBox="1"/>
          <p:nvPr/>
        </p:nvSpPr>
        <p:spPr>
          <a:xfrm>
            <a:off x="548640" y="4434840"/>
            <a:ext cx="11094415" cy="548640"/>
          </a:xfrm>
          <a:prstGeom prst="rect">
            <a:avLst/>
          </a:prstGeom>
          <a:noFill/>
          <a:ln/>
        </p:spPr>
        <p:txBody>
          <a:bodyPr wrap="square" lIns="0" tIns="0" rIns="0" bIns="0" rtlCol="0" anchor="t"/>
          <a:lstStyle/>
          <a:p>
            <a:pPr indent="0" marL="0">
              <a:buNone/>
            </a:pPr>
            <a:r>
              <a:rPr lang="en-US" sz="2800" i="1" dirty="0">
                <a:solidFill>
                  <a:schemeClr val="bg1"/>
                </a:solidFill>
                <a:latin typeface="+mj-lt" pitchFamily="34" charset="0"/>
                <a:ea typeface="+mj-lt" pitchFamily="34" charset="-122"/>
                <a:cs typeface="+mj-lt" pitchFamily="34" charset="-120"/>
              </a:rPr>
              <a:t>Thank you — questions are welcome.</a:t>
            </a:r>
            <a:endParaRPr lang="en-US" sz="2800" dirty="0"/>
          </a:p>
        </p:txBody>
      </p:sp>
      <p:pic>
        <p:nvPicPr>
          <p:cNvPr id="17" name="Image 0" descr="Github icon">    </p:cNvPr>
          <p:cNvPicPr>
            <a:picLocks noChangeAspect="1"/>
          </p:cNvPicPr>
          <p:nvPr/>
        </p:nvPicPr>
        <p:blipFill>
          <a:blip r:embed="rId1"/>
          <a:stretch>
            <a:fillRect/>
          </a:stretch>
        </p:blipFill>
        <p:spPr>
          <a:xfrm>
            <a:off x="548640" y="5276088"/>
            <a:ext cx="292608" cy="292608"/>
          </a:xfrm>
          <a:prstGeom prst="rect">
            <a:avLst/>
          </a:prstGeom>
        </p:spPr>
      </p:pic>
      <p:sp>
        <p:nvSpPr>
          <p:cNvPr id="18" name="Text 15">
            <a:hlinkClick r:id="rId2" tooltip=""/>
          </p:cNvPr>
          <p:cNvSpPr txBox="1"/>
          <p:nvPr/>
        </p:nvSpPr>
        <p:spPr>
          <a:xfrm>
            <a:off x="960120" y="5257800"/>
            <a:ext cx="6858000" cy="329184"/>
          </a:xfrm>
          <a:prstGeom prst="rect">
            <a:avLst/>
          </a:prstGeom>
          <a:noFill/>
          <a:ln/>
        </p:spPr>
        <p:txBody>
          <a:bodyPr wrap="square" lIns="0" tIns="0" rIns="0" bIns="0" rtlCol="0" anchor="ctr"/>
          <a:lstStyle/>
          <a:p>
            <a:pPr indent="0" marL="0">
              <a:buNone/>
            </a:pPr>
            <a:r>
              <a:rPr lang="en-US" sz="1500" u="sng" dirty="0">
                <a:solidFill>
                  <a:schemeClr val="accent6"/>
                </a:solidFill>
                <a:hlinkClick r:id="rId2" invalidUrl="" action="" tgtFrame="" tooltip="" history="1" highlightClick="0" endSnd="0">
                  <a:extLst>
                    <a:ext uri="{A12FA001-AC4F-418D-AE19-62706E023703}">
                      <ahyp:hlinkClr xmlns:ahyp="http://schemas.microsoft.com/office/drawing/2018/hyperlinkcolor" val="tx"/>
                    </a:ext>
                  </a:extLst>
                </a:hlinkClick>
              </a:rPr>
              <a:t>Code, accountant and paper source:  github.com/StephCpa/dp-es</a:t>
            </a:r>
            <a:endParaRPr lang="en-US" sz="1500" dirty="0"/>
          </a:p>
        </p:txBody>
      </p:sp>
      <p:sp>
        <p:nvSpPr>
          <p:cNvPr id="19" name="Text 16"/>
          <p:cNvSpPr txBox="1"/>
          <p:nvPr/>
        </p:nvSpPr>
        <p:spPr>
          <a:xfrm>
            <a:off x="960120" y="5641848"/>
            <a:ext cx="6858000" cy="292608"/>
          </a:xfrm>
          <a:prstGeom prst="rect">
            <a:avLst/>
          </a:prstGeom>
          <a:noFill/>
          <a:ln/>
        </p:spPr>
        <p:txBody>
          <a:bodyPr wrap="square" lIns="0" tIns="0" rIns="0" bIns="0" rtlCol="0" anchor="t"/>
          <a:lstStyle/>
          <a:p>
            <a:pPr indent="0" marL="0">
              <a:buNone/>
            </a:pPr>
            <a:r>
              <a:rPr lang="en-US" sz="1300" dirty="0">
                <a:solidFill>
                  <a:schemeClr val="bg2"/>
                </a:solidFill>
              </a:rPr>
              <a:t>Contact: liaiping@nudt.edu.cn</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BACKUP</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Threat model and assumptions</a:t>
            </a:r>
            <a:endParaRPr lang="en-US" sz="3000" dirty="0"/>
          </a:p>
        </p:txBody>
      </p:sp>
      <p:sp>
        <p:nvSpPr>
          <p:cNvPr id="4" name="Shape 2"/>
          <p:cNvSpPr/>
          <p:nvPr/>
        </p:nvSpPr>
        <p:spPr>
          <a:xfrm>
            <a:off x="548640" y="1600200"/>
            <a:ext cx="3454298" cy="2011680"/>
          </a:xfrm>
          <a:prstGeom prst="roundRect">
            <a:avLst>
              <a:gd name="adj" fmla="val 3636"/>
            </a:avLst>
          </a:prstGeom>
          <a:solidFill>
            <a:schemeClr val="bg2"/>
          </a:solidFill>
          <a:ln/>
        </p:spPr>
      </p:sp>
      <p:sp>
        <p:nvSpPr>
          <p:cNvPr id="5" name="Shape 3"/>
          <p:cNvSpPr/>
          <p:nvPr/>
        </p:nvSpPr>
        <p:spPr>
          <a:xfrm>
            <a:off x="822960" y="1856232"/>
            <a:ext cx="502920" cy="502920"/>
          </a:xfrm>
          <a:prstGeom prst="ellipse">
            <a:avLst/>
          </a:prstGeom>
          <a:solidFill>
            <a:srgbClr val="173A2C"/>
          </a:solidFill>
          <a:ln/>
        </p:spPr>
      </p:sp>
      <p:pic>
        <p:nvPicPr>
          <p:cNvPr id="6" name="Image 0" descr="UserShield icon">    </p:cNvPr>
          <p:cNvPicPr>
            <a:picLocks noChangeAspect="1"/>
          </p:cNvPicPr>
          <p:nvPr/>
        </p:nvPicPr>
        <p:blipFill>
          <a:blip r:embed="rId1"/>
          <a:stretch>
            <a:fillRect/>
          </a:stretch>
        </p:blipFill>
        <p:spPr>
          <a:xfrm>
            <a:off x="948690" y="1981962"/>
            <a:ext cx="251460" cy="251460"/>
          </a:xfrm>
          <a:prstGeom prst="rect">
            <a:avLst/>
          </a:prstGeom>
        </p:spPr>
      </p:pic>
      <p:sp>
        <p:nvSpPr>
          <p:cNvPr id="7" name="Text 4"/>
          <p:cNvSpPr txBox="1"/>
          <p:nvPr/>
        </p:nvSpPr>
        <p:spPr>
          <a:xfrm>
            <a:off x="1463040" y="1874520"/>
            <a:ext cx="2357018" cy="457200"/>
          </a:xfrm>
          <a:prstGeom prst="rect">
            <a:avLst/>
          </a:prstGeom>
          <a:noFill/>
          <a:ln/>
        </p:spPr>
        <p:txBody>
          <a:bodyPr wrap="square" lIns="0" tIns="0" rIns="0" bIns="0" rtlCol="0" anchor="ctr"/>
          <a:lstStyle/>
          <a:p>
            <a:pPr indent="0" marL="0">
              <a:buNone/>
            </a:pPr>
            <a:r>
              <a:rPr lang="en-US" sz="1700" b="1" dirty="0">
                <a:solidFill>
                  <a:schemeClr val="tx2"/>
                </a:solidFill>
                <a:latin typeface="+mj-lt" pitchFamily="34" charset="0"/>
                <a:ea typeface="+mj-lt" pitchFamily="34" charset="-122"/>
                <a:cs typeface="+mj-lt" pitchFamily="34" charset="-120"/>
              </a:rPr>
              <a:t>Trusted curator</a:t>
            </a:r>
            <a:endParaRPr lang="en-US" sz="1700" dirty="0"/>
          </a:p>
        </p:txBody>
      </p:sp>
      <p:sp>
        <p:nvSpPr>
          <p:cNvPr id="8" name="Text 5"/>
          <p:cNvSpPr txBox="1"/>
          <p:nvPr/>
        </p:nvSpPr>
        <p:spPr>
          <a:xfrm>
            <a:off x="822960" y="2514600"/>
            <a:ext cx="2905658" cy="1005840"/>
          </a:xfrm>
          <a:prstGeom prst="rect">
            <a:avLst/>
          </a:prstGeom>
          <a:noFill/>
          <a:ln/>
        </p:spPr>
        <p:txBody>
          <a:bodyPr wrap="square" lIns="0" tIns="0" rIns="0" bIns="0" rtlCol="0" anchor="t"/>
          <a:lstStyle/>
          <a:p>
            <a:pPr indent="0" marL="0">
              <a:buNone/>
            </a:pPr>
            <a:r>
              <a:rPr lang="en-US" sz="1500" dirty="0">
                <a:solidFill>
                  <a:schemeClr val="tx1"/>
                </a:solidFill>
              </a:rPr>
              <a:t>The party running DP-ES may access </a:t>
            </a:r>
            <a:r>
              <a:rPr lang="en-US" sz="1500" i="1" dirty="0">
                <a:solidFill>
                  <a:schemeClr val="tx1"/>
                </a:solidFill>
              </a:rPr>
              <a:t>D</a:t>
            </a:r>
            <a:r>
              <a:rPr lang="en-US" sz="1500" dirty="0">
                <a:solidFill>
                  <a:schemeClr val="tx1"/>
                </a:solidFill>
              </a:rPr>
              <a:t> but releases only the final prompt.</a:t>
            </a:r>
            <a:endParaRPr lang="en-US" sz="1500" dirty="0"/>
          </a:p>
        </p:txBody>
      </p:sp>
      <p:sp>
        <p:nvSpPr>
          <p:cNvPr id="9" name="Shape 6"/>
          <p:cNvSpPr/>
          <p:nvPr/>
        </p:nvSpPr>
        <p:spPr>
          <a:xfrm>
            <a:off x="4368698" y="1600200"/>
            <a:ext cx="3454298" cy="2011680"/>
          </a:xfrm>
          <a:prstGeom prst="roundRect">
            <a:avLst>
              <a:gd name="adj" fmla="val 3636"/>
            </a:avLst>
          </a:prstGeom>
          <a:solidFill>
            <a:schemeClr val="bg2"/>
          </a:solidFill>
          <a:ln/>
        </p:spPr>
      </p:sp>
      <p:sp>
        <p:nvSpPr>
          <p:cNvPr id="10" name="Shape 7"/>
          <p:cNvSpPr/>
          <p:nvPr/>
        </p:nvSpPr>
        <p:spPr>
          <a:xfrm>
            <a:off x="4643018" y="1856232"/>
            <a:ext cx="502920" cy="502920"/>
          </a:xfrm>
          <a:prstGeom prst="ellipse">
            <a:avLst/>
          </a:prstGeom>
          <a:solidFill>
            <a:srgbClr val="173A2C"/>
          </a:solidFill>
          <a:ln/>
        </p:spPr>
      </p:sp>
      <p:pic>
        <p:nvPicPr>
          <p:cNvPr id="11" name="Image 1" descr="User icon">    </p:cNvPr>
          <p:cNvPicPr>
            <a:picLocks noChangeAspect="1"/>
          </p:cNvPicPr>
          <p:nvPr/>
        </p:nvPicPr>
        <p:blipFill>
          <a:blip r:embed="rId2"/>
          <a:stretch>
            <a:fillRect/>
          </a:stretch>
        </p:blipFill>
        <p:spPr>
          <a:xfrm>
            <a:off x="4768748" y="1981962"/>
            <a:ext cx="251460" cy="251460"/>
          </a:xfrm>
          <a:prstGeom prst="rect">
            <a:avLst/>
          </a:prstGeom>
        </p:spPr>
      </p:pic>
      <p:sp>
        <p:nvSpPr>
          <p:cNvPr id="12" name="Text 8"/>
          <p:cNvSpPr txBox="1"/>
          <p:nvPr/>
        </p:nvSpPr>
        <p:spPr>
          <a:xfrm>
            <a:off x="5283098" y="1874520"/>
            <a:ext cx="2357018" cy="457200"/>
          </a:xfrm>
          <a:prstGeom prst="rect">
            <a:avLst/>
          </a:prstGeom>
          <a:noFill/>
          <a:ln/>
        </p:spPr>
        <p:txBody>
          <a:bodyPr wrap="square" lIns="0" tIns="0" rIns="0" bIns="0" rtlCol="0" anchor="ctr"/>
          <a:lstStyle/>
          <a:p>
            <a:pPr indent="0" marL="0">
              <a:buNone/>
            </a:pPr>
            <a:r>
              <a:rPr lang="en-US" sz="1700" b="1" dirty="0">
                <a:solidFill>
                  <a:schemeClr val="tx2"/>
                </a:solidFill>
                <a:latin typeface="+mj-lt" pitchFamily="34" charset="0"/>
                <a:ea typeface="+mj-lt" pitchFamily="34" charset="-122"/>
                <a:cs typeface="+mj-lt" pitchFamily="34" charset="-120"/>
              </a:rPr>
              <a:t>Record-level privacy</a:t>
            </a:r>
            <a:endParaRPr lang="en-US" sz="1700" dirty="0"/>
          </a:p>
        </p:txBody>
      </p:sp>
      <p:sp>
        <p:nvSpPr>
          <p:cNvPr id="13" name="Text 9"/>
          <p:cNvSpPr txBox="1"/>
          <p:nvPr/>
        </p:nvSpPr>
        <p:spPr>
          <a:xfrm>
            <a:off x="4643018" y="2514600"/>
            <a:ext cx="2905658" cy="1005840"/>
          </a:xfrm>
          <a:prstGeom prst="rect">
            <a:avLst/>
          </a:prstGeom>
          <a:noFill/>
          <a:ln/>
        </p:spPr>
        <p:txBody>
          <a:bodyPr wrap="square" lIns="0" tIns="0" rIns="0" bIns="0" rtlCol="0" anchor="t"/>
          <a:lstStyle/>
          <a:p>
            <a:pPr indent="0" marL="0">
              <a:buNone/>
            </a:pPr>
            <a:r>
              <a:rPr lang="en-US" sz="1500" dirty="0">
                <a:solidFill>
                  <a:schemeClr val="tx1"/>
                </a:solidFill>
              </a:rPr>
              <a:t>The unit is one record (</a:t>
            </a:r>
            <a:r>
              <a:rPr lang="en-US" sz="1500" i="1" dirty="0">
                <a:solidFill>
                  <a:schemeClr val="tx1"/>
                </a:solidFill>
              </a:rPr>
              <a:t>x</a:t>
            </a:r>
            <a:r>
              <a:rPr lang="en-US" sz="1500" baseline="-40000" dirty="0">
                <a:solidFill>
                  <a:schemeClr val="tx1"/>
                </a:solidFill>
              </a:rPr>
              <a:t>i</a:t>
            </a:r>
            <a:r>
              <a:rPr lang="en-US" sz="1500" dirty="0">
                <a:solidFill>
                  <a:schemeClr val="tx1"/>
                </a:solidFill>
              </a:rPr>
              <a:t>, </a:t>
            </a:r>
            <a:r>
              <a:rPr lang="en-US" sz="1500" i="1" dirty="0">
                <a:solidFill>
                  <a:schemeClr val="tx1"/>
                </a:solidFill>
              </a:rPr>
              <a:t>y</a:t>
            </a:r>
            <a:r>
              <a:rPr lang="en-US" sz="1500" baseline="-40000" dirty="0">
                <a:solidFill>
                  <a:schemeClr val="tx1"/>
                </a:solidFill>
              </a:rPr>
              <a:t>i</a:t>
            </a:r>
            <a:r>
              <a:rPr lang="en-US" sz="1500" dirty="0">
                <a:solidFill>
                  <a:schemeClr val="tx1"/>
                </a:solidFill>
              </a:rPr>
              <a:t>); group privacy scales ε with group size.</a:t>
            </a:r>
            <a:endParaRPr lang="en-US" sz="1500" dirty="0"/>
          </a:p>
        </p:txBody>
      </p:sp>
      <p:sp>
        <p:nvSpPr>
          <p:cNvPr id="14" name="Shape 10"/>
          <p:cNvSpPr/>
          <p:nvPr/>
        </p:nvSpPr>
        <p:spPr>
          <a:xfrm>
            <a:off x="8188757" y="1600200"/>
            <a:ext cx="3454298" cy="2011680"/>
          </a:xfrm>
          <a:prstGeom prst="roundRect">
            <a:avLst>
              <a:gd name="adj" fmla="val 3636"/>
            </a:avLst>
          </a:prstGeom>
          <a:solidFill>
            <a:schemeClr val="bg2"/>
          </a:solidFill>
          <a:ln/>
        </p:spPr>
      </p:sp>
      <p:sp>
        <p:nvSpPr>
          <p:cNvPr id="15" name="Shape 11"/>
          <p:cNvSpPr/>
          <p:nvPr/>
        </p:nvSpPr>
        <p:spPr>
          <a:xfrm>
            <a:off x="8463077" y="1856232"/>
            <a:ext cx="502920" cy="502920"/>
          </a:xfrm>
          <a:prstGeom prst="ellipse">
            <a:avLst/>
          </a:prstGeom>
          <a:solidFill>
            <a:srgbClr val="173A2C"/>
          </a:solidFill>
          <a:ln/>
        </p:spPr>
      </p:sp>
      <p:pic>
        <p:nvPicPr>
          <p:cNvPr id="16" name="Image 2" descr="NetworkWired icon">    </p:cNvPr>
          <p:cNvPicPr>
            <a:picLocks noChangeAspect="1"/>
          </p:cNvPicPr>
          <p:nvPr/>
        </p:nvPicPr>
        <p:blipFill>
          <a:blip r:embed="rId3"/>
          <a:stretch>
            <a:fillRect/>
          </a:stretch>
        </p:blipFill>
        <p:spPr>
          <a:xfrm>
            <a:off x="8588807" y="1981962"/>
            <a:ext cx="251460" cy="251460"/>
          </a:xfrm>
          <a:prstGeom prst="rect">
            <a:avLst/>
          </a:prstGeom>
        </p:spPr>
      </p:pic>
      <p:sp>
        <p:nvSpPr>
          <p:cNvPr id="17" name="Text 12"/>
          <p:cNvSpPr txBox="1"/>
          <p:nvPr/>
        </p:nvSpPr>
        <p:spPr>
          <a:xfrm>
            <a:off x="9103157" y="1874520"/>
            <a:ext cx="2357018" cy="457200"/>
          </a:xfrm>
          <a:prstGeom prst="rect">
            <a:avLst/>
          </a:prstGeom>
          <a:noFill/>
          <a:ln/>
        </p:spPr>
        <p:txBody>
          <a:bodyPr wrap="square" lIns="0" tIns="0" rIns="0" bIns="0" rtlCol="0" anchor="ctr"/>
          <a:lstStyle/>
          <a:p>
            <a:pPr indent="0" marL="0">
              <a:buNone/>
            </a:pPr>
            <a:r>
              <a:rPr lang="en-US" sz="1700" b="1" dirty="0">
                <a:solidFill>
                  <a:schemeClr val="tx2"/>
                </a:solidFill>
                <a:latin typeface="+mj-lt" pitchFamily="34" charset="0"/>
                <a:ea typeface="+mj-lt" pitchFamily="34" charset="-122"/>
                <a:cs typeface="+mj-lt" pitchFamily="34" charset="-120"/>
              </a:rPr>
              <a:t>Trusted boundary</a:t>
            </a:r>
            <a:endParaRPr lang="en-US" sz="1700" dirty="0"/>
          </a:p>
        </p:txBody>
      </p:sp>
      <p:sp>
        <p:nvSpPr>
          <p:cNvPr id="18" name="Text 13"/>
          <p:cNvSpPr txBox="1"/>
          <p:nvPr/>
        </p:nvSpPr>
        <p:spPr>
          <a:xfrm>
            <a:off x="8463077" y="2514600"/>
            <a:ext cx="2905658" cy="1005840"/>
          </a:xfrm>
          <a:prstGeom prst="rect">
            <a:avLst/>
          </a:prstGeom>
          <a:noFill/>
          <a:ln/>
        </p:spPr>
        <p:txBody>
          <a:bodyPr wrap="square" lIns="0" tIns="0" rIns="0" bIns="0" rtlCol="0" anchor="t"/>
          <a:lstStyle/>
          <a:p>
            <a:pPr indent="0" marL="0">
              <a:buNone/>
            </a:pPr>
            <a:r>
              <a:rPr lang="en-US" sz="1500" dirty="0">
                <a:solidFill>
                  <a:schemeClr val="tx1"/>
                </a:solidFill>
              </a:rPr>
              <a:t>The evaluation endpoint is a trusted processor; DP protects the released prompt, not API inputs.</a:t>
            </a:r>
            <a:endParaRPr lang="en-US" sz="1500" dirty="0"/>
          </a:p>
        </p:txBody>
      </p:sp>
      <p:sp>
        <p:nvSpPr>
          <p:cNvPr id="19" name="Shape 14"/>
          <p:cNvSpPr/>
          <p:nvPr/>
        </p:nvSpPr>
        <p:spPr>
          <a:xfrm>
            <a:off x="548640" y="3840480"/>
            <a:ext cx="3454298" cy="2011680"/>
          </a:xfrm>
          <a:prstGeom prst="roundRect">
            <a:avLst>
              <a:gd name="adj" fmla="val 3636"/>
            </a:avLst>
          </a:prstGeom>
          <a:solidFill>
            <a:schemeClr val="bg2"/>
          </a:solidFill>
          <a:ln/>
        </p:spPr>
      </p:sp>
      <p:sp>
        <p:nvSpPr>
          <p:cNvPr id="20" name="Shape 15"/>
          <p:cNvSpPr/>
          <p:nvPr/>
        </p:nvSpPr>
        <p:spPr>
          <a:xfrm>
            <a:off x="822960" y="4096512"/>
            <a:ext cx="502920" cy="502920"/>
          </a:xfrm>
          <a:prstGeom prst="ellipse">
            <a:avLst/>
          </a:prstGeom>
          <a:solidFill>
            <a:srgbClr val="173A2C"/>
          </a:solidFill>
          <a:ln/>
        </p:spPr>
      </p:sp>
      <p:pic>
        <p:nvPicPr>
          <p:cNvPr id="21" name="Image 3" descr="Ban icon">    </p:cNvPr>
          <p:cNvPicPr>
            <a:picLocks noChangeAspect="1"/>
          </p:cNvPicPr>
          <p:nvPr/>
        </p:nvPicPr>
        <p:blipFill>
          <a:blip r:embed="rId4"/>
          <a:stretch>
            <a:fillRect/>
          </a:stretch>
        </p:blipFill>
        <p:spPr>
          <a:xfrm>
            <a:off x="948690" y="4222242"/>
            <a:ext cx="251460" cy="251460"/>
          </a:xfrm>
          <a:prstGeom prst="rect">
            <a:avLst/>
          </a:prstGeom>
        </p:spPr>
      </p:pic>
      <p:sp>
        <p:nvSpPr>
          <p:cNvPr id="22" name="Text 16"/>
          <p:cNvSpPr txBox="1"/>
          <p:nvPr/>
        </p:nvSpPr>
        <p:spPr>
          <a:xfrm>
            <a:off x="1463040" y="4114800"/>
            <a:ext cx="2357018" cy="457200"/>
          </a:xfrm>
          <a:prstGeom prst="rect">
            <a:avLst/>
          </a:prstGeom>
          <a:noFill/>
          <a:ln/>
        </p:spPr>
        <p:txBody>
          <a:bodyPr wrap="square" lIns="0" tIns="0" rIns="0" bIns="0" rtlCol="0" anchor="ctr"/>
          <a:lstStyle/>
          <a:p>
            <a:pPr indent="0" marL="0">
              <a:buNone/>
            </a:pPr>
            <a:r>
              <a:rPr lang="en-US" sz="1700" b="1" dirty="0">
                <a:solidFill>
                  <a:schemeClr val="tx2"/>
                </a:solidFill>
                <a:latin typeface="+mj-lt" pitchFamily="34" charset="0"/>
                <a:ea typeface="+mj-lt" pitchFamily="34" charset="-122"/>
                <a:cs typeface="+mj-lt" pitchFamily="34" charset="-120"/>
              </a:rPr>
              <a:t>Mutation isolation</a:t>
            </a:r>
            <a:endParaRPr lang="en-US" sz="1700" dirty="0"/>
          </a:p>
        </p:txBody>
      </p:sp>
      <p:sp>
        <p:nvSpPr>
          <p:cNvPr id="23" name="Text 17"/>
          <p:cNvSpPr txBox="1"/>
          <p:nvPr/>
        </p:nvSpPr>
        <p:spPr>
          <a:xfrm>
            <a:off x="822960" y="4754880"/>
            <a:ext cx="2905658" cy="1005840"/>
          </a:xfrm>
          <a:prstGeom prst="rect">
            <a:avLst/>
          </a:prstGeom>
          <a:noFill/>
          <a:ln/>
        </p:spPr>
        <p:txBody>
          <a:bodyPr wrap="square" lIns="0" tIns="0" rIns="0" bIns="0" rtlCol="0" anchor="t"/>
          <a:lstStyle/>
          <a:p>
            <a:pPr indent="0" marL="0">
              <a:buNone/>
            </a:pPr>
            <a:r>
              <a:rPr lang="en-US" sz="1500" dirty="0">
                <a:solidFill>
                  <a:schemeClr val="tx1"/>
                </a:solidFill>
              </a:rPr>
              <a:t>The mutation LLM sees only parent prompts. PII memorized in pretraining is outside this threat model.</a:t>
            </a:r>
            <a:endParaRPr lang="en-US" sz="1500" dirty="0"/>
          </a:p>
        </p:txBody>
      </p:sp>
      <p:sp>
        <p:nvSpPr>
          <p:cNvPr id="24" name="Shape 18"/>
          <p:cNvSpPr/>
          <p:nvPr/>
        </p:nvSpPr>
        <p:spPr>
          <a:xfrm>
            <a:off x="4368698" y="3840480"/>
            <a:ext cx="3454298" cy="2011680"/>
          </a:xfrm>
          <a:prstGeom prst="roundRect">
            <a:avLst>
              <a:gd name="adj" fmla="val 3636"/>
            </a:avLst>
          </a:prstGeom>
          <a:solidFill>
            <a:schemeClr val="bg2"/>
          </a:solidFill>
          <a:ln/>
        </p:spPr>
      </p:sp>
      <p:sp>
        <p:nvSpPr>
          <p:cNvPr id="25" name="Shape 19"/>
          <p:cNvSpPr/>
          <p:nvPr/>
        </p:nvSpPr>
        <p:spPr>
          <a:xfrm>
            <a:off x="4643018" y="4096512"/>
            <a:ext cx="502920" cy="502920"/>
          </a:xfrm>
          <a:prstGeom prst="ellipse">
            <a:avLst/>
          </a:prstGeom>
          <a:solidFill>
            <a:srgbClr val="173A2C"/>
          </a:solidFill>
          <a:ln/>
        </p:spPr>
      </p:sp>
      <p:pic>
        <p:nvPicPr>
          <p:cNvPr id="26" name="Image 4" descr="SyncAlt icon">    </p:cNvPr>
          <p:cNvPicPr>
            <a:picLocks noChangeAspect="1"/>
          </p:cNvPicPr>
          <p:nvPr/>
        </p:nvPicPr>
        <p:blipFill>
          <a:blip r:embed="rId5"/>
          <a:stretch>
            <a:fillRect/>
          </a:stretch>
        </p:blipFill>
        <p:spPr>
          <a:xfrm>
            <a:off x="4768748" y="4222242"/>
            <a:ext cx="251460" cy="251460"/>
          </a:xfrm>
          <a:prstGeom prst="rect">
            <a:avLst/>
          </a:prstGeom>
        </p:spPr>
      </p:pic>
      <p:sp>
        <p:nvSpPr>
          <p:cNvPr id="27" name="Text 20"/>
          <p:cNvSpPr txBox="1"/>
          <p:nvPr/>
        </p:nvSpPr>
        <p:spPr>
          <a:xfrm>
            <a:off x="5283098" y="4114800"/>
            <a:ext cx="2357018" cy="457200"/>
          </a:xfrm>
          <a:prstGeom prst="rect">
            <a:avLst/>
          </a:prstGeom>
          <a:noFill/>
          <a:ln/>
        </p:spPr>
        <p:txBody>
          <a:bodyPr wrap="square" lIns="0" tIns="0" rIns="0" bIns="0" rtlCol="0" anchor="ctr"/>
          <a:lstStyle/>
          <a:p>
            <a:pPr indent="0" marL="0">
              <a:buNone/>
            </a:pPr>
            <a:r>
              <a:rPr lang="en-US" sz="1700" b="1" dirty="0">
                <a:solidFill>
                  <a:schemeClr val="tx2"/>
                </a:solidFill>
                <a:latin typeface="+mj-lt" pitchFamily="34" charset="0"/>
                <a:ea typeface="+mj-lt" pitchFamily="34" charset="-122"/>
                <a:cs typeface="+mj-lt" pitchFamily="34" charset="-120"/>
              </a:rPr>
              <a:t>Post-processing safety</a:t>
            </a:r>
            <a:endParaRPr lang="en-US" sz="1700" dirty="0"/>
          </a:p>
        </p:txBody>
      </p:sp>
      <p:sp>
        <p:nvSpPr>
          <p:cNvPr id="28" name="Text 21"/>
          <p:cNvSpPr txBox="1"/>
          <p:nvPr/>
        </p:nvSpPr>
        <p:spPr>
          <a:xfrm>
            <a:off x="4643018" y="4754880"/>
            <a:ext cx="2905658" cy="1005840"/>
          </a:xfrm>
          <a:prstGeom prst="rect">
            <a:avLst/>
          </a:prstGeom>
          <a:noFill/>
          <a:ln/>
        </p:spPr>
        <p:txBody>
          <a:bodyPr wrap="square" lIns="0" tIns="0" rIns="0" bIns="0" rtlCol="0" anchor="t"/>
          <a:lstStyle/>
          <a:p>
            <a:pPr indent="0" marL="0">
              <a:buNone/>
            </a:pPr>
            <a:r>
              <a:rPr lang="en-US" sz="1500" dirty="0">
                <a:solidFill>
                  <a:schemeClr val="tx1"/>
                </a:solidFill>
              </a:rPr>
              <a:t>Downstream use of the released prompt adds no further loss about </a:t>
            </a:r>
            <a:r>
              <a:rPr lang="en-US" sz="1500" i="1" dirty="0">
                <a:solidFill>
                  <a:schemeClr val="tx1"/>
                </a:solidFill>
              </a:rPr>
              <a:t>D</a:t>
            </a:r>
            <a:r>
              <a:rPr lang="en-US" sz="1500" dirty="0">
                <a:solidFill>
                  <a:schemeClr val="tx1"/>
                </a:solidFill>
              </a:rPr>
              <a:t>.</a:t>
            </a:r>
            <a:endParaRPr lang="en-US" sz="1500" dirty="0"/>
          </a:p>
        </p:txBody>
      </p:sp>
      <p:sp>
        <p:nvSpPr>
          <p:cNvPr id="29" name="Shape 22"/>
          <p:cNvSpPr/>
          <p:nvPr/>
        </p:nvSpPr>
        <p:spPr>
          <a:xfrm>
            <a:off x="8188757" y="3840480"/>
            <a:ext cx="3454298" cy="2011680"/>
          </a:xfrm>
          <a:prstGeom prst="roundRect">
            <a:avLst>
              <a:gd name="adj" fmla="val 3636"/>
            </a:avLst>
          </a:prstGeom>
          <a:solidFill>
            <a:schemeClr val="bg2"/>
          </a:solidFill>
          <a:ln/>
        </p:spPr>
      </p:sp>
      <p:sp>
        <p:nvSpPr>
          <p:cNvPr id="30" name="Shape 23"/>
          <p:cNvSpPr/>
          <p:nvPr/>
        </p:nvSpPr>
        <p:spPr>
          <a:xfrm>
            <a:off x="8463077" y="4096512"/>
            <a:ext cx="502920" cy="502920"/>
          </a:xfrm>
          <a:prstGeom prst="ellipse">
            <a:avLst/>
          </a:prstGeom>
          <a:solidFill>
            <a:srgbClr val="B07D1A"/>
          </a:solidFill>
          <a:ln/>
        </p:spPr>
      </p:sp>
      <p:pic>
        <p:nvPicPr>
          <p:cNvPr id="31" name="Image 5" descr="Flask icon">    </p:cNvPr>
          <p:cNvPicPr>
            <a:picLocks noChangeAspect="1"/>
          </p:cNvPicPr>
          <p:nvPr/>
        </p:nvPicPr>
        <p:blipFill>
          <a:blip r:embed="rId6"/>
          <a:stretch>
            <a:fillRect/>
          </a:stretch>
        </p:blipFill>
        <p:spPr>
          <a:xfrm>
            <a:off x="8588807" y="4222242"/>
            <a:ext cx="251460" cy="251460"/>
          </a:xfrm>
          <a:prstGeom prst="rect">
            <a:avLst/>
          </a:prstGeom>
        </p:spPr>
      </p:pic>
      <p:sp>
        <p:nvSpPr>
          <p:cNvPr id="32" name="Text 24"/>
          <p:cNvSpPr txBox="1"/>
          <p:nvPr/>
        </p:nvSpPr>
        <p:spPr>
          <a:xfrm>
            <a:off x="9103157" y="4114800"/>
            <a:ext cx="2357018" cy="457200"/>
          </a:xfrm>
          <a:prstGeom prst="rect">
            <a:avLst/>
          </a:prstGeom>
          <a:noFill/>
          <a:ln/>
        </p:spPr>
        <p:txBody>
          <a:bodyPr wrap="square" lIns="0" tIns="0" rIns="0" bIns="0" rtlCol="0" anchor="ctr"/>
          <a:lstStyle/>
          <a:p>
            <a:pPr indent="0" marL="0">
              <a:buNone/>
            </a:pPr>
            <a:r>
              <a:rPr lang="en-US" sz="1700" b="1" dirty="0">
                <a:solidFill>
                  <a:schemeClr val="tx2"/>
                </a:solidFill>
                <a:latin typeface="+mj-lt" pitchFamily="34" charset="0"/>
                <a:ea typeface="+mj-lt" pitchFamily="34" charset="-122"/>
                <a:cs typeface="+mj-lt" pitchFamily="34" charset="-120"/>
              </a:rPr>
              <a:t>Audits are not proofs</a:t>
            </a:r>
            <a:endParaRPr lang="en-US" sz="1700" dirty="0"/>
          </a:p>
        </p:txBody>
      </p:sp>
      <p:sp>
        <p:nvSpPr>
          <p:cNvPr id="33" name="Text 25"/>
          <p:cNvSpPr txBox="1"/>
          <p:nvPr/>
        </p:nvSpPr>
        <p:spPr>
          <a:xfrm>
            <a:off x="8463077" y="4754880"/>
            <a:ext cx="2905658" cy="1005840"/>
          </a:xfrm>
          <a:prstGeom prst="rect">
            <a:avLst/>
          </a:prstGeom>
          <a:noFill/>
          <a:ln/>
        </p:spPr>
        <p:txBody>
          <a:bodyPr wrap="square" lIns="0" tIns="0" rIns="0" bIns="0" rtlCol="0" anchor="t"/>
          <a:lstStyle/>
          <a:p>
            <a:pPr indent="0" marL="0">
              <a:buNone/>
            </a:pPr>
            <a:r>
              <a:rPr lang="en-US" sz="1500" dirty="0">
                <a:solidFill>
                  <a:schemeClr val="tx1"/>
                </a:solidFill>
              </a:rPr>
              <a:t>Empirical checks can expose implementation errors but cannot certify DP; the guarantee is mechanism-level.</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BACKUP</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Where the efficiency comes from</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498080" cy="914400"/>
        </p:xfrm>
        <a:graphic>
          <a:graphicData uri="http://schemas.openxmlformats.org/drawingml/2006/table">
            <a:tbl>
              <a:tblPr/>
              <a:tblGrid>
                <a:gridCol w="3200400"/>
                <a:gridCol w="1371600"/>
                <a:gridCol w="1371600"/>
                <a:gridCol w="1554480"/>
              </a:tblGrid>
              <a:tr h="356616">
                <a:tc>
                  <a:txBody>
                    <a:bodyPr/>
                    <a:lstStyle/>
                    <a:p>
                      <a:pPr algn="l" indent="0" marL="0">
                        <a:buNone/>
                      </a:pPr>
                      <a:r>
                        <a:rPr lang="en-US" sz="1400" b="1" dirty="0">
                          <a:solidFill>
                            <a:schemeClr val="bg1"/>
                          </a:solidFill>
                        </a:rPr>
                        <a:t>Cost component</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DP-OPT</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DP-ES</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Ratio</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tx2"/>
                    </a:solidFill>
                  </a:tcPr>
                </a:tc>
              </a:tr>
              <a:tr h="356616">
                <a:tc gridSpan="4">
                  <a:txBody>
                    <a:bodyPr/>
                    <a:lstStyle/>
                    <a:p>
                      <a:pPr indent="0" marL="0">
                        <a:buNone/>
                      </a:pPr>
                      <a:r>
                        <a:rPr lang="en-US" sz="1400" b="1" i="1" dirty="0">
                          <a:solidFill>
                            <a:schemeClr val="accent1"/>
                          </a:solidFill>
                        </a:rPr>
                        <a:t>Logged private-data call groups</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2"/>
                    </a:solidFill>
                  </a:tcPr>
                </a:tc>
                <a:tc hMerge="1">
                  <a:tcPr/>
                </a:tc>
                <a:tc hMerge="1">
                  <a:tcPr/>
                </a:tc>
                <a:tc hMerge="1">
                  <a:tcPr/>
                </a:tc>
              </a:tr>
              <a:tr h="356616">
                <a:tc>
                  <a:txBody>
                    <a:bodyPr/>
                    <a:lstStyle/>
                    <a:p>
                      <a:pPr algn="l" indent="0" marL="0">
                        <a:buNone/>
                      </a:pPr>
                      <a:r>
                        <a:rPr lang="en-US" sz="1400" dirty="0">
                          <a:solidFill>
                            <a:schemeClr val="tx1"/>
                          </a:solidFill>
                        </a:rPr>
                        <a:t>Mutation (token-level / privacy-free)</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dirty="0">
                          <a:solidFill>
                            <a:schemeClr val="tx1"/>
                          </a:solidFill>
                        </a:rPr>
                        <a:t>3 (DP)</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dirty="0">
                          <a:solidFill>
                            <a:schemeClr val="tx1"/>
                          </a:solidFill>
                        </a:rPr>
                        <a:t>0 (free)</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dirty="0">
                          <a:solidFill>
                            <a:schemeClr val="tx1"/>
                          </a:solidFill>
                        </a:rPr>
                        <a:t>—</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r>
              <a:tr h="356616">
                <a:tc>
                  <a:txBody>
                    <a:bodyPr/>
                    <a:lstStyle/>
                    <a:p>
                      <a:pPr algn="l" indent="0" marL="0">
                        <a:buNone/>
                      </a:pPr>
                      <a:r>
                        <a:rPr lang="en-US" sz="1400" dirty="0">
                          <a:solidFill>
                            <a:schemeClr val="tx1"/>
                          </a:solidFill>
                        </a:rPr>
                        <a:t>Evaluation (Gaussian-noised)</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dirty="0">
                          <a:solidFill>
                            <a:schemeClr val="tx1"/>
                          </a:solidFill>
                        </a:rPr>
                        <a:t>30</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dirty="0">
                          <a:solidFill>
                            <a:schemeClr val="tx1"/>
                          </a:solidFill>
                        </a:rPr>
                        <a:t>10</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dirty="0">
                          <a:solidFill>
                            <a:schemeClr val="tx1"/>
                          </a:solidFill>
                        </a:rPr>
                        <a:t>3.0× fewer</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r>
              <a:tr h="356616">
                <a:tc>
                  <a:txBody>
                    <a:bodyPr/>
                    <a:lstStyle/>
                    <a:p>
                      <a:pPr algn="l" indent="0" marL="0">
                        <a:buNone/>
                      </a:pPr>
                      <a:r>
                        <a:rPr lang="en-US" sz="1400" b="1" dirty="0">
                          <a:solidFill>
                            <a:schemeClr val="tx1"/>
                          </a:solidFill>
                        </a:rPr>
                        <a:t>Total private-data groups</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tx1"/>
                          </a:solidFill>
                        </a:rPr>
                        <a:t>33</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tx1"/>
                          </a:solidFill>
                        </a:rPr>
                        <a:t>10</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tx1"/>
                          </a:solidFill>
                        </a:rPr>
                        <a:t>3.3× fewer</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r>
              <a:tr h="356616">
                <a:tc gridSpan="4">
                  <a:txBody>
                    <a:bodyPr/>
                    <a:lstStyle/>
                    <a:p>
                      <a:pPr indent="0" marL="0">
                        <a:buNone/>
                      </a:pPr>
                      <a:r>
                        <a:rPr lang="en-US" sz="1400" b="1" i="1" dirty="0">
                          <a:solidFill>
                            <a:schemeClr val="accent1"/>
                          </a:solidFill>
                        </a:rPr>
                        <a:t>Token usage</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2"/>
                    </a:solidFill>
                  </a:tcPr>
                </a:tc>
                <a:tc hMerge="1">
                  <a:tcPr/>
                </a:tc>
                <a:tc hMerge="1">
                  <a:tcPr/>
                </a:tc>
                <a:tc hMerge="1">
                  <a:tcPr/>
                </a:tc>
              </a:tr>
              <a:tr h="356616">
                <a:tc>
                  <a:txBody>
                    <a:bodyPr/>
                    <a:lstStyle/>
                    <a:p>
                      <a:pPr algn="l" indent="0" marL="0">
                        <a:buNone/>
                      </a:pPr>
                      <a:r>
                        <a:rPr lang="en-US" sz="1400" dirty="0">
                          <a:solidFill>
                            <a:schemeClr val="tx1"/>
                          </a:solidFill>
                        </a:rPr>
                        <a:t>Input tokens</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dirty="0">
                          <a:solidFill>
                            <a:schemeClr val="tx1"/>
                          </a:solidFill>
                        </a:rPr>
                        <a:t>1,309</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dirty="0">
                          <a:solidFill>
                            <a:schemeClr val="tx1"/>
                          </a:solidFill>
                        </a:rPr>
                        <a:t>6,120</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dirty="0">
                          <a:solidFill>
                            <a:schemeClr val="tx1"/>
                          </a:solidFill>
                        </a:rPr>
                        <a:t>4.7× more</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r>
              <a:tr h="356616">
                <a:tc>
                  <a:txBody>
                    <a:bodyPr/>
                    <a:lstStyle/>
                    <a:p>
                      <a:pPr algn="l" indent="0" marL="0">
                        <a:buNone/>
                      </a:pPr>
                      <a:r>
                        <a:rPr lang="en-US" sz="1400" dirty="0">
                          <a:solidFill>
                            <a:schemeClr val="tx1"/>
                          </a:solidFill>
                        </a:rPr>
                        <a:t>Output tokens</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dirty="0">
                          <a:solidFill>
                            <a:schemeClr val="tx1"/>
                          </a:solidFill>
                        </a:rPr>
                        <a:t>2,707</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dirty="0">
                          <a:solidFill>
                            <a:schemeClr val="tx1"/>
                          </a:solidFill>
                        </a:rPr>
                        <a:t>5,000</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dirty="0">
                          <a:solidFill>
                            <a:schemeClr val="tx1"/>
                          </a:solidFill>
                        </a:rPr>
                        <a:t>1.8× more</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r>
              <a:tr h="356616">
                <a:tc>
                  <a:txBody>
                    <a:bodyPr/>
                    <a:lstStyle/>
                    <a:p>
                      <a:pPr algn="l" indent="0" marL="0">
                        <a:buNone/>
                      </a:pPr>
                      <a:r>
                        <a:rPr lang="en-US" sz="1400" b="1" dirty="0">
                          <a:solidFill>
                            <a:schemeClr val="tx1"/>
                          </a:solidFill>
                        </a:rPr>
                        <a:t>Total tokens</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tx1"/>
                          </a:solidFill>
                        </a:rPr>
                        <a:t>4,016</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tx1"/>
                          </a:solidFill>
                        </a:rPr>
                        <a:t>11,120</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tx1"/>
                          </a:solidFill>
                        </a:rPr>
                        <a:t>2.8× more</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r>
              <a:tr h="356616">
                <a:tc gridSpan="4">
                  <a:txBody>
                    <a:bodyPr/>
                    <a:lstStyle/>
                    <a:p>
                      <a:pPr indent="0" marL="0">
                        <a:buNone/>
                      </a:pPr>
                      <a:r>
                        <a:rPr lang="en-US" sz="1400" b="1" i="1" dirty="0">
                          <a:solidFill>
                            <a:schemeClr val="accent1"/>
                          </a:solidFill>
                        </a:rPr>
                        <a:t>Wall-clock</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solidFill>
                      <a:schemeClr val="bg2"/>
                    </a:solidFill>
                  </a:tcPr>
                </a:tc>
                <a:tc hMerge="1">
                  <a:tcPr/>
                </a:tc>
                <a:tc hMerge="1">
                  <a:tcPr/>
                </a:tc>
                <a:tc hMerge="1">
                  <a:tcPr/>
                </a:tc>
              </a:tr>
              <a:tr h="356616">
                <a:tc>
                  <a:txBody>
                    <a:bodyPr/>
                    <a:lstStyle/>
                    <a:p>
                      <a:pPr algn="l" indent="0" marL="0">
                        <a:buNone/>
                      </a:pPr>
                      <a:r>
                        <a:rPr lang="en-US" sz="1400" b="1" dirty="0">
                          <a:solidFill>
                            <a:schemeClr val="tx1"/>
                          </a:solidFill>
                        </a:rPr>
                        <a:t>Runtime (hours)</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tx1"/>
                          </a:solidFill>
                        </a:rPr>
                        <a:t>16.6</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tx1"/>
                          </a:solidFill>
                        </a:rPr>
                        <a:t>6.5</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b="1" dirty="0">
                          <a:solidFill>
                            <a:schemeClr val="tx1"/>
                          </a:solidFill>
                        </a:rPr>
                        <a:t>2.5× faster</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r>
              <a:tr h="356616">
                <a:tc>
                  <a:txBody>
                    <a:bodyPr/>
                    <a:lstStyle/>
                    <a:p>
                      <a:pPr algn="l" indent="0" marL="0">
                        <a:buNone/>
                      </a:pPr>
                      <a:r>
                        <a:rPr lang="en-US" sz="1400" dirty="0">
                          <a:solidFill>
                            <a:schemeClr val="tx1"/>
                          </a:solidFill>
                        </a:rPr>
                        <a:t>Accuracy (single run)</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dirty="0">
                          <a:solidFill>
                            <a:schemeClr val="tx1"/>
                          </a:solidFill>
                        </a:rPr>
                        <a:t>91.0%</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dirty="0">
                          <a:solidFill>
                            <a:schemeClr val="tx1"/>
                          </a:solidFill>
                        </a:rPr>
                        <a:t>86.5%</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c>
                  <a:txBody>
                    <a:bodyPr/>
                    <a:lstStyle/>
                    <a:p>
                      <a:pPr algn="ctr" indent="0" marL="0">
                        <a:buNone/>
                      </a:pPr>
                      <a:r>
                        <a:rPr lang="en-US" sz="1400" dirty="0">
                          <a:solidFill>
                            <a:schemeClr val="tx1"/>
                          </a:solidFill>
                        </a:rPr>
                        <a:t>—</a:t>
                      </a:r>
                      <a:endParaRPr lang="en-US" sz="1400" dirty="0"/>
                    </a:p>
                  </a:txBody>
                  <a:tcPr marL="91440" marR="91440" marT="27432" marB="27432" anchor="ctr">
                    <a:lnL w="9525" cap="flat" cmpd="sng" algn="ctr">
                      <a:solidFill>
                        <a:srgbClr val="D9DEDB"/>
                      </a:solidFill>
                      <a:prstDash val="solid"/>
                      <a:round/>
                      <a:headEnd type="none" w="med" len="med"/>
                      <a:tailEnd type="none" w="med" len="med"/>
                    </a:lnL>
                    <a:lnR w="9525" cap="flat" cmpd="sng" algn="ctr">
                      <a:solidFill>
                        <a:srgbClr val="D9DEDB"/>
                      </a:solidFill>
                      <a:prstDash val="solid"/>
                      <a:round/>
                      <a:headEnd type="none" w="med" len="med"/>
                      <a:tailEnd type="none" w="med" len="med"/>
                    </a:lnR>
                    <a:lnT w="9525" cap="flat" cmpd="sng" algn="ctr">
                      <a:solidFill>
                        <a:srgbClr val="D9DEDB"/>
                      </a:solidFill>
                      <a:prstDash val="solid"/>
                      <a:round/>
                      <a:headEnd type="none" w="med" len="med"/>
                      <a:tailEnd type="none" w="med" len="med"/>
                    </a:lnT>
                    <a:lnB w="9525" cap="flat" cmpd="sng" algn="ctr">
                      <a:solidFill>
                        <a:srgbClr val="D9DEDB"/>
                      </a:solidFill>
                      <a:prstDash val="solid"/>
                      <a:round/>
                      <a:headEnd type="none" w="med" len="med"/>
                      <a:tailEnd type="none" w="med" len="med"/>
                    </a:lnB>
                  </a:tcPr>
                </a:tc>
              </a:tr>
            </a:tbl>
          </a:graphicData>
        </a:graphic>
      </p:graphicFrame>
      <p:sp>
        <p:nvSpPr>
          <p:cNvPr id="5" name="Shape 2"/>
          <p:cNvSpPr/>
          <p:nvPr/>
        </p:nvSpPr>
        <p:spPr>
          <a:xfrm>
            <a:off x="8412480" y="1600200"/>
            <a:ext cx="3230575" cy="4297680"/>
          </a:xfrm>
          <a:prstGeom prst="roundRect">
            <a:avLst>
              <a:gd name="adj" fmla="val 2264"/>
            </a:avLst>
          </a:prstGeom>
          <a:solidFill>
            <a:schemeClr val="bg2"/>
          </a:solidFill>
          <a:ln/>
        </p:spPr>
      </p:sp>
      <p:sp>
        <p:nvSpPr>
          <p:cNvPr id="6" name="Text 3"/>
          <p:cNvSpPr txBox="1"/>
          <p:nvPr/>
        </p:nvSpPr>
        <p:spPr>
          <a:xfrm>
            <a:off x="8686800" y="1783080"/>
            <a:ext cx="2681935"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Reading the table</a:t>
            </a:r>
            <a:endParaRPr lang="en-US" sz="1800" dirty="0"/>
          </a:p>
        </p:txBody>
      </p:sp>
      <p:sp>
        <p:nvSpPr>
          <p:cNvPr id="7" name="Text 4"/>
          <p:cNvSpPr txBox="1"/>
          <p:nvPr/>
        </p:nvSpPr>
        <p:spPr>
          <a:xfrm>
            <a:off x="8686800" y="2240280"/>
            <a:ext cx="2681935" cy="3474720"/>
          </a:xfrm>
          <a:prstGeom prst="rect">
            <a:avLst/>
          </a:prstGeom>
          <a:noFill/>
          <a:ln/>
        </p:spPr>
        <p:txBody>
          <a:bodyPr wrap="square" lIns="0" tIns="0" rIns="0" bIns="0" rtlCol="0" anchor="t"/>
          <a:lstStyle/>
          <a:p>
            <a:pPr indent="0" marL="0">
              <a:buNone/>
            </a:pPr>
            <a:r>
              <a:rPr lang="en-US" sz="1500" dirty="0">
                <a:solidFill>
                  <a:schemeClr val="tx1"/>
                </a:solidFill>
              </a:rPr>
              <a:t>DP-OPT’s token construction queries private counts, so its mutation calls also enter the accountant. DP-ES mutation is post-processing; only its evaluation groups touch records.</a:t>
            </a:r>
            <a:endParaRPr lang="en-US" sz="1500" dirty="0"/>
          </a:p>
          <a:p>
            <a:pPr indent="0" marL="0">
              <a:buNone/>
            </a:pPr>
            <a:endParaRPr lang="en-US" sz="1500" dirty="0"/>
          </a:p>
          <a:p>
            <a:pPr indent="0" marL="0">
              <a:buNone/>
            </a:pPr>
            <a:r>
              <a:rPr lang="en-US" sz="1500" dirty="0">
                <a:solidFill>
                  <a:schemeClr val="tx1"/>
                </a:solidFill>
              </a:rPr>
              <a:t>Fewer serial round trips dominate latency, so runtime drops even though DP-ES uses more tokens.</a:t>
            </a:r>
            <a:endParaRPr lang="en-US" sz="1500" dirty="0"/>
          </a:p>
        </p:txBody>
      </p:sp>
      <p:sp>
        <p:nvSpPr>
          <p:cNvPr id="8" name="Text 5"/>
          <p:cNvSpPr txBox="1"/>
          <p:nvPr/>
        </p:nvSpPr>
        <p:spPr>
          <a:xfrm>
            <a:off x="548640" y="5943600"/>
            <a:ext cx="7498080" cy="320040"/>
          </a:xfrm>
          <a:prstGeom prst="rect">
            <a:avLst/>
          </a:prstGeom>
          <a:noFill/>
          <a:ln/>
        </p:spPr>
        <p:txBody>
          <a:bodyPr wrap="square" lIns="0" tIns="0" rIns="0" bIns="0" rtlCol="0" anchor="t"/>
          <a:lstStyle/>
          <a:p>
            <a:pPr indent="0" marL="0">
              <a:buNone/>
            </a:pPr>
            <a:r>
              <a:rPr lang="en-US" sz="1100" i="1" dirty="0">
                <a:solidFill>
                  <a:schemeClr val="accent3"/>
                </a:solidFill>
              </a:rPr>
              <a:t>GSM8K, seed 42, ε ≤ 1, 200-example optimization set. Counts are logger-level call groups, not individual requests.</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5486400"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BACKUP</a:t>
            </a:r>
            <a:endParaRPr lang="en-US" sz="1200" dirty="0"/>
          </a:p>
        </p:txBody>
      </p:sp>
      <p:sp>
        <p:nvSpPr>
          <p:cNvPr id="3" name="Text 0"/>
          <p:cNvSpPr/>
          <p:nvPr>
            <p:ph idx="101" type="title" hasCustomPrompt="1"/>
          </p:nvPr>
        </p:nvSpPr>
        <p:spPr>
          <a:xfrm>
            <a:off x="548640" y="640080"/>
            <a:ext cx="11094415" cy="640080"/>
          </a:xfrm>
          <a:prstGeom prst="rect">
            <a:avLst/>
          </a:prstGeom>
          <a:noFill/>
          <a:ln/>
        </p:spPr>
        <p:txBody>
          <a:bodyPr wrap="square" lIns="0" tIns="0" rIns="0" bIns="0" rtlCol="0" anchor="t"/>
          <a:lstStyle/>
          <a:p>
            <a:pPr algn="l" indent="0" marL="0">
              <a:buNone/>
            </a:pPr>
            <a:r>
              <a:rPr lang="en-US" sz="3000" b="1" dirty="0">
                <a:solidFill>
                  <a:schemeClr val="tx2"/>
                </a:solidFill>
                <a:latin typeface="+mj-lt" pitchFamily="34" charset="0"/>
                <a:ea typeface="+mj-lt" pitchFamily="34" charset="-122"/>
                <a:cs typeface="+mj-lt" pitchFamily="34" charset="-120"/>
              </a:rPr>
              <a:t>Reproducing the privacy bound</a:t>
            </a:r>
            <a:endParaRPr lang="en-US" sz="3000" dirty="0"/>
          </a:p>
        </p:txBody>
      </p:sp>
      <p:sp>
        <p:nvSpPr>
          <p:cNvPr id="4" name="Shape 2"/>
          <p:cNvSpPr/>
          <p:nvPr/>
        </p:nvSpPr>
        <p:spPr>
          <a:xfrm>
            <a:off x="548640" y="1600200"/>
            <a:ext cx="5669280" cy="2514600"/>
          </a:xfrm>
          <a:prstGeom prst="roundRect">
            <a:avLst>
              <a:gd name="adj" fmla="val 2909"/>
            </a:avLst>
          </a:prstGeom>
          <a:solidFill>
            <a:schemeClr val="tx2"/>
          </a:solidFill>
          <a:ln/>
        </p:spPr>
      </p:sp>
      <p:sp>
        <p:nvSpPr>
          <p:cNvPr id="5" name="Text 3"/>
          <p:cNvSpPr txBox="1"/>
          <p:nvPr/>
        </p:nvSpPr>
        <p:spPr>
          <a:xfrm>
            <a:off x="868680" y="1828800"/>
            <a:ext cx="5029200" cy="2103120"/>
          </a:xfrm>
          <a:prstGeom prst="rect">
            <a:avLst/>
          </a:prstGeom>
          <a:noFill/>
          <a:ln/>
        </p:spPr>
        <p:txBody>
          <a:bodyPr wrap="square" lIns="0" tIns="0" rIns="0" bIns="0" rtlCol="0" anchor="t"/>
          <a:lstStyle/>
          <a:p>
            <a:pPr indent="0" marL="0">
              <a:spcAft>
                <a:spcPts val="600"/>
              </a:spcAft>
              <a:buNone/>
            </a:pPr>
            <a:r>
              <a:rPr lang="en-US" sz="1500" dirty="0">
                <a:solidFill>
                  <a:srgbClr val="9DC0AC"/>
                </a:solidFill>
                <a:latin typeface="Courier New" pitchFamily="34" charset="0"/>
                <a:ea typeface="Courier New" pitchFamily="34" charset="-122"/>
                <a:cs typeface="Courier New" pitchFamily="34" charset="-120"/>
              </a:rPr>
              <a:t>$ python -m pip install -e .</a:t>
            </a:r>
            <a:endParaRPr lang="en-US" sz="1500" dirty="0"/>
          </a:p>
          <a:p>
            <a:pPr indent="0" marL="0">
              <a:spcAft>
                <a:spcPts val="600"/>
              </a:spcAft>
              <a:buNone/>
            </a:pPr>
            <a:r>
              <a:rPr lang="en-US" sz="1500" dirty="0">
                <a:solidFill>
                  <a:srgbClr val="9DC0AC"/>
                </a:solidFill>
                <a:latin typeface="Courier New" pitchFamily="34" charset="0"/>
                <a:ea typeface="Courier New" pitchFamily="34" charset="-122"/>
                <a:cs typeface="Courier New" pitchFamily="34" charset="-120"/>
              </a:rPr>
              <a:t>$ python scripts/compute_privacy.py</a:t>
            </a:r>
            <a:endParaRPr lang="en-US" sz="1500" dirty="0"/>
          </a:p>
          <a:p>
            <a:pPr indent="0" marL="0">
              <a:spcAft>
                <a:spcPts val="600"/>
              </a:spcAft>
              <a:buNone/>
            </a:pPr>
            <a:r>
              <a:rPr lang="en-US" sz="1500" dirty="0">
                <a:solidFill>
                  <a:srgbClr val="FFFFFF"/>
                </a:solidFill>
                <a:latin typeface="Courier New" pitchFamily="34" charset="0"/>
                <a:ea typeface="Courier New" pitchFamily="34" charset="-122"/>
                <a:cs typeface="Courier New" pitchFamily="34" charset="-120"/>
              </a:rPr>
              <a:t>epsilon=0.705168</a:t>
            </a:r>
            <a:endParaRPr lang="en-US" sz="1500" dirty="0"/>
          </a:p>
          <a:p>
            <a:pPr indent="0" marL="0">
              <a:spcAft>
                <a:spcPts val="600"/>
              </a:spcAft>
              <a:buNone/>
            </a:pPr>
            <a:r>
              <a:rPr lang="en-US" sz="1500" dirty="0">
                <a:solidFill>
                  <a:srgbClr val="FFFFFF"/>
                </a:solidFill>
                <a:latin typeface="Courier New" pitchFamily="34" charset="0"/>
                <a:ea typeface="Courier New" pitchFamily="34" charset="-122"/>
                <a:cs typeface="Courier New" pitchFamily="34" charset="-120"/>
              </a:rPr>
              <a:t>delta=1e-05</a:t>
            </a:r>
            <a:endParaRPr lang="en-US" sz="1500" dirty="0"/>
          </a:p>
          <a:p>
            <a:pPr indent="0" marL="0">
              <a:spcAft>
                <a:spcPts val="600"/>
              </a:spcAft>
              <a:buNone/>
            </a:pPr>
            <a:r>
              <a:rPr lang="en-US" sz="1500" dirty="0">
                <a:solidFill>
                  <a:srgbClr val="FFFFFF"/>
                </a:solidFill>
                <a:latin typeface="Courier New" pitchFamily="34" charset="0"/>
                <a:ea typeface="Courier New" pitchFamily="34" charset="-122"/>
                <a:cs typeface="Courier New" pitchFamily="34" charset="-120"/>
              </a:rPr>
              <a:t>releases=18</a:t>
            </a:r>
            <a:endParaRPr lang="en-US" sz="1500" dirty="0"/>
          </a:p>
          <a:p>
            <a:pPr indent="0" marL="0">
              <a:spcAft>
                <a:spcPts val="600"/>
              </a:spcAft>
              <a:buNone/>
            </a:pPr>
            <a:r>
              <a:rPr lang="en-US" sz="1500" dirty="0">
                <a:solidFill>
                  <a:srgbClr val="FFFFFF"/>
                </a:solidFill>
                <a:latin typeface="Courier New" pitchFamily="34" charset="0"/>
                <a:ea typeface="Courier New" pitchFamily="34" charset="-122"/>
                <a:cs typeface="Courier New" pitchFamily="34" charset="-120"/>
              </a:rPr>
              <a:t>sampling_rate=0.050000</a:t>
            </a:r>
            <a:endParaRPr lang="en-US" sz="1500" dirty="0"/>
          </a:p>
        </p:txBody>
      </p:sp>
      <p:sp>
        <p:nvSpPr>
          <p:cNvPr id="6" name="Text 4"/>
          <p:cNvSpPr txBox="1"/>
          <p:nvPr/>
        </p:nvSpPr>
        <p:spPr>
          <a:xfrm>
            <a:off x="548640" y="4389120"/>
            <a:ext cx="5669280" cy="1005840"/>
          </a:xfrm>
          <a:prstGeom prst="rect">
            <a:avLst/>
          </a:prstGeom>
          <a:noFill/>
          <a:ln/>
        </p:spPr>
        <p:txBody>
          <a:bodyPr wrap="square" lIns="0" tIns="0" rIns="0" bIns="0" rtlCol="0" anchor="t"/>
          <a:lstStyle/>
          <a:p>
            <a:pPr indent="0" marL="0">
              <a:buNone/>
            </a:pPr>
            <a:r>
              <a:rPr lang="en-US" sz="1500" dirty="0">
                <a:solidFill>
                  <a:schemeClr val="tx1"/>
                </a:solidFill>
              </a:rPr>
              <a:t>Defaults: </a:t>
            </a:r>
            <a:r>
              <a:rPr lang="en-US" sz="1500" i="1" dirty="0">
                <a:solidFill>
                  <a:schemeClr val="tx1"/>
                </a:solidFill>
              </a:rPr>
              <a:t>n</a:t>
            </a:r>
            <a:r>
              <a:rPr lang="en-US" sz="1500" dirty="0">
                <a:solidFill>
                  <a:schemeClr val="tx1"/>
                </a:solidFill>
              </a:rPr>
              <a:t> = 200, </a:t>
            </a:r>
            <a:r>
              <a:rPr lang="en-US" sz="1500" i="1" dirty="0">
                <a:solidFill>
                  <a:schemeClr val="tx1"/>
                </a:solidFill>
              </a:rPr>
              <a:t>b</a:t>
            </a:r>
            <a:r>
              <a:rPr lang="en-US" sz="1500" dirty="0">
                <a:solidFill>
                  <a:schemeClr val="tx1"/>
                </a:solidFill>
              </a:rPr>
              <a:t> = 10, </a:t>
            </a:r>
            <a:r>
              <a:rPr lang="en-US" sz="1500" i="1" dirty="0">
                <a:solidFill>
                  <a:schemeClr val="tx1"/>
                </a:solidFill>
              </a:rPr>
              <a:t>z</a:t>
            </a:r>
            <a:r>
              <a:rPr lang="en-US" sz="1500" dirty="0">
                <a:solidFill>
                  <a:schemeClr val="tx1"/>
                </a:solidFill>
              </a:rPr>
              <a:t> = 10, </a:t>
            </a:r>
            <a:r>
              <a:rPr lang="en-US" sz="1500" i="1" dirty="0">
                <a:solidFill>
                  <a:schemeClr val="tx1"/>
                </a:solidFill>
              </a:rPr>
              <a:t>K</a:t>
            </a:r>
            <a:r>
              <a:rPr lang="en-US" sz="1500" dirty="0">
                <a:solidFill>
                  <a:schemeClr val="tx1"/>
                </a:solidFill>
              </a:rPr>
              <a:t> = 6, </a:t>
            </a:r>
            <a:r>
              <a:rPr lang="en-US" sz="1500" i="1" dirty="0">
                <a:solidFill>
                  <a:schemeClr val="tx1"/>
                </a:solidFill>
              </a:rPr>
              <a:t>T</a:t>
            </a:r>
            <a:r>
              <a:rPr lang="en-US" sz="1500" dirty="0">
                <a:solidFill>
                  <a:schemeClr val="tx1"/>
                </a:solidFill>
              </a:rPr>
              <a:t> = 3, δ = 10</a:t>
            </a:r>
            <a:r>
              <a:rPr lang="en-US" sz="1500" baseline="30000" dirty="0">
                <a:solidFill>
                  <a:schemeClr val="tx1"/>
                </a:solidFill>
              </a:rPr>
              <a:t>−5</a:t>
            </a:r>
            <a:r>
              <a:rPr lang="en-US" sz="1500" dirty="0">
                <a:solidFill>
                  <a:schemeClr val="tx1"/>
                </a:solidFill>
              </a:rPr>
              <a:t>. Recompute whenever any of them changes: larger </a:t>
            </a:r>
            <a:r>
              <a:rPr lang="en-US" sz="1500" i="1" dirty="0">
                <a:solidFill>
                  <a:schemeClr val="tx1"/>
                </a:solidFill>
              </a:rPr>
              <a:t>KT</a:t>
            </a:r>
            <a:r>
              <a:rPr lang="en-US" sz="1500" dirty="0">
                <a:solidFill>
                  <a:schemeClr val="tx1"/>
                </a:solidFill>
              </a:rPr>
              <a:t> raises both cost and composed privacy loss.</a:t>
            </a:r>
            <a:endParaRPr lang="en-US" sz="1500" dirty="0"/>
          </a:p>
        </p:txBody>
      </p:sp>
      <p:sp>
        <p:nvSpPr>
          <p:cNvPr id="7" name="Text 5"/>
          <p:cNvSpPr txBox="1"/>
          <p:nvPr/>
        </p:nvSpPr>
        <p:spPr>
          <a:xfrm>
            <a:off x="6675120" y="1600200"/>
            <a:ext cx="4967935" cy="411480"/>
          </a:xfrm>
          <a:prstGeom prst="rect">
            <a:avLst/>
          </a:prstGeom>
          <a:noFill/>
          <a:ln/>
        </p:spPr>
        <p:txBody>
          <a:bodyPr wrap="square" lIns="0" tIns="0" rIns="0" bIns="0" rtlCol="0" anchor="t"/>
          <a:lstStyle/>
          <a:p>
            <a:pPr indent="0" marL="0">
              <a:buNone/>
            </a:pPr>
            <a:r>
              <a:rPr lang="en-US" sz="1900" b="1" dirty="0">
                <a:solidFill>
                  <a:schemeClr val="tx2"/>
                </a:solidFill>
                <a:latin typeface="+mj-lt" pitchFamily="34" charset="0"/>
                <a:ea typeface="+mj-lt" pitchFamily="34" charset="-122"/>
                <a:cs typeface="+mj-lt" pitchFamily="34" charset="-120"/>
              </a:rPr>
              <a:t>Privacy contract of the released code</a:t>
            </a:r>
            <a:endParaRPr lang="en-US" sz="1900" dirty="0"/>
          </a:p>
        </p:txBody>
      </p:sp>
      <p:sp>
        <p:nvSpPr>
          <p:cNvPr id="8" name="Text 6"/>
          <p:cNvSpPr txBox="1"/>
          <p:nvPr/>
        </p:nvSpPr>
        <p:spPr>
          <a:xfrm>
            <a:off x="6675120" y="214884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9" name="Text 7"/>
          <p:cNvSpPr txBox="1"/>
          <p:nvPr/>
        </p:nvSpPr>
        <p:spPr>
          <a:xfrm>
            <a:off x="7223760" y="2130552"/>
            <a:ext cx="4419295" cy="685800"/>
          </a:xfrm>
          <a:prstGeom prst="rect">
            <a:avLst/>
          </a:prstGeom>
          <a:noFill/>
          <a:ln/>
        </p:spPr>
        <p:txBody>
          <a:bodyPr wrap="square" lIns="0" tIns="0" rIns="0" bIns="0" rtlCol="0" anchor="t"/>
          <a:lstStyle/>
          <a:p>
            <a:pPr indent="0" marL="0">
              <a:buNone/>
            </a:pPr>
            <a:r>
              <a:rPr lang="en-US" sz="1500" dirty="0">
                <a:solidFill>
                  <a:schemeClr val="tx1"/>
                </a:solidFill>
              </a:rPr>
              <a:t>Per-record utilities are clipped to a public interval.</a:t>
            </a:r>
            <a:endParaRPr lang="en-US" sz="1500" dirty="0"/>
          </a:p>
        </p:txBody>
      </p:sp>
      <p:sp>
        <p:nvSpPr>
          <p:cNvPr id="10" name="Text 8"/>
          <p:cNvSpPr txBox="1"/>
          <p:nvPr/>
        </p:nvSpPr>
        <p:spPr>
          <a:xfrm>
            <a:off x="6675120" y="29260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1" name="Text 9"/>
          <p:cNvSpPr txBox="1"/>
          <p:nvPr/>
        </p:nvSpPr>
        <p:spPr>
          <a:xfrm>
            <a:off x="7223760" y="2907792"/>
            <a:ext cx="4419295" cy="685800"/>
          </a:xfrm>
          <a:prstGeom prst="rect">
            <a:avLst/>
          </a:prstGeom>
          <a:noFill/>
          <a:ln/>
        </p:spPr>
        <p:txBody>
          <a:bodyPr wrap="square" lIns="0" tIns="0" rIns="0" bIns="0" rtlCol="0" anchor="t"/>
          <a:lstStyle/>
          <a:p>
            <a:pPr indent="0" marL="0">
              <a:buNone/>
            </a:pPr>
            <a:r>
              <a:rPr lang="en-US" sz="1500" dirty="0">
                <a:solidFill>
                  <a:schemeClr val="tx1"/>
                </a:solidFill>
              </a:rPr>
              <a:t>Every data-dependent evaluation uses the sampled-Gaussian scorer; raw utilities are never released.</a:t>
            </a:r>
            <a:endParaRPr lang="en-US" sz="1500" dirty="0"/>
          </a:p>
        </p:txBody>
      </p:sp>
      <p:sp>
        <p:nvSpPr>
          <p:cNvPr id="12" name="Text 10"/>
          <p:cNvSpPr txBox="1"/>
          <p:nvPr/>
        </p:nvSpPr>
        <p:spPr>
          <a:xfrm>
            <a:off x="6675120" y="370332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3" name="Text 11"/>
          <p:cNvSpPr txBox="1"/>
          <p:nvPr/>
        </p:nvSpPr>
        <p:spPr>
          <a:xfrm>
            <a:off x="7223760" y="3685032"/>
            <a:ext cx="4419295" cy="685800"/>
          </a:xfrm>
          <a:prstGeom prst="rect">
            <a:avLst/>
          </a:prstGeom>
          <a:noFill/>
          <a:ln/>
        </p:spPr>
        <p:txBody>
          <a:bodyPr wrap="square" lIns="0" tIns="0" rIns="0" bIns="0" rtlCol="0" anchor="t"/>
          <a:lstStyle/>
          <a:p>
            <a:pPr indent="0" marL="0">
              <a:buNone/>
            </a:pPr>
            <a:r>
              <a:rPr lang="en-US" sz="1500" dirty="0">
                <a:solidFill>
                  <a:schemeClr val="tx1"/>
                </a:solidFill>
              </a:rPr>
              <a:t>The number of releases is fixed in advance.</a:t>
            </a:r>
            <a:endParaRPr lang="en-US" sz="1500" dirty="0"/>
          </a:p>
        </p:txBody>
      </p:sp>
      <p:sp>
        <p:nvSpPr>
          <p:cNvPr id="14" name="Text 12"/>
          <p:cNvSpPr txBox="1"/>
          <p:nvPr/>
        </p:nvSpPr>
        <p:spPr>
          <a:xfrm>
            <a:off x="6675120" y="448056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15" name="Text 13"/>
          <p:cNvSpPr txBox="1"/>
          <p:nvPr/>
        </p:nvSpPr>
        <p:spPr>
          <a:xfrm>
            <a:off x="7223760" y="4462272"/>
            <a:ext cx="4419295" cy="685800"/>
          </a:xfrm>
          <a:prstGeom prst="rect">
            <a:avLst/>
          </a:prstGeom>
          <a:noFill/>
          <a:ln/>
        </p:spPr>
        <p:txBody>
          <a:bodyPr wrap="square" lIns="0" tIns="0" rIns="0" bIns="0" rtlCol="0" anchor="t"/>
          <a:lstStyle/>
          <a:p>
            <a:pPr indent="0" marL="0">
              <a:buNone/>
            </a:pPr>
            <a:r>
              <a:rPr lang="en-US" sz="1500" dirty="0">
                <a:solidFill>
                  <a:schemeClr val="tx1"/>
                </a:solidFill>
              </a:rPr>
              <a:t>Mutation receives no private records or record-derived feedback.</a:t>
            </a:r>
            <a:endParaRPr lang="en-US" sz="1500" dirty="0"/>
          </a:p>
        </p:txBody>
      </p:sp>
      <p:sp>
        <p:nvSpPr>
          <p:cNvPr id="16" name="Text 14"/>
          <p:cNvSpPr txBox="1"/>
          <p:nvPr/>
        </p:nvSpPr>
        <p:spPr>
          <a:xfrm>
            <a:off x="6675120" y="525780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17" name="Text 15"/>
          <p:cNvSpPr txBox="1"/>
          <p:nvPr/>
        </p:nvSpPr>
        <p:spPr>
          <a:xfrm>
            <a:off x="7223760" y="5239512"/>
            <a:ext cx="4419295" cy="685800"/>
          </a:xfrm>
          <a:prstGeom prst="rect">
            <a:avLst/>
          </a:prstGeom>
          <a:noFill/>
          <a:ln/>
        </p:spPr>
        <p:txBody>
          <a:bodyPr wrap="square" lIns="0" tIns="0" rIns="0" bIns="0" rtlCol="0" anchor="t"/>
          <a:lstStyle/>
          <a:p>
            <a:pPr indent="0" marL="0">
              <a:buNone/>
            </a:pPr>
            <a:r>
              <a:rPr lang="en-US" sz="1500" dirty="0">
                <a:solidFill>
                  <a:schemeClr val="tx1"/>
                </a:solidFill>
              </a:rPr>
              <a:t>Selection and all later computation use only privatized outputs.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DP-ES Ivy">
  <a:themeElements>
    <a:clrScheme name="DP-ES Ivy">
      <a:dk1>
        <a:srgbClr val="1B1B1B"/>
      </a:dk1>
      <a:lt1>
        <a:srgbClr val="FFFFFF"/>
      </a:lt1>
      <a:dk2>
        <a:srgbClr val="173A2C"/>
      </a:dk2>
      <a:lt2>
        <a:srgbClr val="EEF3EF"/>
      </a:lt2>
      <a:accent1>
        <a:srgbClr val="2E6B4F"/>
      </a:accent1>
      <a:accent2>
        <a:srgbClr val="A6192E"/>
      </a:accent2>
      <a:accent3>
        <a:srgbClr val="6E747C"/>
      </a:accent3>
      <a:accent4>
        <a:srgbClr val="B07D1A"/>
      </a:accent4>
      <a:accent5>
        <a:srgbClr val="35587A"/>
      </a:accent5>
      <a:accent6>
        <a:srgbClr val="9DC0AC"/>
      </a:accent6>
      <a:hlink>
        <a:srgbClr val="2E6B4F"/>
      </a:hlink>
      <a:folHlink>
        <a:srgbClr val="5B3A6E"/>
      </a:folHlink>
    </a:clrScheme>
    <a:fontScheme name="DP-ES I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DP-ES: Differentially Private Evolution Strategies for Prompt Optimization</dc:title>
  <dc:subject>EMNLP 2026 main conference talk</dc:subject>
  <dc:creator>Ziniu Liu, Aiping Li, Yue Han, Han Yu, Junjian Zhang, Dong Zhu, Changjian Li, Shiqiang Zhang</dc:creator>
  <cp:lastModifiedBy>Ziniu Liu, Aiping Li, Yue Han, Han Yu, Junjian Zhang, Dong Zhu, Changjian Li, Shiqiang Zhang</cp:lastModifiedBy>
  <cp:revision>1</cp:revision>
  <dcterms:created xsi:type="dcterms:W3CDTF">2026-10-05T08:37:50Z</dcterms:created>
  <dcterms:modified xsi:type="dcterms:W3CDTF">2026-10-05T08:37:50Z</dcterms:modified>
</cp:coreProperties>
</file>